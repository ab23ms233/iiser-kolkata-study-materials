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2" r:id="rId2"/>
    <p:sldId id="413" r:id="rId3"/>
    <p:sldId id="414" r:id="rId4"/>
    <p:sldId id="415" r:id="rId5"/>
    <p:sldId id="416" r:id="rId6"/>
    <p:sldId id="417" r:id="rId7"/>
    <p:sldId id="419" r:id="rId8"/>
    <p:sldId id="418" r:id="rId9"/>
    <p:sldId id="264" r:id="rId10"/>
    <p:sldId id="420" r:id="rId11"/>
    <p:sldId id="302" r:id="rId12"/>
    <p:sldId id="421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40"/>
  </p:normalViewPr>
  <p:slideViewPr>
    <p:cSldViewPr snapToGrid="0">
      <p:cViewPr varScale="1">
        <p:scale>
          <a:sx n="115" d="100"/>
          <a:sy n="115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954A-BE1D-DFF1-AFB9-996052110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90DC9-7604-3FCD-08BC-6D7266B7B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72D7-E92C-EFEA-239B-F06785E7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4675F-B8AC-1D54-48CE-EF058A71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C5766-5AEC-2376-7E25-0193A165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9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2307-D71F-8598-9776-5B18807B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D2E7F-AF27-04A6-A7F3-3AE7CC80E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FE5FC-374A-248E-0600-EEE1C763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E0B4-3BDA-BFF1-5912-592F3356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CA1C5-D34A-137D-B01D-73F8A6CB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4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E9F7-9ED1-7B09-0BB2-DD781256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1561-AACF-7331-7EB4-CC57361B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291A7-E87E-80F5-13D3-E5219B4D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D6059-EE64-2420-1968-AAACACB5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2720-90C4-4DBC-6DF1-B3A06A30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2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BEF5-144B-C288-2A08-AA7AACAC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652B-CE4D-0135-9044-E0354E483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950A8-8A39-AB26-D848-A8B04306A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E9521-0EA0-BBE9-0497-030D2479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472EB-D4A6-01EB-C500-15DFC974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E71C6-EE11-F57F-6B15-E98F6741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4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0765-2BC0-2B23-BA44-125D0FD0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C0AAA-22B8-6C83-C971-C95320537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ABC5E-3C55-407E-933C-823B1B98F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C5809-520F-E37F-1625-1372B05A6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F493A-5DE6-D5B0-E991-BD1310CBF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676A6-00DA-A1B7-51C3-23B1ECBB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54C92-6031-7D24-E131-82BD4942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54DEE-96A5-E412-ED96-97BF8200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5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0B73-DEAF-8AD8-64DD-7F8EC496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04371-847C-728D-88BE-3ED11180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92781-72AF-EC75-57EC-02E63557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7B253-AF7F-BF0D-33DA-CBBB674B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21581-5773-EAA2-0F7B-ADD46313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CD35F-331D-06AF-5855-3156AF66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6B4D9-4F42-626A-478B-3F3D0E1F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6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E360-074D-66F4-7D42-B5148CC8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C8E15-37B9-E84E-4A12-2DD5258B0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A2AF3-E17B-7DF1-E6F7-EE76D7EBC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722BD-F230-D8AF-8032-3A51C624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07188-F43C-74D7-7A15-CE898430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4F83C-C372-AC52-14B7-985C53B2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AE54-71FC-5AAE-5EF5-C72E7031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3E6DE-C421-6024-B193-81C72A86E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82585-C5ED-8D36-3E49-558D0C3BA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5A60D-DBBF-00EC-5246-BA34C4DF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6914-C67E-CC3F-3164-E4F6886A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BA9A-1DA3-98EB-0774-E427DBE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3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879F-E2AE-2183-49C4-DBF76BA6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A9B5-25B5-78F3-B717-CC3015469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D611-0725-4CC2-ACC0-7BCB5F08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52AC-CC31-6655-8D85-17179F81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BFED-BDD9-EFC2-AD00-1A919E35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5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5B881-1410-7E71-7C6B-2BFFDA13C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ECD4A-C02F-81BC-E89F-8846BA7A8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CB54-6A5A-A4BC-1093-65393413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10AE-BA66-74AA-B52A-17CE745E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CA662-EE1F-0C0D-0044-7A9F11F5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8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76303-D9EE-8521-9CD2-D37833F3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DD087-A56B-A7A1-DAE2-ED918EF15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6FEE-15EC-4711-4E44-DEAA32D04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DC053-2E4E-FC4F-B201-D15BDE539DD8}" type="datetimeFigureOut">
              <a:rPr lang="en-US" smtClean="0"/>
              <a:t>1/23/24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A7C92-234D-CA10-88DE-F4D7D26E6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F33A-8865-86C6-495F-147D602B7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7F66A-5E9F-EF4F-AB8A-A638D1FF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ic Sans MS" pitchFamily="66" charset="0"/>
              </a:rPr>
              <a:t>Sex linked Inheritance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Alleles on </a:t>
            </a:r>
            <a:r>
              <a:rPr lang="en-US" b="1" u="sng" dirty="0"/>
              <a:t>sex chromosomes </a:t>
            </a:r>
            <a:r>
              <a:rPr lang="en-US" dirty="0"/>
              <a:t>are inherited in predictable patterns. </a:t>
            </a:r>
            <a:br>
              <a:rPr lang="en-US" dirty="0"/>
            </a:br>
            <a:r>
              <a:rPr lang="en-US" dirty="0"/>
              <a:t>For example, in </a:t>
            </a:r>
            <a:r>
              <a:rPr lang="en-US" i="1" dirty="0"/>
              <a:t>Drosophila</a:t>
            </a:r>
            <a:r>
              <a:rPr lang="en-US" dirty="0"/>
              <a:t> the </a:t>
            </a:r>
            <a:r>
              <a:rPr lang="en-US" b="1" dirty="0"/>
              <a:t>locus for eye color is located on the X chromosome</a:t>
            </a:r>
            <a:r>
              <a:rPr lang="en-US" dirty="0"/>
              <a:t>. </a:t>
            </a:r>
          </a:p>
          <a:p>
            <a:pPr eaLnBrk="1" hangingPunct="1"/>
            <a:r>
              <a:rPr lang="en-US"/>
              <a:t>The </a:t>
            </a:r>
            <a:r>
              <a:rPr lang="en-US" dirty="0"/>
              <a:t>allele for </a:t>
            </a:r>
            <a:r>
              <a:rPr lang="en-US" b="1" dirty="0"/>
              <a:t>red eye color (RR)</a:t>
            </a:r>
            <a:r>
              <a:rPr lang="en-US" dirty="0"/>
              <a:t>, which is normal in wild flies, is </a:t>
            </a:r>
            <a:r>
              <a:rPr lang="en-US" b="1" dirty="0"/>
              <a:t>dominant</a:t>
            </a:r>
            <a:r>
              <a:rPr lang="en-US" dirty="0"/>
              <a:t> to the mutant allele for </a:t>
            </a:r>
            <a:r>
              <a:rPr lang="en-US" b="1" dirty="0"/>
              <a:t>white eyes (</a:t>
            </a:r>
            <a:r>
              <a:rPr lang="en-US" b="1" dirty="0" err="1"/>
              <a:t>rr</a:t>
            </a:r>
            <a:r>
              <a:rPr lang="en-US" b="1" dirty="0"/>
              <a:t>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523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ic Sans MS" pitchFamily="66" charset="0"/>
              </a:rPr>
              <a:t>X linked Inheritance </a:t>
            </a:r>
          </a:p>
        </p:txBody>
      </p:sp>
      <p:pic>
        <p:nvPicPr>
          <p:cNvPr id="37891" name="Content Placeholder 3" descr="figure-10-2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96150" y="1417639"/>
            <a:ext cx="6621463" cy="4525963"/>
          </a:xfrm>
        </p:spPr>
      </p:pic>
      <p:sp>
        <p:nvSpPr>
          <p:cNvPr id="3" name="Rectangle 2"/>
          <p:cNvSpPr/>
          <p:nvPr/>
        </p:nvSpPr>
        <p:spPr>
          <a:xfrm>
            <a:off x="5203569" y="2002455"/>
            <a:ext cx="3381479" cy="3908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figure-10-25.jpg"/>
          <p:cNvPicPr>
            <a:picLocks noChangeAspect="1"/>
          </p:cNvPicPr>
          <p:nvPr/>
        </p:nvPicPr>
        <p:blipFill rotWithShape="1">
          <a:blip r:embed="rId2" cstate="print"/>
          <a:srcRect l="48979" t="12682" r="-3838" b="-10278"/>
          <a:stretch/>
        </p:blipFill>
        <p:spPr>
          <a:xfrm>
            <a:off x="6542407" y="1867482"/>
            <a:ext cx="3632400" cy="44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2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Y- linked inheritance</a:t>
            </a:r>
          </a:p>
        </p:txBody>
      </p:sp>
      <p:pic>
        <p:nvPicPr>
          <p:cNvPr id="38915" name="Picture 3" descr="Y_inheritanc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219201"/>
            <a:ext cx="3048000" cy="5159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5715000" y="1371600"/>
            <a:ext cx="4572000" cy="483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Calibri" pitchFamily="34" charset="0"/>
              </a:rPr>
              <a:t>Y-linked inheritance:</a:t>
            </a:r>
            <a:r>
              <a:rPr lang="en-US" sz="2800">
                <a:latin typeface="Calibri" pitchFamily="34" charset="0"/>
              </a:rPr>
              <a:t> Inheritance of genes on the Y chromosome. </a:t>
            </a:r>
            <a:r>
              <a:rPr lang="en-US" sz="2800" b="1" u="sng">
                <a:latin typeface="Calibri" pitchFamily="34" charset="0"/>
              </a:rPr>
              <a:t>Y-linked genes can only be transmitted from father to son</a:t>
            </a:r>
            <a:r>
              <a:rPr lang="en-US" sz="2800">
                <a:latin typeface="Calibri" pitchFamily="34" charset="0"/>
              </a:rPr>
              <a:t>. </a:t>
            </a:r>
          </a:p>
          <a:p>
            <a:endParaRPr lang="en-US" sz="2800">
              <a:latin typeface="Calibri" pitchFamily="34" charset="0"/>
            </a:endParaRPr>
          </a:p>
          <a:p>
            <a:r>
              <a:rPr lang="en-US" sz="2800">
                <a:latin typeface="Calibri" pitchFamily="34" charset="0"/>
              </a:rPr>
              <a:t>Y-linked inheritance is also called </a:t>
            </a:r>
            <a:r>
              <a:rPr lang="en-US" sz="2800" b="1" u="sng">
                <a:latin typeface="Calibri" pitchFamily="34" charset="0"/>
              </a:rPr>
              <a:t>holandric inheritance</a:t>
            </a:r>
            <a:r>
              <a:rPr lang="en-US" sz="2800">
                <a:latin typeface="Calibri" pitchFamily="34" charset="0"/>
              </a:rPr>
              <a:t>.</a:t>
            </a:r>
          </a:p>
          <a:p>
            <a:endParaRPr lang="en-US" sz="2800">
              <a:latin typeface="Calibri" pitchFamily="34" charset="0"/>
            </a:endParaRPr>
          </a:p>
          <a:p>
            <a:r>
              <a:rPr lang="en-US" sz="2800">
                <a:latin typeface="Calibri" pitchFamily="34" charset="0"/>
              </a:rPr>
              <a:t>Ex. SRY (sex-determining region) for maleness.</a:t>
            </a:r>
          </a:p>
        </p:txBody>
      </p:sp>
    </p:spTree>
    <p:extLst>
      <p:ext uri="{BB962C8B-B14F-4D97-AF65-F5344CB8AC3E}">
        <p14:creationId xmlns:p14="http://schemas.microsoft.com/office/powerpoint/2010/main" val="2681437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/>
                <a:cs typeface="Comic Sans MS"/>
              </a:rPr>
              <a:t>Temperature dependent sex determination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552951"/>
            <a:ext cx="8229600" cy="4525963"/>
          </a:xfrm>
        </p:spPr>
        <p:txBody>
          <a:bodyPr/>
          <a:lstStyle/>
          <a:p>
            <a:r>
              <a:rPr lang="en-US" dirty="0"/>
              <a:t>Alligators, crocodiles and turtles</a:t>
            </a:r>
          </a:p>
          <a:p>
            <a:r>
              <a:rPr lang="en-US" dirty="0"/>
              <a:t>Alligators &amp; crocodiles: Incubation of eggs at 30</a:t>
            </a:r>
            <a:r>
              <a:rPr lang="en-US" baseline="30000" dirty="0"/>
              <a:t>o</a:t>
            </a:r>
            <a:r>
              <a:rPr lang="en-US" dirty="0"/>
              <a:t>C will results in female and temperature around 33</a:t>
            </a:r>
            <a:r>
              <a:rPr lang="en-US" baseline="30000" dirty="0"/>
              <a:t>o</a:t>
            </a:r>
            <a:r>
              <a:rPr lang="en-US" dirty="0"/>
              <a:t>C will results in males</a:t>
            </a:r>
          </a:p>
        </p:txBody>
      </p:sp>
      <p:pic>
        <p:nvPicPr>
          <p:cNvPr id="4" name="Picture 3" descr="crocodile_egg_nest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964" y="1555750"/>
            <a:ext cx="3559343" cy="2381250"/>
          </a:xfrm>
          <a:prstGeom prst="rect">
            <a:avLst/>
          </a:prstGeom>
        </p:spPr>
      </p:pic>
      <p:pic>
        <p:nvPicPr>
          <p:cNvPr id="5" name="Picture 4" descr="gall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304" y="1555750"/>
            <a:ext cx="3621673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5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/>
                <a:cs typeface="Comic Sans MS"/>
              </a:rPr>
              <a:t>ZW sex-determination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Helvetica"/>
              <a:cs typeface="Helvetica"/>
            </a:endParaRPr>
          </a:p>
          <a:p>
            <a:r>
              <a:rPr lang="en-US" dirty="0">
                <a:latin typeface="Helvetica"/>
                <a:cs typeface="Helvetica"/>
              </a:rPr>
              <a:t>Some birds, insects , reptiles </a:t>
            </a:r>
            <a:r>
              <a:rPr lang="en-US" dirty="0" err="1">
                <a:latin typeface="Helvetica"/>
                <a:cs typeface="Helvetica"/>
              </a:rPr>
              <a:t>etc</a:t>
            </a:r>
            <a:endParaRPr lang="en-US" dirty="0">
              <a:latin typeface="Helvetica"/>
              <a:cs typeface="Helvetica"/>
            </a:endParaRPr>
          </a:p>
          <a:p>
            <a:pPr marL="0" indent="0">
              <a:buNone/>
            </a:pPr>
            <a:endParaRPr lang="en-US" dirty="0">
              <a:latin typeface="Helvetica"/>
              <a:cs typeface="Helvetica"/>
            </a:endParaRPr>
          </a:p>
          <a:p>
            <a:r>
              <a:rPr lang="en-US" dirty="0">
                <a:latin typeface="Helvetica"/>
                <a:cs typeface="Helvetica"/>
              </a:rPr>
              <a:t>Males are the </a:t>
            </a:r>
            <a:r>
              <a:rPr lang="en-US" b="1" dirty="0">
                <a:latin typeface="Helvetica"/>
                <a:cs typeface="Helvetica"/>
              </a:rPr>
              <a:t>homogametic sex</a:t>
            </a:r>
            <a:r>
              <a:rPr lang="en-US" dirty="0">
                <a:latin typeface="Helvetica"/>
                <a:cs typeface="Helvetica"/>
              </a:rPr>
              <a:t> (ZZ), while females are the </a:t>
            </a:r>
            <a:r>
              <a:rPr lang="en-US" b="1" dirty="0">
                <a:latin typeface="Helvetica"/>
                <a:cs typeface="Helvetica"/>
              </a:rPr>
              <a:t>heterogametic</a:t>
            </a:r>
            <a:r>
              <a:rPr lang="en-US" dirty="0">
                <a:latin typeface="Helvetica"/>
                <a:cs typeface="Helvetica"/>
              </a:rPr>
              <a:t> sex (ZW).</a:t>
            </a:r>
          </a:p>
          <a:p>
            <a:endParaRPr lang="en-US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4427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/>
                <a:cs typeface="Comic Sans MS"/>
              </a:rPr>
              <a:t>Sex determination on </a:t>
            </a:r>
            <a:r>
              <a:rPr lang="en-US" i="1" dirty="0">
                <a:latin typeface="Comic Sans MS"/>
                <a:cs typeface="Comic Sans MS"/>
              </a:rPr>
              <a:t>Drosophila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5500" y="1730376"/>
            <a:ext cx="8540750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en-US" sz="2400" dirty="0">
                <a:latin typeface="Helvetica"/>
                <a:cs typeface="Helvetica"/>
              </a:rPr>
              <a:t>The female determining genes are present on the X chromosome</a:t>
            </a:r>
          </a:p>
          <a:p>
            <a:pPr marL="342900" indent="-342900">
              <a:buFont typeface="Wingdings" charset="2"/>
              <a:buChar char="Ø"/>
            </a:pPr>
            <a:endParaRPr lang="en-US" sz="2400" dirty="0">
              <a:latin typeface="Helvetica"/>
              <a:cs typeface="Helvetica"/>
            </a:endParaRPr>
          </a:p>
          <a:p>
            <a:pPr marL="342900" indent="-342900">
              <a:buFont typeface="Wingdings" charset="2"/>
              <a:buChar char="Ø"/>
            </a:pPr>
            <a:r>
              <a:rPr lang="en-US" sz="2400" dirty="0">
                <a:latin typeface="Helvetica"/>
                <a:cs typeface="Helvetica"/>
              </a:rPr>
              <a:t>But the male determining genes are present on the autosomes (2 sets autosomes)</a:t>
            </a:r>
          </a:p>
          <a:p>
            <a:pPr marL="342900" indent="-342900">
              <a:buFont typeface="Wingdings" charset="2"/>
              <a:buChar char="Ø"/>
            </a:pPr>
            <a:endParaRPr lang="en-US" sz="2400" dirty="0">
              <a:latin typeface="Helvetica"/>
              <a:cs typeface="Helvetica"/>
            </a:endParaRPr>
          </a:p>
          <a:p>
            <a:pPr marL="342900" indent="-342900">
              <a:buFont typeface="Wingdings" charset="2"/>
              <a:buChar char="Ø"/>
            </a:pPr>
            <a:r>
              <a:rPr lang="en-US" sz="2400" dirty="0">
                <a:latin typeface="Helvetica"/>
                <a:cs typeface="Helvetica"/>
              </a:rPr>
              <a:t>Ratio of the number of X chromosomes and total set of autosomes determines the sex [ratio ≤ 0.5 results in males, ratio ≥1 results in females)</a:t>
            </a:r>
          </a:p>
          <a:p>
            <a:pPr marL="342900" indent="-342900">
              <a:buFont typeface="Wingdings" charset="2"/>
              <a:buChar char="Ø"/>
            </a:pPr>
            <a:endParaRPr lang="en-US" sz="2400" dirty="0">
              <a:latin typeface="Helvetica"/>
              <a:cs typeface="Helvetica"/>
            </a:endParaRPr>
          </a:p>
          <a:p>
            <a:pPr marL="342900" indent="-342900">
              <a:buFont typeface="Wingdings" charset="2"/>
              <a:buChar char="Ø"/>
            </a:pPr>
            <a:r>
              <a:rPr lang="en-US" sz="2400" b="1" i="1" dirty="0">
                <a:latin typeface="Helvetica"/>
                <a:cs typeface="Helvetica"/>
              </a:rPr>
              <a:t>Genetic balance theory of sex determination</a:t>
            </a:r>
          </a:p>
        </p:txBody>
      </p:sp>
    </p:spTree>
    <p:extLst>
      <p:ext uri="{BB962C8B-B14F-4D97-AF65-F5344CB8AC3E}">
        <p14:creationId xmlns:p14="http://schemas.microsoft.com/office/powerpoint/2010/main" val="132764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Sex Determination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97200" y="2000250"/>
          <a:ext cx="619760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97372" imgH="2857395" progId="Word.Document.12">
                  <p:embed/>
                </p:oleObj>
              </mc:Choice>
              <mc:Fallback>
                <p:oleObj name="Document" r:id="rId2" imgW="6197372" imgH="2857395" progId="Word.Document.12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000250"/>
                        <a:ext cx="6197600" cy="285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865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mic Sans MS"/>
                <a:cs typeface="Comic Sans MS"/>
              </a:rPr>
              <a:t>Gynandromorphs</a:t>
            </a:r>
            <a:endParaRPr lang="en-US" dirty="0">
              <a:latin typeface="Comic Sans MS"/>
              <a:cs typeface="Comic Sans MS"/>
            </a:endParaRPr>
          </a:p>
        </p:txBody>
      </p:sp>
      <p:pic>
        <p:nvPicPr>
          <p:cNvPr id="4" name="Content Placeholder 3" descr="Bilateral-ynandromorphs[24]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" b="-1134"/>
          <a:stretch/>
        </p:blipFill>
        <p:spPr>
          <a:xfrm>
            <a:off x="7124702" y="1891225"/>
            <a:ext cx="2828925" cy="3715200"/>
          </a:xfrm>
        </p:spPr>
      </p:pic>
      <p:sp>
        <p:nvSpPr>
          <p:cNvPr id="5" name="TextBox 4"/>
          <p:cNvSpPr txBox="1"/>
          <p:nvPr/>
        </p:nvSpPr>
        <p:spPr>
          <a:xfrm>
            <a:off x="2159000" y="2206626"/>
            <a:ext cx="3905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organism exhibiting both male and female characteristics</a:t>
            </a:r>
          </a:p>
          <a:p>
            <a:endParaRPr lang="en-US" dirty="0"/>
          </a:p>
          <a:p>
            <a:r>
              <a:rPr lang="en-US" dirty="0"/>
              <a:t>Abnormal behavior of the chromosome in insects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4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Comic Sans MS" pitchFamily="66" charset="0"/>
              </a:rPr>
              <a:t>Pleiotropy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 gene that affects more than one trait.</a:t>
            </a:r>
          </a:p>
          <a:p>
            <a:pPr eaLnBrk="1" hangingPunct="1">
              <a:buNone/>
            </a:pPr>
            <a:endParaRPr lang="en-US" dirty="0"/>
          </a:p>
          <a:p>
            <a:pPr eaLnBrk="1" hangingPunct="1"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In the human disease PKU (</a:t>
            </a:r>
            <a:r>
              <a:rPr lang="en-US" dirty="0" err="1"/>
              <a:t>phenylketonuria</a:t>
            </a:r>
            <a:r>
              <a:rPr lang="en-US" dirty="0"/>
              <a:t>). causes </a:t>
            </a:r>
            <a:r>
              <a:rPr lang="en-US" b="1" dirty="0"/>
              <a:t>mental retardation </a:t>
            </a:r>
            <a:r>
              <a:rPr lang="en-US" dirty="0"/>
              <a:t>and </a:t>
            </a:r>
            <a:r>
              <a:rPr lang="en-US" b="1" dirty="0"/>
              <a:t>reduced hair and skin pigmentation</a:t>
            </a:r>
          </a:p>
        </p:txBody>
      </p:sp>
    </p:spTree>
    <p:extLst>
      <p:ext uri="{BB962C8B-B14F-4D97-AF65-F5344CB8AC3E}">
        <p14:creationId xmlns:p14="http://schemas.microsoft.com/office/powerpoint/2010/main" val="331322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Similarity between X &amp; Y chromosome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697646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PseudoAutosomal</a:t>
            </a:r>
            <a:r>
              <a:rPr lang="en-US" dirty="0"/>
              <a:t> Regions (PAR1, PAR2) are homologous sequences of nucleotides on the X and Y chromosome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508" y="2675462"/>
            <a:ext cx="7679902" cy="26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1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</a:rPr>
              <a:t>Genetic terms commonly used to describe the type of alleles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err="1"/>
              <a:t>Amorphic</a:t>
            </a:r>
            <a:r>
              <a:rPr lang="en-US" sz="2000" b="1" dirty="0"/>
              <a:t> allele</a:t>
            </a:r>
            <a:r>
              <a:rPr lang="en-US" sz="2000" dirty="0"/>
              <a:t>: A mutation that causes </a:t>
            </a:r>
            <a:r>
              <a:rPr lang="en-US" sz="2000" u="sng" dirty="0"/>
              <a:t>complete loss of gene function</a:t>
            </a:r>
            <a:r>
              <a:rPr lang="en-US" sz="2000" dirty="0"/>
              <a:t>. </a:t>
            </a:r>
            <a:r>
              <a:rPr lang="en-US" sz="2000" dirty="0" err="1"/>
              <a:t>Amorph</a:t>
            </a:r>
            <a:r>
              <a:rPr lang="en-US" sz="2000" dirty="0"/>
              <a:t> is sometimes used interchangeably with "genetic null". </a:t>
            </a:r>
          </a:p>
          <a:p>
            <a:r>
              <a:rPr lang="en-US" sz="2000" b="1" dirty="0" err="1"/>
              <a:t>Hypomorph</a:t>
            </a:r>
            <a:r>
              <a:rPr lang="en-US" sz="2000" b="1" dirty="0"/>
              <a:t> allele : </a:t>
            </a:r>
            <a:r>
              <a:rPr lang="en-US" sz="2000" dirty="0"/>
              <a:t>A mutation that causes a </a:t>
            </a:r>
            <a:r>
              <a:rPr lang="en-US" sz="2000" u="sng" dirty="0"/>
              <a:t>partial loss of gene function</a:t>
            </a:r>
          </a:p>
          <a:p>
            <a:r>
              <a:rPr lang="en-US" sz="2000" b="1" dirty="0" err="1"/>
              <a:t>Hypermorph</a:t>
            </a:r>
            <a:r>
              <a:rPr lang="en-US" sz="2000" b="1" dirty="0"/>
              <a:t> allele: </a:t>
            </a:r>
            <a:r>
              <a:rPr lang="en-US" sz="2000" dirty="0"/>
              <a:t>A mutation that causes an </a:t>
            </a:r>
            <a:r>
              <a:rPr lang="en-US" sz="2000" u="sng" dirty="0"/>
              <a:t>increase in normal gene function</a:t>
            </a:r>
            <a:r>
              <a:rPr lang="en-US" sz="2000" dirty="0"/>
              <a:t>. </a:t>
            </a:r>
            <a:r>
              <a:rPr lang="en-US" sz="2000" dirty="0" err="1"/>
              <a:t>Hypermorphic</a:t>
            </a:r>
            <a:r>
              <a:rPr lang="en-US" sz="2000" dirty="0"/>
              <a:t> alleles are dominant gain of function alleles.</a:t>
            </a:r>
          </a:p>
          <a:p>
            <a:r>
              <a:rPr lang="en-US" sz="2000" b="1" dirty="0" err="1"/>
              <a:t>Antimorph</a:t>
            </a:r>
            <a:r>
              <a:rPr lang="en-US" sz="2000" b="1" dirty="0"/>
              <a:t> allele</a:t>
            </a:r>
            <a:r>
              <a:rPr lang="en-US" sz="2000" dirty="0"/>
              <a:t>:  A dominant mutation that acts </a:t>
            </a:r>
            <a:r>
              <a:rPr lang="en-US" sz="2000" u="sng" dirty="0"/>
              <a:t>in opposition to normal gene activity</a:t>
            </a:r>
            <a:r>
              <a:rPr lang="en-US" sz="2000" dirty="0"/>
              <a:t>. </a:t>
            </a:r>
            <a:r>
              <a:rPr lang="en-US" sz="2000" dirty="0" err="1"/>
              <a:t>Antimorphs</a:t>
            </a:r>
            <a:r>
              <a:rPr lang="en-US" sz="2000" dirty="0"/>
              <a:t> are also called </a:t>
            </a:r>
            <a:r>
              <a:rPr lang="en-US" sz="2000" u="sng" dirty="0"/>
              <a:t>dominant negative mutations</a:t>
            </a:r>
          </a:p>
          <a:p>
            <a:r>
              <a:rPr lang="en-US" sz="2000" b="1" dirty="0" err="1"/>
              <a:t>Neomorphic</a:t>
            </a:r>
            <a:r>
              <a:rPr lang="en-US" sz="2000" b="1" dirty="0"/>
              <a:t> allele</a:t>
            </a:r>
            <a:r>
              <a:rPr lang="en-US" sz="2000" dirty="0"/>
              <a:t>: A  mutation that causes dominant gain of gene function that is </a:t>
            </a:r>
            <a:r>
              <a:rPr lang="en-US" sz="2000" u="sng" dirty="0"/>
              <a:t>different from the normal function</a:t>
            </a:r>
          </a:p>
        </p:txBody>
      </p:sp>
    </p:spTree>
    <p:extLst>
      <p:ext uri="{BB962C8B-B14F-4D97-AF65-F5344CB8AC3E}">
        <p14:creationId xmlns:p14="http://schemas.microsoft.com/office/powerpoint/2010/main" val="3711174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Dominant negative mutation</a:t>
            </a:r>
          </a:p>
        </p:txBody>
      </p:sp>
      <p:pic>
        <p:nvPicPr>
          <p:cNvPr id="3" name="Picture 2" descr="gt201470f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861" y="1417638"/>
            <a:ext cx="4379126" cy="40105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78360" y="2360295"/>
            <a:ext cx="577314" cy="5259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66812" y="1417638"/>
            <a:ext cx="2488862" cy="134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55675" y="1522931"/>
            <a:ext cx="143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WT-p53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309284" y="1706086"/>
            <a:ext cx="295072" cy="141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309284" y="1847190"/>
            <a:ext cx="744094" cy="1475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94245" y="1706086"/>
            <a:ext cx="195818" cy="141104"/>
          </a:xfrm>
          <a:prstGeom prst="rect">
            <a:avLst/>
          </a:prstGeom>
          <a:solidFill>
            <a:srgbClr val="299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47907" y="3767701"/>
            <a:ext cx="146339" cy="141104"/>
          </a:xfrm>
          <a:prstGeom prst="rect">
            <a:avLst/>
          </a:prstGeom>
          <a:solidFill>
            <a:srgbClr val="299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204713" y="3767701"/>
            <a:ext cx="195818" cy="141104"/>
          </a:xfrm>
          <a:prstGeom prst="rect">
            <a:avLst/>
          </a:prstGeom>
          <a:solidFill>
            <a:srgbClr val="299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882543" y="3440276"/>
            <a:ext cx="45719" cy="141104"/>
          </a:xfrm>
          <a:prstGeom prst="rect">
            <a:avLst/>
          </a:prstGeom>
          <a:solidFill>
            <a:srgbClr val="299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11375" y="3440276"/>
            <a:ext cx="195818" cy="141104"/>
          </a:xfrm>
          <a:prstGeom prst="rect">
            <a:avLst/>
          </a:prstGeom>
          <a:solidFill>
            <a:srgbClr val="299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7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Dominant negative (Example) </a:t>
            </a:r>
          </a:p>
        </p:txBody>
      </p:sp>
      <p:pic>
        <p:nvPicPr>
          <p:cNvPr id="4" name="Content Placeholder 3" descr="Dominant-negative-inhibition-by-mutant-receptor-5111148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6" b="13336"/>
          <a:stretch>
            <a:fillRect/>
          </a:stretch>
        </p:blipFill>
        <p:spPr>
          <a:xfrm>
            <a:off x="2454874" y="1527399"/>
            <a:ext cx="7315581" cy="4023289"/>
          </a:xfrm>
        </p:spPr>
      </p:pic>
    </p:spTree>
    <p:extLst>
      <p:ext uri="{BB962C8B-B14F-4D97-AF65-F5344CB8AC3E}">
        <p14:creationId xmlns:p14="http://schemas.microsoft.com/office/powerpoint/2010/main" val="118560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Macintosh PowerPoint</Application>
  <PresentationFormat>Widescreen</PresentationFormat>
  <Paragraphs>47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Comic Sans MS</vt:lpstr>
      <vt:lpstr>Helvetica</vt:lpstr>
      <vt:lpstr>Wingdings</vt:lpstr>
      <vt:lpstr>Office Theme</vt:lpstr>
      <vt:lpstr>Document</vt:lpstr>
      <vt:lpstr>Sex linked Inheritance</vt:lpstr>
      <vt:lpstr>X linked Inheritance </vt:lpstr>
      <vt:lpstr>Y- linked inheritance</vt:lpstr>
      <vt:lpstr>Temperature dependent sex determination</vt:lpstr>
      <vt:lpstr>ZW sex-determination system</vt:lpstr>
      <vt:lpstr>Sex determination on Drosophila</vt:lpstr>
      <vt:lpstr>Sex Determination</vt:lpstr>
      <vt:lpstr>Gynandromorphs</vt:lpstr>
      <vt:lpstr>Pleiotropy</vt:lpstr>
      <vt:lpstr>Similarity between X &amp; Y chromosome</vt:lpstr>
      <vt:lpstr>Genetic terms commonly used to describe the type of alleles</vt:lpstr>
      <vt:lpstr>Dominant negative mutation</vt:lpstr>
      <vt:lpstr>Dominant negative (Example)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 linked Inheritance</dc:title>
  <dc:creator>mohit prasad</dc:creator>
  <cp:lastModifiedBy>mohit prasad</cp:lastModifiedBy>
  <cp:revision>1</cp:revision>
  <dcterms:created xsi:type="dcterms:W3CDTF">2024-01-23T16:40:51Z</dcterms:created>
  <dcterms:modified xsi:type="dcterms:W3CDTF">2024-01-23T16:41:33Z</dcterms:modified>
</cp:coreProperties>
</file>