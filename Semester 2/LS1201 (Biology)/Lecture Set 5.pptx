
<file path=[Content_Types].xml><?xml version="1.0" encoding="utf-8"?>
<Types xmlns="http://schemas.openxmlformats.org/package/2006/content-types">
  <Default Extension="bin" ContentType="application/vnd.openxmlformats-officedocument.oleObject"/>
  <Default Extension="gif" ContentType="image/gi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301" r:id="rId2"/>
    <p:sldId id="303" r:id="rId3"/>
    <p:sldId id="304" r:id="rId4"/>
    <p:sldId id="305" r:id="rId5"/>
    <p:sldId id="306" r:id="rId6"/>
    <p:sldId id="307" r:id="rId7"/>
    <p:sldId id="308" r:id="rId8"/>
    <p:sldId id="309" r:id="rId9"/>
    <p:sldId id="310" r:id="rId10"/>
    <p:sldId id="311" r:id="rId11"/>
    <p:sldId id="312" r:id="rId12"/>
    <p:sldId id="313" r:id="rId13"/>
    <p:sldId id="314" r:id="rId14"/>
    <p:sldId id="315" r:id="rId15"/>
    <p:sldId id="316" r:id="rId16"/>
    <p:sldId id="317" r:id="rId17"/>
    <p:sldId id="318" r:id="rId18"/>
    <p:sldId id="319" r:id="rId19"/>
    <p:sldId id="320" r:id="rId20"/>
    <p:sldId id="321" r:id="rId21"/>
    <p:sldId id="322" r:id="rId22"/>
    <p:sldId id="323" r:id="rId23"/>
    <p:sldId id="403" r:id="rId24"/>
    <p:sldId id="325" r:id="rId25"/>
    <p:sldId id="402" r:id="rId26"/>
    <p:sldId id="395" r:id="rId27"/>
    <p:sldId id="396" r:id="rId28"/>
    <p:sldId id="397" r:id="rId29"/>
    <p:sldId id="382" r:id="rId30"/>
    <p:sldId id="341" r:id="rId31"/>
    <p:sldId id="354" r:id="rId32"/>
    <p:sldId id="360"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6327"/>
  </p:normalViewPr>
  <p:slideViewPr>
    <p:cSldViewPr snapToGrid="0">
      <p:cViewPr varScale="1">
        <p:scale>
          <a:sx n="128" d="100"/>
          <a:sy n="128" d="100"/>
        </p:scale>
        <p:origin x="4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4ECB6-A107-7C4C-A004-9BB414828158}" type="datetimeFigureOut">
              <a:rPr lang="en-US" smtClean="0"/>
              <a:t>1/26/24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230458-67D5-6E4F-83B3-B3A8A9D97B27}" type="slidenum">
              <a:rPr lang="en-US" smtClean="0"/>
              <a:t>‹#›</a:t>
            </a:fld>
            <a:endParaRPr lang="en-US"/>
          </a:p>
        </p:txBody>
      </p:sp>
    </p:spTree>
    <p:extLst>
      <p:ext uri="{BB962C8B-B14F-4D97-AF65-F5344CB8AC3E}">
        <p14:creationId xmlns:p14="http://schemas.microsoft.com/office/powerpoint/2010/main" val="898306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303798C-4449-E64A-A6E2-DA7240CEC010}" type="slidenum">
              <a:rPr lang="en-US" smtClean="0"/>
              <a:pPr/>
              <a:t>12</a:t>
            </a:fld>
            <a:endParaRPr lang="en-US"/>
          </a:p>
        </p:txBody>
      </p:sp>
    </p:spTree>
    <p:extLst>
      <p:ext uri="{BB962C8B-B14F-4D97-AF65-F5344CB8AC3E}">
        <p14:creationId xmlns:p14="http://schemas.microsoft.com/office/powerpoint/2010/main" val="3013591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EE006-8C34-37C9-77CF-C25A9763A2B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C790C42-4C44-7912-B79E-56EC1552C6E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70CF3D1-4F66-37D7-ECCB-02781017AED9}"/>
              </a:ext>
            </a:extLst>
          </p:cNvPr>
          <p:cNvSpPr>
            <a:spLocks noGrp="1"/>
          </p:cNvSpPr>
          <p:nvPr>
            <p:ph type="dt" sz="half" idx="10"/>
          </p:nvPr>
        </p:nvSpPr>
        <p:spPr/>
        <p:txBody>
          <a:bodyPr/>
          <a:lstStyle/>
          <a:p>
            <a:fld id="{F1AF885A-64F0-124C-B665-0A10E6A36935}" type="datetimeFigureOut">
              <a:rPr lang="en-US" smtClean="0"/>
              <a:t>1/26/24</a:t>
            </a:fld>
            <a:endParaRPr lang="en-US"/>
          </a:p>
        </p:txBody>
      </p:sp>
      <p:sp>
        <p:nvSpPr>
          <p:cNvPr id="5" name="Footer Placeholder 4">
            <a:extLst>
              <a:ext uri="{FF2B5EF4-FFF2-40B4-BE49-F238E27FC236}">
                <a16:creationId xmlns:a16="http://schemas.microsoft.com/office/drawing/2014/main" id="{023D2210-532E-8293-57EA-68379A80437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3746670-175C-6E0C-3D18-D710D33D6D64}"/>
              </a:ext>
            </a:extLst>
          </p:cNvPr>
          <p:cNvSpPr>
            <a:spLocks noGrp="1"/>
          </p:cNvSpPr>
          <p:nvPr>
            <p:ph type="sldNum" sz="quarter" idx="12"/>
          </p:nvPr>
        </p:nvSpPr>
        <p:spPr/>
        <p:txBody>
          <a:bodyPr/>
          <a:lstStyle/>
          <a:p>
            <a:fld id="{FDDC07D0-1852-9843-9BC2-422E8EC8B6BB}" type="slidenum">
              <a:rPr lang="en-US" smtClean="0"/>
              <a:t>‹#›</a:t>
            </a:fld>
            <a:endParaRPr lang="en-US"/>
          </a:p>
        </p:txBody>
      </p:sp>
    </p:spTree>
    <p:extLst>
      <p:ext uri="{BB962C8B-B14F-4D97-AF65-F5344CB8AC3E}">
        <p14:creationId xmlns:p14="http://schemas.microsoft.com/office/powerpoint/2010/main" val="3581698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CA63E-5F43-F092-01A1-C31B379B5D74}"/>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D74DDEA-44FA-81BB-6877-365A93D56CC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EBB3023-650C-D2F5-4AEB-411E651BE146}"/>
              </a:ext>
            </a:extLst>
          </p:cNvPr>
          <p:cNvSpPr>
            <a:spLocks noGrp="1"/>
          </p:cNvSpPr>
          <p:nvPr>
            <p:ph type="dt" sz="half" idx="10"/>
          </p:nvPr>
        </p:nvSpPr>
        <p:spPr/>
        <p:txBody>
          <a:bodyPr/>
          <a:lstStyle/>
          <a:p>
            <a:fld id="{F1AF885A-64F0-124C-B665-0A10E6A36935}" type="datetimeFigureOut">
              <a:rPr lang="en-US" smtClean="0"/>
              <a:t>1/26/24</a:t>
            </a:fld>
            <a:endParaRPr lang="en-US"/>
          </a:p>
        </p:txBody>
      </p:sp>
      <p:sp>
        <p:nvSpPr>
          <p:cNvPr id="5" name="Footer Placeholder 4">
            <a:extLst>
              <a:ext uri="{FF2B5EF4-FFF2-40B4-BE49-F238E27FC236}">
                <a16:creationId xmlns:a16="http://schemas.microsoft.com/office/drawing/2014/main" id="{EDF3BA05-F15C-3CC5-56CC-7E6E29C913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7BC4C8-CFF6-3A77-5954-9ED6F751169B}"/>
              </a:ext>
            </a:extLst>
          </p:cNvPr>
          <p:cNvSpPr>
            <a:spLocks noGrp="1"/>
          </p:cNvSpPr>
          <p:nvPr>
            <p:ph type="sldNum" sz="quarter" idx="12"/>
          </p:nvPr>
        </p:nvSpPr>
        <p:spPr/>
        <p:txBody>
          <a:bodyPr/>
          <a:lstStyle/>
          <a:p>
            <a:fld id="{FDDC07D0-1852-9843-9BC2-422E8EC8B6BB}" type="slidenum">
              <a:rPr lang="en-US" smtClean="0"/>
              <a:t>‹#›</a:t>
            </a:fld>
            <a:endParaRPr lang="en-US"/>
          </a:p>
        </p:txBody>
      </p:sp>
    </p:spTree>
    <p:extLst>
      <p:ext uri="{BB962C8B-B14F-4D97-AF65-F5344CB8AC3E}">
        <p14:creationId xmlns:p14="http://schemas.microsoft.com/office/powerpoint/2010/main" val="13733401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14825-F10E-6F99-7B28-737652D90EB4}"/>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BC27578-3E77-3093-A93B-2D5CA2F53C7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1F07AC4-AAB2-E6FE-112E-E9EBD6C71E35}"/>
              </a:ext>
            </a:extLst>
          </p:cNvPr>
          <p:cNvSpPr>
            <a:spLocks noGrp="1"/>
          </p:cNvSpPr>
          <p:nvPr>
            <p:ph type="dt" sz="half" idx="10"/>
          </p:nvPr>
        </p:nvSpPr>
        <p:spPr/>
        <p:txBody>
          <a:bodyPr/>
          <a:lstStyle/>
          <a:p>
            <a:fld id="{F1AF885A-64F0-124C-B665-0A10E6A36935}" type="datetimeFigureOut">
              <a:rPr lang="en-US" smtClean="0"/>
              <a:t>1/26/24</a:t>
            </a:fld>
            <a:endParaRPr lang="en-US"/>
          </a:p>
        </p:txBody>
      </p:sp>
      <p:sp>
        <p:nvSpPr>
          <p:cNvPr id="5" name="Footer Placeholder 4">
            <a:extLst>
              <a:ext uri="{FF2B5EF4-FFF2-40B4-BE49-F238E27FC236}">
                <a16:creationId xmlns:a16="http://schemas.microsoft.com/office/drawing/2014/main" id="{3D3223B0-F40F-0D87-EC0F-5B41EFAB35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15E15F7-289B-FC89-A609-2295041D9F34}"/>
              </a:ext>
            </a:extLst>
          </p:cNvPr>
          <p:cNvSpPr>
            <a:spLocks noGrp="1"/>
          </p:cNvSpPr>
          <p:nvPr>
            <p:ph type="sldNum" sz="quarter" idx="12"/>
          </p:nvPr>
        </p:nvSpPr>
        <p:spPr/>
        <p:txBody>
          <a:bodyPr/>
          <a:lstStyle/>
          <a:p>
            <a:fld id="{FDDC07D0-1852-9843-9BC2-422E8EC8B6BB}" type="slidenum">
              <a:rPr lang="en-US" smtClean="0"/>
              <a:t>‹#›</a:t>
            </a:fld>
            <a:endParaRPr lang="en-US"/>
          </a:p>
        </p:txBody>
      </p:sp>
    </p:spTree>
    <p:extLst>
      <p:ext uri="{BB962C8B-B14F-4D97-AF65-F5344CB8AC3E}">
        <p14:creationId xmlns:p14="http://schemas.microsoft.com/office/powerpoint/2010/main" val="20353670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A1281-2852-6915-F5DF-ED3E05175CDA}"/>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04C3517-224C-8CEB-4FDE-3CD68263427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62F6EDF-F54F-51F2-79F2-B6C39787B45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66915FE-75EE-3E77-D077-8EFB9D977847}"/>
              </a:ext>
            </a:extLst>
          </p:cNvPr>
          <p:cNvSpPr>
            <a:spLocks noGrp="1"/>
          </p:cNvSpPr>
          <p:nvPr>
            <p:ph type="dt" sz="half" idx="10"/>
          </p:nvPr>
        </p:nvSpPr>
        <p:spPr/>
        <p:txBody>
          <a:bodyPr/>
          <a:lstStyle/>
          <a:p>
            <a:fld id="{F1AF885A-64F0-124C-B665-0A10E6A36935}" type="datetimeFigureOut">
              <a:rPr lang="en-US" smtClean="0"/>
              <a:t>1/26/24</a:t>
            </a:fld>
            <a:endParaRPr lang="en-US"/>
          </a:p>
        </p:txBody>
      </p:sp>
      <p:sp>
        <p:nvSpPr>
          <p:cNvPr id="6" name="Footer Placeholder 5">
            <a:extLst>
              <a:ext uri="{FF2B5EF4-FFF2-40B4-BE49-F238E27FC236}">
                <a16:creationId xmlns:a16="http://schemas.microsoft.com/office/drawing/2014/main" id="{541C15FB-658F-45D5-D539-E677F17969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3B3393-10C0-C8FF-D728-4F89A131FFE6}"/>
              </a:ext>
            </a:extLst>
          </p:cNvPr>
          <p:cNvSpPr>
            <a:spLocks noGrp="1"/>
          </p:cNvSpPr>
          <p:nvPr>
            <p:ph type="sldNum" sz="quarter" idx="12"/>
          </p:nvPr>
        </p:nvSpPr>
        <p:spPr/>
        <p:txBody>
          <a:bodyPr/>
          <a:lstStyle/>
          <a:p>
            <a:fld id="{FDDC07D0-1852-9843-9BC2-422E8EC8B6BB}" type="slidenum">
              <a:rPr lang="en-US" smtClean="0"/>
              <a:t>‹#›</a:t>
            </a:fld>
            <a:endParaRPr lang="en-US"/>
          </a:p>
        </p:txBody>
      </p:sp>
    </p:spTree>
    <p:extLst>
      <p:ext uri="{BB962C8B-B14F-4D97-AF65-F5344CB8AC3E}">
        <p14:creationId xmlns:p14="http://schemas.microsoft.com/office/powerpoint/2010/main" val="8844674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CBDBD0-0FD0-2EA9-F999-02EAE46E3D1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3A78373-7F62-DDD0-42CA-D550B27503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EFFAE62-2837-CD87-9D4E-EB68C5345E0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668BC19E-57AD-F867-2C62-F78EB50080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0C4C669-E898-8FC2-E1FB-D7F0FEBC9A6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E680FAB0-489A-4E19-7B44-A01200A81E82}"/>
              </a:ext>
            </a:extLst>
          </p:cNvPr>
          <p:cNvSpPr>
            <a:spLocks noGrp="1"/>
          </p:cNvSpPr>
          <p:nvPr>
            <p:ph type="dt" sz="half" idx="10"/>
          </p:nvPr>
        </p:nvSpPr>
        <p:spPr/>
        <p:txBody>
          <a:bodyPr/>
          <a:lstStyle/>
          <a:p>
            <a:fld id="{F1AF885A-64F0-124C-B665-0A10E6A36935}" type="datetimeFigureOut">
              <a:rPr lang="en-US" smtClean="0"/>
              <a:t>1/26/24</a:t>
            </a:fld>
            <a:endParaRPr lang="en-US"/>
          </a:p>
        </p:txBody>
      </p:sp>
      <p:sp>
        <p:nvSpPr>
          <p:cNvPr id="8" name="Footer Placeholder 7">
            <a:extLst>
              <a:ext uri="{FF2B5EF4-FFF2-40B4-BE49-F238E27FC236}">
                <a16:creationId xmlns:a16="http://schemas.microsoft.com/office/drawing/2014/main" id="{FE75F228-DF40-F11B-0EE2-740E186FA4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54A5115-1985-0DF8-93A6-B66D53184ED9}"/>
              </a:ext>
            </a:extLst>
          </p:cNvPr>
          <p:cNvSpPr>
            <a:spLocks noGrp="1"/>
          </p:cNvSpPr>
          <p:nvPr>
            <p:ph type="sldNum" sz="quarter" idx="12"/>
          </p:nvPr>
        </p:nvSpPr>
        <p:spPr/>
        <p:txBody>
          <a:bodyPr/>
          <a:lstStyle/>
          <a:p>
            <a:fld id="{FDDC07D0-1852-9843-9BC2-422E8EC8B6BB}" type="slidenum">
              <a:rPr lang="en-US" smtClean="0"/>
              <a:t>‹#›</a:t>
            </a:fld>
            <a:endParaRPr lang="en-US"/>
          </a:p>
        </p:txBody>
      </p:sp>
    </p:spTree>
    <p:extLst>
      <p:ext uri="{BB962C8B-B14F-4D97-AF65-F5344CB8AC3E}">
        <p14:creationId xmlns:p14="http://schemas.microsoft.com/office/powerpoint/2010/main" val="4120117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6A0DE9-2C5C-AB8A-1BFE-DB8B06FC7C0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828985AD-B35E-9BC6-ABEB-8657138E6B23}"/>
              </a:ext>
            </a:extLst>
          </p:cNvPr>
          <p:cNvSpPr>
            <a:spLocks noGrp="1"/>
          </p:cNvSpPr>
          <p:nvPr>
            <p:ph type="dt" sz="half" idx="10"/>
          </p:nvPr>
        </p:nvSpPr>
        <p:spPr/>
        <p:txBody>
          <a:bodyPr/>
          <a:lstStyle/>
          <a:p>
            <a:fld id="{F1AF885A-64F0-124C-B665-0A10E6A36935}" type="datetimeFigureOut">
              <a:rPr lang="en-US" smtClean="0"/>
              <a:t>1/26/24</a:t>
            </a:fld>
            <a:endParaRPr lang="en-US"/>
          </a:p>
        </p:txBody>
      </p:sp>
      <p:sp>
        <p:nvSpPr>
          <p:cNvPr id="4" name="Footer Placeholder 3">
            <a:extLst>
              <a:ext uri="{FF2B5EF4-FFF2-40B4-BE49-F238E27FC236}">
                <a16:creationId xmlns:a16="http://schemas.microsoft.com/office/drawing/2014/main" id="{E2AB28D9-7280-FAB2-D37A-B16B811F2AE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6ABBF6-7315-30C0-1439-5D17AD1C6693}"/>
              </a:ext>
            </a:extLst>
          </p:cNvPr>
          <p:cNvSpPr>
            <a:spLocks noGrp="1"/>
          </p:cNvSpPr>
          <p:nvPr>
            <p:ph type="sldNum" sz="quarter" idx="12"/>
          </p:nvPr>
        </p:nvSpPr>
        <p:spPr/>
        <p:txBody>
          <a:bodyPr/>
          <a:lstStyle/>
          <a:p>
            <a:fld id="{FDDC07D0-1852-9843-9BC2-422E8EC8B6BB}" type="slidenum">
              <a:rPr lang="en-US" smtClean="0"/>
              <a:t>‹#›</a:t>
            </a:fld>
            <a:endParaRPr lang="en-US"/>
          </a:p>
        </p:txBody>
      </p:sp>
    </p:spTree>
    <p:extLst>
      <p:ext uri="{BB962C8B-B14F-4D97-AF65-F5344CB8AC3E}">
        <p14:creationId xmlns:p14="http://schemas.microsoft.com/office/powerpoint/2010/main" val="18314288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7FDC-9ED7-8C2A-0B2B-B92F2EF1DE0A}"/>
              </a:ext>
            </a:extLst>
          </p:cNvPr>
          <p:cNvSpPr>
            <a:spLocks noGrp="1"/>
          </p:cNvSpPr>
          <p:nvPr>
            <p:ph type="dt" sz="half" idx="10"/>
          </p:nvPr>
        </p:nvSpPr>
        <p:spPr/>
        <p:txBody>
          <a:bodyPr/>
          <a:lstStyle/>
          <a:p>
            <a:fld id="{F1AF885A-64F0-124C-B665-0A10E6A36935}" type="datetimeFigureOut">
              <a:rPr lang="en-US" smtClean="0"/>
              <a:t>1/26/24</a:t>
            </a:fld>
            <a:endParaRPr lang="en-US"/>
          </a:p>
        </p:txBody>
      </p:sp>
      <p:sp>
        <p:nvSpPr>
          <p:cNvPr id="3" name="Footer Placeholder 2">
            <a:extLst>
              <a:ext uri="{FF2B5EF4-FFF2-40B4-BE49-F238E27FC236}">
                <a16:creationId xmlns:a16="http://schemas.microsoft.com/office/drawing/2014/main" id="{0F077C23-14EC-66EC-1608-AAB0416852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42F573B-B0EA-23AE-7608-42EBCA67E9C2}"/>
              </a:ext>
            </a:extLst>
          </p:cNvPr>
          <p:cNvSpPr>
            <a:spLocks noGrp="1"/>
          </p:cNvSpPr>
          <p:nvPr>
            <p:ph type="sldNum" sz="quarter" idx="12"/>
          </p:nvPr>
        </p:nvSpPr>
        <p:spPr/>
        <p:txBody>
          <a:bodyPr/>
          <a:lstStyle/>
          <a:p>
            <a:fld id="{FDDC07D0-1852-9843-9BC2-422E8EC8B6BB}" type="slidenum">
              <a:rPr lang="en-US" smtClean="0"/>
              <a:t>‹#›</a:t>
            </a:fld>
            <a:endParaRPr lang="en-US"/>
          </a:p>
        </p:txBody>
      </p:sp>
    </p:spTree>
    <p:extLst>
      <p:ext uri="{BB962C8B-B14F-4D97-AF65-F5344CB8AC3E}">
        <p14:creationId xmlns:p14="http://schemas.microsoft.com/office/powerpoint/2010/main" val="39981386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5576C-DFB0-6436-78A5-5F925B1097E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2FFB9BEB-28E8-4B50-8C77-0AC6A2D83A8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9336DE28-F359-E861-98B5-8FB656EEB4C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530860E-2629-9C39-9433-E564E32726E8}"/>
              </a:ext>
            </a:extLst>
          </p:cNvPr>
          <p:cNvSpPr>
            <a:spLocks noGrp="1"/>
          </p:cNvSpPr>
          <p:nvPr>
            <p:ph type="dt" sz="half" idx="10"/>
          </p:nvPr>
        </p:nvSpPr>
        <p:spPr/>
        <p:txBody>
          <a:bodyPr/>
          <a:lstStyle/>
          <a:p>
            <a:fld id="{F1AF885A-64F0-124C-B665-0A10E6A36935}" type="datetimeFigureOut">
              <a:rPr lang="en-US" smtClean="0"/>
              <a:t>1/26/24</a:t>
            </a:fld>
            <a:endParaRPr lang="en-US"/>
          </a:p>
        </p:txBody>
      </p:sp>
      <p:sp>
        <p:nvSpPr>
          <p:cNvPr id="6" name="Footer Placeholder 5">
            <a:extLst>
              <a:ext uri="{FF2B5EF4-FFF2-40B4-BE49-F238E27FC236}">
                <a16:creationId xmlns:a16="http://schemas.microsoft.com/office/drawing/2014/main" id="{A71C23CE-CCD7-212A-C51D-796092D733F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5BB35DD-42EF-DD97-B2D3-312041A837E9}"/>
              </a:ext>
            </a:extLst>
          </p:cNvPr>
          <p:cNvSpPr>
            <a:spLocks noGrp="1"/>
          </p:cNvSpPr>
          <p:nvPr>
            <p:ph type="sldNum" sz="quarter" idx="12"/>
          </p:nvPr>
        </p:nvSpPr>
        <p:spPr/>
        <p:txBody>
          <a:bodyPr/>
          <a:lstStyle/>
          <a:p>
            <a:fld id="{FDDC07D0-1852-9843-9BC2-422E8EC8B6BB}" type="slidenum">
              <a:rPr lang="en-US" smtClean="0"/>
              <a:t>‹#›</a:t>
            </a:fld>
            <a:endParaRPr lang="en-US"/>
          </a:p>
        </p:txBody>
      </p:sp>
    </p:spTree>
    <p:extLst>
      <p:ext uri="{BB962C8B-B14F-4D97-AF65-F5344CB8AC3E}">
        <p14:creationId xmlns:p14="http://schemas.microsoft.com/office/powerpoint/2010/main" val="21340575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3AD49-C911-EBC3-B135-87A359C6C70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DCB9619E-6549-9AD2-A29A-C4569255C5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98D76F7-88F6-4E11-D949-8353D75871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9E950AC-A230-7244-18D1-6C226FDB6933}"/>
              </a:ext>
            </a:extLst>
          </p:cNvPr>
          <p:cNvSpPr>
            <a:spLocks noGrp="1"/>
          </p:cNvSpPr>
          <p:nvPr>
            <p:ph type="dt" sz="half" idx="10"/>
          </p:nvPr>
        </p:nvSpPr>
        <p:spPr/>
        <p:txBody>
          <a:bodyPr/>
          <a:lstStyle/>
          <a:p>
            <a:fld id="{F1AF885A-64F0-124C-B665-0A10E6A36935}" type="datetimeFigureOut">
              <a:rPr lang="en-US" smtClean="0"/>
              <a:t>1/26/24</a:t>
            </a:fld>
            <a:endParaRPr lang="en-US"/>
          </a:p>
        </p:txBody>
      </p:sp>
      <p:sp>
        <p:nvSpPr>
          <p:cNvPr id="6" name="Footer Placeholder 5">
            <a:extLst>
              <a:ext uri="{FF2B5EF4-FFF2-40B4-BE49-F238E27FC236}">
                <a16:creationId xmlns:a16="http://schemas.microsoft.com/office/drawing/2014/main" id="{2F154E69-C6A6-55D6-6964-C33077ABF9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32C783-0E86-62C8-375D-6B8234A94CE9}"/>
              </a:ext>
            </a:extLst>
          </p:cNvPr>
          <p:cNvSpPr>
            <a:spLocks noGrp="1"/>
          </p:cNvSpPr>
          <p:nvPr>
            <p:ph type="sldNum" sz="quarter" idx="12"/>
          </p:nvPr>
        </p:nvSpPr>
        <p:spPr/>
        <p:txBody>
          <a:bodyPr/>
          <a:lstStyle/>
          <a:p>
            <a:fld id="{FDDC07D0-1852-9843-9BC2-422E8EC8B6BB}" type="slidenum">
              <a:rPr lang="en-US" smtClean="0"/>
              <a:t>‹#›</a:t>
            </a:fld>
            <a:endParaRPr lang="en-US"/>
          </a:p>
        </p:txBody>
      </p:sp>
    </p:spTree>
    <p:extLst>
      <p:ext uri="{BB962C8B-B14F-4D97-AF65-F5344CB8AC3E}">
        <p14:creationId xmlns:p14="http://schemas.microsoft.com/office/powerpoint/2010/main" val="437399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53D93-43F7-A1AC-00A0-7D936BD40FEC}"/>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70FB93F-3F8B-953E-4325-E8EAEF8EF80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91CFAA9-67E0-7AD2-9EB3-43222C9F7DF1}"/>
              </a:ext>
            </a:extLst>
          </p:cNvPr>
          <p:cNvSpPr>
            <a:spLocks noGrp="1"/>
          </p:cNvSpPr>
          <p:nvPr>
            <p:ph type="dt" sz="half" idx="10"/>
          </p:nvPr>
        </p:nvSpPr>
        <p:spPr/>
        <p:txBody>
          <a:bodyPr/>
          <a:lstStyle/>
          <a:p>
            <a:fld id="{F1AF885A-64F0-124C-B665-0A10E6A36935}" type="datetimeFigureOut">
              <a:rPr lang="en-US" smtClean="0"/>
              <a:t>1/26/24</a:t>
            </a:fld>
            <a:endParaRPr lang="en-US"/>
          </a:p>
        </p:txBody>
      </p:sp>
      <p:sp>
        <p:nvSpPr>
          <p:cNvPr id="5" name="Footer Placeholder 4">
            <a:extLst>
              <a:ext uri="{FF2B5EF4-FFF2-40B4-BE49-F238E27FC236}">
                <a16:creationId xmlns:a16="http://schemas.microsoft.com/office/drawing/2014/main" id="{CF7B13B7-ECE4-022B-2751-D38AB2B11B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5B7539-8D92-BA22-1FEA-23E5028798D4}"/>
              </a:ext>
            </a:extLst>
          </p:cNvPr>
          <p:cNvSpPr>
            <a:spLocks noGrp="1"/>
          </p:cNvSpPr>
          <p:nvPr>
            <p:ph type="sldNum" sz="quarter" idx="12"/>
          </p:nvPr>
        </p:nvSpPr>
        <p:spPr/>
        <p:txBody>
          <a:bodyPr/>
          <a:lstStyle/>
          <a:p>
            <a:fld id="{FDDC07D0-1852-9843-9BC2-422E8EC8B6BB}" type="slidenum">
              <a:rPr lang="en-US" smtClean="0"/>
              <a:t>‹#›</a:t>
            </a:fld>
            <a:endParaRPr lang="en-US"/>
          </a:p>
        </p:txBody>
      </p:sp>
    </p:spTree>
    <p:extLst>
      <p:ext uri="{BB962C8B-B14F-4D97-AF65-F5344CB8AC3E}">
        <p14:creationId xmlns:p14="http://schemas.microsoft.com/office/powerpoint/2010/main" val="1967598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D2EAEE0-134F-B008-723C-26D7BD6F7EE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5629E-5BD3-EFAE-92AF-DFAEAD11492C}"/>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6F357A6-E18A-FC69-9359-08D9015333E0}"/>
              </a:ext>
            </a:extLst>
          </p:cNvPr>
          <p:cNvSpPr>
            <a:spLocks noGrp="1"/>
          </p:cNvSpPr>
          <p:nvPr>
            <p:ph type="dt" sz="half" idx="10"/>
          </p:nvPr>
        </p:nvSpPr>
        <p:spPr/>
        <p:txBody>
          <a:bodyPr/>
          <a:lstStyle/>
          <a:p>
            <a:fld id="{F1AF885A-64F0-124C-B665-0A10E6A36935}" type="datetimeFigureOut">
              <a:rPr lang="en-US" smtClean="0"/>
              <a:t>1/26/24</a:t>
            </a:fld>
            <a:endParaRPr lang="en-US"/>
          </a:p>
        </p:txBody>
      </p:sp>
      <p:sp>
        <p:nvSpPr>
          <p:cNvPr id="5" name="Footer Placeholder 4">
            <a:extLst>
              <a:ext uri="{FF2B5EF4-FFF2-40B4-BE49-F238E27FC236}">
                <a16:creationId xmlns:a16="http://schemas.microsoft.com/office/drawing/2014/main" id="{F39735C9-86CE-441C-56FC-30DBA83EC4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C12172-1DB0-E806-EA04-E30AE98C1C8A}"/>
              </a:ext>
            </a:extLst>
          </p:cNvPr>
          <p:cNvSpPr>
            <a:spLocks noGrp="1"/>
          </p:cNvSpPr>
          <p:nvPr>
            <p:ph type="sldNum" sz="quarter" idx="12"/>
          </p:nvPr>
        </p:nvSpPr>
        <p:spPr/>
        <p:txBody>
          <a:bodyPr/>
          <a:lstStyle/>
          <a:p>
            <a:fld id="{FDDC07D0-1852-9843-9BC2-422E8EC8B6BB}" type="slidenum">
              <a:rPr lang="en-US" smtClean="0"/>
              <a:t>‹#›</a:t>
            </a:fld>
            <a:endParaRPr lang="en-US"/>
          </a:p>
        </p:txBody>
      </p:sp>
    </p:spTree>
    <p:extLst>
      <p:ext uri="{BB962C8B-B14F-4D97-AF65-F5344CB8AC3E}">
        <p14:creationId xmlns:p14="http://schemas.microsoft.com/office/powerpoint/2010/main" val="208120686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A4DE997C-AA5D-4027-A055-FF2511AA9645}" type="slidenum">
              <a:rPr lang="en-US"/>
              <a:pPr>
                <a:defRPr/>
              </a:pPr>
              <a:t>‹#›</a:t>
            </a:fld>
            <a:endParaRPr lang="en-US"/>
          </a:p>
        </p:txBody>
      </p:sp>
    </p:spTree>
    <p:extLst>
      <p:ext uri="{BB962C8B-B14F-4D97-AF65-F5344CB8AC3E}">
        <p14:creationId xmlns:p14="http://schemas.microsoft.com/office/powerpoint/2010/main" val="40315259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7051EF5C-022F-474C-A240-5462D59B3226}" type="slidenum">
              <a:rPr lang="en-US"/>
              <a:pPr>
                <a:defRPr/>
              </a:pPr>
              <a:t>‹#›</a:t>
            </a:fld>
            <a:endParaRPr lang="en-US"/>
          </a:p>
        </p:txBody>
      </p:sp>
    </p:spTree>
    <p:extLst>
      <p:ext uri="{BB962C8B-B14F-4D97-AF65-F5344CB8AC3E}">
        <p14:creationId xmlns:p14="http://schemas.microsoft.com/office/powerpoint/2010/main" val="37092641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able Placeholder 2"/>
          <p:cNvSpPr>
            <a:spLocks noGrp="1"/>
          </p:cNvSpPr>
          <p:nvPr>
            <p:ph type="tbl" idx="1"/>
          </p:nvPr>
        </p:nvSpPr>
        <p:spPr>
          <a:xfrm>
            <a:off x="609600" y="1600201"/>
            <a:ext cx="10972800" cy="4525963"/>
          </a:xfrm>
        </p:spPr>
        <p:txBody>
          <a:bodyPr/>
          <a:lstStyle/>
          <a:p>
            <a:pPr lvl="0"/>
            <a:endParaRPr lang="en-US" noProof="0"/>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FF2593E0-D408-488E-B557-9A9959269C47}" type="slidenum">
              <a:rPr lang="en-US"/>
              <a:pPr>
                <a:defRPr/>
              </a:pPr>
              <a:t>‹#›</a:t>
            </a:fld>
            <a:endParaRPr lang="en-US"/>
          </a:p>
        </p:txBody>
      </p:sp>
    </p:spTree>
    <p:extLst>
      <p:ext uri="{BB962C8B-B14F-4D97-AF65-F5344CB8AC3E}">
        <p14:creationId xmlns:p14="http://schemas.microsoft.com/office/powerpoint/2010/main" val="8193901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10972800" cy="21859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 y="3938589"/>
            <a:ext cx="10972800" cy="21875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4991AF8-5858-420F-A8DA-3EA5D894B18D}" type="slidenum">
              <a:rPr lang="en-US"/>
              <a:pPr>
                <a:defRPr/>
              </a:pPr>
              <a:t>‹#›</a:t>
            </a:fld>
            <a:endParaRPr lang="en-US"/>
          </a:p>
        </p:txBody>
      </p:sp>
    </p:spTree>
    <p:extLst>
      <p:ext uri="{BB962C8B-B14F-4D97-AF65-F5344CB8AC3E}">
        <p14:creationId xmlns:p14="http://schemas.microsoft.com/office/powerpoint/2010/main" val="8292995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E70A829-516A-2309-36B3-1BE8896CFDE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928D192-9C3B-0FAE-9AB8-C34351B2AD9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2C1A522-CE90-4F85-3F7F-2E585A9C94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AF885A-64F0-124C-B665-0A10E6A36935}" type="datetimeFigureOut">
              <a:rPr lang="en-US" smtClean="0"/>
              <a:t>1/26/24</a:t>
            </a:fld>
            <a:endParaRPr lang="en-US"/>
          </a:p>
        </p:txBody>
      </p:sp>
      <p:sp>
        <p:nvSpPr>
          <p:cNvPr id="5" name="Footer Placeholder 4">
            <a:extLst>
              <a:ext uri="{FF2B5EF4-FFF2-40B4-BE49-F238E27FC236}">
                <a16:creationId xmlns:a16="http://schemas.microsoft.com/office/drawing/2014/main" id="{00089FAE-121C-E797-4677-112E33AADF3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B3DAF9-0BA6-1738-C08E-A52E019F0D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DDC07D0-1852-9843-9BC2-422E8EC8B6BB}" type="slidenum">
              <a:rPr lang="en-US" smtClean="0"/>
              <a:t>‹#›</a:t>
            </a:fld>
            <a:endParaRPr lang="en-US"/>
          </a:p>
        </p:txBody>
      </p:sp>
    </p:spTree>
    <p:extLst>
      <p:ext uri="{BB962C8B-B14F-4D97-AF65-F5344CB8AC3E}">
        <p14:creationId xmlns:p14="http://schemas.microsoft.com/office/powerpoint/2010/main" val="17670812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1.bin"/><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2.bin"/><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oleObject" Target="../embeddings/oleObject3.bin"/><Relationship Id="rId1" Type="http://schemas.openxmlformats.org/officeDocument/2006/relationships/slideLayout" Target="../slideLayouts/slideLayout6.xml"/><Relationship Id="rId4" Type="http://schemas.openxmlformats.org/officeDocument/2006/relationships/oleObject" Target="../embeddings/oleObject4.bin"/></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image" Target="../media/image3.gif"/><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Subtitle 2"/>
          <p:cNvSpPr>
            <a:spLocks noGrp="1"/>
          </p:cNvSpPr>
          <p:nvPr>
            <p:ph type="subTitle" idx="1"/>
          </p:nvPr>
        </p:nvSpPr>
        <p:spPr/>
        <p:txBody>
          <a:bodyPr/>
          <a:lstStyle/>
          <a:p>
            <a:pPr eaLnBrk="1" hangingPunct="1"/>
            <a:endParaRPr lang="en-US"/>
          </a:p>
        </p:txBody>
      </p:sp>
      <p:sp>
        <p:nvSpPr>
          <p:cNvPr id="4099" name="Rectangle 4"/>
          <p:cNvSpPr>
            <a:spLocks noGrp="1" noChangeArrowheads="1"/>
          </p:cNvSpPr>
          <p:nvPr>
            <p:ph type="ctrTitle"/>
          </p:nvPr>
        </p:nvSpPr>
        <p:spPr/>
        <p:txBody>
          <a:bodyPr/>
          <a:lstStyle/>
          <a:p>
            <a:pPr eaLnBrk="1" hangingPunct="1"/>
            <a:r>
              <a:rPr lang="en-US">
                <a:latin typeface="Comic Sans MS" pitchFamily="66" charset="0"/>
              </a:rPr>
              <a:t>Chi-Square Test</a:t>
            </a:r>
          </a:p>
        </p:txBody>
      </p:sp>
    </p:spTree>
    <p:extLst>
      <p:ext uri="{BB962C8B-B14F-4D97-AF65-F5344CB8AC3E}">
        <p14:creationId xmlns:p14="http://schemas.microsoft.com/office/powerpoint/2010/main" val="1210102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5"/>
          <p:cNvSpPr>
            <a:spLocks noGrp="1" noChangeArrowheads="1"/>
          </p:cNvSpPr>
          <p:nvPr>
            <p:ph type="body" idx="1"/>
          </p:nvPr>
        </p:nvSpPr>
        <p:spPr>
          <a:xfrm>
            <a:off x="2133600" y="2133601"/>
            <a:ext cx="8229600" cy="4525963"/>
          </a:xfrm>
        </p:spPr>
        <p:txBody>
          <a:bodyPr/>
          <a:lstStyle/>
          <a:p>
            <a:pPr eaLnBrk="1" hangingPunct="1">
              <a:lnSpc>
                <a:spcPct val="80000"/>
              </a:lnSpc>
              <a:buFontTx/>
              <a:buNone/>
            </a:pPr>
            <a:r>
              <a:rPr lang="en-US" sz="3600" dirty="0"/>
              <a:t>	A fundamental issue in genetics is how to determine whether the </a:t>
            </a:r>
            <a:r>
              <a:rPr lang="en-US" sz="3600" u="sng" dirty="0"/>
              <a:t>experimental data fits the theoretical expected results</a:t>
            </a:r>
            <a:r>
              <a:rPr lang="en-US" sz="3600" dirty="0"/>
              <a:t>? </a:t>
            </a:r>
          </a:p>
        </p:txBody>
      </p:sp>
    </p:spTree>
    <p:extLst>
      <p:ext uri="{BB962C8B-B14F-4D97-AF65-F5344CB8AC3E}">
        <p14:creationId xmlns:p14="http://schemas.microsoft.com/office/powerpoint/2010/main" val="4715815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TextBox 2"/>
          <p:cNvSpPr txBox="1"/>
          <p:nvPr/>
        </p:nvSpPr>
        <p:spPr>
          <a:xfrm>
            <a:off x="2438400" y="1600201"/>
            <a:ext cx="7239000" cy="4031873"/>
          </a:xfrm>
          <a:prstGeom prst="rect">
            <a:avLst/>
          </a:prstGeom>
          <a:noFill/>
        </p:spPr>
        <p:txBody>
          <a:bodyPr wrap="square" rtlCol="0">
            <a:spAutoFit/>
          </a:bodyPr>
          <a:lstStyle/>
          <a:p>
            <a:r>
              <a:rPr lang="en-US" sz="3200" dirty="0"/>
              <a:t>For a monohybrid cross: </a:t>
            </a:r>
          </a:p>
          <a:p>
            <a:endParaRPr lang="en-US" sz="3200" dirty="0"/>
          </a:p>
          <a:p>
            <a:r>
              <a:rPr lang="en-US" sz="3200" dirty="0"/>
              <a:t>F2 ratio- 3:1</a:t>
            </a:r>
          </a:p>
          <a:p>
            <a:endParaRPr lang="en-US" sz="3200" dirty="0"/>
          </a:p>
          <a:p>
            <a:endParaRPr lang="en-US" sz="3200" dirty="0"/>
          </a:p>
          <a:p>
            <a:r>
              <a:rPr lang="en-US" sz="3200" dirty="0"/>
              <a:t>For a </a:t>
            </a:r>
            <a:r>
              <a:rPr lang="en-US" sz="3200" dirty="0" err="1"/>
              <a:t>Dihybrid</a:t>
            </a:r>
            <a:r>
              <a:rPr lang="en-US" sz="3200" dirty="0"/>
              <a:t> cross:</a:t>
            </a:r>
          </a:p>
          <a:p>
            <a:endParaRPr lang="en-US" sz="3200" dirty="0"/>
          </a:p>
          <a:p>
            <a:r>
              <a:rPr lang="en-US" sz="3200" dirty="0"/>
              <a:t>F2 ration- 9:3:3:1</a:t>
            </a:r>
          </a:p>
        </p:txBody>
      </p:sp>
    </p:spTree>
    <p:extLst>
      <p:ext uri="{BB962C8B-B14F-4D97-AF65-F5344CB8AC3E}">
        <p14:creationId xmlns:p14="http://schemas.microsoft.com/office/powerpoint/2010/main" val="3028908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t>Goodness  of Fit</a:t>
            </a:r>
          </a:p>
        </p:txBody>
      </p:sp>
      <p:sp>
        <p:nvSpPr>
          <p:cNvPr id="6147" name="Rectangle 3"/>
          <p:cNvSpPr>
            <a:spLocks noGrp="1" noChangeArrowheads="1"/>
          </p:cNvSpPr>
          <p:nvPr>
            <p:ph type="body" idx="1"/>
          </p:nvPr>
        </p:nvSpPr>
        <p:spPr>
          <a:xfrm>
            <a:off x="1981200" y="1447801"/>
            <a:ext cx="8229600" cy="4525963"/>
          </a:xfrm>
        </p:spPr>
        <p:txBody>
          <a:bodyPr>
            <a:normAutofit lnSpcReduction="10000"/>
          </a:bodyPr>
          <a:lstStyle/>
          <a:p>
            <a:pPr eaLnBrk="1" hangingPunct="1">
              <a:lnSpc>
                <a:spcPct val="90000"/>
              </a:lnSpc>
              <a:buFontTx/>
              <a:buNone/>
            </a:pPr>
            <a:endParaRPr lang="en-US" sz="2400" dirty="0"/>
          </a:p>
          <a:p>
            <a:pPr eaLnBrk="1" hangingPunct="1">
              <a:lnSpc>
                <a:spcPct val="90000"/>
              </a:lnSpc>
            </a:pPr>
            <a:r>
              <a:rPr lang="en-US" dirty="0"/>
              <a:t>The chi-square test is a “</a:t>
            </a:r>
            <a:r>
              <a:rPr lang="en-US" dirty="0">
                <a:solidFill>
                  <a:srgbClr val="FF0000"/>
                </a:solidFill>
              </a:rPr>
              <a:t>goodness of fit</a:t>
            </a:r>
            <a:r>
              <a:rPr lang="en-US" dirty="0"/>
              <a:t>” test: it answers the question of how well do experimental data fit expectations.</a:t>
            </a:r>
          </a:p>
          <a:p>
            <a:pPr eaLnBrk="1" hangingPunct="1">
              <a:lnSpc>
                <a:spcPct val="90000"/>
              </a:lnSpc>
            </a:pPr>
            <a:endParaRPr lang="en-US" sz="2400" dirty="0"/>
          </a:p>
          <a:p>
            <a:pPr eaLnBrk="1" hangingPunct="1">
              <a:lnSpc>
                <a:spcPct val="90000"/>
              </a:lnSpc>
            </a:pPr>
            <a:r>
              <a:rPr lang="en-US" dirty="0"/>
              <a:t>One starts with a theory for how the offspring will be distributed: </a:t>
            </a:r>
          </a:p>
          <a:p>
            <a:pPr eaLnBrk="1" hangingPunct="1">
              <a:lnSpc>
                <a:spcPct val="90000"/>
              </a:lnSpc>
              <a:buFontTx/>
              <a:buNone/>
            </a:pPr>
            <a:r>
              <a:rPr lang="en-US" dirty="0"/>
              <a:t> “Null hypothesis”. The difference is observed  by chance i.e.</a:t>
            </a:r>
          </a:p>
          <a:p>
            <a:pPr eaLnBrk="1" hangingPunct="1">
              <a:lnSpc>
                <a:spcPct val="90000"/>
              </a:lnSpc>
              <a:buFontTx/>
              <a:buNone/>
            </a:pPr>
            <a:r>
              <a:rPr lang="en-US" dirty="0"/>
              <a:t>   Offspring will appear in an expected ratio  like 3:1 or 9:3:3:1 etc</a:t>
            </a:r>
          </a:p>
        </p:txBody>
      </p:sp>
    </p:spTree>
    <p:extLst>
      <p:ext uri="{BB962C8B-B14F-4D97-AF65-F5344CB8AC3E}">
        <p14:creationId xmlns:p14="http://schemas.microsoft.com/office/powerpoint/2010/main" val="2760479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47">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nodeType="clickEffect">
                                  <p:stCondLst>
                                    <p:cond delay="0"/>
                                  </p:stCondLst>
                                  <p:childTnLst>
                                    <p:set>
                                      <p:cBhvr>
                                        <p:cTn id="14" dur="1" fill="hold">
                                          <p:stCondLst>
                                            <p:cond delay="0"/>
                                          </p:stCondLst>
                                        </p:cTn>
                                        <p:tgtEl>
                                          <p:spTgt spid="6147">
                                            <p:txEl>
                                              <p:pRg st="4" end="4"/>
                                            </p:txEl>
                                          </p:spTgt>
                                        </p:tgtEl>
                                        <p:attrNameLst>
                                          <p:attrName>style.visibility</p:attrName>
                                        </p:attrNameLst>
                                      </p:cBhvr>
                                      <p:to>
                                        <p:strVal val="visible"/>
                                      </p:to>
                                    </p:set>
                                    <p:animEffect transition="in" filter="blinds(horizontal)">
                                      <p:cBhvr>
                                        <p:cTn id="15" dur="500"/>
                                        <p:tgtEl>
                                          <p:spTgt spid="6147">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6147">
                                            <p:txEl>
                                              <p:pRg st="5" end="5"/>
                                            </p:txEl>
                                          </p:spTgt>
                                        </p:tgtEl>
                                        <p:attrNameLst>
                                          <p:attrName>style.visibility</p:attrName>
                                        </p:attrNameLst>
                                      </p:cBhvr>
                                      <p:to>
                                        <p:strVal val="visible"/>
                                      </p:to>
                                    </p:set>
                                    <p:animEffect transition="in" filter="blinds(horizontal)">
                                      <p:cBhvr>
                                        <p:cTn id="20" dur="500"/>
                                        <p:tgtEl>
                                          <p:spTgt spid="614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2"/>
          <p:cNvSpPr>
            <a:spLocks noGrp="1" noChangeArrowheads="1"/>
          </p:cNvSpPr>
          <p:nvPr>
            <p:ph type="title"/>
          </p:nvPr>
        </p:nvSpPr>
        <p:spPr/>
        <p:txBody>
          <a:bodyPr/>
          <a:lstStyle/>
          <a:p>
            <a:pPr eaLnBrk="1" hangingPunct="1"/>
            <a:r>
              <a:rPr lang="en-US" dirty="0"/>
              <a:t>Formula</a:t>
            </a:r>
          </a:p>
        </p:txBody>
      </p:sp>
      <p:sp>
        <p:nvSpPr>
          <p:cNvPr id="1028" name="Rectangle 3"/>
          <p:cNvSpPr>
            <a:spLocks noGrp="1" noChangeArrowheads="1"/>
          </p:cNvSpPr>
          <p:nvPr>
            <p:ph type="body" sz="half" idx="1"/>
          </p:nvPr>
        </p:nvSpPr>
        <p:spPr>
          <a:xfrm>
            <a:off x="2133600" y="3810000"/>
            <a:ext cx="8229600" cy="5257800"/>
          </a:xfrm>
        </p:spPr>
        <p:txBody>
          <a:bodyPr/>
          <a:lstStyle/>
          <a:p>
            <a:pPr eaLnBrk="1" hangingPunct="1">
              <a:lnSpc>
                <a:spcPct val="80000"/>
              </a:lnSpc>
            </a:pPr>
            <a:r>
              <a:rPr lang="en-US" sz="2400" dirty="0"/>
              <a:t>Determine the number of each phenotype that have been observed and how many would be expected given basic genetic theory.</a:t>
            </a:r>
          </a:p>
          <a:p>
            <a:pPr eaLnBrk="1" hangingPunct="1">
              <a:lnSpc>
                <a:spcPct val="80000"/>
              </a:lnSpc>
            </a:pPr>
            <a:endParaRPr lang="en-US" sz="1800" dirty="0"/>
          </a:p>
          <a:p>
            <a:pPr eaLnBrk="1" hangingPunct="1">
              <a:lnSpc>
                <a:spcPct val="80000"/>
              </a:lnSpc>
            </a:pPr>
            <a:r>
              <a:rPr lang="en-US" sz="2400" dirty="0"/>
              <a:t>Then calculate the chi-square statistic using this formula.  </a:t>
            </a:r>
          </a:p>
          <a:p>
            <a:pPr eaLnBrk="1" hangingPunct="1">
              <a:lnSpc>
                <a:spcPct val="80000"/>
              </a:lnSpc>
              <a:buNone/>
            </a:pPr>
            <a:r>
              <a:rPr lang="en-US" sz="1800" dirty="0"/>
              <a:t>.</a:t>
            </a:r>
          </a:p>
        </p:txBody>
      </p:sp>
      <p:graphicFrame>
        <p:nvGraphicFramePr>
          <p:cNvPr id="1026" name="Object 6"/>
          <p:cNvGraphicFramePr>
            <a:graphicFrameLocks noGrp="1" noChangeAspect="1"/>
          </p:cNvGraphicFramePr>
          <p:nvPr>
            <p:ph sz="half" idx="2"/>
          </p:nvPr>
        </p:nvGraphicFramePr>
        <p:xfrm>
          <a:off x="3886200" y="1447800"/>
          <a:ext cx="4038600" cy="1346200"/>
        </p:xfrm>
        <a:graphic>
          <a:graphicData uri="http://schemas.openxmlformats.org/presentationml/2006/ole">
            <mc:AlternateContent xmlns:mc="http://schemas.openxmlformats.org/markup-compatibility/2006">
              <mc:Choice xmlns:v="urn:schemas-microsoft-com:vml" Requires="v">
                <p:oleObj name="Equation" r:id="rId2" imgW="1333293" imgH="444247" progId="">
                  <p:embed/>
                </p:oleObj>
              </mc:Choice>
              <mc:Fallback>
                <p:oleObj name="Equation" r:id="rId2" imgW="1333293" imgH="444247" progId="">
                  <p:embed/>
                  <p:pic>
                    <p:nvPicPr>
                      <p:cNvPr id="1026" name="Object 6"/>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6200" y="1447800"/>
                        <a:ext cx="4038600" cy="13462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473538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981200" y="152400"/>
            <a:ext cx="8229600" cy="1143000"/>
          </a:xfrm>
        </p:spPr>
        <p:txBody>
          <a:bodyPr/>
          <a:lstStyle/>
          <a:p>
            <a:pPr eaLnBrk="1" hangingPunct="1"/>
            <a:r>
              <a:rPr lang="en-US" dirty="0"/>
              <a:t>Example</a:t>
            </a:r>
          </a:p>
        </p:txBody>
      </p:sp>
      <p:sp>
        <p:nvSpPr>
          <p:cNvPr id="7171" name="Rectangle 3"/>
          <p:cNvSpPr>
            <a:spLocks noGrp="1" noChangeArrowheads="1"/>
          </p:cNvSpPr>
          <p:nvPr>
            <p:ph type="body" idx="1"/>
          </p:nvPr>
        </p:nvSpPr>
        <p:spPr>
          <a:xfrm>
            <a:off x="2057400" y="1066801"/>
            <a:ext cx="8229600" cy="4525963"/>
          </a:xfrm>
        </p:spPr>
        <p:txBody>
          <a:bodyPr>
            <a:normAutofit fontScale="92500" lnSpcReduction="20000"/>
          </a:bodyPr>
          <a:lstStyle/>
          <a:p>
            <a:pPr eaLnBrk="1" hangingPunct="1">
              <a:lnSpc>
                <a:spcPct val="80000"/>
              </a:lnSpc>
              <a:buNone/>
            </a:pPr>
            <a:r>
              <a:rPr lang="en-US" dirty="0"/>
              <a:t>As an example, for a monohybrid cross in F2 </a:t>
            </a:r>
            <a:r>
              <a:rPr lang="en-US" dirty="0" err="1"/>
              <a:t>offsprings</a:t>
            </a:r>
            <a:r>
              <a:rPr lang="en-US" dirty="0"/>
              <a:t> one gets  290 purple and 110 white flowers.  Is the observed numbers significant for 3:1 ratio?  </a:t>
            </a:r>
          </a:p>
          <a:p>
            <a:pPr eaLnBrk="1" hangingPunct="1">
              <a:lnSpc>
                <a:spcPct val="80000"/>
              </a:lnSpc>
              <a:buNone/>
            </a:pPr>
            <a:r>
              <a:rPr lang="en-US" dirty="0"/>
              <a:t>Theoretical Expectation: </a:t>
            </a:r>
            <a:r>
              <a:rPr lang="en-US" sz="2400" dirty="0"/>
              <a:t>3/4 : 1/4 ratio</a:t>
            </a:r>
            <a:r>
              <a:rPr lang="en-US" sz="1800" dirty="0"/>
              <a:t>. </a:t>
            </a:r>
          </a:p>
          <a:p>
            <a:pPr eaLnBrk="1" hangingPunct="1">
              <a:lnSpc>
                <a:spcPct val="80000"/>
              </a:lnSpc>
              <a:buNone/>
            </a:pPr>
            <a:r>
              <a:rPr lang="en-US" sz="1800" dirty="0"/>
              <a:t>	Expected purple 400 * 3/4 = 300 purple, </a:t>
            </a:r>
          </a:p>
          <a:p>
            <a:pPr eaLnBrk="1" hangingPunct="1">
              <a:lnSpc>
                <a:spcPct val="80000"/>
              </a:lnSpc>
              <a:buNone/>
            </a:pPr>
            <a:r>
              <a:rPr lang="en-US" sz="1800" dirty="0"/>
              <a:t>	Expected White  400 * 1/4 = 100 white.  </a:t>
            </a:r>
          </a:p>
          <a:p>
            <a:pPr eaLnBrk="1" hangingPunct="1">
              <a:lnSpc>
                <a:spcPct val="80000"/>
              </a:lnSpc>
              <a:buNone/>
            </a:pPr>
            <a:r>
              <a:rPr lang="en-US" sz="1800" dirty="0"/>
              <a:t>Observed purple  = 290  Observed white, = 110</a:t>
            </a:r>
          </a:p>
          <a:p>
            <a:pPr eaLnBrk="1" hangingPunct="1">
              <a:lnSpc>
                <a:spcPct val="80000"/>
              </a:lnSpc>
            </a:pPr>
            <a:r>
              <a:rPr lang="en-US" sz="1800" dirty="0"/>
              <a:t>Applying the numbers in chi-square analysis: </a:t>
            </a:r>
          </a:p>
          <a:p>
            <a:pPr eaLnBrk="1" hangingPunct="1">
              <a:lnSpc>
                <a:spcPct val="80000"/>
              </a:lnSpc>
              <a:buFontTx/>
              <a:buNone/>
            </a:pPr>
            <a:r>
              <a:rPr lang="en-US" sz="1800" dirty="0">
                <a:sym typeface="Symbol" pitchFamily="18" charset="2"/>
              </a:rPr>
              <a:t>         </a:t>
            </a:r>
            <a:r>
              <a:rPr lang="en-US" sz="1800" baseline="30000" dirty="0">
                <a:sym typeface="Symbol" pitchFamily="18" charset="2"/>
              </a:rPr>
              <a:t>2</a:t>
            </a:r>
            <a:r>
              <a:rPr lang="en-US" sz="1800" dirty="0"/>
              <a:t> = (290 - 300)</a:t>
            </a:r>
            <a:r>
              <a:rPr lang="en-US" sz="1800" baseline="30000" dirty="0"/>
              <a:t>2</a:t>
            </a:r>
            <a:r>
              <a:rPr lang="en-US" sz="1800" dirty="0"/>
              <a:t> / 300 + (110 - 100)</a:t>
            </a:r>
            <a:r>
              <a:rPr lang="en-US" sz="1800" baseline="30000" dirty="0"/>
              <a:t>2</a:t>
            </a:r>
            <a:r>
              <a:rPr lang="en-US" sz="1800" dirty="0"/>
              <a:t> / 100 </a:t>
            </a:r>
          </a:p>
          <a:p>
            <a:pPr eaLnBrk="1" hangingPunct="1">
              <a:lnSpc>
                <a:spcPct val="80000"/>
              </a:lnSpc>
              <a:buFontTx/>
              <a:buNone/>
            </a:pPr>
            <a:r>
              <a:rPr lang="en-US" sz="1800" dirty="0"/>
              <a:t>              =  (-10)</a:t>
            </a:r>
            <a:r>
              <a:rPr lang="en-US" sz="1800" baseline="30000" dirty="0"/>
              <a:t>2</a:t>
            </a:r>
            <a:r>
              <a:rPr lang="en-US" sz="1800" dirty="0"/>
              <a:t> / 300 + (10)</a:t>
            </a:r>
            <a:r>
              <a:rPr lang="en-US" sz="1800" baseline="30000" dirty="0"/>
              <a:t>2</a:t>
            </a:r>
            <a:r>
              <a:rPr lang="en-US" sz="1800" dirty="0"/>
              <a:t> / 100 </a:t>
            </a:r>
          </a:p>
          <a:p>
            <a:pPr eaLnBrk="1" hangingPunct="1">
              <a:lnSpc>
                <a:spcPct val="80000"/>
              </a:lnSpc>
              <a:buFontTx/>
              <a:buNone/>
            </a:pPr>
            <a:r>
              <a:rPr lang="en-US" sz="1800" dirty="0"/>
              <a:t>              =  100 / 300 + 100 / 100 </a:t>
            </a:r>
          </a:p>
          <a:p>
            <a:pPr eaLnBrk="1" hangingPunct="1">
              <a:lnSpc>
                <a:spcPct val="80000"/>
              </a:lnSpc>
              <a:buFontTx/>
              <a:buNone/>
            </a:pPr>
            <a:r>
              <a:rPr lang="en-US" sz="1800" dirty="0"/>
              <a:t>              = 0.333 + 1.000 </a:t>
            </a:r>
          </a:p>
          <a:p>
            <a:pPr eaLnBrk="1" hangingPunct="1">
              <a:lnSpc>
                <a:spcPct val="80000"/>
              </a:lnSpc>
              <a:buFontTx/>
              <a:buNone/>
            </a:pPr>
            <a:r>
              <a:rPr lang="en-US" sz="1800" dirty="0"/>
              <a:t>              = 1.333.   </a:t>
            </a:r>
          </a:p>
          <a:p>
            <a:pPr eaLnBrk="1" hangingPunct="1">
              <a:lnSpc>
                <a:spcPct val="80000"/>
              </a:lnSpc>
              <a:buNone/>
            </a:pPr>
            <a:r>
              <a:rPr lang="en-US" sz="2400" dirty="0"/>
              <a:t>This is our chi-square value: now we need to see what it means and how to use it.</a:t>
            </a:r>
          </a:p>
        </p:txBody>
      </p:sp>
    </p:spTree>
    <p:extLst>
      <p:ext uri="{BB962C8B-B14F-4D97-AF65-F5344CB8AC3E}">
        <p14:creationId xmlns:p14="http://schemas.microsoft.com/office/powerpoint/2010/main" val="22708974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171">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7171">
                                            <p:txEl>
                                              <p:pRg st="4" end="4"/>
                                            </p:txEl>
                                          </p:spTgt>
                                        </p:tgtEl>
                                        <p:attrNameLst>
                                          <p:attrName>style.visibility</p:attrName>
                                        </p:attrNameLst>
                                      </p:cBhvr>
                                      <p:to>
                                        <p:strVal val="visible"/>
                                      </p:to>
                                    </p:set>
                                    <p:animEffect transition="in" filter="box(in)">
                                      <p:cBhvr>
                                        <p:cTn id="17" dur="500"/>
                                        <p:tgtEl>
                                          <p:spTgt spid="7171">
                                            <p:txEl>
                                              <p:pRg st="4" end="4"/>
                                            </p:txEl>
                                          </p:spTgt>
                                        </p:tgtEl>
                                      </p:cBhvr>
                                    </p:animEffect>
                                  </p:childTnLst>
                                </p:cTn>
                              </p:par>
                              <p:par>
                                <p:cTn id="18" presetID="4" presetClass="entr" presetSubtype="16" fill="hold" nodeType="withEffect">
                                  <p:stCondLst>
                                    <p:cond delay="0"/>
                                  </p:stCondLst>
                                  <p:childTnLst>
                                    <p:set>
                                      <p:cBhvr>
                                        <p:cTn id="19" dur="1" fill="hold">
                                          <p:stCondLst>
                                            <p:cond delay="0"/>
                                          </p:stCondLst>
                                        </p:cTn>
                                        <p:tgtEl>
                                          <p:spTgt spid="7171">
                                            <p:txEl>
                                              <p:pRg st="5" end="5"/>
                                            </p:txEl>
                                          </p:spTgt>
                                        </p:tgtEl>
                                        <p:attrNameLst>
                                          <p:attrName>style.visibility</p:attrName>
                                        </p:attrNameLst>
                                      </p:cBhvr>
                                      <p:to>
                                        <p:strVal val="visible"/>
                                      </p:to>
                                    </p:set>
                                    <p:animEffect transition="in" filter="box(in)">
                                      <p:cBhvr>
                                        <p:cTn id="20" dur="500"/>
                                        <p:tgtEl>
                                          <p:spTgt spid="7171">
                                            <p:txEl>
                                              <p:pRg st="5" end="5"/>
                                            </p:txEl>
                                          </p:spTgt>
                                        </p:tgtEl>
                                      </p:cBhvr>
                                    </p:animEffect>
                                  </p:childTnLst>
                                </p:cTn>
                              </p:par>
                              <p:par>
                                <p:cTn id="21" presetID="4" presetClass="entr" presetSubtype="16" fill="hold" nodeType="withEffect">
                                  <p:stCondLst>
                                    <p:cond delay="0"/>
                                  </p:stCondLst>
                                  <p:childTnLst>
                                    <p:set>
                                      <p:cBhvr>
                                        <p:cTn id="22" dur="1" fill="hold">
                                          <p:stCondLst>
                                            <p:cond delay="0"/>
                                          </p:stCondLst>
                                        </p:cTn>
                                        <p:tgtEl>
                                          <p:spTgt spid="7171">
                                            <p:txEl>
                                              <p:pRg st="6" end="6"/>
                                            </p:txEl>
                                          </p:spTgt>
                                        </p:tgtEl>
                                        <p:attrNameLst>
                                          <p:attrName>style.visibility</p:attrName>
                                        </p:attrNameLst>
                                      </p:cBhvr>
                                      <p:to>
                                        <p:strVal val="visible"/>
                                      </p:to>
                                    </p:set>
                                    <p:animEffect transition="in" filter="box(in)">
                                      <p:cBhvr>
                                        <p:cTn id="23" dur="500"/>
                                        <p:tgtEl>
                                          <p:spTgt spid="7171">
                                            <p:txEl>
                                              <p:pRg st="6" end="6"/>
                                            </p:txEl>
                                          </p:spTgt>
                                        </p:tgtEl>
                                      </p:cBhvr>
                                    </p:animEffect>
                                  </p:childTnLst>
                                </p:cTn>
                              </p:par>
                              <p:par>
                                <p:cTn id="24" presetID="4" presetClass="entr" presetSubtype="16" fill="hold" nodeType="withEffect">
                                  <p:stCondLst>
                                    <p:cond delay="0"/>
                                  </p:stCondLst>
                                  <p:childTnLst>
                                    <p:set>
                                      <p:cBhvr>
                                        <p:cTn id="25" dur="1" fill="hold">
                                          <p:stCondLst>
                                            <p:cond delay="0"/>
                                          </p:stCondLst>
                                        </p:cTn>
                                        <p:tgtEl>
                                          <p:spTgt spid="7171">
                                            <p:txEl>
                                              <p:pRg st="7" end="7"/>
                                            </p:txEl>
                                          </p:spTgt>
                                        </p:tgtEl>
                                        <p:attrNameLst>
                                          <p:attrName>style.visibility</p:attrName>
                                        </p:attrNameLst>
                                      </p:cBhvr>
                                      <p:to>
                                        <p:strVal val="visible"/>
                                      </p:to>
                                    </p:set>
                                    <p:animEffect transition="in" filter="box(in)">
                                      <p:cBhvr>
                                        <p:cTn id="26" dur="500"/>
                                        <p:tgtEl>
                                          <p:spTgt spid="7171">
                                            <p:txEl>
                                              <p:pRg st="7" end="7"/>
                                            </p:txEl>
                                          </p:spTgt>
                                        </p:tgtEl>
                                      </p:cBhvr>
                                    </p:animEffect>
                                  </p:childTnLst>
                                </p:cTn>
                              </p:par>
                              <p:par>
                                <p:cTn id="27" presetID="4" presetClass="entr" presetSubtype="16" fill="hold" nodeType="withEffect">
                                  <p:stCondLst>
                                    <p:cond delay="0"/>
                                  </p:stCondLst>
                                  <p:childTnLst>
                                    <p:set>
                                      <p:cBhvr>
                                        <p:cTn id="28" dur="1" fill="hold">
                                          <p:stCondLst>
                                            <p:cond delay="0"/>
                                          </p:stCondLst>
                                        </p:cTn>
                                        <p:tgtEl>
                                          <p:spTgt spid="7171">
                                            <p:txEl>
                                              <p:pRg st="8" end="8"/>
                                            </p:txEl>
                                          </p:spTgt>
                                        </p:tgtEl>
                                        <p:attrNameLst>
                                          <p:attrName>style.visibility</p:attrName>
                                        </p:attrNameLst>
                                      </p:cBhvr>
                                      <p:to>
                                        <p:strVal val="visible"/>
                                      </p:to>
                                    </p:set>
                                    <p:animEffect transition="in" filter="box(in)">
                                      <p:cBhvr>
                                        <p:cTn id="29" dur="500"/>
                                        <p:tgtEl>
                                          <p:spTgt spid="7171">
                                            <p:txEl>
                                              <p:pRg st="8" end="8"/>
                                            </p:txEl>
                                          </p:spTgt>
                                        </p:tgtEl>
                                      </p:cBhvr>
                                    </p:animEffect>
                                  </p:childTnLst>
                                </p:cTn>
                              </p:par>
                              <p:par>
                                <p:cTn id="30" presetID="4" presetClass="entr" presetSubtype="16" fill="hold" nodeType="withEffect">
                                  <p:stCondLst>
                                    <p:cond delay="0"/>
                                  </p:stCondLst>
                                  <p:childTnLst>
                                    <p:set>
                                      <p:cBhvr>
                                        <p:cTn id="31" dur="1" fill="hold">
                                          <p:stCondLst>
                                            <p:cond delay="0"/>
                                          </p:stCondLst>
                                        </p:cTn>
                                        <p:tgtEl>
                                          <p:spTgt spid="7171">
                                            <p:txEl>
                                              <p:pRg st="9" end="9"/>
                                            </p:txEl>
                                          </p:spTgt>
                                        </p:tgtEl>
                                        <p:attrNameLst>
                                          <p:attrName>style.visibility</p:attrName>
                                        </p:attrNameLst>
                                      </p:cBhvr>
                                      <p:to>
                                        <p:strVal val="visible"/>
                                      </p:to>
                                    </p:set>
                                    <p:animEffect transition="in" filter="box(in)">
                                      <p:cBhvr>
                                        <p:cTn id="32" dur="500"/>
                                        <p:tgtEl>
                                          <p:spTgt spid="7171">
                                            <p:txEl>
                                              <p:pRg st="9" end="9"/>
                                            </p:txEl>
                                          </p:spTgt>
                                        </p:tgtEl>
                                      </p:cBhvr>
                                    </p:animEffect>
                                  </p:childTnLst>
                                </p:cTn>
                              </p:par>
                              <p:par>
                                <p:cTn id="33" presetID="4" presetClass="entr" presetSubtype="16" fill="hold" nodeType="withEffect">
                                  <p:stCondLst>
                                    <p:cond delay="0"/>
                                  </p:stCondLst>
                                  <p:childTnLst>
                                    <p:set>
                                      <p:cBhvr>
                                        <p:cTn id="34" dur="1" fill="hold">
                                          <p:stCondLst>
                                            <p:cond delay="0"/>
                                          </p:stCondLst>
                                        </p:cTn>
                                        <p:tgtEl>
                                          <p:spTgt spid="7171">
                                            <p:txEl>
                                              <p:pRg st="10" end="10"/>
                                            </p:txEl>
                                          </p:spTgt>
                                        </p:tgtEl>
                                        <p:attrNameLst>
                                          <p:attrName>style.visibility</p:attrName>
                                        </p:attrNameLst>
                                      </p:cBhvr>
                                      <p:to>
                                        <p:strVal val="visible"/>
                                      </p:to>
                                    </p:set>
                                    <p:animEffect transition="in" filter="box(in)">
                                      <p:cBhvr>
                                        <p:cTn id="35" dur="500"/>
                                        <p:tgtEl>
                                          <p:spTgt spid="7171">
                                            <p:txEl>
                                              <p:pRg st="10" end="10"/>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7171">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r>
              <a:rPr lang="en-US" dirty="0"/>
              <a:t>If the results were perfect you get a chi-square value of  0 (because </a:t>
            </a:r>
            <a:r>
              <a:rPr lang="en-US" dirty="0" err="1"/>
              <a:t>obs</a:t>
            </a:r>
            <a:r>
              <a:rPr lang="en-US" dirty="0"/>
              <a:t> = exp).</a:t>
            </a:r>
          </a:p>
          <a:p>
            <a:r>
              <a:rPr lang="en-US" dirty="0"/>
              <a:t>If you get a high chi-square value: a result from the wrong theory.  </a:t>
            </a:r>
          </a:p>
          <a:p>
            <a:r>
              <a:rPr lang="en-US" b="1" u="sng" dirty="0"/>
              <a:t>Low chi-square value needs to be checked for evaluating the hypothesis.</a:t>
            </a:r>
          </a:p>
          <a:p>
            <a:endParaRPr lang="en-US" dirty="0"/>
          </a:p>
          <a:p>
            <a:endParaRPr lang="en-US" dirty="0"/>
          </a:p>
        </p:txBody>
      </p:sp>
    </p:spTree>
    <p:extLst>
      <p:ext uri="{BB962C8B-B14F-4D97-AF65-F5344CB8AC3E}">
        <p14:creationId xmlns:p14="http://schemas.microsoft.com/office/powerpoint/2010/main" val="3170803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blinds(horizontal)">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iterate type="lt">
                                    <p:tmPct val="0"/>
                                  </p:iterate>
                                  <p:childTnLst>
                                    <p:set>
                                      <p:cBhvr>
                                        <p:cTn id="15" dur="1" fill="hold">
                                          <p:stCondLst>
                                            <p:cond delay="0"/>
                                          </p:stCondLst>
                                        </p:cTn>
                                        <p:tgtEl>
                                          <p:spTgt spid="3">
                                            <p:txEl>
                                              <p:pRg st="2" end="2"/>
                                            </p:txEl>
                                          </p:spTgt>
                                        </p:tgtEl>
                                        <p:attrNameLst>
                                          <p:attrName>style.visibility</p:attrName>
                                        </p:attrNameLst>
                                      </p:cBhvr>
                                      <p:to>
                                        <p:strVal val="visible"/>
                                      </p:to>
                                    </p:set>
                                    <p:animEffect transition="in" filter="box(in)">
                                      <p:cBhvr>
                                        <p:cTn id="1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pPr eaLnBrk="1" hangingPunct="1">
              <a:lnSpc>
                <a:spcPct val="80000"/>
              </a:lnSpc>
            </a:pPr>
            <a:r>
              <a:rPr lang="en-US" dirty="0">
                <a:latin typeface="Comic Sans MS" pitchFamily="66" charset="0"/>
              </a:rPr>
              <a:t>What is a “reasonable” result? </a:t>
            </a:r>
          </a:p>
        </p:txBody>
      </p:sp>
      <p:sp>
        <p:nvSpPr>
          <p:cNvPr id="11267" name="Rectangle 3"/>
          <p:cNvSpPr>
            <a:spLocks noGrp="1" noChangeArrowheads="1"/>
          </p:cNvSpPr>
          <p:nvPr>
            <p:ph type="body" idx="1"/>
          </p:nvPr>
        </p:nvSpPr>
        <p:spPr>
          <a:xfrm>
            <a:off x="1981200" y="1600200"/>
            <a:ext cx="8229600" cy="5029200"/>
          </a:xfrm>
        </p:spPr>
        <p:txBody>
          <a:bodyPr/>
          <a:lstStyle/>
          <a:p>
            <a:pPr eaLnBrk="1" hangingPunct="1">
              <a:lnSpc>
                <a:spcPct val="80000"/>
              </a:lnSpc>
            </a:pPr>
            <a:r>
              <a:rPr lang="en-US" dirty="0"/>
              <a:t>A result is said to not differ significantly from expectations if deviation is observed once in 20 trials.  </a:t>
            </a:r>
          </a:p>
          <a:p>
            <a:pPr eaLnBrk="1" hangingPunct="1">
              <a:lnSpc>
                <a:spcPct val="80000"/>
              </a:lnSpc>
            </a:pPr>
            <a:endParaRPr lang="en-US" sz="2000" dirty="0"/>
          </a:p>
          <a:p>
            <a:pPr eaLnBrk="1" hangingPunct="1">
              <a:lnSpc>
                <a:spcPct val="80000"/>
              </a:lnSpc>
            </a:pPr>
            <a:endParaRPr lang="en-US" sz="2000" dirty="0"/>
          </a:p>
          <a:p>
            <a:pPr eaLnBrk="1" hangingPunct="1">
              <a:lnSpc>
                <a:spcPct val="80000"/>
              </a:lnSpc>
            </a:pPr>
            <a:endParaRPr lang="en-US" sz="2000" dirty="0"/>
          </a:p>
          <a:p>
            <a:pPr eaLnBrk="1" hangingPunct="1">
              <a:lnSpc>
                <a:spcPct val="80000"/>
              </a:lnSpc>
            </a:pPr>
            <a:r>
              <a:rPr lang="en-US" dirty="0"/>
              <a:t>“1 time in 20” can be written as a probability value p = 0.05,meaning that  in case of true null hypothesis, there is chance of getting this deviation once in 20 trials.</a:t>
            </a:r>
          </a:p>
          <a:p>
            <a:pPr marL="0" indent="0">
              <a:lnSpc>
                <a:spcPct val="80000"/>
              </a:lnSpc>
              <a:buNone/>
            </a:pPr>
            <a:r>
              <a:rPr lang="en-US" dirty="0"/>
              <a:t>.</a:t>
            </a:r>
          </a:p>
        </p:txBody>
      </p:sp>
    </p:spTree>
    <p:extLst>
      <p:ext uri="{BB962C8B-B14F-4D97-AF65-F5344CB8AC3E}">
        <p14:creationId xmlns:p14="http://schemas.microsoft.com/office/powerpoint/2010/main" val="3825792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11267">
                                            <p:txEl>
                                              <p:pRg st="5" end="5"/>
                                            </p:txEl>
                                          </p:spTgt>
                                        </p:tgtEl>
                                        <p:attrNameLst>
                                          <p:attrName>style.visibility</p:attrName>
                                        </p:attrNameLst>
                                      </p:cBhvr>
                                      <p:to>
                                        <p:strVal val="visible"/>
                                      </p:to>
                                    </p:set>
                                    <p:animEffect transition="in" filter="checkerboard(across)">
                                      <p:cBhvr>
                                        <p:cTn id="15" dur="500"/>
                                        <p:tgtEl>
                                          <p:spTgt spid="1126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1600200"/>
            <a:ext cx="8229600" cy="1143000"/>
          </a:xfrm>
        </p:spPr>
        <p:txBody>
          <a:bodyPr>
            <a:normAutofit fontScale="90000"/>
          </a:bodyPr>
          <a:lstStyle/>
          <a:p>
            <a:r>
              <a:rPr lang="en-US" dirty="0">
                <a:latin typeface="Comic Sans MS" pitchFamily="66" charset="0"/>
              </a:rPr>
              <a:t>How do you calculate the p value from chi square?</a:t>
            </a:r>
          </a:p>
        </p:txBody>
      </p:sp>
      <p:sp>
        <p:nvSpPr>
          <p:cNvPr id="3" name="TextBox 2"/>
          <p:cNvSpPr txBox="1"/>
          <p:nvPr/>
        </p:nvSpPr>
        <p:spPr>
          <a:xfrm>
            <a:off x="2895600" y="3657601"/>
            <a:ext cx="6172200" cy="1323439"/>
          </a:xfrm>
          <a:prstGeom prst="rect">
            <a:avLst/>
          </a:prstGeom>
          <a:noFill/>
        </p:spPr>
        <p:txBody>
          <a:bodyPr wrap="square" rtlCol="0">
            <a:spAutoFit/>
          </a:bodyPr>
          <a:lstStyle/>
          <a:p>
            <a:pPr algn="ctr"/>
            <a:r>
              <a:rPr lang="en-US" sz="4000" b="1" dirty="0"/>
              <a:t>One uses the chi square table</a:t>
            </a:r>
          </a:p>
        </p:txBody>
      </p:sp>
    </p:spTree>
    <p:extLst>
      <p:ext uri="{BB962C8B-B14F-4D97-AF65-F5344CB8AC3E}">
        <p14:creationId xmlns:p14="http://schemas.microsoft.com/office/powerpoint/2010/main" val="26003331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pPr eaLnBrk="1" hangingPunct="1"/>
            <a:r>
              <a:rPr lang="en-US"/>
              <a:t>Degrees of Freedom</a:t>
            </a:r>
          </a:p>
        </p:txBody>
      </p:sp>
      <p:sp>
        <p:nvSpPr>
          <p:cNvPr id="12291" name="Rectangle 3"/>
          <p:cNvSpPr>
            <a:spLocks noGrp="1" noChangeArrowheads="1"/>
          </p:cNvSpPr>
          <p:nvPr>
            <p:ph type="body" idx="1"/>
          </p:nvPr>
        </p:nvSpPr>
        <p:spPr/>
        <p:txBody>
          <a:bodyPr/>
          <a:lstStyle/>
          <a:p>
            <a:pPr eaLnBrk="1" hangingPunct="1">
              <a:lnSpc>
                <a:spcPct val="90000"/>
              </a:lnSpc>
            </a:pPr>
            <a:r>
              <a:rPr lang="en-US" dirty="0"/>
              <a:t>A critical factor in using the chi-square test is the “degrees of freedom”, which is essentially the number of independent random variables involved.</a:t>
            </a:r>
          </a:p>
          <a:p>
            <a:pPr eaLnBrk="1" hangingPunct="1">
              <a:lnSpc>
                <a:spcPct val="90000"/>
              </a:lnSpc>
            </a:pPr>
            <a:r>
              <a:rPr lang="en-US" u="sng" dirty="0"/>
              <a:t>Degrees of freedom is simply the number of classes of offspring minus 1</a:t>
            </a:r>
            <a:r>
              <a:rPr lang="en-US" dirty="0"/>
              <a:t>.  </a:t>
            </a:r>
          </a:p>
          <a:p>
            <a:pPr eaLnBrk="1" hangingPunct="1">
              <a:lnSpc>
                <a:spcPct val="90000"/>
              </a:lnSpc>
            </a:pPr>
            <a:r>
              <a:rPr lang="en-US" dirty="0"/>
              <a:t>For our example, there are 2 classes of offspring: purple and white.  Thus, degrees of freedom (</a:t>
            </a:r>
            <a:r>
              <a:rPr lang="en-US" dirty="0" err="1"/>
              <a:t>d.f</a:t>
            </a:r>
            <a:r>
              <a:rPr lang="en-US" dirty="0"/>
              <a:t>.) = 2 -1 = 1.</a:t>
            </a:r>
          </a:p>
        </p:txBody>
      </p:sp>
    </p:spTree>
    <p:extLst>
      <p:ext uri="{BB962C8B-B14F-4D97-AF65-F5344CB8AC3E}">
        <p14:creationId xmlns:p14="http://schemas.microsoft.com/office/powerpoint/2010/main" val="1146112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291">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29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t>Critical Chi-Square</a:t>
            </a:r>
          </a:p>
        </p:txBody>
      </p:sp>
      <p:sp>
        <p:nvSpPr>
          <p:cNvPr id="13315" name="Rectangle 3"/>
          <p:cNvSpPr>
            <a:spLocks noGrp="1" noChangeArrowheads="1"/>
          </p:cNvSpPr>
          <p:nvPr>
            <p:ph type="body" idx="1"/>
          </p:nvPr>
        </p:nvSpPr>
        <p:spPr/>
        <p:txBody>
          <a:bodyPr/>
          <a:lstStyle/>
          <a:p>
            <a:pPr eaLnBrk="1" hangingPunct="1">
              <a:lnSpc>
                <a:spcPct val="90000"/>
              </a:lnSpc>
            </a:pPr>
            <a:r>
              <a:rPr lang="en-US" dirty="0"/>
              <a:t>Critical values for chi-square are found on tables, sorted by degrees of freedom and probability levels.  </a:t>
            </a:r>
            <a:r>
              <a:rPr lang="en-US" dirty="0">
                <a:solidFill>
                  <a:srgbClr val="FF0000"/>
                </a:solidFill>
              </a:rPr>
              <a:t>Be sure to use p = 0.05</a:t>
            </a:r>
            <a:r>
              <a:rPr lang="en-US" dirty="0"/>
              <a:t>.</a:t>
            </a:r>
          </a:p>
          <a:p>
            <a:pPr eaLnBrk="1" hangingPunct="1">
              <a:lnSpc>
                <a:spcPct val="90000"/>
              </a:lnSpc>
            </a:pPr>
            <a:r>
              <a:rPr lang="en-US" b="1" dirty="0"/>
              <a:t>If your calculated chi-square value is greater than the critical value from the table, you “reject the null hypothesis</a:t>
            </a:r>
            <a:r>
              <a:rPr lang="en-US" dirty="0"/>
              <a:t>”.</a:t>
            </a:r>
          </a:p>
          <a:p>
            <a:pPr eaLnBrk="1" hangingPunct="1">
              <a:lnSpc>
                <a:spcPct val="90000"/>
              </a:lnSpc>
            </a:pPr>
            <a:r>
              <a:rPr lang="en-US" u="sng" dirty="0"/>
              <a:t>If your chi-square value is less than the critical value, you “fail to reject” the null hypothesis (that is, you accept that your genetic theory about the expected ratio is correct). </a:t>
            </a:r>
          </a:p>
        </p:txBody>
      </p:sp>
    </p:spTree>
    <p:extLst>
      <p:ext uri="{BB962C8B-B14F-4D97-AF65-F5344CB8AC3E}">
        <p14:creationId xmlns:p14="http://schemas.microsoft.com/office/powerpoint/2010/main" val="28792619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31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animEffect transition="in" filter="blinds(horizontal)">
                                      <p:cBhvr>
                                        <p:cTn id="11" dur="500"/>
                                        <p:tgtEl>
                                          <p:spTgt spid="1331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chisquare_table"/>
          <p:cNvPicPr>
            <a:picLocks noGrp="1" noChangeAspect="1" noChangeArrowheads="1"/>
          </p:cNvPicPr>
          <p:nvPr>
            <p:ph/>
          </p:nvPr>
        </p:nvPicPr>
        <p:blipFill>
          <a:blip r:embed="rId3" cstate="print"/>
          <a:srcRect/>
          <a:stretch>
            <a:fillRect/>
          </a:stretch>
        </p:blipFill>
        <p:spPr>
          <a:xfrm>
            <a:off x="1845547" y="641350"/>
            <a:ext cx="8275822" cy="5330434"/>
          </a:xfrm>
          <a:noFill/>
        </p:spPr>
      </p:pic>
      <p:sp>
        <p:nvSpPr>
          <p:cNvPr id="14339" name="Text Box 6"/>
          <p:cNvSpPr txBox="1">
            <a:spLocks noChangeArrowheads="1"/>
          </p:cNvSpPr>
          <p:nvPr/>
        </p:nvSpPr>
        <p:spPr bwMode="auto">
          <a:xfrm>
            <a:off x="4213225" y="1"/>
            <a:ext cx="3311612" cy="646331"/>
          </a:xfrm>
          <a:prstGeom prst="rect">
            <a:avLst/>
          </a:prstGeom>
          <a:noFill/>
          <a:ln w="9525">
            <a:noFill/>
            <a:miter lim="800000"/>
            <a:headEnd/>
            <a:tailEnd/>
          </a:ln>
        </p:spPr>
        <p:txBody>
          <a:bodyPr wrap="none">
            <a:spAutoFit/>
          </a:bodyPr>
          <a:lstStyle/>
          <a:p>
            <a:r>
              <a:rPr lang="en-US" sz="3600"/>
              <a:t>Chi-Square Table</a:t>
            </a:r>
          </a:p>
        </p:txBody>
      </p:sp>
      <p:sp>
        <p:nvSpPr>
          <p:cNvPr id="2" name="TextBox 1"/>
          <p:cNvSpPr txBox="1"/>
          <p:nvPr/>
        </p:nvSpPr>
        <p:spPr>
          <a:xfrm>
            <a:off x="6427598" y="5690553"/>
            <a:ext cx="3906799" cy="923330"/>
          </a:xfrm>
          <a:prstGeom prst="rect">
            <a:avLst/>
          </a:prstGeom>
          <a:solidFill>
            <a:srgbClr val="FFFF00"/>
          </a:solidFill>
        </p:spPr>
        <p:txBody>
          <a:bodyPr wrap="square" rtlCol="0">
            <a:spAutoFit/>
          </a:bodyPr>
          <a:lstStyle/>
          <a:p>
            <a:r>
              <a:rPr lang="en-US" dirty="0">
                <a:solidFill>
                  <a:srgbClr val="FF0000"/>
                </a:solidFill>
              </a:rPr>
              <a:t>Difference between the observed </a:t>
            </a:r>
          </a:p>
          <a:p>
            <a:r>
              <a:rPr lang="en-US" dirty="0">
                <a:solidFill>
                  <a:srgbClr val="FF0000"/>
                </a:solidFill>
              </a:rPr>
              <a:t>and the expected is significant and it can’t be by chance alone.</a:t>
            </a:r>
          </a:p>
        </p:txBody>
      </p:sp>
      <p:cxnSp>
        <p:nvCxnSpPr>
          <p:cNvPr id="4" name="Straight Connector 3"/>
          <p:cNvCxnSpPr/>
          <p:nvPr/>
        </p:nvCxnSpPr>
        <p:spPr>
          <a:xfrm>
            <a:off x="6459752" y="1720027"/>
            <a:ext cx="0" cy="4671799"/>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7" name="Straight Connector 6"/>
          <p:cNvCxnSpPr/>
          <p:nvPr/>
        </p:nvCxnSpPr>
        <p:spPr>
          <a:xfrm>
            <a:off x="2392181" y="6594084"/>
            <a:ext cx="7568418" cy="3215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2552951" y="2186202"/>
            <a:ext cx="0" cy="4440033"/>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a:off x="9988374" y="2186202"/>
            <a:ext cx="0" cy="4440033"/>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9261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p:txBody>
          <a:bodyPr/>
          <a:lstStyle/>
          <a:p>
            <a:pPr eaLnBrk="1" hangingPunct="1"/>
            <a:r>
              <a:rPr lang="en-US"/>
              <a:t>Using the Table</a:t>
            </a:r>
          </a:p>
        </p:txBody>
      </p:sp>
      <p:sp>
        <p:nvSpPr>
          <p:cNvPr id="15363" name="Rectangle 3"/>
          <p:cNvSpPr>
            <a:spLocks noGrp="1" noChangeArrowheads="1"/>
          </p:cNvSpPr>
          <p:nvPr>
            <p:ph type="body" idx="1"/>
          </p:nvPr>
        </p:nvSpPr>
        <p:spPr/>
        <p:txBody>
          <a:bodyPr/>
          <a:lstStyle/>
          <a:p>
            <a:pPr eaLnBrk="1" hangingPunct="1">
              <a:lnSpc>
                <a:spcPct val="90000"/>
              </a:lnSpc>
            </a:pPr>
            <a:r>
              <a:rPr lang="en-US" dirty="0"/>
              <a:t>In the example of 290 purple to 110 white, we calculated a chi-square value of 1.333, with 1 degree of freedom.</a:t>
            </a:r>
          </a:p>
          <a:p>
            <a:pPr eaLnBrk="1" hangingPunct="1">
              <a:lnSpc>
                <a:spcPct val="90000"/>
              </a:lnSpc>
            </a:pPr>
            <a:r>
              <a:rPr lang="en-US" dirty="0"/>
              <a:t>Looking at the table, 1 </a:t>
            </a:r>
            <a:r>
              <a:rPr lang="en-US" dirty="0" err="1"/>
              <a:t>d.f</a:t>
            </a:r>
            <a:r>
              <a:rPr lang="en-US" dirty="0"/>
              <a:t>. is the first row, and p = 0.05 is the sixth column.  Here we find the critical chi-square value, 3.841.</a:t>
            </a:r>
          </a:p>
          <a:p>
            <a:pPr eaLnBrk="1" hangingPunct="1">
              <a:lnSpc>
                <a:spcPct val="90000"/>
              </a:lnSpc>
            </a:pPr>
            <a:r>
              <a:rPr lang="en-US" dirty="0"/>
              <a:t>Since </a:t>
            </a:r>
            <a:r>
              <a:rPr lang="en-US" b="1" dirty="0"/>
              <a:t>the calculated chi-square, 1.333, is less than the critical value, 3.841</a:t>
            </a:r>
            <a:r>
              <a:rPr lang="en-US" dirty="0"/>
              <a:t>, one “fails to reject” the null hypothesis.  Thus, an observed </a:t>
            </a:r>
            <a:r>
              <a:rPr lang="en-US" u="sng" dirty="0"/>
              <a:t>ratio of 290 purple to 110 white is a good fit to a 3/4 to 1/4 ratio</a:t>
            </a:r>
            <a:r>
              <a:rPr lang="en-US" dirty="0"/>
              <a:t>.</a:t>
            </a:r>
          </a:p>
        </p:txBody>
      </p:sp>
    </p:spTree>
    <p:extLst>
      <p:ext uri="{BB962C8B-B14F-4D97-AF65-F5344CB8AC3E}">
        <p14:creationId xmlns:p14="http://schemas.microsoft.com/office/powerpoint/2010/main" val="35010375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15363">
                                            <p:txEl>
                                              <p:pRg st="1" end="1"/>
                                            </p:txEl>
                                          </p:spTgt>
                                        </p:tgtEl>
                                        <p:attrNameLst>
                                          <p:attrName>style.visibility</p:attrName>
                                        </p:attrNameLst>
                                      </p:cBhvr>
                                      <p:to>
                                        <p:strVal val="visible"/>
                                      </p:to>
                                    </p:set>
                                    <p:animEffect transition="in" filter="blinds(horizontal)">
                                      <p:cBhvr>
                                        <p:cTn id="11" dur="500"/>
                                        <p:tgtEl>
                                          <p:spTgt spid="1536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4" presetClass="entr" presetSubtype="16" fill="hold" nodeType="clickEffect">
                                  <p:stCondLst>
                                    <p:cond delay="0"/>
                                  </p:stCondLst>
                                  <p:childTnLst>
                                    <p:set>
                                      <p:cBhvr>
                                        <p:cTn id="15" dur="1" fill="hold">
                                          <p:stCondLst>
                                            <p:cond delay="0"/>
                                          </p:stCondLst>
                                        </p:cTn>
                                        <p:tgtEl>
                                          <p:spTgt spid="15363">
                                            <p:txEl>
                                              <p:pRg st="2" end="2"/>
                                            </p:txEl>
                                          </p:spTgt>
                                        </p:tgtEl>
                                        <p:attrNameLst>
                                          <p:attrName>style.visibility</p:attrName>
                                        </p:attrNameLst>
                                      </p:cBhvr>
                                      <p:to>
                                        <p:strVal val="visible"/>
                                      </p:to>
                                    </p:set>
                                    <p:animEffect transition="in" filter="box(in)">
                                      <p:cBhvr>
                                        <p:cTn id="16" dur="500"/>
                                        <p:tgtEl>
                                          <p:spTgt spid="153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Another Example: from Mendel</a:t>
            </a:r>
          </a:p>
        </p:txBody>
      </p:sp>
      <p:graphicFrame>
        <p:nvGraphicFramePr>
          <p:cNvPr id="20528" name="Group 48"/>
          <p:cNvGraphicFramePr>
            <a:graphicFrameLocks noGrp="1"/>
          </p:cNvGraphicFramePr>
          <p:nvPr>
            <p:ph idx="1"/>
          </p:nvPr>
        </p:nvGraphicFramePr>
        <p:xfrm>
          <a:off x="2667000" y="1408112"/>
          <a:ext cx="6172200" cy="5449888"/>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755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phenotype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observed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expected proportion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2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round yellow</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9/16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5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round green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4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wrinkled yellow</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3/16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52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wrinkled green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1/16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254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total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556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5029061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chisquare_table"/>
          <p:cNvPicPr>
            <a:picLocks noGrp="1" noChangeAspect="1" noChangeArrowheads="1"/>
          </p:cNvPicPr>
          <p:nvPr>
            <p:ph/>
          </p:nvPr>
        </p:nvPicPr>
        <p:blipFill>
          <a:blip r:embed="rId2" cstate="print"/>
          <a:srcRect/>
          <a:stretch>
            <a:fillRect/>
          </a:stretch>
        </p:blipFill>
        <p:spPr>
          <a:xfrm>
            <a:off x="1508880" y="968376"/>
            <a:ext cx="9144000" cy="5889625"/>
          </a:xfrm>
          <a:noFill/>
        </p:spPr>
      </p:pic>
      <p:sp>
        <p:nvSpPr>
          <p:cNvPr id="14339" name="Text Box 6"/>
          <p:cNvSpPr txBox="1">
            <a:spLocks noChangeArrowheads="1"/>
          </p:cNvSpPr>
          <p:nvPr/>
        </p:nvSpPr>
        <p:spPr bwMode="auto">
          <a:xfrm>
            <a:off x="4213225" y="1"/>
            <a:ext cx="3311612" cy="646331"/>
          </a:xfrm>
          <a:prstGeom prst="rect">
            <a:avLst/>
          </a:prstGeom>
          <a:noFill/>
          <a:ln w="9525">
            <a:noFill/>
            <a:miter lim="800000"/>
            <a:headEnd/>
            <a:tailEnd/>
          </a:ln>
        </p:spPr>
        <p:txBody>
          <a:bodyPr wrap="none">
            <a:spAutoFit/>
          </a:bodyPr>
          <a:lstStyle/>
          <a:p>
            <a:r>
              <a:rPr lang="en-US" sz="3600"/>
              <a:t>Chi-Square Table</a:t>
            </a:r>
          </a:p>
        </p:txBody>
      </p:sp>
      <p:sp>
        <p:nvSpPr>
          <p:cNvPr id="2" name="Rectangle 1"/>
          <p:cNvSpPr/>
          <p:nvPr/>
        </p:nvSpPr>
        <p:spPr>
          <a:xfrm>
            <a:off x="6483457" y="1980487"/>
            <a:ext cx="1028180" cy="5155311"/>
          </a:xfrm>
          <a:prstGeom prst="rect">
            <a:avLst/>
          </a:prstGeom>
          <a:noFill/>
          <a:ln w="38100" cmpd="sng">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 name="Rectangle 2"/>
          <p:cNvSpPr/>
          <p:nvPr/>
        </p:nvSpPr>
        <p:spPr>
          <a:xfrm>
            <a:off x="6680023" y="3146858"/>
            <a:ext cx="801375" cy="282711"/>
          </a:xfrm>
          <a:prstGeom prst="rect">
            <a:avLst/>
          </a:prstGeom>
          <a:noFill/>
          <a:ln w="57150" cmpd="sng">
            <a:solidFill>
              <a:schemeClr val="accent2">
                <a:lumMod val="50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76844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US"/>
              <a:t>Another Example: from Mendel</a:t>
            </a:r>
          </a:p>
        </p:txBody>
      </p:sp>
      <p:graphicFrame>
        <p:nvGraphicFramePr>
          <p:cNvPr id="20528" name="Group 48"/>
          <p:cNvGraphicFramePr>
            <a:graphicFrameLocks noGrp="1"/>
          </p:cNvGraphicFramePr>
          <p:nvPr>
            <p:ph idx="1"/>
          </p:nvPr>
        </p:nvGraphicFramePr>
        <p:xfrm>
          <a:off x="1981200" y="1409700"/>
          <a:ext cx="8229600" cy="5449888"/>
        </p:xfrm>
        <a:graphic>
          <a:graphicData uri="http://schemas.openxmlformats.org/drawingml/2006/table">
            <a:tbl>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755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dirty="0">
                          <a:ln>
                            <a:noFill/>
                          </a:ln>
                          <a:solidFill>
                            <a:schemeClr val="tx1"/>
                          </a:solidFill>
                          <a:effectLst/>
                          <a:latin typeface="Arial" charset="0"/>
                        </a:rPr>
                        <a:t>phenotype</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observed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expected proportion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expected number</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52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round yellow</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9/16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312.75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55650">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round green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104.25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75406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wrinkled yellow</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108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104.25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7524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wrinkled green</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1/16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34.75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25488">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total</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556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28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2800" b="0" i="0" u="none" strike="noStrike" cap="none" normalizeH="0" baseline="0">
                          <a:ln>
                            <a:noFill/>
                          </a:ln>
                          <a:solidFill>
                            <a:schemeClr val="tx1"/>
                          </a:solidFill>
                          <a:effectLst/>
                          <a:latin typeface="Arial" charset="0"/>
                        </a:rPr>
                        <a:t>556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811430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2"/>
          <p:cNvSpPr>
            <a:spLocks noGrp="1" noChangeArrowheads="1"/>
          </p:cNvSpPr>
          <p:nvPr>
            <p:ph type="title"/>
          </p:nvPr>
        </p:nvSpPr>
        <p:spPr/>
        <p:txBody>
          <a:bodyPr/>
          <a:lstStyle/>
          <a:p>
            <a:pPr eaLnBrk="1" hangingPunct="1"/>
            <a:r>
              <a:rPr lang="en-US" sz="4000"/>
              <a:t>Calculating the Chi-Square Value</a:t>
            </a:r>
          </a:p>
        </p:txBody>
      </p:sp>
      <p:sp>
        <p:nvSpPr>
          <p:cNvPr id="2052" name="Rectangle 3"/>
          <p:cNvSpPr>
            <a:spLocks noGrp="1" noChangeArrowheads="1"/>
          </p:cNvSpPr>
          <p:nvPr>
            <p:ph type="body" sz="half" idx="1"/>
          </p:nvPr>
        </p:nvSpPr>
        <p:spPr>
          <a:xfrm>
            <a:off x="1981200" y="1600200"/>
            <a:ext cx="8229600" cy="3581400"/>
          </a:xfrm>
        </p:spPr>
        <p:txBody>
          <a:bodyPr>
            <a:normAutofit lnSpcReduction="10000"/>
          </a:bodyPr>
          <a:lstStyle/>
          <a:p>
            <a:pPr eaLnBrk="1" hangingPunct="1"/>
            <a:r>
              <a:rPr lang="en-US" sz="2400" dirty="0"/>
              <a:t>Use the formula.</a:t>
            </a:r>
          </a:p>
          <a:p>
            <a:pPr eaLnBrk="1" hangingPunct="1"/>
            <a:r>
              <a:rPr lang="en-US" sz="2400" dirty="0"/>
              <a:t>X</a:t>
            </a:r>
            <a:r>
              <a:rPr lang="en-US" sz="2400" baseline="30000" dirty="0"/>
              <a:t>2</a:t>
            </a:r>
            <a:r>
              <a:rPr lang="en-US" sz="2400" dirty="0"/>
              <a:t> = (315 - 312.75)2 / 312.75  </a:t>
            </a:r>
          </a:p>
          <a:p>
            <a:pPr eaLnBrk="1" hangingPunct="1">
              <a:buFontTx/>
              <a:buNone/>
            </a:pPr>
            <a:r>
              <a:rPr lang="en-US" sz="2400" dirty="0"/>
              <a:t>       +  (101 - 104.25)2 / 104.25  </a:t>
            </a:r>
          </a:p>
          <a:p>
            <a:pPr eaLnBrk="1" hangingPunct="1">
              <a:buFontTx/>
              <a:buNone/>
            </a:pPr>
            <a:r>
              <a:rPr lang="en-US" sz="2400" dirty="0"/>
              <a:t>       +  (108 - 104.25)2 / 104.25</a:t>
            </a:r>
          </a:p>
          <a:p>
            <a:pPr eaLnBrk="1" hangingPunct="1">
              <a:buFontTx/>
              <a:buNone/>
            </a:pPr>
            <a:r>
              <a:rPr lang="en-US" sz="2400" dirty="0"/>
              <a:t>       + (32 - 34.75)2 / 34.75  </a:t>
            </a:r>
          </a:p>
          <a:p>
            <a:pPr eaLnBrk="1" hangingPunct="1">
              <a:buFontTx/>
              <a:buNone/>
            </a:pPr>
            <a:r>
              <a:rPr lang="en-US" sz="2400" dirty="0"/>
              <a:t>     </a:t>
            </a:r>
          </a:p>
          <a:p>
            <a:pPr eaLnBrk="1" hangingPunct="1">
              <a:buFontTx/>
              <a:buNone/>
            </a:pPr>
            <a:r>
              <a:rPr lang="en-US" sz="2400" dirty="0"/>
              <a:t>     =  0.016 + 0.101 + 0.135 + 0.218 </a:t>
            </a:r>
          </a:p>
          <a:p>
            <a:pPr eaLnBrk="1" hangingPunct="1">
              <a:buFontTx/>
              <a:buNone/>
            </a:pPr>
            <a:r>
              <a:rPr lang="en-US" sz="2400" dirty="0"/>
              <a:t>     = 0.470.</a:t>
            </a:r>
          </a:p>
        </p:txBody>
      </p:sp>
      <p:graphicFrame>
        <p:nvGraphicFramePr>
          <p:cNvPr id="2050" name="Object 5"/>
          <p:cNvGraphicFramePr>
            <a:graphicFrameLocks noGrp="1" noChangeAspect="1"/>
          </p:cNvGraphicFramePr>
          <p:nvPr>
            <p:ph sz="half" idx="2"/>
          </p:nvPr>
        </p:nvGraphicFramePr>
        <p:xfrm>
          <a:off x="3352800" y="5410200"/>
          <a:ext cx="3409950" cy="1136650"/>
        </p:xfrm>
        <a:graphic>
          <a:graphicData uri="http://schemas.openxmlformats.org/presentationml/2006/ole">
            <mc:AlternateContent xmlns:mc="http://schemas.openxmlformats.org/markup-compatibility/2006">
              <mc:Choice xmlns:v="urn:schemas-microsoft-com:vml" Requires="v">
                <p:oleObj name="Equation" r:id="rId2" imgW="1333293" imgH="444247" progId="">
                  <p:embed/>
                </p:oleObj>
              </mc:Choice>
              <mc:Fallback>
                <p:oleObj name="Equation" r:id="rId2" imgW="1333293" imgH="444247" progId="">
                  <p:embed/>
                  <p:pic>
                    <p:nvPicPr>
                      <p:cNvPr id="2050" name="Object 5"/>
                      <p:cNvPicPr>
                        <a:picLocks noGrp="1"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52800" y="5410200"/>
                        <a:ext cx="3409950" cy="11366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7" dir="2700000" algn="ctr" rotWithShape="0">
                                <a:schemeClr val="bg2">
                                  <a:alpha val="74997"/>
                                </a:schemeClr>
                              </a:outerShdw>
                            </a:effectLst>
                          </a14:hiddenEffects>
                        </a:ext>
                      </a:extLst>
                    </p:spPr>
                  </p:pic>
                </p:oleObj>
              </mc:Fallback>
            </mc:AlternateContent>
          </a:graphicData>
        </a:graphic>
      </p:graphicFrame>
    </p:spTree>
    <p:extLst>
      <p:ext uri="{BB962C8B-B14F-4D97-AF65-F5344CB8AC3E}">
        <p14:creationId xmlns:p14="http://schemas.microsoft.com/office/powerpoint/2010/main" val="14738756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pPr eaLnBrk="1" hangingPunct="1"/>
            <a:r>
              <a:rPr lang="en-US"/>
              <a:t>Finding the Expected Numbers</a:t>
            </a:r>
          </a:p>
        </p:txBody>
      </p:sp>
      <p:sp>
        <p:nvSpPr>
          <p:cNvPr id="17411" name="Rectangle 3"/>
          <p:cNvSpPr>
            <a:spLocks noGrp="1" noChangeArrowheads="1"/>
          </p:cNvSpPr>
          <p:nvPr>
            <p:ph type="body" idx="1"/>
          </p:nvPr>
        </p:nvSpPr>
        <p:spPr/>
        <p:txBody>
          <a:bodyPr/>
          <a:lstStyle/>
          <a:p>
            <a:pPr eaLnBrk="1" hangingPunct="1">
              <a:lnSpc>
                <a:spcPct val="80000"/>
              </a:lnSpc>
            </a:pPr>
            <a:r>
              <a:rPr lang="en-US" sz="2400" dirty="0"/>
              <a:t>The total number of </a:t>
            </a:r>
            <a:r>
              <a:rPr lang="en-US" sz="2400" dirty="0" err="1"/>
              <a:t>offsprings</a:t>
            </a:r>
            <a:r>
              <a:rPr lang="en-US" sz="2400" dirty="0"/>
              <a:t> observed.  </a:t>
            </a:r>
          </a:p>
          <a:p>
            <a:pPr eaLnBrk="1" hangingPunct="1">
              <a:lnSpc>
                <a:spcPct val="80000"/>
              </a:lnSpc>
              <a:buNone/>
            </a:pPr>
            <a:r>
              <a:rPr lang="en-US" sz="2400" dirty="0"/>
              <a:t>		</a:t>
            </a:r>
            <a:r>
              <a:rPr lang="en-US" sz="2400" b="1" dirty="0"/>
              <a:t>In this case, 315 + 101 + 108 + 32 = 556.</a:t>
            </a:r>
          </a:p>
          <a:p>
            <a:pPr eaLnBrk="1" hangingPunct="1">
              <a:lnSpc>
                <a:spcPct val="80000"/>
              </a:lnSpc>
              <a:buNone/>
            </a:pPr>
            <a:endParaRPr lang="en-US" sz="2400" b="1" dirty="0"/>
          </a:p>
          <a:p>
            <a:pPr eaLnBrk="1" hangingPunct="1">
              <a:lnSpc>
                <a:spcPct val="80000"/>
              </a:lnSpc>
            </a:pPr>
            <a:r>
              <a:rPr lang="en-US" sz="2400" dirty="0"/>
              <a:t>Then multiply total offspring by the expected proportion:  </a:t>
            </a:r>
          </a:p>
          <a:p>
            <a:pPr eaLnBrk="1" hangingPunct="1">
              <a:lnSpc>
                <a:spcPct val="80000"/>
              </a:lnSpc>
              <a:buFontTx/>
              <a:buNone/>
            </a:pPr>
            <a:r>
              <a:rPr lang="en-US" sz="2400" dirty="0"/>
              <a:t>       </a:t>
            </a:r>
            <a:r>
              <a:rPr lang="en-US" sz="2400" b="1" dirty="0"/>
              <a:t>--expected round yellow = 9/16 * 556 = 312.75</a:t>
            </a:r>
          </a:p>
          <a:p>
            <a:pPr eaLnBrk="1" hangingPunct="1">
              <a:lnSpc>
                <a:spcPct val="80000"/>
              </a:lnSpc>
              <a:buFontTx/>
              <a:buNone/>
            </a:pPr>
            <a:r>
              <a:rPr lang="en-US" sz="2400" b="1" dirty="0"/>
              <a:t>       --expected round green = 3/16 * 556 = 104.25</a:t>
            </a:r>
          </a:p>
          <a:p>
            <a:pPr eaLnBrk="1" hangingPunct="1">
              <a:lnSpc>
                <a:spcPct val="80000"/>
              </a:lnSpc>
              <a:buFontTx/>
              <a:buNone/>
            </a:pPr>
            <a:r>
              <a:rPr lang="en-US" sz="2400" b="1" dirty="0"/>
              <a:t>       --expected wrinkled yellow = 3/16 * 556 = 104.25</a:t>
            </a:r>
          </a:p>
          <a:p>
            <a:pPr eaLnBrk="1" hangingPunct="1">
              <a:lnSpc>
                <a:spcPct val="80000"/>
              </a:lnSpc>
              <a:buFontTx/>
              <a:buNone/>
            </a:pPr>
            <a:r>
              <a:rPr lang="en-US" sz="2400" b="1" dirty="0"/>
              <a:t>       --expected wrinkled green = 1/16 * 556 = 34.75</a:t>
            </a:r>
          </a:p>
        </p:txBody>
      </p:sp>
    </p:spTree>
    <p:extLst>
      <p:ext uri="{BB962C8B-B14F-4D97-AF65-F5344CB8AC3E}">
        <p14:creationId xmlns:p14="http://schemas.microsoft.com/office/powerpoint/2010/main" val="3931345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7411">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9" presetClass="entr" presetSubtype="0" fill="hold" nodeType="clickEffect">
                                  <p:stCondLst>
                                    <p:cond delay="0"/>
                                  </p:stCondLst>
                                  <p:childTnLst>
                                    <p:set>
                                      <p:cBhvr>
                                        <p:cTn id="12" dur="1" fill="hold">
                                          <p:stCondLst>
                                            <p:cond delay="0"/>
                                          </p:stCondLst>
                                        </p:cTn>
                                        <p:tgtEl>
                                          <p:spTgt spid="17411">
                                            <p:txEl>
                                              <p:pRg st="3" end="3"/>
                                            </p:txEl>
                                          </p:spTgt>
                                        </p:tgtEl>
                                        <p:attrNameLst>
                                          <p:attrName>style.visibility</p:attrName>
                                        </p:attrNameLst>
                                      </p:cBhvr>
                                      <p:to>
                                        <p:strVal val="visible"/>
                                      </p:to>
                                    </p:set>
                                    <p:animEffect transition="in" filter="dissolve">
                                      <p:cBhvr>
                                        <p:cTn id="13" dur="500"/>
                                        <p:tgtEl>
                                          <p:spTgt spid="17411">
                                            <p:txEl>
                                              <p:pRg st="3" end="3"/>
                                            </p:txEl>
                                          </p:spTgt>
                                        </p:tgtEl>
                                      </p:cBhvr>
                                    </p:animEffect>
                                  </p:childTnLst>
                                </p:cTn>
                              </p:par>
                              <p:par>
                                <p:cTn id="14" presetID="9" presetClass="entr" presetSubtype="0" fill="hold" nodeType="withEffect">
                                  <p:stCondLst>
                                    <p:cond delay="0"/>
                                  </p:stCondLst>
                                  <p:childTnLst>
                                    <p:set>
                                      <p:cBhvr>
                                        <p:cTn id="15" dur="1" fill="hold">
                                          <p:stCondLst>
                                            <p:cond delay="0"/>
                                          </p:stCondLst>
                                        </p:cTn>
                                        <p:tgtEl>
                                          <p:spTgt spid="17411">
                                            <p:txEl>
                                              <p:pRg st="4" end="4"/>
                                            </p:txEl>
                                          </p:spTgt>
                                        </p:tgtEl>
                                        <p:attrNameLst>
                                          <p:attrName>style.visibility</p:attrName>
                                        </p:attrNameLst>
                                      </p:cBhvr>
                                      <p:to>
                                        <p:strVal val="visible"/>
                                      </p:to>
                                    </p:set>
                                    <p:animEffect transition="in" filter="dissolve">
                                      <p:cBhvr>
                                        <p:cTn id="16" dur="500"/>
                                        <p:tgtEl>
                                          <p:spTgt spid="17411">
                                            <p:txEl>
                                              <p:pRg st="4" end="4"/>
                                            </p:txEl>
                                          </p:spTgt>
                                        </p:tgtEl>
                                      </p:cBhvr>
                                    </p:animEffect>
                                  </p:childTnLst>
                                </p:cTn>
                              </p:par>
                              <p:par>
                                <p:cTn id="17" presetID="9" presetClass="entr" presetSubtype="0" fill="hold" nodeType="withEffect">
                                  <p:stCondLst>
                                    <p:cond delay="0"/>
                                  </p:stCondLst>
                                  <p:childTnLst>
                                    <p:set>
                                      <p:cBhvr>
                                        <p:cTn id="18" dur="1" fill="hold">
                                          <p:stCondLst>
                                            <p:cond delay="0"/>
                                          </p:stCondLst>
                                        </p:cTn>
                                        <p:tgtEl>
                                          <p:spTgt spid="17411">
                                            <p:txEl>
                                              <p:pRg st="5" end="5"/>
                                            </p:txEl>
                                          </p:spTgt>
                                        </p:tgtEl>
                                        <p:attrNameLst>
                                          <p:attrName>style.visibility</p:attrName>
                                        </p:attrNameLst>
                                      </p:cBhvr>
                                      <p:to>
                                        <p:strVal val="visible"/>
                                      </p:to>
                                    </p:set>
                                    <p:animEffect transition="in" filter="dissolve">
                                      <p:cBhvr>
                                        <p:cTn id="19" dur="500"/>
                                        <p:tgtEl>
                                          <p:spTgt spid="17411">
                                            <p:txEl>
                                              <p:pRg st="5" end="5"/>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17411">
                                            <p:txEl>
                                              <p:pRg st="6" end="6"/>
                                            </p:txEl>
                                          </p:spTgt>
                                        </p:tgtEl>
                                        <p:attrNameLst>
                                          <p:attrName>style.visibility</p:attrName>
                                        </p:attrNameLst>
                                      </p:cBhvr>
                                      <p:to>
                                        <p:strVal val="visible"/>
                                      </p:to>
                                    </p:set>
                                    <p:animEffect transition="in" filter="dissolve">
                                      <p:cBhvr>
                                        <p:cTn id="22" dur="500"/>
                                        <p:tgtEl>
                                          <p:spTgt spid="17411">
                                            <p:txEl>
                                              <p:pRg st="6" end="6"/>
                                            </p:txEl>
                                          </p:spTgt>
                                        </p:tgtEl>
                                      </p:cBhvr>
                                    </p:animEffect>
                                  </p:childTnLst>
                                </p:cTn>
                              </p:par>
                              <p:par>
                                <p:cTn id="23" presetID="9" presetClass="entr" presetSubtype="0" fill="hold" nodeType="withEffect">
                                  <p:stCondLst>
                                    <p:cond delay="0"/>
                                  </p:stCondLst>
                                  <p:childTnLst>
                                    <p:set>
                                      <p:cBhvr>
                                        <p:cTn id="24" dur="1" fill="hold">
                                          <p:stCondLst>
                                            <p:cond delay="0"/>
                                          </p:stCondLst>
                                        </p:cTn>
                                        <p:tgtEl>
                                          <p:spTgt spid="17411">
                                            <p:txEl>
                                              <p:pRg st="7" end="7"/>
                                            </p:txEl>
                                          </p:spTgt>
                                        </p:tgtEl>
                                        <p:attrNameLst>
                                          <p:attrName>style.visibility</p:attrName>
                                        </p:attrNameLst>
                                      </p:cBhvr>
                                      <p:to>
                                        <p:strVal val="visible"/>
                                      </p:to>
                                    </p:set>
                                    <p:animEffect transition="in" filter="dissolve">
                                      <p:cBhvr>
                                        <p:cTn id="25" dur="500"/>
                                        <p:tgtEl>
                                          <p:spTgt spid="17411">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p:txBody>
          <a:bodyPr/>
          <a:lstStyle/>
          <a:p>
            <a:pPr eaLnBrk="1" hangingPunct="1"/>
            <a:r>
              <a:rPr lang="en-US" dirty="0"/>
              <a:t>D.F. and Critical Value</a:t>
            </a:r>
          </a:p>
        </p:txBody>
      </p:sp>
      <p:sp>
        <p:nvSpPr>
          <p:cNvPr id="18435" name="Rectangle 3"/>
          <p:cNvSpPr>
            <a:spLocks noGrp="1" noChangeArrowheads="1"/>
          </p:cNvSpPr>
          <p:nvPr>
            <p:ph type="body" idx="1"/>
          </p:nvPr>
        </p:nvSpPr>
        <p:spPr/>
        <p:txBody>
          <a:bodyPr/>
          <a:lstStyle/>
          <a:p>
            <a:pPr eaLnBrk="1" hangingPunct="1">
              <a:lnSpc>
                <a:spcPct val="80000"/>
              </a:lnSpc>
            </a:pPr>
            <a:r>
              <a:rPr lang="en-US" dirty="0"/>
              <a:t>Degrees of freedom is 1 less than the number of classes of offspring.  </a:t>
            </a:r>
            <a:r>
              <a:rPr lang="en-US" b="1" dirty="0"/>
              <a:t>Here, 4 - 1 = 3 </a:t>
            </a:r>
            <a:r>
              <a:rPr lang="en-US" b="1" dirty="0" err="1"/>
              <a:t>d.f</a:t>
            </a:r>
            <a:r>
              <a:rPr lang="en-US" b="1" dirty="0"/>
              <a:t>.</a:t>
            </a:r>
          </a:p>
          <a:p>
            <a:pPr eaLnBrk="1" hangingPunct="1">
              <a:lnSpc>
                <a:spcPct val="80000"/>
              </a:lnSpc>
            </a:pPr>
            <a:r>
              <a:rPr lang="en-US" dirty="0"/>
              <a:t>For 3 </a:t>
            </a:r>
            <a:r>
              <a:rPr lang="en-US" dirty="0" err="1"/>
              <a:t>d.f</a:t>
            </a:r>
            <a:r>
              <a:rPr lang="en-US" dirty="0"/>
              <a:t>. and p = 0.05, the </a:t>
            </a:r>
            <a:r>
              <a:rPr lang="en-US" b="1" dirty="0"/>
              <a:t>critical chi-square value is 7.815.</a:t>
            </a:r>
          </a:p>
          <a:p>
            <a:pPr eaLnBrk="1" hangingPunct="1">
              <a:lnSpc>
                <a:spcPct val="80000"/>
              </a:lnSpc>
            </a:pPr>
            <a:r>
              <a:rPr lang="en-US" dirty="0"/>
              <a:t>Since </a:t>
            </a:r>
            <a:r>
              <a:rPr lang="en-US" b="1" u="sng" dirty="0"/>
              <a:t>the observed chi-square (0.470) </a:t>
            </a:r>
            <a:r>
              <a:rPr lang="en-US" dirty="0"/>
              <a:t>is less than the critical value, </a:t>
            </a:r>
            <a:r>
              <a:rPr lang="en-US" b="1" dirty="0"/>
              <a:t>we fail to reject the null hypothesis</a:t>
            </a:r>
            <a:r>
              <a:rPr lang="en-US" dirty="0"/>
              <a:t>.  We accept Mendel’s conclusion that the observed results for a 9/16 : 3/16 : 3/16 : 1/16 ratio.</a:t>
            </a:r>
          </a:p>
        </p:txBody>
      </p:sp>
    </p:spTree>
    <p:extLst>
      <p:ext uri="{BB962C8B-B14F-4D97-AF65-F5344CB8AC3E}">
        <p14:creationId xmlns:p14="http://schemas.microsoft.com/office/powerpoint/2010/main" val="556144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2057400"/>
            <a:ext cx="8229600" cy="1143000"/>
          </a:xfrm>
        </p:spPr>
        <p:txBody>
          <a:bodyPr>
            <a:normAutofit fontScale="90000"/>
          </a:bodyPr>
          <a:lstStyle/>
          <a:p>
            <a:r>
              <a:rPr lang="en-US" dirty="0"/>
              <a:t>Let’s See how sample size affects the Chi square statistic</a:t>
            </a:r>
          </a:p>
        </p:txBody>
      </p:sp>
    </p:spTree>
    <p:extLst>
      <p:ext uri="{BB962C8B-B14F-4D97-AF65-F5344CB8AC3E}">
        <p14:creationId xmlns:p14="http://schemas.microsoft.com/office/powerpoint/2010/main" val="23417224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609600"/>
            <a:ext cx="8229600" cy="1143000"/>
          </a:xfrm>
        </p:spPr>
        <p:txBody>
          <a:bodyPr>
            <a:normAutofit fontScale="90000"/>
          </a:bodyPr>
          <a:lstStyle/>
          <a:p>
            <a:r>
              <a:rPr lang="en-US" sz="3200" dirty="0"/>
              <a:t>Calculate Chi square statistic for two arbitrary sample at 1:1 ratio</a:t>
            </a:r>
            <a:br>
              <a:rPr lang="en-US" dirty="0"/>
            </a:br>
            <a:endParaRPr lang="en-US" dirty="0"/>
          </a:p>
        </p:txBody>
      </p:sp>
      <p:sp>
        <p:nvSpPr>
          <p:cNvPr id="3" name="TextBox 2"/>
          <p:cNvSpPr txBox="1"/>
          <p:nvPr/>
        </p:nvSpPr>
        <p:spPr>
          <a:xfrm>
            <a:off x="1981200" y="1873545"/>
            <a:ext cx="8305800" cy="3662541"/>
          </a:xfrm>
          <a:prstGeom prst="rect">
            <a:avLst/>
          </a:prstGeom>
          <a:noFill/>
        </p:spPr>
        <p:txBody>
          <a:bodyPr wrap="square" rtlCol="0">
            <a:spAutoFit/>
          </a:bodyPr>
          <a:lstStyle/>
          <a:p>
            <a:pPr marL="342900" indent="-342900"/>
            <a:r>
              <a:rPr lang="en-US" sz="3200" dirty="0"/>
              <a:t>Sample 1: </a:t>
            </a:r>
            <a:r>
              <a:rPr lang="en-US" sz="3200" dirty="0">
                <a:solidFill>
                  <a:srgbClr val="FF0000"/>
                </a:solidFill>
              </a:rPr>
              <a:t>Observed-15:35</a:t>
            </a:r>
            <a:r>
              <a:rPr lang="en-US" sz="3200" dirty="0"/>
              <a:t>, </a:t>
            </a:r>
          </a:p>
          <a:p>
            <a:pPr marL="342900" indent="-342900"/>
            <a:r>
              <a:rPr lang="en-US" sz="2400" dirty="0"/>
              <a:t>Expected- 15+35/2= 25 </a:t>
            </a:r>
          </a:p>
          <a:p>
            <a:pPr marL="342900" indent="-342900">
              <a:buAutoNum type="alphaLcPeriod"/>
            </a:pPr>
            <a:endParaRPr lang="en-US" dirty="0"/>
          </a:p>
          <a:p>
            <a:pPr marL="342900" indent="-342900"/>
            <a:r>
              <a:rPr lang="en-US" dirty="0"/>
              <a:t>                           </a:t>
            </a:r>
            <a:endParaRPr lang="en-US" baseline="30000" dirty="0"/>
          </a:p>
          <a:p>
            <a:pPr marL="342900" indent="-342900"/>
            <a:endParaRPr lang="en-US" dirty="0"/>
          </a:p>
          <a:p>
            <a:endParaRPr lang="en-US" dirty="0"/>
          </a:p>
          <a:p>
            <a:pPr marL="342900" indent="-342900"/>
            <a:r>
              <a:rPr lang="en-US" sz="2800" dirty="0"/>
              <a:t>Sample 2: </a:t>
            </a:r>
            <a:r>
              <a:rPr lang="en-US" sz="2800" dirty="0">
                <a:solidFill>
                  <a:srgbClr val="FF0000"/>
                </a:solidFill>
              </a:rPr>
              <a:t>Observed 240:260</a:t>
            </a:r>
            <a:r>
              <a:rPr lang="en-US" sz="2800" dirty="0"/>
              <a:t>, Expected = 500/2=250</a:t>
            </a:r>
          </a:p>
          <a:p>
            <a:pPr marL="342900" indent="-342900"/>
            <a:endParaRPr lang="en-US" sz="2800" dirty="0"/>
          </a:p>
          <a:p>
            <a:pPr marL="342900" indent="-342900"/>
            <a:endParaRPr lang="en-US" sz="2800" dirty="0"/>
          </a:p>
          <a:p>
            <a:pPr marL="342900" indent="-342900">
              <a:buAutoNum type="alphaLcPeriod"/>
            </a:pPr>
            <a:endParaRPr lang="en-US" sz="2000" dirty="0"/>
          </a:p>
        </p:txBody>
      </p:sp>
      <p:graphicFrame>
        <p:nvGraphicFramePr>
          <p:cNvPr id="36866" name="Object 6"/>
          <p:cNvGraphicFramePr>
            <a:graphicFrameLocks noChangeAspect="1"/>
          </p:cNvGraphicFramePr>
          <p:nvPr/>
        </p:nvGraphicFramePr>
        <p:xfrm>
          <a:off x="2133600" y="3124200"/>
          <a:ext cx="1295400" cy="431800"/>
        </p:xfrm>
        <a:graphic>
          <a:graphicData uri="http://schemas.openxmlformats.org/presentationml/2006/ole">
            <mc:AlternateContent xmlns:mc="http://schemas.openxmlformats.org/markup-compatibility/2006">
              <mc:Choice xmlns:v="urn:schemas-microsoft-com:vml" Requires="v">
                <p:oleObj name="Equation" r:id="rId2" imgW="1333293" imgH="444247" progId="">
                  <p:embed/>
                </p:oleObj>
              </mc:Choice>
              <mc:Fallback>
                <p:oleObj name="Equation" r:id="rId2" imgW="1333293" imgH="444247" progId="">
                  <p:embed/>
                  <p:pic>
                    <p:nvPicPr>
                      <p:cNvPr id="36866"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124200"/>
                        <a:ext cx="1295400" cy="4318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graphicFrame>
        <p:nvGraphicFramePr>
          <p:cNvPr id="36867" name="Object 6"/>
          <p:cNvGraphicFramePr>
            <a:graphicFrameLocks noChangeAspect="1"/>
          </p:cNvGraphicFramePr>
          <p:nvPr/>
        </p:nvGraphicFramePr>
        <p:xfrm>
          <a:off x="2209800" y="4419600"/>
          <a:ext cx="1295400" cy="431800"/>
        </p:xfrm>
        <a:graphic>
          <a:graphicData uri="http://schemas.openxmlformats.org/presentationml/2006/ole">
            <mc:AlternateContent xmlns:mc="http://schemas.openxmlformats.org/markup-compatibility/2006">
              <mc:Choice xmlns:v="urn:schemas-microsoft-com:vml" Requires="v">
                <p:oleObj name="Equation" r:id="rId4" imgW="1333293" imgH="444247" progId="">
                  <p:embed/>
                </p:oleObj>
              </mc:Choice>
              <mc:Fallback>
                <p:oleObj name="Equation" r:id="rId4" imgW="1333293" imgH="444247" progId="">
                  <p:embed/>
                  <p:pic>
                    <p:nvPicPr>
                      <p:cNvPr id="36867" name="Object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09800" y="4419600"/>
                        <a:ext cx="1295400" cy="4318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6" name="Rectangle 5"/>
          <p:cNvSpPr/>
          <p:nvPr/>
        </p:nvSpPr>
        <p:spPr>
          <a:xfrm>
            <a:off x="4114800" y="4343401"/>
            <a:ext cx="5943600" cy="646331"/>
          </a:xfrm>
          <a:prstGeom prst="rect">
            <a:avLst/>
          </a:prstGeom>
        </p:spPr>
        <p:txBody>
          <a:bodyPr wrap="square">
            <a:spAutoFit/>
          </a:bodyPr>
          <a:lstStyle/>
          <a:p>
            <a:pPr marL="342900" indent="-342900"/>
            <a:r>
              <a:rPr lang="en-US" dirty="0"/>
              <a:t>X</a:t>
            </a:r>
            <a:r>
              <a:rPr lang="en-US" baseline="30000" dirty="0"/>
              <a:t>2</a:t>
            </a:r>
            <a:r>
              <a:rPr lang="en-US" dirty="0"/>
              <a:t>= </a:t>
            </a:r>
            <a:r>
              <a:rPr lang="en-US" u="sng" dirty="0"/>
              <a:t>(240- 250)</a:t>
            </a:r>
            <a:r>
              <a:rPr lang="en-US" baseline="30000" dirty="0"/>
              <a:t>2  </a:t>
            </a:r>
            <a:r>
              <a:rPr lang="en-US" dirty="0"/>
              <a:t>+ </a:t>
            </a:r>
            <a:r>
              <a:rPr lang="en-US" u="sng" dirty="0"/>
              <a:t>(260- 250)</a:t>
            </a:r>
            <a:r>
              <a:rPr lang="en-US" baseline="30000" dirty="0"/>
              <a:t>2   </a:t>
            </a:r>
            <a:r>
              <a:rPr lang="en-US" dirty="0"/>
              <a:t>= 200/250   =  0.8        </a:t>
            </a:r>
          </a:p>
          <a:p>
            <a:pPr marL="342900" indent="-342900"/>
            <a:r>
              <a:rPr lang="en-US" dirty="0"/>
              <a:t>             250              250</a:t>
            </a:r>
          </a:p>
        </p:txBody>
      </p:sp>
      <p:sp>
        <p:nvSpPr>
          <p:cNvPr id="7" name="Rectangle 6"/>
          <p:cNvSpPr/>
          <p:nvPr/>
        </p:nvSpPr>
        <p:spPr>
          <a:xfrm>
            <a:off x="3733800" y="3124201"/>
            <a:ext cx="4800600" cy="646331"/>
          </a:xfrm>
          <a:prstGeom prst="rect">
            <a:avLst/>
          </a:prstGeom>
        </p:spPr>
        <p:txBody>
          <a:bodyPr wrap="square">
            <a:spAutoFit/>
          </a:bodyPr>
          <a:lstStyle/>
          <a:p>
            <a:pPr marL="342900" indent="-342900"/>
            <a:r>
              <a:rPr lang="en-US" dirty="0"/>
              <a:t>X</a:t>
            </a:r>
            <a:r>
              <a:rPr lang="en-US" baseline="30000" dirty="0"/>
              <a:t>2</a:t>
            </a:r>
            <a:r>
              <a:rPr lang="en-US" dirty="0"/>
              <a:t>= </a:t>
            </a:r>
            <a:r>
              <a:rPr lang="en-US" u="sng" dirty="0"/>
              <a:t>(15- 25)</a:t>
            </a:r>
            <a:r>
              <a:rPr lang="en-US" baseline="30000" dirty="0"/>
              <a:t>2  </a:t>
            </a:r>
            <a:r>
              <a:rPr lang="en-US" dirty="0"/>
              <a:t>+ </a:t>
            </a:r>
            <a:r>
              <a:rPr lang="en-US" u="sng" dirty="0"/>
              <a:t>(35- 25)</a:t>
            </a:r>
            <a:r>
              <a:rPr lang="en-US" baseline="30000" dirty="0"/>
              <a:t>2   </a:t>
            </a:r>
            <a:r>
              <a:rPr lang="en-US" dirty="0"/>
              <a:t>= 200/25   = 8</a:t>
            </a:r>
            <a:endParaRPr lang="en-US" baseline="30000" dirty="0"/>
          </a:p>
          <a:p>
            <a:pPr marL="342900" indent="-342900"/>
            <a:r>
              <a:rPr lang="en-US" dirty="0"/>
              <a:t>           25              25</a:t>
            </a:r>
          </a:p>
        </p:txBody>
      </p:sp>
    </p:spTree>
    <p:extLst>
      <p:ext uri="{BB962C8B-B14F-4D97-AF65-F5344CB8AC3E}">
        <p14:creationId xmlns:p14="http://schemas.microsoft.com/office/powerpoint/2010/main" val="2813859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686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68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chisquare_table"/>
          <p:cNvPicPr>
            <a:picLocks noGrp="1" noChangeAspect="1" noChangeArrowheads="1"/>
          </p:cNvPicPr>
          <p:nvPr>
            <p:ph/>
          </p:nvPr>
        </p:nvPicPr>
        <p:blipFill>
          <a:blip r:embed="rId2" cstate="print"/>
          <a:srcRect/>
          <a:stretch>
            <a:fillRect/>
          </a:stretch>
        </p:blipFill>
        <p:spPr>
          <a:xfrm>
            <a:off x="1524000" y="968376"/>
            <a:ext cx="9144000" cy="5889625"/>
          </a:xfrm>
          <a:noFill/>
        </p:spPr>
      </p:pic>
      <p:sp>
        <p:nvSpPr>
          <p:cNvPr id="14339" name="Text Box 6"/>
          <p:cNvSpPr txBox="1">
            <a:spLocks noChangeArrowheads="1"/>
          </p:cNvSpPr>
          <p:nvPr/>
        </p:nvSpPr>
        <p:spPr bwMode="auto">
          <a:xfrm>
            <a:off x="4213225" y="1"/>
            <a:ext cx="3311612" cy="646331"/>
          </a:xfrm>
          <a:prstGeom prst="rect">
            <a:avLst/>
          </a:prstGeom>
          <a:noFill/>
          <a:ln w="9525">
            <a:noFill/>
            <a:miter lim="800000"/>
            <a:headEnd/>
            <a:tailEnd/>
          </a:ln>
        </p:spPr>
        <p:txBody>
          <a:bodyPr wrap="none">
            <a:spAutoFit/>
          </a:bodyPr>
          <a:lstStyle/>
          <a:p>
            <a:r>
              <a:rPr lang="en-US" sz="3600"/>
              <a:t>Chi-Square Table</a:t>
            </a:r>
          </a:p>
        </p:txBody>
      </p:sp>
      <p:sp>
        <p:nvSpPr>
          <p:cNvPr id="4" name="Rectangle 3"/>
          <p:cNvSpPr/>
          <p:nvPr/>
        </p:nvSpPr>
        <p:spPr>
          <a:xfrm>
            <a:off x="6781800" y="2667000"/>
            <a:ext cx="609600" cy="3048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28752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a:t>
            </a:r>
          </a:p>
        </p:txBody>
      </p:sp>
      <p:sp>
        <p:nvSpPr>
          <p:cNvPr id="4" name="TextBox 3"/>
          <p:cNvSpPr txBox="1"/>
          <p:nvPr/>
        </p:nvSpPr>
        <p:spPr>
          <a:xfrm>
            <a:off x="1981200" y="1798761"/>
            <a:ext cx="8413919" cy="3231654"/>
          </a:xfrm>
          <a:prstGeom prst="rect">
            <a:avLst/>
          </a:prstGeom>
          <a:noFill/>
        </p:spPr>
        <p:txBody>
          <a:bodyPr wrap="square" rtlCol="0">
            <a:spAutoFit/>
          </a:bodyPr>
          <a:lstStyle/>
          <a:p>
            <a:r>
              <a:rPr lang="en-US" sz="2800" dirty="0">
                <a:latin typeface="Comic Sans MS"/>
                <a:cs typeface="Comic Sans MS"/>
              </a:rPr>
              <a:t>In the F2 generation of a certain tomato experiment 3629 fruits were red, while 1175 were yellow. A 3:1 ratio was expected. Are the discrepancies between observed and expected significant?</a:t>
            </a:r>
          </a:p>
          <a:p>
            <a:endParaRPr lang="en-US" sz="2800" dirty="0"/>
          </a:p>
          <a:p>
            <a:endParaRPr lang="en-US" dirty="0"/>
          </a:p>
          <a:p>
            <a:endParaRPr lang="en-US" dirty="0"/>
          </a:p>
        </p:txBody>
      </p:sp>
    </p:spTree>
    <p:extLst>
      <p:ext uri="{BB962C8B-B14F-4D97-AF65-F5344CB8AC3E}">
        <p14:creationId xmlns:p14="http://schemas.microsoft.com/office/powerpoint/2010/main" val="4467157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nvGraphicFramePr>
        <p:xfrm>
          <a:off x="2183653" y="1397000"/>
          <a:ext cx="6925435" cy="3750780"/>
        </p:xfrm>
        <a:graphic>
          <a:graphicData uri="http://schemas.openxmlformats.org/drawingml/2006/table">
            <a:tbl>
              <a:tblPr firstRow="1" bandRow="1">
                <a:tableStyleId>{5C22544A-7EE6-4342-B048-85BDC9FD1C3A}</a:tableStyleId>
              </a:tblPr>
              <a:tblGrid>
                <a:gridCol w="1385087">
                  <a:extLst>
                    <a:ext uri="{9D8B030D-6E8A-4147-A177-3AD203B41FA5}">
                      <a16:colId xmlns:a16="http://schemas.microsoft.com/office/drawing/2014/main" val="20000"/>
                    </a:ext>
                  </a:extLst>
                </a:gridCol>
                <a:gridCol w="1385087">
                  <a:extLst>
                    <a:ext uri="{9D8B030D-6E8A-4147-A177-3AD203B41FA5}">
                      <a16:colId xmlns:a16="http://schemas.microsoft.com/office/drawing/2014/main" val="20001"/>
                    </a:ext>
                  </a:extLst>
                </a:gridCol>
                <a:gridCol w="1385087">
                  <a:extLst>
                    <a:ext uri="{9D8B030D-6E8A-4147-A177-3AD203B41FA5}">
                      <a16:colId xmlns:a16="http://schemas.microsoft.com/office/drawing/2014/main" val="20002"/>
                    </a:ext>
                  </a:extLst>
                </a:gridCol>
                <a:gridCol w="1385087">
                  <a:extLst>
                    <a:ext uri="{9D8B030D-6E8A-4147-A177-3AD203B41FA5}">
                      <a16:colId xmlns:a16="http://schemas.microsoft.com/office/drawing/2014/main" val="20003"/>
                    </a:ext>
                  </a:extLst>
                </a:gridCol>
                <a:gridCol w="1385087">
                  <a:extLst>
                    <a:ext uri="{9D8B030D-6E8A-4147-A177-3AD203B41FA5}">
                      <a16:colId xmlns:a16="http://schemas.microsoft.com/office/drawing/2014/main" val="20004"/>
                    </a:ext>
                  </a:extLst>
                </a:gridCol>
              </a:tblGrid>
              <a:tr h="1238774">
                <a:tc>
                  <a:txBody>
                    <a:bodyPr/>
                    <a:lstStyle/>
                    <a:p>
                      <a:r>
                        <a:rPr lang="en-US" dirty="0"/>
                        <a:t>Phenotype</a:t>
                      </a:r>
                    </a:p>
                  </a:txBody>
                  <a:tcPr/>
                </a:tc>
                <a:tc>
                  <a:txBody>
                    <a:bodyPr/>
                    <a:lstStyle/>
                    <a:p>
                      <a:r>
                        <a:rPr lang="en-US" dirty="0"/>
                        <a:t>observed</a:t>
                      </a:r>
                    </a:p>
                  </a:txBody>
                  <a:tcPr/>
                </a:tc>
                <a:tc>
                  <a:txBody>
                    <a:bodyPr/>
                    <a:lstStyle/>
                    <a:p>
                      <a:r>
                        <a:rPr lang="en-US" dirty="0"/>
                        <a:t>Expected Proportion</a:t>
                      </a:r>
                    </a:p>
                  </a:txBody>
                  <a:tcPr/>
                </a:tc>
                <a:tc>
                  <a:txBody>
                    <a:bodyPr/>
                    <a:lstStyle/>
                    <a:p>
                      <a:r>
                        <a:rPr lang="en-US" dirty="0"/>
                        <a:t>Expected Numbers</a:t>
                      </a:r>
                    </a:p>
                  </a:txBody>
                  <a:tcPr/>
                </a:tc>
                <a:tc>
                  <a:txBody>
                    <a:bodyPr/>
                    <a:lstStyle/>
                    <a:p>
                      <a:endParaRPr lang="en-US" dirty="0"/>
                    </a:p>
                  </a:txBody>
                  <a:tcPr/>
                </a:tc>
                <a:extLst>
                  <a:ext uri="{0D108BD9-81ED-4DB2-BD59-A6C34878D82A}">
                    <a16:rowId xmlns:a16="http://schemas.microsoft.com/office/drawing/2014/main" val="10000"/>
                  </a:ext>
                </a:extLst>
              </a:tr>
              <a:tr h="502392">
                <a:tc>
                  <a:txBody>
                    <a:bodyPr/>
                    <a:lstStyle/>
                    <a:p>
                      <a:r>
                        <a:rPr lang="en-US" dirty="0"/>
                        <a:t>Red fruit</a:t>
                      </a:r>
                    </a:p>
                  </a:txBody>
                  <a:tcPr/>
                </a:tc>
                <a:tc>
                  <a:txBody>
                    <a:bodyPr/>
                    <a:lstStyle/>
                    <a:p>
                      <a:r>
                        <a:rPr lang="en-US" dirty="0"/>
                        <a:t>3629</a:t>
                      </a:r>
                    </a:p>
                  </a:txBody>
                  <a:tcPr/>
                </a:tc>
                <a:tc>
                  <a:txBody>
                    <a:bodyPr/>
                    <a:lstStyle/>
                    <a:p>
                      <a:r>
                        <a:rPr lang="en-US" dirty="0"/>
                        <a:t>3</a:t>
                      </a:r>
                    </a:p>
                  </a:txBody>
                  <a:tcPr/>
                </a:tc>
                <a:tc>
                  <a:txBody>
                    <a:bodyPr/>
                    <a:lstStyle/>
                    <a:p>
                      <a:r>
                        <a:rPr lang="en-US" dirty="0"/>
                        <a:t>3603</a:t>
                      </a:r>
                    </a:p>
                  </a:txBody>
                  <a:tcPr/>
                </a:tc>
                <a:tc>
                  <a:txBody>
                    <a:bodyPr/>
                    <a:lstStyle/>
                    <a:p>
                      <a:r>
                        <a:rPr lang="en-US" dirty="0"/>
                        <a:t>0.187</a:t>
                      </a:r>
                    </a:p>
                  </a:txBody>
                  <a:tcPr/>
                </a:tc>
                <a:extLst>
                  <a:ext uri="{0D108BD9-81ED-4DB2-BD59-A6C34878D82A}">
                    <a16:rowId xmlns:a16="http://schemas.microsoft.com/office/drawing/2014/main" val="10001"/>
                  </a:ext>
                </a:extLst>
              </a:tr>
              <a:tr h="867142">
                <a:tc>
                  <a:txBody>
                    <a:bodyPr/>
                    <a:lstStyle/>
                    <a:p>
                      <a:r>
                        <a:rPr lang="en-US" dirty="0"/>
                        <a:t>Yellow fruit</a:t>
                      </a:r>
                    </a:p>
                  </a:txBody>
                  <a:tcPr/>
                </a:tc>
                <a:tc>
                  <a:txBody>
                    <a:bodyPr/>
                    <a:lstStyle/>
                    <a:p>
                      <a:r>
                        <a:rPr lang="en-US" dirty="0"/>
                        <a:t>1175</a:t>
                      </a:r>
                    </a:p>
                  </a:txBody>
                  <a:tcPr/>
                </a:tc>
                <a:tc>
                  <a:txBody>
                    <a:bodyPr/>
                    <a:lstStyle/>
                    <a:p>
                      <a:r>
                        <a:rPr lang="en-US" dirty="0"/>
                        <a:t>1</a:t>
                      </a:r>
                    </a:p>
                  </a:txBody>
                  <a:tcPr/>
                </a:tc>
                <a:tc>
                  <a:txBody>
                    <a:bodyPr/>
                    <a:lstStyle/>
                    <a:p>
                      <a:r>
                        <a:rPr lang="en-US" dirty="0"/>
                        <a:t>1201</a:t>
                      </a:r>
                    </a:p>
                  </a:txBody>
                  <a:tcPr/>
                </a:tc>
                <a:tc>
                  <a:txBody>
                    <a:bodyPr/>
                    <a:lstStyle/>
                    <a:p>
                      <a:r>
                        <a:rPr lang="en-US" dirty="0"/>
                        <a:t>0.562</a:t>
                      </a:r>
                    </a:p>
                  </a:txBody>
                  <a:tcPr/>
                </a:tc>
                <a:extLst>
                  <a:ext uri="{0D108BD9-81ED-4DB2-BD59-A6C34878D82A}">
                    <a16:rowId xmlns:a16="http://schemas.microsoft.com/office/drawing/2014/main" val="10002"/>
                  </a:ext>
                </a:extLst>
              </a:tr>
              <a:tr h="502392">
                <a:tc>
                  <a:txBody>
                    <a:bodyPr/>
                    <a:lstStyle/>
                    <a:p>
                      <a:endParaRPr lang="en-US"/>
                    </a:p>
                  </a:txBody>
                  <a:tcPr/>
                </a:tc>
                <a:tc>
                  <a:txBody>
                    <a:bodyPr/>
                    <a:lstStyle/>
                    <a:p>
                      <a:r>
                        <a:rPr lang="en-US" dirty="0"/>
                        <a:t>Total No.:</a:t>
                      </a:r>
                      <a:r>
                        <a:rPr lang="en-US" baseline="0" dirty="0"/>
                        <a:t> </a:t>
                      </a:r>
                      <a:r>
                        <a:rPr lang="en-US" dirty="0"/>
                        <a:t>4804</a:t>
                      </a:r>
                    </a:p>
                  </a:txBody>
                  <a:tcPr/>
                </a:tc>
                <a:tc>
                  <a:txBody>
                    <a:bodyPr/>
                    <a:lstStyle/>
                    <a:p>
                      <a:r>
                        <a:rPr lang="en-US" dirty="0"/>
                        <a:t>4</a:t>
                      </a:r>
                    </a:p>
                  </a:txBody>
                  <a:tcPr/>
                </a:tc>
                <a:tc>
                  <a:txBody>
                    <a:bodyPr/>
                    <a:lstStyle/>
                    <a:p>
                      <a:endParaRPr lang="en-US" dirty="0"/>
                    </a:p>
                  </a:txBody>
                  <a:tcPr/>
                </a:tc>
                <a:tc>
                  <a:txBody>
                    <a:bodyPr/>
                    <a:lstStyle/>
                    <a:p>
                      <a:r>
                        <a:rPr lang="en-US" dirty="0"/>
                        <a:t>X</a:t>
                      </a:r>
                      <a:r>
                        <a:rPr lang="en-US" baseline="30000" dirty="0"/>
                        <a:t>2</a:t>
                      </a:r>
                      <a:r>
                        <a:rPr lang="en-US" dirty="0"/>
                        <a:t>= 0.749</a:t>
                      </a:r>
                    </a:p>
                  </a:txBody>
                  <a:tcPr/>
                </a:tc>
                <a:extLst>
                  <a:ext uri="{0D108BD9-81ED-4DB2-BD59-A6C34878D82A}">
                    <a16:rowId xmlns:a16="http://schemas.microsoft.com/office/drawing/2014/main" val="10003"/>
                  </a:ext>
                </a:extLst>
              </a:tr>
              <a:tr h="502392">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3087983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885623" y="541834"/>
            <a:ext cx="7913200" cy="369332"/>
          </a:xfrm>
          <a:prstGeom prst="rect">
            <a:avLst/>
          </a:prstGeom>
        </p:spPr>
        <p:txBody>
          <a:bodyPr wrap="square">
            <a:spAutoFit/>
          </a:bodyPr>
          <a:lstStyle/>
          <a:p>
            <a:r>
              <a:rPr lang="en-US" dirty="0"/>
              <a:t>In a cross following progenies were obtained, does it follow the 9:3:3:1 ratio?</a:t>
            </a:r>
          </a:p>
        </p:txBody>
      </p:sp>
      <p:sp>
        <p:nvSpPr>
          <p:cNvPr id="4" name="Rectangle 3"/>
          <p:cNvSpPr/>
          <p:nvPr/>
        </p:nvSpPr>
        <p:spPr>
          <a:xfrm>
            <a:off x="2065231" y="1071444"/>
            <a:ext cx="8003006" cy="646331"/>
          </a:xfrm>
          <a:prstGeom prst="rect">
            <a:avLst/>
          </a:prstGeom>
          <a:ln>
            <a:solidFill>
              <a:schemeClr val="tx1"/>
            </a:solidFill>
          </a:ln>
        </p:spPr>
        <p:txBody>
          <a:bodyPr wrap="square">
            <a:spAutoFit/>
          </a:bodyPr>
          <a:lstStyle/>
          <a:p>
            <a:r>
              <a:rPr lang="en-US" sz="1200" dirty="0"/>
              <a:t>Round Yellow Peas</a:t>
            </a:r>
            <a:r>
              <a:rPr lang="en-US" dirty="0"/>
              <a:t>	         </a:t>
            </a:r>
            <a:r>
              <a:rPr lang="en-US" sz="1200" dirty="0"/>
              <a:t>Round Green Peas	             Wrinkled Yellow Peas	         Wrinkled Green Peas</a:t>
            </a:r>
          </a:p>
          <a:p>
            <a:r>
              <a:rPr lang="en-US" dirty="0"/>
              <a:t>219	                                   81	                               69	                 31</a:t>
            </a:r>
          </a:p>
        </p:txBody>
      </p:sp>
    </p:spTree>
    <p:extLst>
      <p:ext uri="{BB962C8B-B14F-4D97-AF65-F5344CB8AC3E}">
        <p14:creationId xmlns:p14="http://schemas.microsoft.com/office/powerpoint/2010/main" val="13233731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76200"/>
            <a:ext cx="8229600" cy="1143000"/>
          </a:xfrm>
        </p:spPr>
        <p:txBody>
          <a:bodyPr/>
          <a:lstStyle/>
          <a:p>
            <a:r>
              <a:rPr lang="en-US" dirty="0"/>
              <a:t>Pedigree Analysis</a:t>
            </a:r>
          </a:p>
        </p:txBody>
      </p:sp>
      <p:sp>
        <p:nvSpPr>
          <p:cNvPr id="3" name="TextBox 2"/>
          <p:cNvSpPr txBox="1"/>
          <p:nvPr/>
        </p:nvSpPr>
        <p:spPr>
          <a:xfrm>
            <a:off x="2133600" y="1114485"/>
            <a:ext cx="7988534" cy="5509200"/>
          </a:xfrm>
          <a:prstGeom prst="rect">
            <a:avLst/>
          </a:prstGeom>
          <a:noFill/>
        </p:spPr>
        <p:txBody>
          <a:bodyPr wrap="square" rtlCol="0">
            <a:spAutoFit/>
          </a:bodyPr>
          <a:lstStyle/>
          <a:p>
            <a:r>
              <a:rPr lang="en-US" sz="4000" dirty="0"/>
              <a:t>A pedigree is a </a:t>
            </a:r>
            <a:r>
              <a:rPr lang="en-US" sz="4000" dirty="0">
                <a:solidFill>
                  <a:srgbClr val="0000FF"/>
                </a:solidFill>
              </a:rPr>
              <a:t>diagram of family relationships </a:t>
            </a:r>
            <a:r>
              <a:rPr lang="en-US" sz="4000" dirty="0"/>
              <a:t>that </a:t>
            </a:r>
            <a:r>
              <a:rPr lang="en-US" sz="4000" dirty="0">
                <a:solidFill>
                  <a:srgbClr val="FF0000"/>
                </a:solidFill>
              </a:rPr>
              <a:t>uses symbols to represent </a:t>
            </a:r>
            <a:r>
              <a:rPr lang="en-US" sz="4000" dirty="0"/>
              <a:t>people and lines to represent genetic relationships. </a:t>
            </a:r>
          </a:p>
          <a:p>
            <a:endParaRPr lang="en-US" sz="3200" dirty="0"/>
          </a:p>
          <a:p>
            <a:r>
              <a:rPr lang="en-US" sz="4000" dirty="0"/>
              <a:t>Pedigrees are often used to determine the mode of inheritance (dominant, recessive, etc.) of genetic diseases.</a:t>
            </a:r>
          </a:p>
        </p:txBody>
      </p:sp>
    </p:spTree>
    <p:extLst>
      <p:ext uri="{BB962C8B-B14F-4D97-AF65-F5344CB8AC3E}">
        <p14:creationId xmlns:p14="http://schemas.microsoft.com/office/powerpoint/2010/main" val="1461951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sample pedigree chart</a:t>
            </a:r>
          </a:p>
        </p:txBody>
      </p:sp>
      <p:pic>
        <p:nvPicPr>
          <p:cNvPr id="3" name="Picture 2" descr="pedigr4.gif"/>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7400" y="1828800"/>
            <a:ext cx="3905956" cy="4267200"/>
          </a:xfrm>
          <a:prstGeom prst="rect">
            <a:avLst/>
          </a:prstGeom>
          <a:ln>
            <a:solidFill>
              <a:schemeClr val="tx1"/>
            </a:solidFill>
          </a:ln>
        </p:spPr>
      </p:pic>
      <p:pic>
        <p:nvPicPr>
          <p:cNvPr id="4" name="Picture 3" descr="ped_symbols.gif"/>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53975" y="1676400"/>
            <a:ext cx="4191000" cy="4153580"/>
          </a:xfrm>
          <a:prstGeom prst="rect">
            <a:avLst/>
          </a:prstGeom>
        </p:spPr>
      </p:pic>
    </p:spTree>
    <p:extLst>
      <p:ext uri="{BB962C8B-B14F-4D97-AF65-F5344CB8AC3E}">
        <p14:creationId xmlns:p14="http://schemas.microsoft.com/office/powerpoint/2010/main" val="183359093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0"/>
            <a:ext cx="8229600" cy="1143000"/>
          </a:xfrm>
        </p:spPr>
        <p:txBody>
          <a:bodyPr/>
          <a:lstStyle/>
          <a:p>
            <a:r>
              <a:rPr lang="en-US" dirty="0"/>
              <a:t>Pedigree Chart</a:t>
            </a:r>
          </a:p>
        </p:txBody>
      </p:sp>
      <p:sp>
        <p:nvSpPr>
          <p:cNvPr id="3" name="Rectangle 2"/>
          <p:cNvSpPr/>
          <p:nvPr/>
        </p:nvSpPr>
        <p:spPr>
          <a:xfrm>
            <a:off x="1828800" y="1752601"/>
            <a:ext cx="8534400" cy="6986527"/>
          </a:xfrm>
          <a:prstGeom prst="rect">
            <a:avLst/>
          </a:prstGeom>
        </p:spPr>
        <p:txBody>
          <a:bodyPr wrap="square">
            <a:spAutoFit/>
          </a:bodyPr>
          <a:lstStyle/>
          <a:p>
            <a:r>
              <a:rPr lang="en-US" sz="3200" dirty="0"/>
              <a:t>Squares represent males and circles represent females. Shade in the symbol represent affected individual</a:t>
            </a:r>
          </a:p>
          <a:p>
            <a:endParaRPr lang="en-US" sz="3200" dirty="0"/>
          </a:p>
          <a:p>
            <a:r>
              <a:rPr lang="en-US" sz="3200" dirty="0"/>
              <a:t> Horizontal lines connecting a male and female represent mating. </a:t>
            </a:r>
          </a:p>
          <a:p>
            <a:endParaRPr lang="en-US" sz="3200" dirty="0"/>
          </a:p>
          <a:p>
            <a:r>
              <a:rPr lang="en-US" sz="3200" dirty="0"/>
              <a:t>Vertical lines extending downward from a couple represent their children. </a:t>
            </a:r>
          </a:p>
          <a:p>
            <a:endParaRPr lang="en-US" sz="3200" dirty="0"/>
          </a:p>
          <a:p>
            <a:endParaRPr lang="en-US" sz="3200" dirty="0"/>
          </a:p>
          <a:p>
            <a:endParaRPr lang="en-US" sz="3200" dirty="0"/>
          </a:p>
          <a:p>
            <a:endParaRPr lang="en-US" sz="3200" dirty="0"/>
          </a:p>
          <a:p>
            <a:endParaRPr lang="en-US" sz="3200" dirty="0"/>
          </a:p>
        </p:txBody>
      </p:sp>
    </p:spTree>
    <p:extLst>
      <p:ext uri="{BB962C8B-B14F-4D97-AF65-F5344CB8AC3E}">
        <p14:creationId xmlns:p14="http://schemas.microsoft.com/office/powerpoint/2010/main" val="19443635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chisquare_table"/>
          <p:cNvPicPr>
            <a:picLocks noGrp="1" noChangeAspect="1" noChangeArrowheads="1"/>
          </p:cNvPicPr>
          <p:nvPr>
            <p:ph/>
          </p:nvPr>
        </p:nvPicPr>
        <p:blipFill>
          <a:blip r:embed="rId2" cstate="print"/>
          <a:srcRect/>
          <a:stretch>
            <a:fillRect/>
          </a:stretch>
        </p:blipFill>
        <p:spPr>
          <a:xfrm>
            <a:off x="1508880" y="968376"/>
            <a:ext cx="9144000" cy="5889625"/>
          </a:xfrm>
          <a:noFill/>
        </p:spPr>
      </p:pic>
      <p:sp>
        <p:nvSpPr>
          <p:cNvPr id="14339" name="Text Box 6"/>
          <p:cNvSpPr txBox="1">
            <a:spLocks noChangeArrowheads="1"/>
          </p:cNvSpPr>
          <p:nvPr/>
        </p:nvSpPr>
        <p:spPr bwMode="auto">
          <a:xfrm>
            <a:off x="4213225" y="1"/>
            <a:ext cx="3311612" cy="646331"/>
          </a:xfrm>
          <a:prstGeom prst="rect">
            <a:avLst/>
          </a:prstGeom>
          <a:noFill/>
          <a:ln w="9525">
            <a:noFill/>
            <a:miter lim="800000"/>
            <a:headEnd/>
            <a:tailEnd/>
          </a:ln>
        </p:spPr>
        <p:txBody>
          <a:bodyPr wrap="none">
            <a:spAutoFit/>
          </a:bodyPr>
          <a:lstStyle/>
          <a:p>
            <a:r>
              <a:rPr lang="en-US" sz="3600"/>
              <a:t>Chi-Square Table</a:t>
            </a:r>
          </a:p>
        </p:txBody>
      </p:sp>
    </p:spTree>
    <p:extLst>
      <p:ext uri="{BB962C8B-B14F-4D97-AF65-F5344CB8AC3E}">
        <p14:creationId xmlns:p14="http://schemas.microsoft.com/office/powerpoint/2010/main" val="31456050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Rectangle 2"/>
          <p:cNvSpPr/>
          <p:nvPr/>
        </p:nvSpPr>
        <p:spPr>
          <a:xfrm>
            <a:off x="1524001" y="1768345"/>
            <a:ext cx="9143999" cy="1754327"/>
          </a:xfrm>
          <a:prstGeom prst="rect">
            <a:avLst/>
          </a:prstGeom>
        </p:spPr>
        <p:txBody>
          <a:bodyPr wrap="square">
            <a:spAutoFit/>
          </a:bodyPr>
          <a:lstStyle/>
          <a:p>
            <a:r>
              <a:rPr lang="en-US" b="1" dirty="0">
                <a:latin typeface="Comic Sans MS"/>
                <a:cs typeface="Comic Sans MS"/>
              </a:rPr>
              <a:t>Q2. A woman has a rare abnormality of the eyelids called ptosis, which makes it impossible for her to open her eyes completely. The condition is known to depend on single dominant gene P. The woman’s father had ptosis but her mother was normal. Her paternal grandmother had normal eyelids. </a:t>
            </a:r>
          </a:p>
          <a:p>
            <a:pPr marL="342900" indent="-342900">
              <a:buAutoNum type="romanLcParenR"/>
            </a:pPr>
            <a:r>
              <a:rPr lang="en-US" b="1" dirty="0">
                <a:latin typeface="Comic Sans MS"/>
                <a:cs typeface="Comic Sans MS"/>
              </a:rPr>
              <a:t>What proportion of her children will be expected to have ptosis if she marries a man with normal eyelid</a:t>
            </a:r>
          </a:p>
        </p:txBody>
      </p:sp>
    </p:spTree>
    <p:extLst>
      <p:ext uri="{BB962C8B-B14F-4D97-AF65-F5344CB8AC3E}">
        <p14:creationId xmlns:p14="http://schemas.microsoft.com/office/powerpoint/2010/main" val="17297405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a:t>
            </a:r>
          </a:p>
        </p:txBody>
      </p:sp>
      <p:pic>
        <p:nvPicPr>
          <p:cNvPr id="4" name="Picture 3" descr="CSIR question paper.jpg"/>
          <p:cNvPicPr>
            <a:picLocks noChangeAspect="1"/>
          </p:cNvPicPr>
          <p:nvPr/>
        </p:nvPicPr>
        <p:blipFill>
          <a:blip r:embed="rId2" cstate="print">
            <a:lum contrast="20000"/>
          </a:blip>
          <a:srcRect t="37290"/>
          <a:stretch>
            <a:fillRect/>
          </a:stretch>
        </p:blipFill>
        <p:spPr>
          <a:xfrm rot="10800000">
            <a:off x="1399416" y="1371600"/>
            <a:ext cx="9306320" cy="4499454"/>
          </a:xfrm>
          <a:prstGeom prst="rect">
            <a:avLst/>
          </a:prstGeom>
          <a:noFill/>
          <a:ln>
            <a:solidFill>
              <a:schemeClr val="tx1"/>
            </a:solidFill>
          </a:ln>
        </p:spPr>
      </p:pic>
    </p:spTree>
    <p:extLst>
      <p:ext uri="{BB962C8B-B14F-4D97-AF65-F5344CB8AC3E}">
        <p14:creationId xmlns:p14="http://schemas.microsoft.com/office/powerpoint/2010/main" val="36077038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a:t>
            </a:r>
          </a:p>
        </p:txBody>
      </p:sp>
      <p:pic>
        <p:nvPicPr>
          <p:cNvPr id="4" name="Picture 3" descr="CSIR question paper.jpg"/>
          <p:cNvPicPr>
            <a:picLocks noChangeAspect="1"/>
          </p:cNvPicPr>
          <p:nvPr/>
        </p:nvPicPr>
        <p:blipFill>
          <a:blip r:embed="rId2" cstate="print">
            <a:lum contrast="20000"/>
          </a:blip>
          <a:srcRect t="37290"/>
          <a:stretch>
            <a:fillRect/>
          </a:stretch>
        </p:blipFill>
        <p:spPr>
          <a:xfrm rot="10800000">
            <a:off x="2743200" y="1371602"/>
            <a:ext cx="6361176" cy="3075525"/>
          </a:xfrm>
          <a:prstGeom prst="rect">
            <a:avLst/>
          </a:prstGeom>
          <a:noFill/>
          <a:ln>
            <a:solidFill>
              <a:schemeClr val="tx1"/>
            </a:solidFill>
          </a:ln>
        </p:spPr>
      </p:pic>
      <p:pic>
        <p:nvPicPr>
          <p:cNvPr id="5" name="Picture 4" descr="CSIR question paper.jpg"/>
          <p:cNvPicPr>
            <a:picLocks noChangeAspect="1"/>
          </p:cNvPicPr>
          <p:nvPr/>
        </p:nvPicPr>
        <p:blipFill>
          <a:blip r:embed="rId2" cstate="print">
            <a:lum contrast="20000"/>
          </a:blip>
          <a:srcRect t="13052" b="65258"/>
          <a:stretch>
            <a:fillRect/>
          </a:stretch>
        </p:blipFill>
        <p:spPr>
          <a:xfrm rot="10800000">
            <a:off x="2782824" y="4724401"/>
            <a:ext cx="6361176" cy="1063775"/>
          </a:xfrm>
          <a:prstGeom prst="rect">
            <a:avLst/>
          </a:prstGeom>
          <a:noFill/>
          <a:ln>
            <a:solidFill>
              <a:schemeClr val="tx1"/>
            </a:solidFill>
          </a:ln>
        </p:spPr>
      </p:pic>
    </p:spTree>
    <p:extLst>
      <p:ext uri="{BB962C8B-B14F-4D97-AF65-F5344CB8AC3E}">
        <p14:creationId xmlns:p14="http://schemas.microsoft.com/office/powerpoint/2010/main" val="29506012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1334</Words>
  <Application>Microsoft Macintosh PowerPoint</Application>
  <PresentationFormat>Widescreen</PresentationFormat>
  <Paragraphs>185</Paragraphs>
  <Slides>32</Slides>
  <Notes>1</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1</vt:i4>
      </vt:variant>
      <vt:variant>
        <vt:lpstr>Slide Titles</vt:lpstr>
      </vt:variant>
      <vt:variant>
        <vt:i4>32</vt:i4>
      </vt:variant>
    </vt:vector>
  </HeadingPairs>
  <TitlesOfParts>
    <vt:vector size="39" baseType="lpstr">
      <vt:lpstr>Arial</vt:lpstr>
      <vt:lpstr>Calibri</vt:lpstr>
      <vt:lpstr>Calibri Light</vt:lpstr>
      <vt:lpstr>Comic Sans MS</vt:lpstr>
      <vt:lpstr>Symbol</vt:lpstr>
      <vt:lpstr>Office Theme</vt:lpstr>
      <vt:lpstr>Equation</vt:lpstr>
      <vt:lpstr>Chi-Square Test</vt:lpstr>
      <vt:lpstr>PowerPoint Presentation</vt:lpstr>
      <vt:lpstr>PowerPoint Presentation</vt:lpstr>
      <vt:lpstr>Goodness  of Fit</vt:lpstr>
      <vt:lpstr>Formula</vt:lpstr>
      <vt:lpstr>Example</vt:lpstr>
      <vt:lpstr>PowerPoint Presentation</vt:lpstr>
      <vt:lpstr>What is a “reasonable” result? </vt:lpstr>
      <vt:lpstr>How do you calculate the p value from chi square?</vt:lpstr>
      <vt:lpstr>Degrees of Freedom</vt:lpstr>
      <vt:lpstr>Critical Chi-Square</vt:lpstr>
      <vt:lpstr>PowerPoint Presentation</vt:lpstr>
      <vt:lpstr>Using the Table</vt:lpstr>
      <vt:lpstr>Another Example: from Mendel</vt:lpstr>
      <vt:lpstr>PowerPoint Presentation</vt:lpstr>
      <vt:lpstr>Another Example: from Mendel</vt:lpstr>
      <vt:lpstr>Calculating the Chi-Square Value</vt:lpstr>
      <vt:lpstr>Finding the Expected Numbers</vt:lpstr>
      <vt:lpstr>D.F. and Critical Value</vt:lpstr>
      <vt:lpstr>Let’s See how sample size affects the Chi square statistic</vt:lpstr>
      <vt:lpstr>Calculate Chi square statistic for two arbitrary sample at 1:1 ratio </vt:lpstr>
      <vt:lpstr>PowerPoint Presentation</vt:lpstr>
      <vt:lpstr>Question!</vt:lpstr>
      <vt:lpstr>PowerPoint Presentation</vt:lpstr>
      <vt:lpstr>PowerPoint Presentation</vt:lpstr>
      <vt:lpstr>Pedigree Analysis</vt:lpstr>
      <vt:lpstr>A sample pedigree chart</vt:lpstr>
      <vt:lpstr>Pedigree Chart</vt:lpstr>
      <vt:lpstr>PowerPoint Presentation</vt:lpstr>
      <vt:lpstr>PowerPoint Presentation</vt:lpstr>
      <vt:lpstr>Questions!!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Chi-Square Test</dc:title>
  <dc:creator>Microsoft Office User</dc:creator>
  <cp:lastModifiedBy>Microsoft Office User</cp:lastModifiedBy>
  <cp:revision>1</cp:revision>
  <dcterms:created xsi:type="dcterms:W3CDTF">2024-01-26T06:49:40Z</dcterms:created>
  <dcterms:modified xsi:type="dcterms:W3CDTF">2024-01-26T06:50:00Z</dcterms:modified>
</cp:coreProperties>
</file>