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22.JPG" ContentType="image/jpeg"/>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68" r:id="rId3"/>
    <p:sldId id="371" r:id="rId4"/>
    <p:sldId id="370" r:id="rId5"/>
    <p:sldId id="372" r:id="rId6"/>
    <p:sldId id="373" r:id="rId7"/>
    <p:sldId id="380" r:id="rId8"/>
    <p:sldId id="376" r:id="rId9"/>
    <p:sldId id="374" r:id="rId10"/>
    <p:sldId id="375" r:id="rId11"/>
    <p:sldId id="378" r:id="rId12"/>
    <p:sldId id="379" r:id="rId13"/>
    <p:sldId id="381" r:id="rId14"/>
    <p:sldId id="382" r:id="rId15"/>
    <p:sldId id="385" r:id="rId16"/>
    <p:sldId id="358" r:id="rId17"/>
    <p:sldId id="384" r:id="rId18"/>
    <p:sldId id="383" r:id="rId19"/>
    <p:sldId id="387" r:id="rId20"/>
    <p:sldId id="389" r:id="rId21"/>
    <p:sldId id="390" r:id="rId22"/>
    <p:sldId id="388" r:id="rId23"/>
    <p:sldId id="391" r:id="rId24"/>
    <p:sldId id="39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ya Basak" userId="f8b72392e668bf96" providerId="LiveId" clId="{67AF3F0F-B4F6-4740-809C-48FCDE38C463}"/>
    <pc:docChg chg="modSld">
      <pc:chgData name="Arya Basak" userId="f8b72392e668bf96" providerId="LiveId" clId="{67AF3F0F-B4F6-4740-809C-48FCDE38C463}" dt="2025-04-09T10:55:01.756" v="0" actId="20577"/>
      <pc:docMkLst>
        <pc:docMk/>
      </pc:docMkLst>
      <pc:sldChg chg="modSp mod">
        <pc:chgData name="Arya Basak" userId="f8b72392e668bf96" providerId="LiveId" clId="{67AF3F0F-B4F6-4740-809C-48FCDE38C463}" dt="2025-04-09T10:55:01.756" v="0" actId="20577"/>
        <pc:sldMkLst>
          <pc:docMk/>
          <pc:sldMk cId="0" sldId="368"/>
        </pc:sldMkLst>
        <pc:spChg chg="mod">
          <ac:chgData name="Arya Basak" userId="f8b72392e668bf96" providerId="LiveId" clId="{67AF3F0F-B4F6-4740-809C-48FCDE38C463}" dt="2025-04-09T10:55:01.756" v="0" actId="20577"/>
          <ac:spMkLst>
            <pc:docMk/>
            <pc:sldMk cId="0" sldId="368"/>
            <ac:spMk id="16" creationId="{FA96A246-5A23-CA00-1FC1-07C6EFDEF3F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4174F-DBB4-3EAF-5DB8-D31A6667DF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ACB91F2-B0CD-59F5-51D7-732B78977E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695CCF8-1A9F-8C6C-2B57-6445DBBD4988}"/>
              </a:ext>
            </a:extLst>
          </p:cNvPr>
          <p:cNvSpPr>
            <a:spLocks noGrp="1"/>
          </p:cNvSpPr>
          <p:nvPr>
            <p:ph type="dt" sz="half" idx="10"/>
          </p:nvPr>
        </p:nvSpPr>
        <p:spPr/>
        <p:txBody>
          <a:bodyPr/>
          <a:lstStyle/>
          <a:p>
            <a:fld id="{F2E8C680-797B-4312-A89B-976123FDC394}" type="datetimeFigureOut">
              <a:rPr lang="en-IN" smtClean="0"/>
              <a:t>09-04-2025</a:t>
            </a:fld>
            <a:endParaRPr lang="en-IN"/>
          </a:p>
        </p:txBody>
      </p:sp>
      <p:sp>
        <p:nvSpPr>
          <p:cNvPr id="5" name="Footer Placeholder 4">
            <a:extLst>
              <a:ext uri="{FF2B5EF4-FFF2-40B4-BE49-F238E27FC236}">
                <a16:creationId xmlns:a16="http://schemas.microsoft.com/office/drawing/2014/main" id="{160F0C5D-9F9E-F156-829C-EB1B334653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72C771-273B-CE5D-85F0-C651ACDC86A5}"/>
              </a:ext>
            </a:extLst>
          </p:cNvPr>
          <p:cNvSpPr>
            <a:spLocks noGrp="1"/>
          </p:cNvSpPr>
          <p:nvPr>
            <p:ph type="sldNum" sz="quarter" idx="12"/>
          </p:nvPr>
        </p:nvSpPr>
        <p:spPr/>
        <p:txBody>
          <a:bodyPr/>
          <a:lstStyle/>
          <a:p>
            <a:fld id="{B37FA927-F87E-4580-83E5-EEBBB813A135}" type="slidenum">
              <a:rPr lang="en-IN" smtClean="0"/>
              <a:t>‹#›</a:t>
            </a:fld>
            <a:endParaRPr lang="en-IN"/>
          </a:p>
        </p:txBody>
      </p:sp>
    </p:spTree>
    <p:extLst>
      <p:ext uri="{BB962C8B-B14F-4D97-AF65-F5344CB8AC3E}">
        <p14:creationId xmlns:p14="http://schemas.microsoft.com/office/powerpoint/2010/main" val="41389158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C505B-2ECD-FCDC-EA5D-12D3EBADEE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DDE91FE-5FAA-738C-AB03-67EA67E9A6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7E87EB-8A1B-1206-502F-1FA0CC4D4E7C}"/>
              </a:ext>
            </a:extLst>
          </p:cNvPr>
          <p:cNvSpPr>
            <a:spLocks noGrp="1"/>
          </p:cNvSpPr>
          <p:nvPr>
            <p:ph type="dt" sz="half" idx="10"/>
          </p:nvPr>
        </p:nvSpPr>
        <p:spPr/>
        <p:txBody>
          <a:bodyPr/>
          <a:lstStyle/>
          <a:p>
            <a:fld id="{F2E8C680-797B-4312-A89B-976123FDC394}" type="datetimeFigureOut">
              <a:rPr lang="en-IN" smtClean="0"/>
              <a:t>09-04-2025</a:t>
            </a:fld>
            <a:endParaRPr lang="en-IN"/>
          </a:p>
        </p:txBody>
      </p:sp>
      <p:sp>
        <p:nvSpPr>
          <p:cNvPr id="5" name="Footer Placeholder 4">
            <a:extLst>
              <a:ext uri="{FF2B5EF4-FFF2-40B4-BE49-F238E27FC236}">
                <a16:creationId xmlns:a16="http://schemas.microsoft.com/office/drawing/2014/main" id="{742E5589-22DF-BDF5-9CE7-CCD07D6E95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528972-C6EA-3AB3-93CA-9809BA808B86}"/>
              </a:ext>
            </a:extLst>
          </p:cNvPr>
          <p:cNvSpPr>
            <a:spLocks noGrp="1"/>
          </p:cNvSpPr>
          <p:nvPr>
            <p:ph type="sldNum" sz="quarter" idx="12"/>
          </p:nvPr>
        </p:nvSpPr>
        <p:spPr/>
        <p:txBody>
          <a:bodyPr/>
          <a:lstStyle/>
          <a:p>
            <a:fld id="{B37FA927-F87E-4580-83E5-EEBBB813A135}" type="slidenum">
              <a:rPr lang="en-IN" smtClean="0"/>
              <a:t>‹#›</a:t>
            </a:fld>
            <a:endParaRPr lang="en-IN"/>
          </a:p>
        </p:txBody>
      </p:sp>
    </p:spTree>
    <p:extLst>
      <p:ext uri="{BB962C8B-B14F-4D97-AF65-F5344CB8AC3E}">
        <p14:creationId xmlns:p14="http://schemas.microsoft.com/office/powerpoint/2010/main" val="1956844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917D9-539A-1968-81BE-B0DDED7255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A518A15-E43A-65F4-94C0-36FCD4A76B4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24280C-9E1F-E978-4B68-60656D023544}"/>
              </a:ext>
            </a:extLst>
          </p:cNvPr>
          <p:cNvSpPr>
            <a:spLocks noGrp="1"/>
          </p:cNvSpPr>
          <p:nvPr>
            <p:ph type="dt" sz="half" idx="10"/>
          </p:nvPr>
        </p:nvSpPr>
        <p:spPr/>
        <p:txBody>
          <a:bodyPr/>
          <a:lstStyle/>
          <a:p>
            <a:fld id="{F2E8C680-797B-4312-A89B-976123FDC394}" type="datetimeFigureOut">
              <a:rPr lang="en-IN" smtClean="0"/>
              <a:t>09-04-2025</a:t>
            </a:fld>
            <a:endParaRPr lang="en-IN"/>
          </a:p>
        </p:txBody>
      </p:sp>
      <p:sp>
        <p:nvSpPr>
          <p:cNvPr id="5" name="Footer Placeholder 4">
            <a:extLst>
              <a:ext uri="{FF2B5EF4-FFF2-40B4-BE49-F238E27FC236}">
                <a16:creationId xmlns:a16="http://schemas.microsoft.com/office/drawing/2014/main" id="{75A2800E-A706-4BB0-DD1A-6743FC28AF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18982E-2CC5-B7E0-B56F-587154C25667}"/>
              </a:ext>
            </a:extLst>
          </p:cNvPr>
          <p:cNvSpPr>
            <a:spLocks noGrp="1"/>
          </p:cNvSpPr>
          <p:nvPr>
            <p:ph type="sldNum" sz="quarter" idx="12"/>
          </p:nvPr>
        </p:nvSpPr>
        <p:spPr/>
        <p:txBody>
          <a:bodyPr/>
          <a:lstStyle/>
          <a:p>
            <a:fld id="{B37FA927-F87E-4580-83E5-EEBBB813A135}" type="slidenum">
              <a:rPr lang="en-IN" smtClean="0"/>
              <a:t>‹#›</a:t>
            </a:fld>
            <a:endParaRPr lang="en-IN"/>
          </a:p>
        </p:txBody>
      </p:sp>
    </p:spTree>
    <p:extLst>
      <p:ext uri="{BB962C8B-B14F-4D97-AF65-F5344CB8AC3E}">
        <p14:creationId xmlns:p14="http://schemas.microsoft.com/office/powerpoint/2010/main" val="3170710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F48DD-98F2-0ECA-60C1-673A9B685A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8B615A2-BB1B-7B78-C474-5207F720A3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FF2E430-AD21-520C-2C78-EDC91B429E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C511C6-54E1-A86F-962D-C0665F6656DB}"/>
              </a:ext>
            </a:extLst>
          </p:cNvPr>
          <p:cNvSpPr>
            <a:spLocks noGrp="1"/>
          </p:cNvSpPr>
          <p:nvPr>
            <p:ph type="dt" sz="half" idx="10"/>
          </p:nvPr>
        </p:nvSpPr>
        <p:spPr/>
        <p:txBody>
          <a:bodyPr/>
          <a:lstStyle/>
          <a:p>
            <a:fld id="{F2E8C680-797B-4312-A89B-976123FDC394}" type="datetimeFigureOut">
              <a:rPr lang="en-IN" smtClean="0"/>
              <a:t>09-04-2025</a:t>
            </a:fld>
            <a:endParaRPr lang="en-IN"/>
          </a:p>
        </p:txBody>
      </p:sp>
      <p:sp>
        <p:nvSpPr>
          <p:cNvPr id="6" name="Footer Placeholder 5">
            <a:extLst>
              <a:ext uri="{FF2B5EF4-FFF2-40B4-BE49-F238E27FC236}">
                <a16:creationId xmlns:a16="http://schemas.microsoft.com/office/drawing/2014/main" id="{97AAFEA4-89FD-4340-6AD7-543B03BD3A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E2ADB0-E9E7-0917-1D18-862CBA6F9F48}"/>
              </a:ext>
            </a:extLst>
          </p:cNvPr>
          <p:cNvSpPr>
            <a:spLocks noGrp="1"/>
          </p:cNvSpPr>
          <p:nvPr>
            <p:ph type="sldNum" sz="quarter" idx="12"/>
          </p:nvPr>
        </p:nvSpPr>
        <p:spPr/>
        <p:txBody>
          <a:bodyPr/>
          <a:lstStyle/>
          <a:p>
            <a:fld id="{B37FA927-F87E-4580-83E5-EEBBB813A135}" type="slidenum">
              <a:rPr lang="en-IN" smtClean="0"/>
              <a:t>‹#›</a:t>
            </a:fld>
            <a:endParaRPr lang="en-IN"/>
          </a:p>
        </p:txBody>
      </p:sp>
    </p:spTree>
    <p:extLst>
      <p:ext uri="{BB962C8B-B14F-4D97-AF65-F5344CB8AC3E}">
        <p14:creationId xmlns:p14="http://schemas.microsoft.com/office/powerpoint/2010/main" val="3665853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97F9D-9350-7960-6FDD-F1B2018DC91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6FA4221-F659-FE44-6A5D-29FE459302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7979B7-82CB-7F08-2C50-51F8F11434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BEC281B-C0FD-72BF-4CA1-472E15DC8E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2B7274-5609-5C53-0205-B363880A74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FFD73D2-C6BC-ABB4-279E-863A324849C5}"/>
              </a:ext>
            </a:extLst>
          </p:cNvPr>
          <p:cNvSpPr>
            <a:spLocks noGrp="1"/>
          </p:cNvSpPr>
          <p:nvPr>
            <p:ph type="dt" sz="half" idx="10"/>
          </p:nvPr>
        </p:nvSpPr>
        <p:spPr/>
        <p:txBody>
          <a:bodyPr/>
          <a:lstStyle/>
          <a:p>
            <a:fld id="{F2E8C680-797B-4312-A89B-976123FDC394}" type="datetimeFigureOut">
              <a:rPr lang="en-IN" smtClean="0"/>
              <a:t>09-04-2025</a:t>
            </a:fld>
            <a:endParaRPr lang="en-IN"/>
          </a:p>
        </p:txBody>
      </p:sp>
      <p:sp>
        <p:nvSpPr>
          <p:cNvPr id="8" name="Footer Placeholder 7">
            <a:extLst>
              <a:ext uri="{FF2B5EF4-FFF2-40B4-BE49-F238E27FC236}">
                <a16:creationId xmlns:a16="http://schemas.microsoft.com/office/drawing/2014/main" id="{D82344F3-3583-766D-438E-2194F8A9130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3707939-FCD1-4896-1956-81119A9F444C}"/>
              </a:ext>
            </a:extLst>
          </p:cNvPr>
          <p:cNvSpPr>
            <a:spLocks noGrp="1"/>
          </p:cNvSpPr>
          <p:nvPr>
            <p:ph type="sldNum" sz="quarter" idx="12"/>
          </p:nvPr>
        </p:nvSpPr>
        <p:spPr/>
        <p:txBody>
          <a:bodyPr/>
          <a:lstStyle/>
          <a:p>
            <a:fld id="{B37FA927-F87E-4580-83E5-EEBBB813A135}" type="slidenum">
              <a:rPr lang="en-IN" smtClean="0"/>
              <a:t>‹#›</a:t>
            </a:fld>
            <a:endParaRPr lang="en-IN"/>
          </a:p>
        </p:txBody>
      </p:sp>
    </p:spTree>
    <p:extLst>
      <p:ext uri="{BB962C8B-B14F-4D97-AF65-F5344CB8AC3E}">
        <p14:creationId xmlns:p14="http://schemas.microsoft.com/office/powerpoint/2010/main" val="3442649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1E819-C146-8E22-93A3-61C133A18D6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30D01A6-71C3-026A-2B21-3FE692FA95A7}"/>
              </a:ext>
            </a:extLst>
          </p:cNvPr>
          <p:cNvSpPr>
            <a:spLocks noGrp="1"/>
          </p:cNvSpPr>
          <p:nvPr>
            <p:ph type="dt" sz="half" idx="10"/>
          </p:nvPr>
        </p:nvSpPr>
        <p:spPr/>
        <p:txBody>
          <a:bodyPr/>
          <a:lstStyle/>
          <a:p>
            <a:fld id="{F2E8C680-797B-4312-A89B-976123FDC394}" type="datetimeFigureOut">
              <a:rPr lang="en-IN" smtClean="0"/>
              <a:t>09-04-2025</a:t>
            </a:fld>
            <a:endParaRPr lang="en-IN"/>
          </a:p>
        </p:txBody>
      </p:sp>
      <p:sp>
        <p:nvSpPr>
          <p:cNvPr id="4" name="Footer Placeholder 3">
            <a:extLst>
              <a:ext uri="{FF2B5EF4-FFF2-40B4-BE49-F238E27FC236}">
                <a16:creationId xmlns:a16="http://schemas.microsoft.com/office/drawing/2014/main" id="{DF4CF6EA-AE25-F284-FE21-9A651BB8971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9B7B2AD-94A6-C5A7-208C-8F49B66D2546}"/>
              </a:ext>
            </a:extLst>
          </p:cNvPr>
          <p:cNvSpPr>
            <a:spLocks noGrp="1"/>
          </p:cNvSpPr>
          <p:nvPr>
            <p:ph type="sldNum" sz="quarter" idx="12"/>
          </p:nvPr>
        </p:nvSpPr>
        <p:spPr/>
        <p:txBody>
          <a:bodyPr/>
          <a:lstStyle/>
          <a:p>
            <a:fld id="{B37FA927-F87E-4580-83E5-EEBBB813A135}" type="slidenum">
              <a:rPr lang="en-IN" smtClean="0"/>
              <a:t>‹#›</a:t>
            </a:fld>
            <a:endParaRPr lang="en-IN"/>
          </a:p>
        </p:txBody>
      </p:sp>
    </p:spTree>
    <p:extLst>
      <p:ext uri="{BB962C8B-B14F-4D97-AF65-F5344CB8AC3E}">
        <p14:creationId xmlns:p14="http://schemas.microsoft.com/office/powerpoint/2010/main" val="3866658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2FAF3E-DC08-E940-F847-8CD9C3B79CAF}"/>
              </a:ext>
            </a:extLst>
          </p:cNvPr>
          <p:cNvSpPr>
            <a:spLocks noGrp="1"/>
          </p:cNvSpPr>
          <p:nvPr>
            <p:ph type="dt" sz="half" idx="10"/>
          </p:nvPr>
        </p:nvSpPr>
        <p:spPr/>
        <p:txBody>
          <a:bodyPr/>
          <a:lstStyle/>
          <a:p>
            <a:fld id="{F2E8C680-797B-4312-A89B-976123FDC394}" type="datetimeFigureOut">
              <a:rPr lang="en-IN" smtClean="0"/>
              <a:t>09-04-2025</a:t>
            </a:fld>
            <a:endParaRPr lang="en-IN"/>
          </a:p>
        </p:txBody>
      </p:sp>
      <p:sp>
        <p:nvSpPr>
          <p:cNvPr id="3" name="Footer Placeholder 2">
            <a:extLst>
              <a:ext uri="{FF2B5EF4-FFF2-40B4-BE49-F238E27FC236}">
                <a16:creationId xmlns:a16="http://schemas.microsoft.com/office/drawing/2014/main" id="{29A0EA14-F513-E5DC-7DE2-F184138C9E8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3C7AE98-1A88-7DE1-71C1-2C0567DD9E17}"/>
              </a:ext>
            </a:extLst>
          </p:cNvPr>
          <p:cNvSpPr>
            <a:spLocks noGrp="1"/>
          </p:cNvSpPr>
          <p:nvPr>
            <p:ph type="sldNum" sz="quarter" idx="12"/>
          </p:nvPr>
        </p:nvSpPr>
        <p:spPr/>
        <p:txBody>
          <a:bodyPr/>
          <a:lstStyle/>
          <a:p>
            <a:fld id="{B37FA927-F87E-4580-83E5-EEBBB813A135}" type="slidenum">
              <a:rPr lang="en-IN" smtClean="0"/>
              <a:t>‹#›</a:t>
            </a:fld>
            <a:endParaRPr lang="en-IN"/>
          </a:p>
        </p:txBody>
      </p:sp>
    </p:spTree>
    <p:extLst>
      <p:ext uri="{BB962C8B-B14F-4D97-AF65-F5344CB8AC3E}">
        <p14:creationId xmlns:p14="http://schemas.microsoft.com/office/powerpoint/2010/main" val="41620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BEDED-6AC0-5A39-8AA4-4D79586EBE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047A2AA-36C0-6B95-723B-71565AF322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0E839C6-1910-F191-7F2D-A3FA380E34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CA1543-C143-5098-1BCA-A33F6595242D}"/>
              </a:ext>
            </a:extLst>
          </p:cNvPr>
          <p:cNvSpPr>
            <a:spLocks noGrp="1"/>
          </p:cNvSpPr>
          <p:nvPr>
            <p:ph type="dt" sz="half" idx="10"/>
          </p:nvPr>
        </p:nvSpPr>
        <p:spPr/>
        <p:txBody>
          <a:bodyPr/>
          <a:lstStyle/>
          <a:p>
            <a:fld id="{F2E8C680-797B-4312-A89B-976123FDC394}" type="datetimeFigureOut">
              <a:rPr lang="en-IN" smtClean="0"/>
              <a:t>09-04-2025</a:t>
            </a:fld>
            <a:endParaRPr lang="en-IN"/>
          </a:p>
        </p:txBody>
      </p:sp>
      <p:sp>
        <p:nvSpPr>
          <p:cNvPr id="6" name="Footer Placeholder 5">
            <a:extLst>
              <a:ext uri="{FF2B5EF4-FFF2-40B4-BE49-F238E27FC236}">
                <a16:creationId xmlns:a16="http://schemas.microsoft.com/office/drawing/2014/main" id="{D5C6161D-D944-ECB2-9CB7-26DAE712FC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2B08987-C1E8-4717-772D-ED3C34FFC9FC}"/>
              </a:ext>
            </a:extLst>
          </p:cNvPr>
          <p:cNvSpPr>
            <a:spLocks noGrp="1"/>
          </p:cNvSpPr>
          <p:nvPr>
            <p:ph type="sldNum" sz="quarter" idx="12"/>
          </p:nvPr>
        </p:nvSpPr>
        <p:spPr/>
        <p:txBody>
          <a:bodyPr/>
          <a:lstStyle/>
          <a:p>
            <a:fld id="{B37FA927-F87E-4580-83E5-EEBBB813A135}" type="slidenum">
              <a:rPr lang="en-IN" smtClean="0"/>
              <a:t>‹#›</a:t>
            </a:fld>
            <a:endParaRPr lang="en-IN"/>
          </a:p>
        </p:txBody>
      </p:sp>
    </p:spTree>
    <p:extLst>
      <p:ext uri="{BB962C8B-B14F-4D97-AF65-F5344CB8AC3E}">
        <p14:creationId xmlns:p14="http://schemas.microsoft.com/office/powerpoint/2010/main" val="2041417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0B799-4039-5D26-54B0-124E1A2FF4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D520A52-C22D-3FC0-6EDC-DEF9DAA5F1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0889B6B-1481-9E03-B04D-31D09B485F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7AF0F8-B217-4F15-7DAC-6CDEB79BC245}"/>
              </a:ext>
            </a:extLst>
          </p:cNvPr>
          <p:cNvSpPr>
            <a:spLocks noGrp="1"/>
          </p:cNvSpPr>
          <p:nvPr>
            <p:ph type="dt" sz="half" idx="10"/>
          </p:nvPr>
        </p:nvSpPr>
        <p:spPr/>
        <p:txBody>
          <a:bodyPr/>
          <a:lstStyle/>
          <a:p>
            <a:fld id="{F2E8C680-797B-4312-A89B-976123FDC394}" type="datetimeFigureOut">
              <a:rPr lang="en-IN" smtClean="0"/>
              <a:t>09-04-2025</a:t>
            </a:fld>
            <a:endParaRPr lang="en-IN"/>
          </a:p>
        </p:txBody>
      </p:sp>
      <p:sp>
        <p:nvSpPr>
          <p:cNvPr id="6" name="Footer Placeholder 5">
            <a:extLst>
              <a:ext uri="{FF2B5EF4-FFF2-40B4-BE49-F238E27FC236}">
                <a16:creationId xmlns:a16="http://schemas.microsoft.com/office/drawing/2014/main" id="{F15557CD-6AA7-B344-5CCA-2355724BC5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A8EC52-A411-DC0B-B962-C215B699DE17}"/>
              </a:ext>
            </a:extLst>
          </p:cNvPr>
          <p:cNvSpPr>
            <a:spLocks noGrp="1"/>
          </p:cNvSpPr>
          <p:nvPr>
            <p:ph type="sldNum" sz="quarter" idx="12"/>
          </p:nvPr>
        </p:nvSpPr>
        <p:spPr/>
        <p:txBody>
          <a:bodyPr/>
          <a:lstStyle/>
          <a:p>
            <a:fld id="{B37FA927-F87E-4580-83E5-EEBBB813A135}" type="slidenum">
              <a:rPr lang="en-IN" smtClean="0"/>
              <a:t>‹#›</a:t>
            </a:fld>
            <a:endParaRPr lang="en-IN"/>
          </a:p>
        </p:txBody>
      </p:sp>
    </p:spTree>
    <p:extLst>
      <p:ext uri="{BB962C8B-B14F-4D97-AF65-F5344CB8AC3E}">
        <p14:creationId xmlns:p14="http://schemas.microsoft.com/office/powerpoint/2010/main" val="4188278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07670-6F76-7EFC-7562-03A9513E6DF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1E2634-1609-C152-6534-78605B564C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A4D5DD-651E-9F7F-9B77-CB23CE27B282}"/>
              </a:ext>
            </a:extLst>
          </p:cNvPr>
          <p:cNvSpPr>
            <a:spLocks noGrp="1"/>
          </p:cNvSpPr>
          <p:nvPr>
            <p:ph type="dt" sz="half" idx="10"/>
          </p:nvPr>
        </p:nvSpPr>
        <p:spPr/>
        <p:txBody>
          <a:bodyPr/>
          <a:lstStyle/>
          <a:p>
            <a:fld id="{F2E8C680-797B-4312-A89B-976123FDC394}" type="datetimeFigureOut">
              <a:rPr lang="en-IN" smtClean="0"/>
              <a:t>09-04-2025</a:t>
            </a:fld>
            <a:endParaRPr lang="en-IN"/>
          </a:p>
        </p:txBody>
      </p:sp>
      <p:sp>
        <p:nvSpPr>
          <p:cNvPr id="5" name="Footer Placeholder 4">
            <a:extLst>
              <a:ext uri="{FF2B5EF4-FFF2-40B4-BE49-F238E27FC236}">
                <a16:creationId xmlns:a16="http://schemas.microsoft.com/office/drawing/2014/main" id="{5EC62EEF-4B95-9E9C-9850-087D7DAA85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DC343D-D481-5C64-6BC0-C1ADD4DB3585}"/>
              </a:ext>
            </a:extLst>
          </p:cNvPr>
          <p:cNvSpPr>
            <a:spLocks noGrp="1"/>
          </p:cNvSpPr>
          <p:nvPr>
            <p:ph type="sldNum" sz="quarter" idx="12"/>
          </p:nvPr>
        </p:nvSpPr>
        <p:spPr/>
        <p:txBody>
          <a:bodyPr/>
          <a:lstStyle/>
          <a:p>
            <a:fld id="{B37FA927-F87E-4580-83E5-EEBBB813A135}" type="slidenum">
              <a:rPr lang="en-IN" smtClean="0"/>
              <a:t>‹#›</a:t>
            </a:fld>
            <a:endParaRPr lang="en-IN"/>
          </a:p>
        </p:txBody>
      </p:sp>
    </p:spTree>
    <p:extLst>
      <p:ext uri="{BB962C8B-B14F-4D97-AF65-F5344CB8AC3E}">
        <p14:creationId xmlns:p14="http://schemas.microsoft.com/office/powerpoint/2010/main" val="3701507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3E255E-C930-4848-DBAC-A0505A8C51E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FA8D6B-4F20-E776-F7E9-0A6590279B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BF8AE4-590F-0A13-DBEF-78C54CA558B0}"/>
              </a:ext>
            </a:extLst>
          </p:cNvPr>
          <p:cNvSpPr>
            <a:spLocks noGrp="1"/>
          </p:cNvSpPr>
          <p:nvPr>
            <p:ph type="dt" sz="half" idx="10"/>
          </p:nvPr>
        </p:nvSpPr>
        <p:spPr/>
        <p:txBody>
          <a:bodyPr/>
          <a:lstStyle/>
          <a:p>
            <a:fld id="{F2E8C680-797B-4312-A89B-976123FDC394}" type="datetimeFigureOut">
              <a:rPr lang="en-IN" smtClean="0"/>
              <a:t>09-04-2025</a:t>
            </a:fld>
            <a:endParaRPr lang="en-IN"/>
          </a:p>
        </p:txBody>
      </p:sp>
      <p:sp>
        <p:nvSpPr>
          <p:cNvPr id="5" name="Footer Placeholder 4">
            <a:extLst>
              <a:ext uri="{FF2B5EF4-FFF2-40B4-BE49-F238E27FC236}">
                <a16:creationId xmlns:a16="http://schemas.microsoft.com/office/drawing/2014/main" id="{05BC06D0-8EEE-6FA6-4FC0-F5FF7F253F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505C49-7E07-9839-2262-F7DE913D65B5}"/>
              </a:ext>
            </a:extLst>
          </p:cNvPr>
          <p:cNvSpPr>
            <a:spLocks noGrp="1"/>
          </p:cNvSpPr>
          <p:nvPr>
            <p:ph type="sldNum" sz="quarter" idx="12"/>
          </p:nvPr>
        </p:nvSpPr>
        <p:spPr/>
        <p:txBody>
          <a:bodyPr/>
          <a:lstStyle/>
          <a:p>
            <a:fld id="{B37FA927-F87E-4580-83E5-EEBBB813A135}" type="slidenum">
              <a:rPr lang="en-IN" smtClean="0"/>
              <a:t>‹#›</a:t>
            </a:fld>
            <a:endParaRPr lang="en-IN"/>
          </a:p>
        </p:txBody>
      </p:sp>
    </p:spTree>
    <p:extLst>
      <p:ext uri="{BB962C8B-B14F-4D97-AF65-F5344CB8AC3E}">
        <p14:creationId xmlns:p14="http://schemas.microsoft.com/office/powerpoint/2010/main" val="2332338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A4815F-21B2-2BB6-6747-7C76A92E19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3ACA7E9-FF5D-FB5E-2F86-B1B693818C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C58005-E0C5-AE80-028A-8A1B7B48A3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E8C680-797B-4312-A89B-976123FDC394}" type="datetimeFigureOut">
              <a:rPr lang="en-IN" smtClean="0"/>
              <a:t>09-04-2025</a:t>
            </a:fld>
            <a:endParaRPr lang="en-IN"/>
          </a:p>
        </p:txBody>
      </p:sp>
      <p:sp>
        <p:nvSpPr>
          <p:cNvPr id="5" name="Footer Placeholder 4">
            <a:extLst>
              <a:ext uri="{FF2B5EF4-FFF2-40B4-BE49-F238E27FC236}">
                <a16:creationId xmlns:a16="http://schemas.microsoft.com/office/drawing/2014/main" id="{684D9ECD-F146-B37A-FEC5-725E8FEC80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E959A8E-AA66-D048-2C31-4379A3C1EF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7FA927-F87E-4580-83E5-EEBBB813A135}" type="slidenum">
              <a:rPr lang="en-IN" smtClean="0"/>
              <a:t>‹#›</a:t>
            </a:fld>
            <a:endParaRPr lang="en-IN"/>
          </a:p>
        </p:txBody>
      </p:sp>
    </p:spTree>
    <p:extLst>
      <p:ext uri="{BB962C8B-B14F-4D97-AF65-F5344CB8AC3E}">
        <p14:creationId xmlns:p14="http://schemas.microsoft.com/office/powerpoint/2010/main" val="36249472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image" Target="../media/image9.emf"/><Relationship Id="rId7" Type="http://schemas.openxmlformats.org/officeDocument/2006/relationships/image" Target="../media/image13.emf"/><Relationship Id="rId2" Type="http://schemas.openxmlformats.org/officeDocument/2006/relationships/image" Target="../media/image8.emf"/><Relationship Id="rId1" Type="http://schemas.openxmlformats.org/officeDocument/2006/relationships/slideLayout" Target="../slideLayouts/slideLayout7.xml"/><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10.emf"/></Relationships>
</file>

<file path=ppt/slides/_rels/slide6.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image" Target="../media/image16.emf"/><Relationship Id="rId7" Type="http://schemas.openxmlformats.org/officeDocument/2006/relationships/image" Target="../media/image20.emf"/><Relationship Id="rId2" Type="http://schemas.openxmlformats.org/officeDocument/2006/relationships/image" Target="../media/image15.emf"/><Relationship Id="rId1" Type="http://schemas.openxmlformats.org/officeDocument/2006/relationships/slideLayout" Target="../slideLayouts/slideLayout7.xml"/><Relationship Id="rId6" Type="http://schemas.openxmlformats.org/officeDocument/2006/relationships/image" Target="../media/image19.emf"/><Relationship Id="rId5" Type="http://schemas.openxmlformats.org/officeDocument/2006/relationships/image" Target="../media/image18.emf"/><Relationship Id="rId4" Type="http://schemas.openxmlformats.org/officeDocument/2006/relationships/image" Target="../media/image17.emf"/></Relationships>
</file>

<file path=ppt/slides/_rels/slide7.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6.emf"/><Relationship Id="rId7" Type="http://schemas.openxmlformats.org/officeDocument/2006/relationships/image" Target="../media/image30.png"/><Relationship Id="rId2" Type="http://schemas.openxmlformats.org/officeDocument/2006/relationships/image" Target="../media/image25.emf"/><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emf"/><Relationship Id="rId4" Type="http://schemas.openxmlformats.org/officeDocument/2006/relationships/image" Target="../media/image27.emf"/></Relationships>
</file>

<file path=ppt/slides/_rels/slide10.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7.xml"/><Relationship Id="rId4" Type="http://schemas.openxmlformats.org/officeDocument/2006/relationships/image" Target="../media/image34.emf"/></Relationships>
</file>

<file path=ppt/slides/_rels/slide12.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2.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slideLayout" Target="../slideLayouts/slideLayout7.xml"/><Relationship Id="rId6" Type="http://schemas.openxmlformats.org/officeDocument/2006/relationships/image" Target="../media/image46.emf"/><Relationship Id="rId5" Type="http://schemas.openxmlformats.org/officeDocument/2006/relationships/image" Target="../media/image45.emf"/><Relationship Id="rId4" Type="http://schemas.openxmlformats.org/officeDocument/2006/relationships/image" Target="../media/image44.emf"/></Relationships>
</file>

<file path=ppt/slides/_rels/slide20.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slideLayout" Target="../slideLayouts/slideLayout7.xml"/><Relationship Id="rId4" Type="http://schemas.openxmlformats.org/officeDocument/2006/relationships/image" Target="../media/image49.emf"/></Relationships>
</file>

<file path=ppt/slides/_rels/slide21.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0.emf"/><Relationship Id="rId1" Type="http://schemas.openxmlformats.org/officeDocument/2006/relationships/slideLayout" Target="../slideLayouts/slideLayout7.xml"/><Relationship Id="rId5" Type="http://schemas.openxmlformats.org/officeDocument/2006/relationships/image" Target="../media/image46.emf"/><Relationship Id="rId4" Type="http://schemas.openxmlformats.org/officeDocument/2006/relationships/image" Target="../media/image52.emf"/></Relationships>
</file>

<file path=ppt/slides/_rels/slide22.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e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image" Target="../media/image56.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8B8768-2476-2201-9E9E-E2106CAFE15E}"/>
              </a:ext>
            </a:extLst>
          </p:cNvPr>
          <p:cNvSpPr txBox="1"/>
          <p:nvPr/>
        </p:nvSpPr>
        <p:spPr>
          <a:xfrm>
            <a:off x="1657720" y="1083659"/>
            <a:ext cx="8577711" cy="5081648"/>
          </a:xfrm>
          <a:prstGeom prst="rect">
            <a:avLst/>
          </a:prstGeom>
          <a:noFill/>
        </p:spPr>
        <p:txBody>
          <a:bodyPr wrap="square">
            <a:spAutoFit/>
          </a:bodyPr>
          <a:lstStyle/>
          <a:p>
            <a:pPr>
              <a:lnSpc>
                <a:spcPct val="107000"/>
              </a:lnSpc>
              <a:spcAft>
                <a:spcPts val="709"/>
              </a:spcAft>
            </a:pPr>
            <a:r>
              <a:rPr lang="en-IN" sz="1329" b="1" dirty="0">
                <a:solidFill>
                  <a:srgbClr val="000000"/>
                </a:solidFill>
                <a:latin typeface="Arial" panose="020B0604020202020204" pitchFamily="34" charset="0"/>
                <a:ea typeface="Times New Roman" panose="02020603050405020304" pitchFamily="18" charset="0"/>
                <a:cs typeface="Arial" panose="020B0604020202020204" pitchFamily="34" charset="0"/>
              </a:rPr>
              <a:t>Elements and stoichiometry:</a:t>
            </a:r>
            <a:r>
              <a:rPr lang="en-IN" sz="1329"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r>
              <a:rPr lang="en-IN" sz="1329" dirty="0">
                <a:solidFill>
                  <a:srgbClr val="000000"/>
                </a:solidFill>
                <a:latin typeface="Arial" panose="020B0604020202020204" pitchFamily="34" charset="0"/>
                <a:ea typeface="Calibri" panose="020F0502020204030204" pitchFamily="34" charset="0"/>
                <a:cs typeface="Arial" panose="020B0604020202020204" pitchFamily="34" charset="0"/>
              </a:rPr>
              <a:t>Individual groups, Metals, non-metals, and metalloids, Allotropes of carbon, phosphorus, and other elements, Binding Energies. </a:t>
            </a:r>
            <a:r>
              <a:rPr lang="en-IN" sz="1329" dirty="0">
                <a:solidFill>
                  <a:srgbClr val="000000"/>
                </a:solidFill>
                <a:latin typeface="Arial" panose="020B0604020202020204" pitchFamily="34" charset="0"/>
                <a:ea typeface="Times New Roman" panose="02020603050405020304" pitchFamily="18" charset="0"/>
                <a:cs typeface="Arial" panose="020B0604020202020204" pitchFamily="34" charset="0"/>
              </a:rPr>
              <a:t>why stoichiometry is important (4 Lecture)</a:t>
            </a:r>
            <a:endParaRPr lang="en-IN" sz="1329" b="1" dirty="0">
              <a:solidFill>
                <a:srgbClr val="0000FF"/>
              </a:solidFill>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709"/>
              </a:spcAft>
            </a:pPr>
            <a:r>
              <a:rPr lang="en-IN" sz="1329" b="1" dirty="0">
                <a:solidFill>
                  <a:srgbClr val="000000"/>
                </a:solidFill>
                <a:latin typeface="Arial" panose="020B0604020202020204" pitchFamily="34" charset="0"/>
                <a:ea typeface="Calibri" panose="020F0502020204030204" pitchFamily="34" charset="0"/>
                <a:cs typeface="Arial" panose="020B0604020202020204" pitchFamily="34" charset="0"/>
              </a:rPr>
              <a:t>Basic redox chemistry- </a:t>
            </a:r>
            <a:r>
              <a:rPr lang="en-IN" sz="1329" dirty="0">
                <a:solidFill>
                  <a:srgbClr val="000000"/>
                </a:solidFill>
                <a:latin typeface="Arial" panose="020B0604020202020204" pitchFamily="34" charset="0"/>
                <a:ea typeface="Calibri" panose="020F0502020204030204" pitchFamily="34" charset="0"/>
                <a:cs typeface="Arial" panose="020B0604020202020204" pitchFamily="34" charset="0"/>
              </a:rPr>
              <a:t>recapitulation of balancing equations, oxidation number, various electrochemical cells (viz. Daniel cell, concentration cells), electrolysis cells and electroplating, Nernst Equation, reduction potential, standard electrodes (viz. silver, calomel, hydrogen), Factors affecting reduction potential, pH electrode, corrosion as redox reaction, few examples of redox processes in biological systems, Latimer diagram, Pourbaix diagram, Cyclic voltammetry basics: half-cell potential, triangular wave scan, </a:t>
            </a:r>
            <a:r>
              <a:rPr lang="en-IN" sz="1329" dirty="0" err="1">
                <a:solidFill>
                  <a:srgbClr val="000000"/>
                </a:solidFill>
                <a:latin typeface="Arial" panose="020B0604020202020204" pitchFamily="34" charset="0"/>
                <a:ea typeface="Calibri" panose="020F0502020204030204" pitchFamily="34" charset="0"/>
                <a:cs typeface="Arial" panose="020B0604020202020204" pitchFamily="34" charset="0"/>
              </a:rPr>
              <a:t>Ficks</a:t>
            </a:r>
            <a:r>
              <a:rPr lang="en-IN" sz="1329" dirty="0">
                <a:solidFill>
                  <a:srgbClr val="000000"/>
                </a:solidFill>
                <a:latin typeface="Arial" panose="020B0604020202020204" pitchFamily="34" charset="0"/>
                <a:ea typeface="Calibri" panose="020F0502020204030204" pitchFamily="34" charset="0"/>
                <a:cs typeface="Arial" panose="020B0604020202020204" pitchFamily="34" charset="0"/>
              </a:rPr>
              <a:t> law, </a:t>
            </a:r>
            <a:r>
              <a:rPr lang="en-IN" sz="1329" dirty="0" err="1">
                <a:solidFill>
                  <a:srgbClr val="000000"/>
                </a:solidFill>
                <a:latin typeface="Arial" panose="020B0604020202020204" pitchFamily="34" charset="0"/>
                <a:ea typeface="Calibri" panose="020F0502020204030204" pitchFamily="34" charset="0"/>
                <a:cs typeface="Arial" panose="020B0604020202020204" pitchFamily="34" charset="0"/>
              </a:rPr>
              <a:t>Randles-Sevick</a:t>
            </a:r>
            <a:r>
              <a:rPr lang="en-IN" sz="1329" dirty="0">
                <a:solidFill>
                  <a:srgbClr val="000000"/>
                </a:solidFill>
                <a:latin typeface="Arial" panose="020B0604020202020204" pitchFamily="34" charset="0"/>
                <a:ea typeface="Calibri" panose="020F0502020204030204" pitchFamily="34" charset="0"/>
                <a:cs typeface="Arial" panose="020B0604020202020204" pitchFamily="34" charset="0"/>
              </a:rPr>
              <a:t> equation interpretation, basic application  (8 lectures)</a:t>
            </a:r>
            <a:endParaRPr lang="en-IN" sz="1329" b="1" dirty="0">
              <a:solidFill>
                <a:srgbClr val="0000FF"/>
              </a:solidFill>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709"/>
              </a:spcAft>
            </a:pPr>
            <a:r>
              <a:rPr lang="en-IN" sz="1329" b="1" dirty="0">
                <a:solidFill>
                  <a:srgbClr val="000000"/>
                </a:solidFill>
                <a:latin typeface="Arial" panose="020B0604020202020204" pitchFamily="34" charset="0"/>
                <a:ea typeface="Calibri" panose="020F0502020204030204" pitchFamily="34" charset="0"/>
                <a:cs typeface="Arial" panose="020B0604020202020204" pitchFamily="34" charset="0"/>
              </a:rPr>
              <a:t> </a:t>
            </a:r>
            <a:endParaRPr lang="en-IN" sz="1329" b="1" dirty="0">
              <a:solidFill>
                <a:srgbClr val="0000FF"/>
              </a:solidFill>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709"/>
              </a:spcAft>
            </a:pPr>
            <a:r>
              <a:rPr lang="en-IN" sz="1329" b="1" dirty="0">
                <a:solidFill>
                  <a:srgbClr val="000000"/>
                </a:solidFill>
                <a:latin typeface="Arial" panose="020B0604020202020204" pitchFamily="34" charset="0"/>
                <a:ea typeface="Calibri" panose="020F0502020204030204" pitchFamily="34" charset="0"/>
                <a:cs typeface="Arial" panose="020B0604020202020204" pitchFamily="34" charset="0"/>
              </a:rPr>
              <a:t>Introduction to solids: </a:t>
            </a:r>
            <a:r>
              <a:rPr lang="en-IN" sz="1329" dirty="0">
                <a:solidFill>
                  <a:srgbClr val="000000"/>
                </a:solidFill>
                <a:latin typeface="Arial" panose="020B0604020202020204" pitchFamily="34" charset="0"/>
                <a:ea typeface="Calibri" panose="020F0502020204030204" pitchFamily="34" charset="0"/>
                <a:cs typeface="Arial" panose="020B0604020202020204" pitchFamily="34" charset="0"/>
              </a:rPr>
              <a:t>Amorphous vs. crystalline solids, types of crystalline solids, Bravais lattice, crystal systems, unit cell, close packing of various types, packing density, examples of close packed structures, radius -ratio, ionic solids, Madelung constant, Born-Lande equation, basic thermodynamics of ionic crystal (viz. Born-Haber cycle), discrepancies in lattice energy, calculations of void spaces and packing parameters, point defects (Schottky and Frenkel), colour centres and their influence, metals and their packing, influence of impurities on metals, utility of alloys, Hume-</a:t>
            </a:r>
            <a:r>
              <a:rPr lang="en-IN" sz="1329" dirty="0" err="1">
                <a:solidFill>
                  <a:srgbClr val="000000"/>
                </a:solidFill>
                <a:latin typeface="Arial" panose="020B0604020202020204" pitchFamily="34" charset="0"/>
                <a:ea typeface="Calibri" panose="020F0502020204030204" pitchFamily="34" charset="0"/>
                <a:cs typeface="Arial" panose="020B0604020202020204" pitchFamily="34" charset="0"/>
              </a:rPr>
              <a:t>Rothary</a:t>
            </a:r>
            <a:r>
              <a:rPr lang="en-IN" sz="1329" dirty="0">
                <a:solidFill>
                  <a:srgbClr val="000000"/>
                </a:solidFill>
                <a:latin typeface="Arial" panose="020B0604020202020204" pitchFamily="34" charset="0"/>
                <a:ea typeface="Calibri" panose="020F0502020204030204" pitchFamily="34" charset="0"/>
                <a:cs typeface="Arial" panose="020B0604020202020204" pitchFamily="34" charset="0"/>
              </a:rPr>
              <a:t> rules, basics of doping and conductivity, Miller Indices-concept of planes, indexing planes, symmetry and equivalent planes. (10 lectures)</a:t>
            </a:r>
            <a:endParaRPr lang="en-IN" sz="1329" b="1" dirty="0">
              <a:solidFill>
                <a:srgbClr val="0000FF"/>
              </a:solidFill>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709"/>
              </a:spcAft>
            </a:pPr>
            <a:r>
              <a:rPr lang="en-IN" sz="1329" dirty="0">
                <a:solidFill>
                  <a:srgbClr val="000000"/>
                </a:solidFill>
                <a:latin typeface="Arial" panose="020B0604020202020204" pitchFamily="34" charset="0"/>
                <a:ea typeface="Calibri" panose="020F0502020204030204" pitchFamily="34" charset="0"/>
                <a:cs typeface="Arial" panose="020B0604020202020204" pitchFamily="34" charset="0"/>
              </a:rPr>
              <a:t> </a:t>
            </a:r>
            <a:r>
              <a:rPr lang="en-IN" sz="1329" b="1" dirty="0">
                <a:solidFill>
                  <a:srgbClr val="000000"/>
                </a:solidFill>
                <a:latin typeface="Arial" panose="020B0604020202020204" pitchFamily="34" charset="0"/>
                <a:ea typeface="Calibri" panose="020F0502020204030204" pitchFamily="34" charset="0"/>
                <a:cs typeface="Arial" panose="020B0604020202020204" pitchFamily="34" charset="0"/>
              </a:rPr>
              <a:t>Books for reference:</a:t>
            </a:r>
            <a:endParaRPr lang="en-IN" sz="1329" b="1" dirty="0">
              <a:solidFill>
                <a:srgbClr val="0000FF"/>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709"/>
              </a:spcAft>
            </a:pPr>
            <a:r>
              <a:rPr lang="en-IN" sz="1329" dirty="0">
                <a:solidFill>
                  <a:srgbClr val="0000FF"/>
                </a:solidFill>
                <a:latin typeface="Arial" panose="020B0604020202020204" pitchFamily="34" charset="0"/>
                <a:ea typeface="Times New Roman" panose="02020603050405020304" pitchFamily="18" charset="0"/>
                <a:cs typeface="Arial" panose="020B0604020202020204" pitchFamily="34" charset="0"/>
              </a:rPr>
              <a:t>1. Inorganic chemistry By Catherine E </a:t>
            </a:r>
            <a:r>
              <a:rPr lang="en-IN" sz="1329" dirty="0" err="1">
                <a:solidFill>
                  <a:srgbClr val="0000FF"/>
                </a:solidFill>
                <a:latin typeface="Arial" panose="020B0604020202020204" pitchFamily="34" charset="0"/>
                <a:ea typeface="Times New Roman" panose="02020603050405020304" pitchFamily="18" charset="0"/>
                <a:cs typeface="Arial" panose="020B0604020202020204" pitchFamily="34" charset="0"/>
              </a:rPr>
              <a:t>Housecroft</a:t>
            </a:r>
            <a:r>
              <a:rPr lang="en-IN" sz="1329" dirty="0">
                <a:solidFill>
                  <a:srgbClr val="0000FF"/>
                </a:solidFill>
                <a:latin typeface="Arial" panose="020B0604020202020204" pitchFamily="34" charset="0"/>
                <a:ea typeface="Times New Roman" panose="02020603050405020304" pitchFamily="18" charset="0"/>
                <a:cs typeface="Arial" panose="020B0604020202020204" pitchFamily="34" charset="0"/>
              </a:rPr>
              <a:t> and Alan G. Sharpe</a:t>
            </a:r>
            <a:endParaRPr lang="en-IN" sz="1329" b="1" dirty="0">
              <a:solidFill>
                <a:srgbClr val="0000FF"/>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709"/>
              </a:spcAft>
            </a:pPr>
            <a:r>
              <a:rPr lang="en-IN" sz="1329" dirty="0">
                <a:solidFill>
                  <a:srgbClr val="0000FF"/>
                </a:solidFill>
                <a:latin typeface="Arial" panose="020B0604020202020204" pitchFamily="34" charset="0"/>
                <a:ea typeface="Times New Roman" panose="02020603050405020304" pitchFamily="18" charset="0"/>
                <a:cs typeface="Arial" panose="020B0604020202020204" pitchFamily="34" charset="0"/>
              </a:rPr>
              <a:t>2. Inorganic Chemistry By </a:t>
            </a:r>
            <a:r>
              <a:rPr lang="en-IN" sz="1329" dirty="0" err="1">
                <a:solidFill>
                  <a:srgbClr val="0000FF"/>
                </a:solidFill>
                <a:latin typeface="Arial" panose="020B0604020202020204" pitchFamily="34" charset="0"/>
                <a:ea typeface="Times New Roman" panose="02020603050405020304" pitchFamily="18" charset="0"/>
                <a:cs typeface="Arial" panose="020B0604020202020204" pitchFamily="34" charset="0"/>
              </a:rPr>
              <a:t>Shrivers</a:t>
            </a:r>
            <a:r>
              <a:rPr lang="en-IN" sz="1329" dirty="0">
                <a:solidFill>
                  <a:srgbClr val="0000FF"/>
                </a:solidFill>
                <a:latin typeface="Arial" panose="020B0604020202020204" pitchFamily="34" charset="0"/>
                <a:ea typeface="Times New Roman" panose="02020603050405020304" pitchFamily="18" charset="0"/>
                <a:cs typeface="Arial" panose="020B0604020202020204" pitchFamily="34" charset="0"/>
              </a:rPr>
              <a:t> Atkins And Langford</a:t>
            </a:r>
          </a:p>
          <a:p>
            <a:pPr>
              <a:lnSpc>
                <a:spcPct val="107000"/>
              </a:lnSpc>
              <a:spcAft>
                <a:spcPts val="709"/>
              </a:spcAft>
            </a:pPr>
            <a:r>
              <a:rPr lang="en-IN" sz="1329" dirty="0">
                <a:solidFill>
                  <a:srgbClr val="0000FF"/>
                </a:solidFill>
                <a:latin typeface="Arial" panose="020B0604020202020204" pitchFamily="34" charset="0"/>
                <a:ea typeface="Calibri" panose="020F0502020204030204" pitchFamily="34" charset="0"/>
                <a:cs typeface="Arial" panose="020B0604020202020204" pitchFamily="34" charset="0"/>
              </a:rPr>
              <a:t>3. Solid State Chemistry and its applications by Anthony R West</a:t>
            </a:r>
            <a:endParaRPr lang="en-IN" sz="1329" b="1" dirty="0">
              <a:solidFill>
                <a:srgbClr val="0000FF"/>
              </a:solidFill>
              <a:latin typeface="Arial" panose="020B0604020202020204" pitchFamily="34" charset="0"/>
              <a:ea typeface="Calibri" panose="020F0502020204030204" pitchFamily="34" charset="0"/>
              <a:cs typeface="Arial" panose="020B0604020202020204" pitchFamily="34" charset="0"/>
            </a:endParaRPr>
          </a:p>
        </p:txBody>
      </p:sp>
      <p:sp>
        <p:nvSpPr>
          <p:cNvPr id="4" name="TextBox 3">
            <a:extLst>
              <a:ext uri="{FF2B5EF4-FFF2-40B4-BE49-F238E27FC236}">
                <a16:creationId xmlns:a16="http://schemas.microsoft.com/office/drawing/2014/main" id="{1E9ADA49-339D-4945-94BC-99B79444CD2E}"/>
              </a:ext>
            </a:extLst>
          </p:cNvPr>
          <p:cNvSpPr txBox="1"/>
          <p:nvPr/>
        </p:nvSpPr>
        <p:spPr>
          <a:xfrm>
            <a:off x="5529508" y="533018"/>
            <a:ext cx="1024639" cy="337657"/>
          </a:xfrm>
          <a:prstGeom prst="rect">
            <a:avLst/>
          </a:prstGeom>
          <a:noFill/>
        </p:spPr>
        <p:txBody>
          <a:bodyPr wrap="none" rtlCol="0">
            <a:spAutoFit/>
          </a:bodyPr>
          <a:lstStyle/>
          <a:p>
            <a:r>
              <a:rPr lang="en-IN" sz="1594" b="1" dirty="0">
                <a:solidFill>
                  <a:srgbClr val="C00000"/>
                </a:solidFill>
                <a:latin typeface="Arial" panose="020B0604020202020204" pitchFamily="34" charset="0"/>
                <a:cs typeface="Arial" panose="020B0604020202020204" pitchFamily="34" charset="0"/>
              </a:rPr>
              <a:t>Syllabus</a:t>
            </a:r>
          </a:p>
        </p:txBody>
      </p:sp>
    </p:spTree>
    <p:extLst>
      <p:ext uri="{BB962C8B-B14F-4D97-AF65-F5344CB8AC3E}">
        <p14:creationId xmlns:p14="http://schemas.microsoft.com/office/powerpoint/2010/main" val="1514969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864657" y="4827964"/>
            <a:ext cx="989832" cy="396739"/>
            <a:chOff x="4423409" y="4970526"/>
            <a:chExt cx="1091565" cy="437515"/>
          </a:xfrm>
        </p:grpSpPr>
        <p:sp>
          <p:nvSpPr>
            <p:cNvPr id="3" name="object 3"/>
            <p:cNvSpPr/>
            <p:nvPr/>
          </p:nvSpPr>
          <p:spPr>
            <a:xfrm>
              <a:off x="4428743" y="4975860"/>
              <a:ext cx="1080770" cy="426720"/>
            </a:xfrm>
            <a:custGeom>
              <a:avLst/>
              <a:gdLst/>
              <a:ahLst/>
              <a:cxnLst/>
              <a:rect l="l" t="t" r="r" b="b"/>
              <a:pathLst>
                <a:path w="1080770" h="426720">
                  <a:moveTo>
                    <a:pt x="864108" y="426720"/>
                  </a:moveTo>
                  <a:lnTo>
                    <a:pt x="864108" y="320040"/>
                  </a:lnTo>
                  <a:lnTo>
                    <a:pt x="216407" y="320040"/>
                  </a:lnTo>
                  <a:lnTo>
                    <a:pt x="216407" y="426720"/>
                  </a:lnTo>
                  <a:lnTo>
                    <a:pt x="0" y="213360"/>
                  </a:lnTo>
                  <a:lnTo>
                    <a:pt x="216407" y="0"/>
                  </a:lnTo>
                  <a:lnTo>
                    <a:pt x="216407" y="106680"/>
                  </a:lnTo>
                  <a:lnTo>
                    <a:pt x="864108" y="106680"/>
                  </a:lnTo>
                  <a:lnTo>
                    <a:pt x="864108" y="0"/>
                  </a:lnTo>
                  <a:lnTo>
                    <a:pt x="1080516" y="213360"/>
                  </a:lnTo>
                  <a:lnTo>
                    <a:pt x="864108" y="426720"/>
                  </a:lnTo>
                  <a:close/>
                </a:path>
              </a:pathLst>
            </a:custGeom>
            <a:solidFill>
              <a:srgbClr val="3493BA"/>
            </a:solidFill>
          </p:spPr>
          <p:txBody>
            <a:bodyPr wrap="square" lIns="0" tIns="0" rIns="0" bIns="0" rtlCol="0"/>
            <a:lstStyle/>
            <a:p>
              <a:endParaRPr sz="1632"/>
            </a:p>
          </p:txBody>
        </p:sp>
        <p:sp>
          <p:nvSpPr>
            <p:cNvPr id="4" name="object 4"/>
            <p:cNvSpPr/>
            <p:nvPr/>
          </p:nvSpPr>
          <p:spPr>
            <a:xfrm>
              <a:off x="4428743" y="4975860"/>
              <a:ext cx="1080770" cy="426720"/>
            </a:xfrm>
            <a:custGeom>
              <a:avLst/>
              <a:gdLst/>
              <a:ahLst/>
              <a:cxnLst/>
              <a:rect l="l" t="t" r="r" b="b"/>
              <a:pathLst>
                <a:path w="1080770" h="426720">
                  <a:moveTo>
                    <a:pt x="0" y="213360"/>
                  </a:moveTo>
                  <a:lnTo>
                    <a:pt x="216407" y="0"/>
                  </a:lnTo>
                  <a:lnTo>
                    <a:pt x="216407" y="106680"/>
                  </a:lnTo>
                  <a:lnTo>
                    <a:pt x="864108" y="106680"/>
                  </a:lnTo>
                  <a:lnTo>
                    <a:pt x="864108" y="0"/>
                  </a:lnTo>
                  <a:lnTo>
                    <a:pt x="1080516" y="213360"/>
                  </a:lnTo>
                  <a:lnTo>
                    <a:pt x="864108" y="426720"/>
                  </a:lnTo>
                  <a:lnTo>
                    <a:pt x="864108" y="320040"/>
                  </a:lnTo>
                  <a:lnTo>
                    <a:pt x="216407" y="320040"/>
                  </a:lnTo>
                  <a:lnTo>
                    <a:pt x="216407" y="426720"/>
                  </a:lnTo>
                  <a:lnTo>
                    <a:pt x="0" y="213360"/>
                  </a:lnTo>
                  <a:close/>
                </a:path>
              </a:pathLst>
            </a:custGeom>
            <a:ln w="10668">
              <a:solidFill>
                <a:srgbClr val="000000"/>
              </a:solidFill>
            </a:ln>
          </p:spPr>
          <p:txBody>
            <a:bodyPr wrap="square" lIns="0" tIns="0" rIns="0" bIns="0" rtlCol="0"/>
            <a:lstStyle/>
            <a:p>
              <a:endParaRPr sz="1632"/>
            </a:p>
          </p:txBody>
        </p:sp>
      </p:grpSp>
      <p:sp>
        <p:nvSpPr>
          <p:cNvPr id="7" name="object 7"/>
          <p:cNvSpPr txBox="1"/>
          <p:nvPr/>
        </p:nvSpPr>
        <p:spPr>
          <a:xfrm>
            <a:off x="981910" y="4058149"/>
            <a:ext cx="4721108" cy="1390790"/>
          </a:xfrm>
          <a:prstGeom prst="rect">
            <a:avLst/>
          </a:prstGeom>
        </p:spPr>
        <p:txBody>
          <a:bodyPr vert="horz" wrap="square" lIns="0" tIns="70826" rIns="0" bIns="0" rtlCol="0">
            <a:spAutoFit/>
          </a:bodyPr>
          <a:lstStyle/>
          <a:p>
            <a:pPr marL="45490">
              <a:spcBef>
                <a:spcPts val="558"/>
              </a:spcBef>
            </a:pPr>
            <a:r>
              <a:rPr sz="1587" spc="-9" dirty="0">
                <a:latin typeface="Microsoft Sans Serif"/>
                <a:cs typeface="Microsoft Sans Serif"/>
              </a:rPr>
              <a:t>Convenient</a:t>
            </a:r>
            <a:endParaRPr sz="1587" dirty="0">
              <a:latin typeface="Microsoft Sans Serif"/>
              <a:cs typeface="Microsoft Sans Serif"/>
            </a:endParaRPr>
          </a:p>
          <a:p>
            <a:pPr marL="503265" indent="-457199">
              <a:spcBef>
                <a:spcPts val="398"/>
              </a:spcBef>
              <a:buClr>
                <a:srgbClr val="000000"/>
              </a:buClr>
              <a:buFont typeface="Trebuchet MS"/>
              <a:buChar char="-"/>
              <a:tabLst>
                <a:tab pos="503265" algn="l"/>
              </a:tabLst>
            </a:pPr>
            <a:r>
              <a:rPr sz="1406" dirty="0">
                <a:latin typeface="Microsoft Sans Serif"/>
                <a:cs typeface="Microsoft Sans Serif"/>
              </a:rPr>
              <a:t>Common</a:t>
            </a:r>
            <a:r>
              <a:rPr sz="1406" spc="-50" dirty="0">
                <a:latin typeface="Microsoft Sans Serif"/>
                <a:cs typeface="Microsoft Sans Serif"/>
              </a:rPr>
              <a:t> </a:t>
            </a:r>
            <a:r>
              <a:rPr sz="1406" dirty="0">
                <a:latin typeface="Microsoft Sans Serif"/>
                <a:cs typeface="Microsoft Sans Serif"/>
              </a:rPr>
              <a:t>problem</a:t>
            </a:r>
            <a:r>
              <a:rPr sz="1406" spc="-54" dirty="0">
                <a:latin typeface="Microsoft Sans Serif"/>
                <a:cs typeface="Microsoft Sans Serif"/>
              </a:rPr>
              <a:t> </a:t>
            </a:r>
            <a:r>
              <a:rPr sz="1406" dirty="0">
                <a:latin typeface="Microsoft Sans Serif"/>
                <a:cs typeface="Microsoft Sans Serif"/>
              </a:rPr>
              <a:t>is</a:t>
            </a:r>
            <a:r>
              <a:rPr sz="1406" spc="-18" dirty="0">
                <a:latin typeface="Microsoft Sans Serif"/>
                <a:cs typeface="Microsoft Sans Serif"/>
              </a:rPr>
              <a:t> </a:t>
            </a:r>
            <a:r>
              <a:rPr sz="1406" dirty="0">
                <a:latin typeface="Microsoft Sans Serif"/>
                <a:cs typeface="Microsoft Sans Serif"/>
              </a:rPr>
              <a:t>porous</a:t>
            </a:r>
            <a:r>
              <a:rPr sz="1406" spc="-50" dirty="0">
                <a:latin typeface="Microsoft Sans Serif"/>
                <a:cs typeface="Microsoft Sans Serif"/>
              </a:rPr>
              <a:t> </a:t>
            </a:r>
            <a:r>
              <a:rPr sz="1406" dirty="0">
                <a:latin typeface="Microsoft Sans Serif"/>
                <a:cs typeface="Microsoft Sans Serif"/>
              </a:rPr>
              <a:t>plug</a:t>
            </a:r>
            <a:r>
              <a:rPr sz="1406" spc="-50" dirty="0">
                <a:latin typeface="Microsoft Sans Serif"/>
                <a:cs typeface="Microsoft Sans Serif"/>
              </a:rPr>
              <a:t> </a:t>
            </a:r>
            <a:r>
              <a:rPr sz="1406" dirty="0">
                <a:latin typeface="Microsoft Sans Serif"/>
                <a:cs typeface="Microsoft Sans Serif"/>
              </a:rPr>
              <a:t>becomes</a:t>
            </a:r>
            <a:r>
              <a:rPr sz="1406" spc="-50" dirty="0">
                <a:latin typeface="Microsoft Sans Serif"/>
                <a:cs typeface="Microsoft Sans Serif"/>
              </a:rPr>
              <a:t> </a:t>
            </a:r>
            <a:r>
              <a:rPr sz="1406" spc="-9" dirty="0">
                <a:latin typeface="Microsoft Sans Serif"/>
                <a:cs typeface="Microsoft Sans Serif"/>
              </a:rPr>
              <a:t>clogged</a:t>
            </a:r>
            <a:endParaRPr sz="1406" dirty="0">
              <a:latin typeface="Microsoft Sans Serif"/>
              <a:cs typeface="Microsoft Sans Serif"/>
            </a:endParaRPr>
          </a:p>
          <a:p>
            <a:pPr marL="95586">
              <a:spcBef>
                <a:spcPts val="404"/>
              </a:spcBef>
            </a:pPr>
            <a:r>
              <a:rPr sz="1587" dirty="0">
                <a:latin typeface="Microsoft Sans Serif"/>
                <a:cs typeface="Microsoft Sans Serif"/>
              </a:rPr>
              <a:t>Standard</a:t>
            </a:r>
            <a:r>
              <a:rPr sz="1587" spc="-18" dirty="0">
                <a:latin typeface="Microsoft Sans Serif"/>
                <a:cs typeface="Microsoft Sans Serif"/>
              </a:rPr>
              <a:t> </a:t>
            </a:r>
            <a:r>
              <a:rPr sz="1587" dirty="0">
                <a:latin typeface="Microsoft Sans Serif"/>
                <a:cs typeface="Microsoft Sans Serif"/>
              </a:rPr>
              <a:t>Hydrogen</a:t>
            </a:r>
            <a:r>
              <a:rPr sz="1587" spc="41" dirty="0">
                <a:latin typeface="Microsoft Sans Serif"/>
                <a:cs typeface="Microsoft Sans Serif"/>
              </a:rPr>
              <a:t> </a:t>
            </a:r>
            <a:r>
              <a:rPr sz="1587" dirty="0">
                <a:latin typeface="Microsoft Sans Serif"/>
                <a:cs typeface="Microsoft Sans Serif"/>
              </a:rPr>
              <a:t>Electrodes</a:t>
            </a:r>
            <a:r>
              <a:rPr sz="1587" spc="-14" dirty="0">
                <a:latin typeface="Microsoft Sans Serif"/>
                <a:cs typeface="Microsoft Sans Serif"/>
              </a:rPr>
              <a:t> </a:t>
            </a:r>
            <a:r>
              <a:rPr sz="1587" dirty="0">
                <a:latin typeface="Microsoft Sans Serif"/>
                <a:cs typeface="Microsoft Sans Serif"/>
              </a:rPr>
              <a:t>(SHE)</a:t>
            </a:r>
            <a:r>
              <a:rPr sz="1587" spc="14" dirty="0">
                <a:latin typeface="Microsoft Sans Serif"/>
                <a:cs typeface="Microsoft Sans Serif"/>
              </a:rPr>
              <a:t> </a:t>
            </a:r>
            <a:r>
              <a:rPr sz="1587" dirty="0">
                <a:latin typeface="Microsoft Sans Serif"/>
                <a:cs typeface="Microsoft Sans Serif"/>
              </a:rPr>
              <a:t>or</a:t>
            </a:r>
            <a:r>
              <a:rPr sz="1587" spc="32" dirty="0">
                <a:latin typeface="Microsoft Sans Serif"/>
                <a:cs typeface="Microsoft Sans Serif"/>
              </a:rPr>
              <a:t> </a:t>
            </a:r>
            <a:r>
              <a:rPr sz="1587" dirty="0">
                <a:latin typeface="Microsoft Sans Serif"/>
                <a:cs typeface="Microsoft Sans Serif"/>
              </a:rPr>
              <a:t>NHE</a:t>
            </a:r>
            <a:r>
              <a:rPr sz="1587" spc="9" dirty="0">
                <a:latin typeface="Microsoft Sans Serif"/>
                <a:cs typeface="Microsoft Sans Serif"/>
              </a:rPr>
              <a:t> </a:t>
            </a:r>
            <a:r>
              <a:rPr sz="1587" dirty="0">
                <a:latin typeface="Microsoft Sans Serif"/>
                <a:cs typeface="Microsoft Sans Serif"/>
              </a:rPr>
              <a:t>are</a:t>
            </a:r>
            <a:r>
              <a:rPr sz="1587" spc="27" dirty="0">
                <a:latin typeface="Microsoft Sans Serif"/>
                <a:cs typeface="Microsoft Sans Serif"/>
              </a:rPr>
              <a:t> </a:t>
            </a:r>
            <a:r>
              <a:rPr sz="1587" spc="-9" dirty="0">
                <a:latin typeface="Microsoft Sans Serif"/>
                <a:cs typeface="Microsoft Sans Serif"/>
              </a:rPr>
              <a:t>cumbersome</a:t>
            </a:r>
            <a:endParaRPr sz="1587" dirty="0">
              <a:latin typeface="Microsoft Sans Serif"/>
              <a:cs typeface="Microsoft Sans Serif"/>
            </a:endParaRPr>
          </a:p>
          <a:p>
            <a:pPr marL="503265" indent="-457199">
              <a:spcBef>
                <a:spcPts val="413"/>
              </a:spcBef>
              <a:buClr>
                <a:srgbClr val="000000"/>
              </a:buClr>
              <a:buFont typeface="Trebuchet MS"/>
              <a:buChar char="-"/>
              <a:tabLst>
                <a:tab pos="503265" algn="l"/>
              </a:tabLst>
            </a:pPr>
            <a:r>
              <a:rPr sz="1406" dirty="0">
                <a:latin typeface="Microsoft Sans Serif"/>
                <a:cs typeface="Microsoft Sans Serif"/>
              </a:rPr>
              <a:t>Requires</a:t>
            </a:r>
            <a:r>
              <a:rPr sz="1406" spc="-41" dirty="0">
                <a:latin typeface="Microsoft Sans Serif"/>
                <a:cs typeface="Microsoft Sans Serif"/>
              </a:rPr>
              <a:t> </a:t>
            </a:r>
            <a:r>
              <a:rPr sz="1406" dirty="0">
                <a:latin typeface="Microsoft Sans Serif"/>
                <a:cs typeface="Microsoft Sans Serif"/>
              </a:rPr>
              <a:t>H</a:t>
            </a:r>
            <a:r>
              <a:rPr sz="1360" baseline="-19444" dirty="0">
                <a:latin typeface="Microsoft Sans Serif"/>
                <a:cs typeface="Microsoft Sans Serif"/>
              </a:rPr>
              <a:t>2</a:t>
            </a:r>
            <a:r>
              <a:rPr sz="1360" spc="170" baseline="-19444" dirty="0">
                <a:latin typeface="Microsoft Sans Serif"/>
                <a:cs typeface="Microsoft Sans Serif"/>
              </a:rPr>
              <a:t> </a:t>
            </a:r>
            <a:r>
              <a:rPr sz="1406" dirty="0">
                <a:latin typeface="Microsoft Sans Serif"/>
                <a:cs typeface="Microsoft Sans Serif"/>
              </a:rPr>
              <a:t>gas</a:t>
            </a:r>
            <a:r>
              <a:rPr sz="1406" spc="-36" dirty="0">
                <a:latin typeface="Microsoft Sans Serif"/>
                <a:cs typeface="Microsoft Sans Serif"/>
              </a:rPr>
              <a:t> </a:t>
            </a:r>
            <a:r>
              <a:rPr sz="1406" dirty="0">
                <a:latin typeface="Microsoft Sans Serif"/>
                <a:cs typeface="Microsoft Sans Serif"/>
              </a:rPr>
              <a:t>and</a:t>
            </a:r>
            <a:r>
              <a:rPr sz="1406" spc="-50" dirty="0">
                <a:latin typeface="Microsoft Sans Serif"/>
                <a:cs typeface="Microsoft Sans Serif"/>
              </a:rPr>
              <a:t> </a:t>
            </a:r>
            <a:r>
              <a:rPr sz="1406" dirty="0">
                <a:latin typeface="Microsoft Sans Serif"/>
                <a:cs typeface="Microsoft Sans Serif"/>
              </a:rPr>
              <a:t>freshly</a:t>
            </a:r>
            <a:r>
              <a:rPr sz="1406" spc="-50" dirty="0">
                <a:latin typeface="Microsoft Sans Serif"/>
                <a:cs typeface="Microsoft Sans Serif"/>
              </a:rPr>
              <a:t> </a:t>
            </a:r>
            <a:r>
              <a:rPr sz="1406" dirty="0">
                <a:latin typeface="Microsoft Sans Serif"/>
                <a:cs typeface="Microsoft Sans Serif"/>
              </a:rPr>
              <a:t>prepared</a:t>
            </a:r>
            <a:r>
              <a:rPr sz="1406" spc="-45" dirty="0">
                <a:latin typeface="Microsoft Sans Serif"/>
                <a:cs typeface="Microsoft Sans Serif"/>
              </a:rPr>
              <a:t> </a:t>
            </a:r>
            <a:r>
              <a:rPr sz="1406" spc="-23" dirty="0">
                <a:latin typeface="Microsoft Sans Serif"/>
                <a:cs typeface="Microsoft Sans Serif"/>
              </a:rPr>
              <a:t>Pt</a:t>
            </a:r>
            <a:endParaRPr sz="1406" dirty="0">
              <a:latin typeface="Microsoft Sans Serif"/>
              <a:cs typeface="Microsoft Sans Serif"/>
            </a:endParaRPr>
          </a:p>
        </p:txBody>
      </p:sp>
      <p:grpSp>
        <p:nvGrpSpPr>
          <p:cNvPr id="14" name="Group 13">
            <a:extLst>
              <a:ext uri="{FF2B5EF4-FFF2-40B4-BE49-F238E27FC236}">
                <a16:creationId xmlns:a16="http://schemas.microsoft.com/office/drawing/2014/main" id="{1FE3F7CB-330F-8A5C-BEE9-00DA8F5B8BBB}"/>
              </a:ext>
            </a:extLst>
          </p:cNvPr>
          <p:cNvGrpSpPr/>
          <p:nvPr/>
        </p:nvGrpSpPr>
        <p:grpSpPr>
          <a:xfrm>
            <a:off x="3287595" y="1880886"/>
            <a:ext cx="5953389" cy="745941"/>
            <a:chOff x="1816081" y="888831"/>
            <a:chExt cx="5953389" cy="745941"/>
          </a:xfrm>
        </p:grpSpPr>
        <p:pic>
          <p:nvPicPr>
            <p:cNvPr id="9" name="object 9"/>
            <p:cNvPicPr/>
            <p:nvPr/>
          </p:nvPicPr>
          <p:blipFill>
            <a:blip r:embed="rId2" cstate="print"/>
            <a:stretch>
              <a:fillRect/>
            </a:stretch>
          </p:blipFill>
          <p:spPr>
            <a:xfrm>
              <a:off x="2068948" y="1380947"/>
              <a:ext cx="3756044" cy="253825"/>
            </a:xfrm>
            <a:prstGeom prst="rect">
              <a:avLst/>
            </a:prstGeom>
          </p:spPr>
        </p:pic>
        <p:sp>
          <p:nvSpPr>
            <p:cNvPr id="10" name="object 10"/>
            <p:cNvSpPr txBox="1"/>
            <p:nvPr/>
          </p:nvSpPr>
          <p:spPr>
            <a:xfrm>
              <a:off x="1816081" y="888831"/>
              <a:ext cx="5953389" cy="681056"/>
            </a:xfrm>
            <a:prstGeom prst="rect">
              <a:avLst/>
            </a:prstGeom>
          </p:spPr>
          <p:txBody>
            <a:bodyPr vert="horz" wrap="square" lIns="0" tIns="97889" rIns="0" bIns="0" rtlCol="0">
              <a:spAutoFit/>
            </a:bodyPr>
            <a:lstStyle/>
            <a:p>
              <a:pPr marL="34549">
                <a:spcBef>
                  <a:spcPts val="771"/>
                </a:spcBef>
                <a:tabLst>
                  <a:tab pos="492324" algn="l"/>
                </a:tabLst>
              </a:pPr>
              <a:r>
                <a:rPr sz="1600" dirty="0">
                  <a:solidFill>
                    <a:srgbClr val="C00000"/>
                  </a:solidFill>
                  <a:latin typeface="Arial" panose="020B0604020202020204" pitchFamily="34" charset="0"/>
                  <a:cs typeface="Arial" panose="020B0604020202020204" pitchFamily="34" charset="0"/>
                </a:rPr>
                <a:t>Silver-Silver</a:t>
              </a:r>
              <a:r>
                <a:rPr sz="1600" spc="86" dirty="0">
                  <a:solidFill>
                    <a:srgbClr val="C00000"/>
                  </a:solidFill>
                  <a:latin typeface="Arial" panose="020B0604020202020204" pitchFamily="34" charset="0"/>
                  <a:cs typeface="Arial" panose="020B0604020202020204" pitchFamily="34" charset="0"/>
                </a:rPr>
                <a:t> </a:t>
              </a:r>
              <a:r>
                <a:rPr sz="1600" dirty="0">
                  <a:solidFill>
                    <a:srgbClr val="C00000"/>
                  </a:solidFill>
                  <a:latin typeface="Arial" panose="020B0604020202020204" pitchFamily="34" charset="0"/>
                  <a:cs typeface="Arial" panose="020B0604020202020204" pitchFamily="34" charset="0"/>
                </a:rPr>
                <a:t>Chloride</a:t>
              </a:r>
              <a:r>
                <a:rPr sz="1600" spc="77" dirty="0">
                  <a:solidFill>
                    <a:srgbClr val="C00000"/>
                  </a:solidFill>
                  <a:latin typeface="Arial" panose="020B0604020202020204" pitchFamily="34" charset="0"/>
                  <a:cs typeface="Arial" panose="020B0604020202020204" pitchFamily="34" charset="0"/>
                </a:rPr>
                <a:t> </a:t>
              </a:r>
              <a:r>
                <a:rPr sz="1600" dirty="0">
                  <a:solidFill>
                    <a:srgbClr val="C00000"/>
                  </a:solidFill>
                  <a:latin typeface="Arial" panose="020B0604020202020204" pitchFamily="34" charset="0"/>
                  <a:cs typeface="Arial" panose="020B0604020202020204" pitchFamily="34" charset="0"/>
                </a:rPr>
                <a:t>Reference</a:t>
              </a:r>
              <a:r>
                <a:rPr sz="1600" spc="77" dirty="0">
                  <a:solidFill>
                    <a:srgbClr val="C00000"/>
                  </a:solidFill>
                  <a:latin typeface="Arial" panose="020B0604020202020204" pitchFamily="34" charset="0"/>
                  <a:cs typeface="Arial" panose="020B0604020202020204" pitchFamily="34" charset="0"/>
                </a:rPr>
                <a:t> </a:t>
              </a:r>
              <a:r>
                <a:rPr sz="1600" spc="-9" dirty="0">
                  <a:solidFill>
                    <a:srgbClr val="C00000"/>
                  </a:solidFill>
                  <a:latin typeface="Arial" panose="020B0604020202020204" pitchFamily="34" charset="0"/>
                  <a:cs typeface="Arial" panose="020B0604020202020204" pitchFamily="34" charset="0"/>
                </a:rPr>
                <a:t>Electrode</a:t>
              </a:r>
              <a:endParaRPr sz="1600" dirty="0">
                <a:solidFill>
                  <a:srgbClr val="C00000"/>
                </a:solidFill>
                <a:latin typeface="Arial" panose="020B0604020202020204" pitchFamily="34" charset="0"/>
                <a:cs typeface="Arial" panose="020B0604020202020204" pitchFamily="34" charset="0"/>
              </a:endParaRPr>
            </a:p>
            <a:p>
              <a:pPr marL="4488501">
                <a:spcBef>
                  <a:spcPts val="685"/>
                </a:spcBef>
              </a:pPr>
              <a:r>
                <a:rPr sz="1600" dirty="0">
                  <a:solidFill>
                    <a:srgbClr val="0000FF"/>
                  </a:solidFill>
                  <a:latin typeface="Arial" panose="020B0604020202020204" pitchFamily="34" charset="0"/>
                  <a:cs typeface="Arial" panose="020B0604020202020204" pitchFamily="34" charset="0"/>
                </a:rPr>
                <a:t>E</a:t>
              </a:r>
              <a:r>
                <a:rPr sz="1600" baseline="25641" dirty="0">
                  <a:solidFill>
                    <a:srgbClr val="0000FF"/>
                  </a:solidFill>
                  <a:latin typeface="Arial" panose="020B0604020202020204" pitchFamily="34" charset="0"/>
                  <a:cs typeface="Arial" panose="020B0604020202020204" pitchFamily="34" charset="0"/>
                </a:rPr>
                <a:t>o</a:t>
              </a:r>
              <a:r>
                <a:rPr sz="1600" spc="313" baseline="25641" dirty="0">
                  <a:solidFill>
                    <a:srgbClr val="0000FF"/>
                  </a:solidFill>
                  <a:latin typeface="Arial" panose="020B0604020202020204" pitchFamily="34" charset="0"/>
                  <a:cs typeface="Arial" panose="020B0604020202020204" pitchFamily="34" charset="0"/>
                </a:rPr>
                <a:t> </a:t>
              </a:r>
              <a:r>
                <a:rPr sz="1600" dirty="0">
                  <a:solidFill>
                    <a:srgbClr val="0000FF"/>
                  </a:solidFill>
                  <a:latin typeface="Arial" panose="020B0604020202020204" pitchFamily="34" charset="0"/>
                  <a:cs typeface="Arial" panose="020B0604020202020204" pitchFamily="34" charset="0"/>
                </a:rPr>
                <a:t>=</a:t>
              </a:r>
              <a:r>
                <a:rPr sz="1600" spc="63" dirty="0">
                  <a:solidFill>
                    <a:srgbClr val="0000FF"/>
                  </a:solidFill>
                  <a:latin typeface="Arial" panose="020B0604020202020204" pitchFamily="34" charset="0"/>
                  <a:cs typeface="Arial" panose="020B0604020202020204" pitchFamily="34" charset="0"/>
                </a:rPr>
                <a:t> </a:t>
              </a:r>
              <a:r>
                <a:rPr sz="1600" dirty="0">
                  <a:solidFill>
                    <a:srgbClr val="0000FF"/>
                  </a:solidFill>
                  <a:latin typeface="Arial" panose="020B0604020202020204" pitchFamily="34" charset="0"/>
                  <a:cs typeface="Arial" panose="020B0604020202020204" pitchFamily="34" charset="0"/>
                </a:rPr>
                <a:t>+0.</a:t>
              </a:r>
              <a:r>
                <a:rPr lang="en-IN" sz="1600" dirty="0">
                  <a:solidFill>
                    <a:srgbClr val="0000FF"/>
                  </a:solidFill>
                  <a:latin typeface="Arial" panose="020B0604020202020204" pitchFamily="34" charset="0"/>
                  <a:cs typeface="Arial" panose="020B0604020202020204" pitchFamily="34" charset="0"/>
                </a:rPr>
                <a:t>197</a:t>
              </a:r>
              <a:r>
                <a:rPr sz="1600" spc="-45" dirty="0">
                  <a:solidFill>
                    <a:srgbClr val="0000FF"/>
                  </a:solidFill>
                  <a:latin typeface="Arial" panose="020B0604020202020204" pitchFamily="34" charset="0"/>
                  <a:cs typeface="Arial" panose="020B0604020202020204" pitchFamily="34" charset="0"/>
                </a:rPr>
                <a:t>V</a:t>
              </a:r>
              <a:endParaRPr lang="en-IN" sz="1600" spc="-45" dirty="0">
                <a:solidFill>
                  <a:srgbClr val="0000FF"/>
                </a:solidFill>
                <a:latin typeface="Arial" panose="020B0604020202020204" pitchFamily="34" charset="0"/>
                <a:cs typeface="Arial" panose="020B0604020202020204" pitchFamily="34" charset="0"/>
              </a:endParaRPr>
            </a:p>
          </p:txBody>
        </p:sp>
      </p:grpSp>
      <p:pic>
        <p:nvPicPr>
          <p:cNvPr id="11" name="object 11"/>
          <p:cNvPicPr/>
          <p:nvPr/>
        </p:nvPicPr>
        <p:blipFill>
          <a:blip r:embed="rId3" cstate="print"/>
          <a:stretch>
            <a:fillRect/>
          </a:stretch>
        </p:blipFill>
        <p:spPr>
          <a:xfrm>
            <a:off x="5955124" y="3895138"/>
            <a:ext cx="1522925" cy="2649225"/>
          </a:xfrm>
          <a:prstGeom prst="rect">
            <a:avLst/>
          </a:prstGeom>
        </p:spPr>
      </p:pic>
      <p:sp>
        <p:nvSpPr>
          <p:cNvPr id="12" name="object 12"/>
          <p:cNvSpPr txBox="1">
            <a:spLocks noGrp="1"/>
          </p:cNvSpPr>
          <p:nvPr>
            <p:ph type="title"/>
          </p:nvPr>
        </p:nvSpPr>
        <p:spPr>
          <a:xfrm>
            <a:off x="4266049" y="139796"/>
            <a:ext cx="3077759" cy="353090"/>
          </a:xfrm>
          <a:prstGeom prst="rect">
            <a:avLst/>
          </a:prstGeom>
        </p:spPr>
        <p:txBody>
          <a:bodyPr vert="horz" wrap="square" lIns="0" tIns="14395" rIns="0" bIns="0" rtlCol="0" anchor="ctr">
            <a:spAutoFit/>
          </a:bodyPr>
          <a:lstStyle/>
          <a:p>
            <a:pPr marL="11516">
              <a:lnSpc>
                <a:spcPct val="100000"/>
              </a:lnSpc>
              <a:spcBef>
                <a:spcPts val="113"/>
              </a:spcBef>
            </a:pPr>
            <a:r>
              <a:rPr lang="en-IN" sz="2200" dirty="0">
                <a:solidFill>
                  <a:srgbClr val="C00000"/>
                </a:solidFill>
                <a:latin typeface="Arial" panose="020B0604020202020204" pitchFamily="34" charset="0"/>
                <a:cs typeface="Arial" panose="020B0604020202020204" pitchFamily="34" charset="0"/>
              </a:rPr>
              <a:t>Reference</a:t>
            </a:r>
            <a:r>
              <a:rPr sz="2200" spc="14" dirty="0">
                <a:solidFill>
                  <a:srgbClr val="C00000"/>
                </a:solidFill>
                <a:latin typeface="Arial" panose="020B0604020202020204" pitchFamily="34" charset="0"/>
                <a:cs typeface="Arial" panose="020B0604020202020204" pitchFamily="34" charset="0"/>
              </a:rPr>
              <a:t> </a:t>
            </a:r>
            <a:r>
              <a:rPr sz="2200" spc="-9" dirty="0">
                <a:solidFill>
                  <a:srgbClr val="C00000"/>
                </a:solidFill>
                <a:latin typeface="Arial" panose="020B0604020202020204" pitchFamily="34" charset="0"/>
                <a:cs typeface="Arial" panose="020B0604020202020204" pitchFamily="34" charset="0"/>
              </a:rPr>
              <a:t>electrodes</a:t>
            </a:r>
            <a:endParaRPr sz="2200" dirty="0">
              <a:solidFill>
                <a:srgbClr val="C00000"/>
              </a:solidFill>
              <a:latin typeface="Arial" panose="020B0604020202020204" pitchFamily="34" charset="0"/>
              <a:cs typeface="Arial" panose="020B0604020202020204" pitchFamily="34" charset="0"/>
            </a:endParaRPr>
          </a:p>
        </p:txBody>
      </p:sp>
      <p:pic>
        <p:nvPicPr>
          <p:cNvPr id="13" name="object 13"/>
          <p:cNvPicPr/>
          <p:nvPr/>
        </p:nvPicPr>
        <p:blipFill>
          <a:blip r:embed="rId4" cstate="print"/>
          <a:stretch>
            <a:fillRect/>
          </a:stretch>
        </p:blipFill>
        <p:spPr>
          <a:xfrm>
            <a:off x="9240983" y="3163824"/>
            <a:ext cx="1760424" cy="3242386"/>
          </a:xfrm>
          <a:prstGeom prst="rect">
            <a:avLst/>
          </a:prstGeom>
        </p:spPr>
      </p:pic>
      <p:sp>
        <p:nvSpPr>
          <p:cNvPr id="15" name="TextBox 14">
            <a:extLst>
              <a:ext uri="{FF2B5EF4-FFF2-40B4-BE49-F238E27FC236}">
                <a16:creationId xmlns:a16="http://schemas.microsoft.com/office/drawing/2014/main" id="{C49B6BB9-2E25-979B-D846-327D69F97A98}"/>
              </a:ext>
            </a:extLst>
          </p:cNvPr>
          <p:cNvSpPr txBox="1"/>
          <p:nvPr/>
        </p:nvSpPr>
        <p:spPr>
          <a:xfrm>
            <a:off x="1205919" y="781019"/>
            <a:ext cx="9198016" cy="1323439"/>
          </a:xfrm>
          <a:prstGeom prst="rect">
            <a:avLst/>
          </a:prstGeom>
          <a:noFill/>
        </p:spPr>
        <p:txBody>
          <a:bodyPr wrap="square" rtlCol="0">
            <a:spAutoFit/>
          </a:bodyPr>
          <a:lstStyle/>
          <a:p>
            <a:pPr algn="just"/>
            <a:r>
              <a:rPr lang="en-US" sz="1600" dirty="0">
                <a:latin typeface="Arial" panose="020B0604020202020204" pitchFamily="34" charset="0"/>
                <a:cs typeface="Arial" panose="020B0604020202020204" pitchFamily="34" charset="0"/>
              </a:rPr>
              <a:t>The working principle of the Ag/AgCl electrode is based on the concept of a half-cell reaction, which involves the transfer of electrons between the electrode and the electrolyte.</a:t>
            </a:r>
          </a:p>
          <a:p>
            <a:pPr algn="just"/>
            <a:endParaRPr lang="en-US" sz="1600" dirty="0">
              <a:latin typeface="Arial" panose="020B0604020202020204" pitchFamily="34" charset="0"/>
              <a:cs typeface="Arial" panose="020B0604020202020204" pitchFamily="34" charset="0"/>
            </a:endParaRPr>
          </a:p>
          <a:p>
            <a:pPr algn="just"/>
            <a:r>
              <a:rPr lang="en-US" sz="1600" dirty="0">
                <a:latin typeface="Arial" panose="020B0604020202020204" pitchFamily="34" charset="0"/>
                <a:cs typeface="Arial" panose="020B0604020202020204" pitchFamily="34" charset="0"/>
              </a:rPr>
              <a:t>The silver ions then react with the silver wire to form metallic silver, while the chloride ions remain in the electrolyte.</a:t>
            </a:r>
            <a:endParaRPr lang="en-IN" sz="16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FA96A246-5A23-CA00-1FC1-07C6EFDEF3F8}"/>
              </a:ext>
            </a:extLst>
          </p:cNvPr>
          <p:cNvSpPr txBox="1"/>
          <p:nvPr/>
        </p:nvSpPr>
        <p:spPr>
          <a:xfrm>
            <a:off x="1241391" y="2760834"/>
            <a:ext cx="9427464"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The Ag/AgCl electrode is widely used as a reference electrode in electrochemical studies due to its stable and reproducible electrode potential reference</a:t>
            </a:r>
            <a:endParaRPr lang="en-IN" sz="1600"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790738" y="2285712"/>
            <a:ext cx="2809533" cy="4432493"/>
          </a:xfrm>
          <a:prstGeom prst="rect">
            <a:avLst/>
          </a:prstGeom>
        </p:spPr>
      </p:pic>
      <p:grpSp>
        <p:nvGrpSpPr>
          <p:cNvPr id="16" name="Group 15">
            <a:extLst>
              <a:ext uri="{FF2B5EF4-FFF2-40B4-BE49-F238E27FC236}">
                <a16:creationId xmlns:a16="http://schemas.microsoft.com/office/drawing/2014/main" id="{A38859DF-B007-D386-E714-E733AD39964C}"/>
              </a:ext>
            </a:extLst>
          </p:cNvPr>
          <p:cNvGrpSpPr/>
          <p:nvPr/>
        </p:nvGrpSpPr>
        <p:grpSpPr>
          <a:xfrm>
            <a:off x="1017165" y="968027"/>
            <a:ext cx="6514236" cy="780483"/>
            <a:chOff x="948749" y="967608"/>
            <a:chExt cx="6514236" cy="780483"/>
          </a:xfrm>
        </p:grpSpPr>
        <p:pic>
          <p:nvPicPr>
            <p:cNvPr id="9" name="object 9"/>
            <p:cNvPicPr/>
            <p:nvPr/>
          </p:nvPicPr>
          <p:blipFill>
            <a:blip r:embed="rId3" cstate="print"/>
            <a:stretch>
              <a:fillRect/>
            </a:stretch>
          </p:blipFill>
          <p:spPr>
            <a:xfrm>
              <a:off x="2021959" y="1502567"/>
              <a:ext cx="3863841" cy="245524"/>
            </a:xfrm>
            <a:prstGeom prst="rect">
              <a:avLst/>
            </a:prstGeom>
          </p:spPr>
        </p:pic>
        <p:sp>
          <p:nvSpPr>
            <p:cNvPr id="10" name="object 10"/>
            <p:cNvSpPr txBox="1"/>
            <p:nvPr/>
          </p:nvSpPr>
          <p:spPr>
            <a:xfrm>
              <a:off x="948749" y="967608"/>
              <a:ext cx="6514236" cy="761518"/>
            </a:xfrm>
            <a:prstGeom prst="rect">
              <a:avLst/>
            </a:prstGeom>
          </p:spPr>
          <p:txBody>
            <a:bodyPr vert="horz" wrap="square" lIns="0" tIns="12092" rIns="0" bIns="0" rtlCol="0">
              <a:spAutoFit/>
            </a:bodyPr>
            <a:lstStyle/>
            <a:p>
              <a:pPr marL="480232">
                <a:spcBef>
                  <a:spcPts val="41"/>
                </a:spcBef>
                <a:tabLst>
                  <a:tab pos="937432" algn="l"/>
                </a:tabLst>
              </a:pPr>
              <a:r>
                <a:rPr sz="1768" dirty="0">
                  <a:solidFill>
                    <a:srgbClr val="C00000"/>
                  </a:solidFill>
                  <a:latin typeface="Microsoft Sans Serif"/>
                  <a:cs typeface="Microsoft Sans Serif"/>
                </a:rPr>
                <a:t>Saturated</a:t>
              </a:r>
              <a:r>
                <a:rPr sz="1768" spc="82" dirty="0">
                  <a:solidFill>
                    <a:srgbClr val="C00000"/>
                  </a:solidFill>
                  <a:latin typeface="Microsoft Sans Serif"/>
                  <a:cs typeface="Microsoft Sans Serif"/>
                </a:rPr>
                <a:t> </a:t>
              </a:r>
              <a:r>
                <a:rPr sz="1768" dirty="0">
                  <a:solidFill>
                    <a:srgbClr val="C00000"/>
                  </a:solidFill>
                  <a:latin typeface="Microsoft Sans Serif"/>
                  <a:cs typeface="Microsoft Sans Serif"/>
                </a:rPr>
                <a:t>Calomel</a:t>
              </a:r>
              <a:r>
                <a:rPr sz="1768" spc="113" dirty="0">
                  <a:solidFill>
                    <a:srgbClr val="C00000"/>
                  </a:solidFill>
                  <a:latin typeface="Microsoft Sans Serif"/>
                  <a:cs typeface="Microsoft Sans Serif"/>
                </a:rPr>
                <a:t> </a:t>
              </a:r>
              <a:r>
                <a:rPr sz="1768" dirty="0">
                  <a:solidFill>
                    <a:srgbClr val="C00000"/>
                  </a:solidFill>
                  <a:latin typeface="Microsoft Sans Serif"/>
                  <a:cs typeface="Microsoft Sans Serif"/>
                </a:rPr>
                <a:t>Reference</a:t>
              </a:r>
              <a:r>
                <a:rPr sz="1768" spc="82" dirty="0">
                  <a:solidFill>
                    <a:srgbClr val="C00000"/>
                  </a:solidFill>
                  <a:latin typeface="Microsoft Sans Serif"/>
                  <a:cs typeface="Microsoft Sans Serif"/>
                </a:rPr>
                <a:t> </a:t>
              </a:r>
              <a:r>
                <a:rPr sz="1768" dirty="0">
                  <a:solidFill>
                    <a:srgbClr val="C00000"/>
                  </a:solidFill>
                  <a:latin typeface="Microsoft Sans Serif"/>
                  <a:cs typeface="Microsoft Sans Serif"/>
                </a:rPr>
                <a:t>Electrode</a:t>
              </a:r>
              <a:r>
                <a:rPr sz="1768" spc="103" dirty="0">
                  <a:solidFill>
                    <a:srgbClr val="C00000"/>
                  </a:solidFill>
                  <a:latin typeface="Microsoft Sans Serif"/>
                  <a:cs typeface="Microsoft Sans Serif"/>
                </a:rPr>
                <a:t> </a:t>
              </a:r>
              <a:r>
                <a:rPr sz="1768" spc="-9" dirty="0">
                  <a:solidFill>
                    <a:srgbClr val="C00000"/>
                  </a:solidFill>
                  <a:latin typeface="Microsoft Sans Serif"/>
                  <a:cs typeface="Microsoft Sans Serif"/>
                </a:rPr>
                <a:t>(S.C.E)</a:t>
              </a:r>
              <a:endParaRPr sz="1768" dirty="0">
                <a:solidFill>
                  <a:srgbClr val="C00000"/>
                </a:solidFill>
                <a:latin typeface="Microsoft Sans Serif"/>
                <a:cs typeface="Microsoft Sans Serif"/>
              </a:endParaRPr>
            </a:p>
            <a:p>
              <a:pPr marR="39156" algn="r">
                <a:spcBef>
                  <a:spcPts val="1591"/>
                </a:spcBef>
              </a:pPr>
              <a:r>
                <a:rPr sz="1768" dirty="0" err="1">
                  <a:solidFill>
                    <a:srgbClr val="0000FF"/>
                  </a:solidFill>
                  <a:latin typeface="Microsoft Sans Serif"/>
                  <a:cs typeface="Microsoft Sans Serif"/>
                </a:rPr>
                <a:t>E</a:t>
              </a:r>
              <a:r>
                <a:rPr sz="1768" baseline="25641" dirty="0" err="1">
                  <a:solidFill>
                    <a:srgbClr val="0000FF"/>
                  </a:solidFill>
                  <a:latin typeface="Microsoft Sans Serif"/>
                  <a:cs typeface="Microsoft Sans Serif"/>
                </a:rPr>
                <a:t>o</a:t>
              </a:r>
              <a:r>
                <a:rPr sz="1768" spc="313" baseline="25641" dirty="0">
                  <a:solidFill>
                    <a:srgbClr val="0000FF"/>
                  </a:solidFill>
                  <a:latin typeface="Microsoft Sans Serif"/>
                  <a:cs typeface="Microsoft Sans Serif"/>
                </a:rPr>
                <a:t> </a:t>
              </a:r>
              <a:r>
                <a:rPr sz="1768" dirty="0">
                  <a:solidFill>
                    <a:srgbClr val="0000FF"/>
                  </a:solidFill>
                  <a:latin typeface="Microsoft Sans Serif"/>
                  <a:cs typeface="Microsoft Sans Serif"/>
                </a:rPr>
                <a:t>=</a:t>
              </a:r>
              <a:r>
                <a:rPr sz="1768" spc="68" dirty="0">
                  <a:solidFill>
                    <a:srgbClr val="0000FF"/>
                  </a:solidFill>
                  <a:latin typeface="Microsoft Sans Serif"/>
                  <a:cs typeface="Microsoft Sans Serif"/>
                </a:rPr>
                <a:t> </a:t>
              </a:r>
              <a:r>
                <a:rPr sz="1768" dirty="0">
                  <a:solidFill>
                    <a:srgbClr val="0000FF"/>
                  </a:solidFill>
                  <a:latin typeface="Microsoft Sans Serif"/>
                  <a:cs typeface="Microsoft Sans Serif"/>
                </a:rPr>
                <a:t>+0.2</a:t>
              </a:r>
              <a:r>
                <a:rPr lang="en-IN" sz="1768" dirty="0">
                  <a:solidFill>
                    <a:srgbClr val="0000FF"/>
                  </a:solidFill>
                  <a:latin typeface="Microsoft Sans Serif"/>
                  <a:cs typeface="Microsoft Sans Serif"/>
                </a:rPr>
                <a:t>40</a:t>
              </a:r>
              <a:endParaRPr sz="1768" dirty="0">
                <a:latin typeface="Microsoft Sans Serif"/>
                <a:cs typeface="Microsoft Sans Serif"/>
              </a:endParaRPr>
            </a:p>
          </p:txBody>
        </p:sp>
      </p:grpSp>
      <p:pic>
        <p:nvPicPr>
          <p:cNvPr id="11" name="object 11"/>
          <p:cNvPicPr/>
          <p:nvPr/>
        </p:nvPicPr>
        <p:blipFill>
          <a:blip r:embed="rId4" cstate="print"/>
          <a:stretch>
            <a:fillRect/>
          </a:stretch>
        </p:blipFill>
        <p:spPr>
          <a:xfrm>
            <a:off x="8475282" y="64953"/>
            <a:ext cx="1996938" cy="1996938"/>
          </a:xfrm>
          <a:prstGeom prst="rect">
            <a:avLst/>
          </a:prstGeom>
        </p:spPr>
      </p:pic>
      <p:grpSp>
        <p:nvGrpSpPr>
          <p:cNvPr id="17" name="Group 16">
            <a:extLst>
              <a:ext uri="{FF2B5EF4-FFF2-40B4-BE49-F238E27FC236}">
                <a16:creationId xmlns:a16="http://schemas.microsoft.com/office/drawing/2014/main" id="{30AB3561-8B65-976B-A6F3-60A0154AC897}"/>
              </a:ext>
            </a:extLst>
          </p:cNvPr>
          <p:cNvGrpSpPr/>
          <p:nvPr/>
        </p:nvGrpSpPr>
        <p:grpSpPr>
          <a:xfrm>
            <a:off x="1112566" y="2770231"/>
            <a:ext cx="4841651" cy="2358226"/>
            <a:chOff x="1902602" y="2343332"/>
            <a:chExt cx="4841651" cy="2358226"/>
          </a:xfrm>
        </p:grpSpPr>
        <p:sp>
          <p:nvSpPr>
            <p:cNvPr id="4" name="object 4"/>
            <p:cNvSpPr txBox="1"/>
            <p:nvPr/>
          </p:nvSpPr>
          <p:spPr>
            <a:xfrm>
              <a:off x="1902602" y="2424912"/>
              <a:ext cx="119770" cy="158725"/>
            </a:xfrm>
            <a:prstGeom prst="rect">
              <a:avLst/>
            </a:prstGeom>
          </p:spPr>
          <p:txBody>
            <a:bodyPr vert="horz" wrap="square" lIns="0" tIns="12092" rIns="0" bIns="0" rtlCol="0">
              <a:spAutoFit/>
            </a:bodyPr>
            <a:lstStyle/>
            <a:p>
              <a:pPr marL="11516">
                <a:spcBef>
                  <a:spcPts val="95"/>
                </a:spcBef>
              </a:pPr>
              <a:r>
                <a:rPr sz="952" spc="-145" dirty="0">
                  <a:solidFill>
                    <a:srgbClr val="CC3300"/>
                  </a:solidFill>
                  <a:latin typeface="Calibri"/>
                  <a:cs typeface="Calibri"/>
                </a:rPr>
                <a:t>➢</a:t>
              </a:r>
              <a:endParaRPr sz="952">
                <a:latin typeface="Calibri"/>
                <a:cs typeface="Calibri"/>
              </a:endParaRPr>
            </a:p>
          </p:txBody>
        </p:sp>
        <p:sp>
          <p:nvSpPr>
            <p:cNvPr id="5" name="object 5"/>
            <p:cNvSpPr txBox="1"/>
            <p:nvPr/>
          </p:nvSpPr>
          <p:spPr>
            <a:xfrm>
              <a:off x="2336937" y="2343332"/>
              <a:ext cx="4407316" cy="488619"/>
            </a:xfrm>
            <a:prstGeom prst="rect">
              <a:avLst/>
            </a:prstGeom>
          </p:spPr>
          <p:txBody>
            <a:bodyPr vert="horz" wrap="square" lIns="0" tIns="11516" rIns="0" bIns="0" rtlCol="0">
              <a:spAutoFit/>
            </a:bodyPr>
            <a:lstStyle/>
            <a:p>
              <a:pPr marL="69098" marR="27639" indent="-35125">
                <a:lnSpc>
                  <a:spcPct val="100600"/>
                </a:lnSpc>
                <a:spcBef>
                  <a:spcPts val="91"/>
                </a:spcBef>
              </a:pPr>
              <a:r>
                <a:rPr sz="1587" dirty="0">
                  <a:latin typeface="Microsoft Sans Serif"/>
                  <a:cs typeface="Microsoft Sans Serif"/>
                </a:rPr>
                <a:t>Saturated</a:t>
              </a:r>
              <a:r>
                <a:rPr sz="1587" spc="18" dirty="0">
                  <a:latin typeface="Microsoft Sans Serif"/>
                  <a:cs typeface="Microsoft Sans Serif"/>
                </a:rPr>
                <a:t> </a:t>
              </a:r>
              <a:r>
                <a:rPr sz="1587" dirty="0">
                  <a:latin typeface="Microsoft Sans Serif"/>
                  <a:cs typeface="Microsoft Sans Serif"/>
                </a:rPr>
                <a:t>KCl</a:t>
              </a:r>
              <a:r>
                <a:rPr sz="1587" spc="9" dirty="0">
                  <a:latin typeface="Microsoft Sans Serif"/>
                  <a:cs typeface="Microsoft Sans Serif"/>
                </a:rPr>
                <a:t> </a:t>
              </a:r>
              <a:r>
                <a:rPr sz="1587" dirty="0">
                  <a:latin typeface="Microsoft Sans Serif"/>
                  <a:cs typeface="Microsoft Sans Serif"/>
                </a:rPr>
                <a:t>maintains</a:t>
              </a:r>
              <a:r>
                <a:rPr sz="1587" spc="18" dirty="0">
                  <a:latin typeface="Microsoft Sans Serif"/>
                  <a:cs typeface="Microsoft Sans Serif"/>
                </a:rPr>
                <a:t> </a:t>
              </a:r>
              <a:r>
                <a:rPr sz="1587" dirty="0">
                  <a:latin typeface="Microsoft Sans Serif"/>
                  <a:cs typeface="Microsoft Sans Serif"/>
                </a:rPr>
                <a:t>constant</a:t>
              </a:r>
              <a:r>
                <a:rPr sz="1587" spc="18" dirty="0">
                  <a:latin typeface="Microsoft Sans Serif"/>
                  <a:cs typeface="Microsoft Sans Serif"/>
                </a:rPr>
                <a:t> </a:t>
              </a:r>
              <a:r>
                <a:rPr sz="1587" spc="-9" dirty="0">
                  <a:latin typeface="Microsoft Sans Serif"/>
                  <a:cs typeface="Microsoft Sans Serif"/>
                </a:rPr>
                <a:t>[Cl</a:t>
              </a:r>
              <a:r>
                <a:rPr sz="1564" spc="-14" baseline="26570" dirty="0">
                  <a:latin typeface="Microsoft Sans Serif"/>
                  <a:cs typeface="Microsoft Sans Serif"/>
                </a:rPr>
                <a:t>-</a:t>
              </a:r>
              <a:r>
                <a:rPr sz="1587" dirty="0">
                  <a:latin typeface="Microsoft Sans Serif"/>
                  <a:cs typeface="Microsoft Sans Serif"/>
                </a:rPr>
                <a:t>]</a:t>
              </a:r>
              <a:r>
                <a:rPr sz="1587" spc="23" dirty="0">
                  <a:latin typeface="Microsoft Sans Serif"/>
                  <a:cs typeface="Microsoft Sans Serif"/>
                </a:rPr>
                <a:t> </a:t>
              </a:r>
              <a:r>
                <a:rPr sz="1587" dirty="0">
                  <a:latin typeface="Microsoft Sans Serif"/>
                  <a:cs typeface="Microsoft Sans Serif"/>
                </a:rPr>
                <a:t>even</a:t>
              </a:r>
              <a:r>
                <a:rPr sz="1587" spc="5" dirty="0">
                  <a:latin typeface="Microsoft Sans Serif"/>
                  <a:cs typeface="Microsoft Sans Serif"/>
                </a:rPr>
                <a:t> </a:t>
              </a:r>
              <a:r>
                <a:rPr sz="1587" spc="-18" dirty="0">
                  <a:latin typeface="Microsoft Sans Serif"/>
                  <a:cs typeface="Microsoft Sans Serif"/>
                </a:rPr>
                <a:t>with </a:t>
              </a:r>
              <a:r>
                <a:rPr sz="1587" dirty="0">
                  <a:latin typeface="Microsoft Sans Serif"/>
                  <a:cs typeface="Microsoft Sans Serif"/>
                </a:rPr>
                <a:t>some</a:t>
              </a:r>
              <a:r>
                <a:rPr sz="1587" spc="27" dirty="0">
                  <a:latin typeface="Microsoft Sans Serif"/>
                  <a:cs typeface="Microsoft Sans Serif"/>
                </a:rPr>
                <a:t> </a:t>
              </a:r>
              <a:r>
                <a:rPr sz="1587" spc="-9" dirty="0">
                  <a:latin typeface="Microsoft Sans Serif"/>
                  <a:cs typeface="Microsoft Sans Serif"/>
                </a:rPr>
                <a:t>evaporation</a:t>
              </a:r>
              <a:endParaRPr sz="1587" dirty="0">
                <a:latin typeface="Microsoft Sans Serif"/>
                <a:cs typeface="Microsoft Sans Serif"/>
              </a:endParaRPr>
            </a:p>
          </p:txBody>
        </p:sp>
        <p:sp>
          <p:nvSpPr>
            <p:cNvPr id="6" name="object 6"/>
            <p:cNvSpPr txBox="1"/>
            <p:nvPr/>
          </p:nvSpPr>
          <p:spPr>
            <a:xfrm>
              <a:off x="1902602" y="3155960"/>
              <a:ext cx="119770" cy="158725"/>
            </a:xfrm>
            <a:prstGeom prst="rect">
              <a:avLst/>
            </a:prstGeom>
          </p:spPr>
          <p:txBody>
            <a:bodyPr vert="horz" wrap="square" lIns="0" tIns="12092" rIns="0" bIns="0" rtlCol="0">
              <a:spAutoFit/>
            </a:bodyPr>
            <a:lstStyle/>
            <a:p>
              <a:pPr marL="11516">
                <a:spcBef>
                  <a:spcPts val="95"/>
                </a:spcBef>
              </a:pPr>
              <a:r>
                <a:rPr sz="952" spc="-145" dirty="0">
                  <a:solidFill>
                    <a:srgbClr val="CC3300"/>
                  </a:solidFill>
                  <a:latin typeface="Calibri"/>
                  <a:cs typeface="Calibri"/>
                </a:rPr>
                <a:t>➢</a:t>
              </a:r>
              <a:endParaRPr sz="952">
                <a:latin typeface="Calibri"/>
                <a:cs typeface="Calibri"/>
              </a:endParaRPr>
            </a:p>
          </p:txBody>
        </p:sp>
        <p:sp>
          <p:nvSpPr>
            <p:cNvPr id="7" name="object 7"/>
            <p:cNvSpPr txBox="1"/>
            <p:nvPr/>
          </p:nvSpPr>
          <p:spPr>
            <a:xfrm>
              <a:off x="2359970" y="3074387"/>
              <a:ext cx="4101556" cy="1168364"/>
            </a:xfrm>
            <a:prstGeom prst="rect">
              <a:avLst/>
            </a:prstGeom>
          </p:spPr>
          <p:txBody>
            <a:bodyPr vert="horz" wrap="square" lIns="0" tIns="12668" rIns="0" bIns="0" rtlCol="0">
              <a:spAutoFit/>
            </a:bodyPr>
            <a:lstStyle/>
            <a:p>
              <a:pPr marL="11516">
                <a:spcBef>
                  <a:spcPts val="100"/>
                </a:spcBef>
                <a:tabLst>
                  <a:tab pos="488294" algn="l"/>
                </a:tabLst>
              </a:pPr>
              <a:r>
                <a:rPr sz="1587" spc="-18" dirty="0">
                  <a:solidFill>
                    <a:srgbClr val="BF0000"/>
                  </a:solidFill>
                  <a:latin typeface="Microsoft Sans Serif"/>
                  <a:cs typeface="Microsoft Sans Serif"/>
                </a:rPr>
                <a:t>But,</a:t>
              </a:r>
              <a:r>
                <a:rPr sz="1587" dirty="0">
                  <a:solidFill>
                    <a:srgbClr val="BF0000"/>
                  </a:solidFill>
                  <a:latin typeface="Microsoft Sans Serif"/>
                  <a:cs typeface="Microsoft Sans Serif"/>
                </a:rPr>
                <a:t>	S.</a:t>
              </a:r>
              <a:r>
                <a:rPr sz="1587" spc="14" dirty="0">
                  <a:solidFill>
                    <a:srgbClr val="BF0000"/>
                  </a:solidFill>
                  <a:latin typeface="Microsoft Sans Serif"/>
                  <a:cs typeface="Microsoft Sans Serif"/>
                </a:rPr>
                <a:t> </a:t>
              </a:r>
              <a:r>
                <a:rPr sz="1587" dirty="0">
                  <a:solidFill>
                    <a:srgbClr val="BF0000"/>
                  </a:solidFill>
                  <a:latin typeface="Microsoft Sans Serif"/>
                  <a:cs typeface="Microsoft Sans Serif"/>
                </a:rPr>
                <a:t>C.</a:t>
              </a:r>
              <a:r>
                <a:rPr sz="1587" spc="36" dirty="0">
                  <a:solidFill>
                    <a:srgbClr val="BF0000"/>
                  </a:solidFill>
                  <a:latin typeface="Microsoft Sans Serif"/>
                  <a:cs typeface="Microsoft Sans Serif"/>
                </a:rPr>
                <a:t> </a:t>
              </a:r>
              <a:r>
                <a:rPr sz="1587" dirty="0">
                  <a:solidFill>
                    <a:srgbClr val="BF0000"/>
                  </a:solidFill>
                  <a:latin typeface="Microsoft Sans Serif"/>
                  <a:cs typeface="Microsoft Sans Serif"/>
                </a:rPr>
                <a:t>E.</a:t>
              </a:r>
              <a:r>
                <a:rPr sz="1587" spc="18" dirty="0">
                  <a:solidFill>
                    <a:srgbClr val="BF0000"/>
                  </a:solidFill>
                  <a:latin typeface="Microsoft Sans Serif"/>
                  <a:cs typeface="Microsoft Sans Serif"/>
                </a:rPr>
                <a:t> </a:t>
              </a:r>
              <a:r>
                <a:rPr sz="1587" dirty="0">
                  <a:solidFill>
                    <a:srgbClr val="BF0000"/>
                  </a:solidFill>
                  <a:latin typeface="Microsoft Sans Serif"/>
                  <a:cs typeface="Microsoft Sans Serif"/>
                </a:rPr>
                <a:t>requires</a:t>
              </a:r>
              <a:r>
                <a:rPr sz="1587" spc="14" dirty="0">
                  <a:solidFill>
                    <a:srgbClr val="BF0000"/>
                  </a:solidFill>
                  <a:latin typeface="Microsoft Sans Serif"/>
                  <a:cs typeface="Microsoft Sans Serif"/>
                </a:rPr>
                <a:t> </a:t>
              </a:r>
              <a:r>
                <a:rPr sz="1587" dirty="0">
                  <a:solidFill>
                    <a:srgbClr val="BF0000"/>
                  </a:solidFill>
                  <a:latin typeface="Microsoft Sans Serif"/>
                  <a:cs typeface="Microsoft Sans Serif"/>
                </a:rPr>
                <a:t>handling</a:t>
              </a:r>
              <a:r>
                <a:rPr sz="1587" spc="5" dirty="0">
                  <a:solidFill>
                    <a:srgbClr val="BF0000"/>
                  </a:solidFill>
                  <a:latin typeface="Microsoft Sans Serif"/>
                  <a:cs typeface="Microsoft Sans Serif"/>
                </a:rPr>
                <a:t> </a:t>
              </a:r>
              <a:r>
                <a:rPr sz="1587" dirty="0">
                  <a:solidFill>
                    <a:srgbClr val="BF0000"/>
                  </a:solidFill>
                  <a:latin typeface="Microsoft Sans Serif"/>
                  <a:cs typeface="Microsoft Sans Serif"/>
                </a:rPr>
                <a:t>of</a:t>
              </a:r>
              <a:r>
                <a:rPr sz="1587" spc="-14" dirty="0">
                  <a:solidFill>
                    <a:srgbClr val="BF0000"/>
                  </a:solidFill>
                  <a:latin typeface="Microsoft Sans Serif"/>
                  <a:cs typeface="Microsoft Sans Serif"/>
                </a:rPr>
                <a:t> </a:t>
              </a:r>
              <a:r>
                <a:rPr sz="1587" dirty="0">
                  <a:solidFill>
                    <a:srgbClr val="BF0000"/>
                  </a:solidFill>
                  <a:latin typeface="Microsoft Sans Serif"/>
                  <a:cs typeface="Microsoft Sans Serif"/>
                </a:rPr>
                <a:t>Hg</a:t>
              </a:r>
              <a:r>
                <a:rPr sz="1587" spc="23" dirty="0">
                  <a:solidFill>
                    <a:srgbClr val="BF0000"/>
                  </a:solidFill>
                  <a:latin typeface="Microsoft Sans Serif"/>
                  <a:cs typeface="Microsoft Sans Serif"/>
                </a:rPr>
                <a:t> </a:t>
              </a:r>
              <a:r>
                <a:rPr sz="1587" spc="-23" dirty="0">
                  <a:solidFill>
                    <a:srgbClr val="BF0000"/>
                  </a:solidFill>
                  <a:latin typeface="Microsoft Sans Serif"/>
                  <a:cs typeface="Microsoft Sans Serif"/>
                </a:rPr>
                <a:t>(l)</a:t>
              </a:r>
              <a:endParaRPr sz="1587">
                <a:latin typeface="Microsoft Sans Serif"/>
                <a:cs typeface="Microsoft Sans Serif"/>
              </a:endParaRPr>
            </a:p>
            <a:p>
              <a:pPr marL="11516">
                <a:spcBef>
                  <a:spcPts val="9"/>
                </a:spcBef>
                <a:tabLst>
                  <a:tab pos="468716" algn="l"/>
                </a:tabLst>
              </a:pPr>
              <a:r>
                <a:rPr sz="1406" spc="-45" dirty="0">
                  <a:latin typeface="Trebuchet MS"/>
                  <a:cs typeface="Trebuchet MS"/>
                </a:rPr>
                <a:t>-</a:t>
              </a:r>
              <a:r>
                <a:rPr sz="1406" dirty="0">
                  <a:latin typeface="Trebuchet MS"/>
                  <a:cs typeface="Trebuchet MS"/>
                </a:rPr>
                <a:t>	</a:t>
              </a:r>
              <a:r>
                <a:rPr sz="1406" b="1" spc="-54" dirty="0">
                  <a:solidFill>
                    <a:srgbClr val="0000FF"/>
                  </a:solidFill>
                  <a:latin typeface="Tahoma"/>
                  <a:cs typeface="Tahoma"/>
                </a:rPr>
                <a:t>Toxicity</a:t>
              </a:r>
              <a:r>
                <a:rPr sz="1406" b="1" spc="-36" dirty="0">
                  <a:solidFill>
                    <a:srgbClr val="0000FF"/>
                  </a:solidFill>
                  <a:latin typeface="Tahoma"/>
                  <a:cs typeface="Tahoma"/>
                </a:rPr>
                <a:t> </a:t>
              </a:r>
              <a:r>
                <a:rPr sz="1406" b="1" spc="-9" dirty="0">
                  <a:solidFill>
                    <a:srgbClr val="0000FF"/>
                  </a:solidFill>
                  <a:latin typeface="Tahoma"/>
                  <a:cs typeface="Tahoma"/>
                </a:rPr>
                <a:t>issues</a:t>
              </a:r>
              <a:endParaRPr sz="1406">
                <a:latin typeface="Tahoma"/>
                <a:cs typeface="Tahoma"/>
              </a:endParaRPr>
            </a:p>
            <a:p>
              <a:pPr marL="67947" marR="4607" indent="-57006">
                <a:lnSpc>
                  <a:spcPct val="100600"/>
                </a:lnSpc>
                <a:spcBef>
                  <a:spcPts val="1678"/>
                </a:spcBef>
              </a:pPr>
              <a:r>
                <a:rPr sz="1587" dirty="0">
                  <a:solidFill>
                    <a:srgbClr val="BF0000"/>
                  </a:solidFill>
                  <a:latin typeface="Microsoft Sans Serif"/>
                  <a:cs typeface="Microsoft Sans Serif"/>
                </a:rPr>
                <a:t>Thus,</a:t>
              </a:r>
              <a:r>
                <a:rPr sz="1587" spc="-73" dirty="0">
                  <a:solidFill>
                    <a:srgbClr val="BF0000"/>
                  </a:solidFill>
                  <a:latin typeface="Microsoft Sans Serif"/>
                  <a:cs typeface="Microsoft Sans Serif"/>
                </a:rPr>
                <a:t> </a:t>
              </a:r>
              <a:r>
                <a:rPr sz="1587" dirty="0">
                  <a:solidFill>
                    <a:srgbClr val="BF0000"/>
                  </a:solidFill>
                  <a:latin typeface="Microsoft Sans Serif"/>
                  <a:cs typeface="Microsoft Sans Serif"/>
                </a:rPr>
                <a:t>Ag/AgCl</a:t>
              </a:r>
              <a:r>
                <a:rPr sz="1587" spc="-5" dirty="0">
                  <a:solidFill>
                    <a:srgbClr val="BF0000"/>
                  </a:solidFill>
                  <a:latin typeface="Microsoft Sans Serif"/>
                  <a:cs typeface="Microsoft Sans Serif"/>
                </a:rPr>
                <a:t> </a:t>
              </a:r>
              <a:r>
                <a:rPr sz="1587" dirty="0">
                  <a:solidFill>
                    <a:srgbClr val="BF0000"/>
                  </a:solidFill>
                  <a:latin typeface="Microsoft Sans Serif"/>
                  <a:cs typeface="Microsoft Sans Serif"/>
                </a:rPr>
                <a:t>reference</a:t>
              </a:r>
              <a:r>
                <a:rPr sz="1587" spc="9" dirty="0">
                  <a:solidFill>
                    <a:srgbClr val="BF0000"/>
                  </a:solidFill>
                  <a:latin typeface="Microsoft Sans Serif"/>
                  <a:cs typeface="Microsoft Sans Serif"/>
                </a:rPr>
                <a:t> </a:t>
              </a:r>
              <a:r>
                <a:rPr sz="1587" dirty="0">
                  <a:solidFill>
                    <a:srgbClr val="BF0000"/>
                  </a:solidFill>
                  <a:latin typeface="Microsoft Sans Serif"/>
                  <a:cs typeface="Microsoft Sans Serif"/>
                </a:rPr>
                <a:t>electrodes</a:t>
              </a:r>
              <a:r>
                <a:rPr sz="1587" spc="5" dirty="0">
                  <a:solidFill>
                    <a:srgbClr val="BF0000"/>
                  </a:solidFill>
                  <a:latin typeface="Microsoft Sans Serif"/>
                  <a:cs typeface="Microsoft Sans Serif"/>
                </a:rPr>
                <a:t> </a:t>
              </a:r>
              <a:r>
                <a:rPr sz="1587" dirty="0">
                  <a:solidFill>
                    <a:srgbClr val="BF0000"/>
                  </a:solidFill>
                  <a:latin typeface="Microsoft Sans Serif"/>
                  <a:cs typeface="Microsoft Sans Serif"/>
                </a:rPr>
                <a:t>are</a:t>
              </a:r>
              <a:r>
                <a:rPr sz="1587" spc="9" dirty="0">
                  <a:solidFill>
                    <a:srgbClr val="BF0000"/>
                  </a:solidFill>
                  <a:latin typeface="Microsoft Sans Serif"/>
                  <a:cs typeface="Microsoft Sans Serif"/>
                </a:rPr>
                <a:t> </a:t>
              </a:r>
              <a:r>
                <a:rPr sz="1587" spc="-18" dirty="0">
                  <a:solidFill>
                    <a:srgbClr val="BF0000"/>
                  </a:solidFill>
                  <a:latin typeface="Microsoft Sans Serif"/>
                  <a:cs typeface="Microsoft Sans Serif"/>
                </a:rPr>
                <a:t>more </a:t>
              </a:r>
              <a:r>
                <a:rPr sz="1587" dirty="0">
                  <a:solidFill>
                    <a:srgbClr val="BF0000"/>
                  </a:solidFill>
                  <a:latin typeface="Microsoft Sans Serif"/>
                  <a:cs typeface="Microsoft Sans Serif"/>
                </a:rPr>
                <a:t>commonly </a:t>
              </a:r>
              <a:r>
                <a:rPr sz="1587" spc="-18" dirty="0">
                  <a:solidFill>
                    <a:srgbClr val="BF0000"/>
                  </a:solidFill>
                  <a:latin typeface="Microsoft Sans Serif"/>
                  <a:cs typeface="Microsoft Sans Serif"/>
                </a:rPr>
                <a:t>used!</a:t>
              </a:r>
              <a:endParaRPr sz="1587">
                <a:latin typeface="Microsoft Sans Serif"/>
                <a:cs typeface="Microsoft Sans Serif"/>
              </a:endParaRPr>
            </a:p>
          </p:txBody>
        </p:sp>
        <p:sp>
          <p:nvSpPr>
            <p:cNvPr id="8" name="object 8"/>
            <p:cNvSpPr txBox="1"/>
            <p:nvPr/>
          </p:nvSpPr>
          <p:spPr>
            <a:xfrm>
              <a:off x="1902602" y="3827625"/>
              <a:ext cx="119770" cy="158725"/>
            </a:xfrm>
            <a:prstGeom prst="rect">
              <a:avLst/>
            </a:prstGeom>
          </p:spPr>
          <p:txBody>
            <a:bodyPr vert="horz" wrap="square" lIns="0" tIns="12092" rIns="0" bIns="0" rtlCol="0">
              <a:spAutoFit/>
            </a:bodyPr>
            <a:lstStyle/>
            <a:p>
              <a:pPr marL="11516">
                <a:spcBef>
                  <a:spcPts val="95"/>
                </a:spcBef>
              </a:pPr>
              <a:r>
                <a:rPr sz="952" spc="-145" dirty="0">
                  <a:solidFill>
                    <a:srgbClr val="CC3300"/>
                  </a:solidFill>
                  <a:latin typeface="Calibri"/>
                  <a:cs typeface="Calibri"/>
                </a:rPr>
                <a:t>➢</a:t>
              </a:r>
              <a:endParaRPr sz="952">
                <a:latin typeface="Calibri"/>
                <a:cs typeface="Calibri"/>
              </a:endParaRPr>
            </a:p>
          </p:txBody>
        </p:sp>
        <p:sp>
          <p:nvSpPr>
            <p:cNvPr id="12" name="object 12"/>
            <p:cNvSpPr/>
            <p:nvPr/>
          </p:nvSpPr>
          <p:spPr>
            <a:xfrm>
              <a:off x="2480711" y="4677950"/>
              <a:ext cx="11516" cy="23608"/>
            </a:xfrm>
            <a:custGeom>
              <a:avLst/>
              <a:gdLst/>
              <a:ahLst/>
              <a:cxnLst/>
              <a:rect l="l" t="t" r="r" b="b"/>
              <a:pathLst>
                <a:path w="12700" h="26035">
                  <a:moveTo>
                    <a:pt x="7620" y="25908"/>
                  </a:moveTo>
                  <a:lnTo>
                    <a:pt x="4572" y="24384"/>
                  </a:lnTo>
                  <a:lnTo>
                    <a:pt x="1524" y="21336"/>
                  </a:lnTo>
                  <a:lnTo>
                    <a:pt x="1524" y="16764"/>
                  </a:lnTo>
                  <a:lnTo>
                    <a:pt x="0" y="15240"/>
                  </a:lnTo>
                  <a:lnTo>
                    <a:pt x="0" y="6096"/>
                  </a:lnTo>
                  <a:lnTo>
                    <a:pt x="3048" y="3048"/>
                  </a:lnTo>
                  <a:lnTo>
                    <a:pt x="4572" y="0"/>
                  </a:lnTo>
                  <a:lnTo>
                    <a:pt x="10668" y="0"/>
                  </a:lnTo>
                  <a:lnTo>
                    <a:pt x="12192" y="1524"/>
                  </a:lnTo>
                  <a:lnTo>
                    <a:pt x="12192" y="6096"/>
                  </a:lnTo>
                  <a:lnTo>
                    <a:pt x="10668" y="6096"/>
                  </a:lnTo>
                  <a:lnTo>
                    <a:pt x="7620" y="10668"/>
                  </a:lnTo>
                  <a:lnTo>
                    <a:pt x="10668" y="10668"/>
                  </a:lnTo>
                  <a:lnTo>
                    <a:pt x="10668" y="18288"/>
                  </a:lnTo>
                  <a:lnTo>
                    <a:pt x="12192" y="19812"/>
                  </a:lnTo>
                  <a:lnTo>
                    <a:pt x="12192" y="22860"/>
                  </a:lnTo>
                  <a:lnTo>
                    <a:pt x="9144" y="24384"/>
                  </a:lnTo>
                  <a:lnTo>
                    <a:pt x="7620" y="25908"/>
                  </a:lnTo>
                  <a:close/>
                </a:path>
                <a:path w="12700" h="26035">
                  <a:moveTo>
                    <a:pt x="7620" y="10668"/>
                  </a:moveTo>
                  <a:lnTo>
                    <a:pt x="10668" y="6096"/>
                  </a:lnTo>
                  <a:lnTo>
                    <a:pt x="10668" y="9144"/>
                  </a:lnTo>
                  <a:lnTo>
                    <a:pt x="7620" y="10668"/>
                  </a:lnTo>
                  <a:close/>
                </a:path>
                <a:path w="12700" h="26035">
                  <a:moveTo>
                    <a:pt x="10668" y="9144"/>
                  </a:moveTo>
                  <a:lnTo>
                    <a:pt x="10668" y="6096"/>
                  </a:lnTo>
                  <a:lnTo>
                    <a:pt x="12192" y="6096"/>
                  </a:lnTo>
                  <a:lnTo>
                    <a:pt x="12192" y="7620"/>
                  </a:lnTo>
                  <a:lnTo>
                    <a:pt x="10668" y="9144"/>
                  </a:lnTo>
                  <a:close/>
                </a:path>
                <a:path w="12700" h="26035">
                  <a:moveTo>
                    <a:pt x="10668" y="10668"/>
                  </a:moveTo>
                  <a:lnTo>
                    <a:pt x="7620" y="10668"/>
                  </a:lnTo>
                  <a:lnTo>
                    <a:pt x="10668" y="9144"/>
                  </a:lnTo>
                  <a:lnTo>
                    <a:pt x="10668" y="10668"/>
                  </a:lnTo>
                  <a:close/>
                </a:path>
              </a:pathLst>
            </a:custGeom>
            <a:solidFill>
              <a:srgbClr val="FF0000"/>
            </a:solidFill>
          </p:spPr>
          <p:txBody>
            <a:bodyPr wrap="square" lIns="0" tIns="0" rIns="0" bIns="0" rtlCol="0"/>
            <a:lstStyle/>
            <a:p>
              <a:endParaRPr sz="1632"/>
            </a:p>
          </p:txBody>
        </p:sp>
      </p:grpSp>
      <p:sp>
        <p:nvSpPr>
          <p:cNvPr id="15" name="object 12">
            <a:extLst>
              <a:ext uri="{FF2B5EF4-FFF2-40B4-BE49-F238E27FC236}">
                <a16:creationId xmlns:a16="http://schemas.microsoft.com/office/drawing/2014/main" id="{EF370737-39E4-F3F4-541B-6D7D7ECB236D}"/>
              </a:ext>
            </a:extLst>
          </p:cNvPr>
          <p:cNvSpPr txBox="1">
            <a:spLocks noGrp="1"/>
          </p:cNvSpPr>
          <p:nvPr>
            <p:ph type="title"/>
          </p:nvPr>
        </p:nvSpPr>
        <p:spPr>
          <a:xfrm>
            <a:off x="4266049" y="139796"/>
            <a:ext cx="3077759" cy="353090"/>
          </a:xfrm>
          <a:prstGeom prst="rect">
            <a:avLst/>
          </a:prstGeom>
        </p:spPr>
        <p:txBody>
          <a:bodyPr vert="horz" wrap="square" lIns="0" tIns="14395" rIns="0" bIns="0" rtlCol="0" anchor="ctr">
            <a:spAutoFit/>
          </a:bodyPr>
          <a:lstStyle/>
          <a:p>
            <a:pPr marL="11516">
              <a:lnSpc>
                <a:spcPct val="100000"/>
              </a:lnSpc>
              <a:spcBef>
                <a:spcPts val="113"/>
              </a:spcBef>
            </a:pPr>
            <a:r>
              <a:rPr lang="en-IN" sz="2200" dirty="0">
                <a:solidFill>
                  <a:srgbClr val="C00000"/>
                </a:solidFill>
                <a:latin typeface="Arial" panose="020B0604020202020204" pitchFamily="34" charset="0"/>
                <a:cs typeface="Arial" panose="020B0604020202020204" pitchFamily="34" charset="0"/>
              </a:rPr>
              <a:t>Reference</a:t>
            </a:r>
            <a:r>
              <a:rPr sz="2200" spc="14" dirty="0">
                <a:solidFill>
                  <a:srgbClr val="C00000"/>
                </a:solidFill>
                <a:latin typeface="Arial" panose="020B0604020202020204" pitchFamily="34" charset="0"/>
                <a:cs typeface="Arial" panose="020B0604020202020204" pitchFamily="34" charset="0"/>
              </a:rPr>
              <a:t> </a:t>
            </a:r>
            <a:r>
              <a:rPr sz="2200" spc="-9" dirty="0">
                <a:solidFill>
                  <a:srgbClr val="C00000"/>
                </a:solidFill>
                <a:latin typeface="Arial" panose="020B0604020202020204" pitchFamily="34" charset="0"/>
                <a:cs typeface="Arial" panose="020B0604020202020204" pitchFamily="34" charset="0"/>
              </a:rPr>
              <a:t>electrodes</a:t>
            </a:r>
            <a:endParaRPr sz="2200" dirty="0">
              <a:solidFill>
                <a:srgbClr val="C00000"/>
              </a:solidFill>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69721" y="369607"/>
            <a:ext cx="8250935" cy="58300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8D5D0D-3ECA-AF55-89F1-3F2B63CA5EE7}"/>
              </a:ext>
            </a:extLst>
          </p:cNvPr>
          <p:cNvSpPr txBox="1"/>
          <p:nvPr/>
        </p:nvSpPr>
        <p:spPr>
          <a:xfrm>
            <a:off x="3850633" y="91029"/>
            <a:ext cx="3730508" cy="400110"/>
          </a:xfrm>
          <a:prstGeom prst="rect">
            <a:avLst/>
          </a:prstGeom>
          <a:noFill/>
        </p:spPr>
        <p:txBody>
          <a:bodyPr wrap="none" rtlCol="0">
            <a:spAutoFit/>
          </a:bodyPr>
          <a:lstStyle/>
          <a:p>
            <a:r>
              <a:rPr lang="en-US" sz="2000" b="1" dirty="0">
                <a:solidFill>
                  <a:srgbClr val="C00000"/>
                </a:solidFill>
                <a:latin typeface="Arial" panose="020B0604020202020204" pitchFamily="34" charset="0"/>
                <a:cs typeface="Arial" panose="020B0604020202020204" pitchFamily="34" charset="0"/>
              </a:rPr>
              <a:t>Redox stability (</a:t>
            </a:r>
            <a:r>
              <a:rPr lang="en-US" sz="1600" b="1" dirty="0">
                <a:solidFill>
                  <a:srgbClr val="C00000"/>
                </a:solidFill>
                <a:latin typeface="Arial" panose="020B0604020202020204" pitchFamily="34" charset="0"/>
                <a:cs typeface="Arial" panose="020B0604020202020204" pitchFamily="34" charset="0"/>
              </a:rPr>
              <a:t>Influence of pH</a:t>
            </a:r>
            <a:r>
              <a:rPr lang="en-US" sz="2000" b="1" dirty="0">
                <a:solidFill>
                  <a:srgbClr val="C00000"/>
                </a:solidFill>
                <a:latin typeface="Arial" panose="020B0604020202020204" pitchFamily="34" charset="0"/>
                <a:cs typeface="Arial" panose="020B0604020202020204" pitchFamily="34" charset="0"/>
              </a:rPr>
              <a:t>)</a:t>
            </a:r>
            <a:endParaRPr lang="en-IN" sz="2000" b="1" dirty="0">
              <a:solidFill>
                <a:srgbClr val="C0000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54FA5483-4820-2ECB-0BEB-55B0C0E39B50}"/>
              </a:ext>
            </a:extLst>
          </p:cNvPr>
          <p:cNvSpPr txBox="1"/>
          <p:nvPr/>
        </p:nvSpPr>
        <p:spPr>
          <a:xfrm>
            <a:off x="685800" y="676656"/>
            <a:ext cx="10652760" cy="646331"/>
          </a:xfrm>
          <a:prstGeom prst="rect">
            <a:avLst/>
          </a:prstGeom>
          <a:noFill/>
        </p:spPr>
        <p:txBody>
          <a:bodyPr wrap="square" rtlCol="0">
            <a:spAutoFit/>
          </a:bodyPr>
          <a:lstStyle/>
          <a:p>
            <a:pPr algn="just"/>
            <a:r>
              <a:rPr lang="en-US" sz="1800" b="0" i="0" u="none" strike="noStrike" baseline="0" dirty="0">
                <a:latin typeface="Arial" panose="020B0604020202020204" pitchFamily="34" charset="0"/>
                <a:cs typeface="Arial" panose="020B0604020202020204" pitchFamily="34" charset="0"/>
              </a:rPr>
              <a:t>Many redox reactions in aqueous solution involve transfer of H</a:t>
            </a:r>
            <a:r>
              <a:rPr lang="en-US" sz="1800" b="0" i="0" u="none" strike="noStrike" baseline="30000" dirty="0">
                <a:latin typeface="Arial" panose="020B0604020202020204" pitchFamily="34" charset="0"/>
                <a:cs typeface="Arial" panose="020B0604020202020204" pitchFamily="34" charset="0"/>
              </a:rPr>
              <a:t>+</a:t>
            </a:r>
            <a:r>
              <a:rPr lang="en-US" sz="1800" b="0" i="0" u="none" strike="noStrike" baseline="0" dirty="0">
                <a:latin typeface="Arial" panose="020B0604020202020204" pitchFamily="34" charset="0"/>
                <a:cs typeface="Arial" panose="020B0604020202020204" pitchFamily="34" charset="0"/>
              </a:rPr>
              <a:t> as well as electrons and the electrode potential therefore depends on the </a:t>
            </a:r>
            <a:r>
              <a:rPr lang="en-US" sz="1800" b="0" i="0" u="none" strike="noStrike" baseline="0" dirty="0" err="1">
                <a:latin typeface="Arial" panose="020B0604020202020204" pitchFamily="34" charset="0"/>
                <a:cs typeface="Arial" panose="020B0604020202020204" pitchFamily="34" charset="0"/>
              </a:rPr>
              <a:t>pH.</a:t>
            </a:r>
            <a:endParaRPr lang="en-IN"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EE520909-F8C7-DE9A-FCD2-109AAE1A027F}"/>
              </a:ext>
            </a:extLst>
          </p:cNvPr>
          <p:cNvSpPr txBox="1"/>
          <p:nvPr/>
        </p:nvSpPr>
        <p:spPr>
          <a:xfrm>
            <a:off x="685800" y="1389559"/>
            <a:ext cx="7143879" cy="369332"/>
          </a:xfrm>
          <a:prstGeom prst="rect">
            <a:avLst/>
          </a:prstGeom>
          <a:noFill/>
        </p:spPr>
        <p:txBody>
          <a:bodyPr wrap="none" rtlCol="0">
            <a:spAutoFit/>
          </a:bodyPr>
          <a:lstStyle/>
          <a:p>
            <a:r>
              <a:rPr lang="en-US" sz="1800" b="0" i="0" u="none" strike="noStrike" baseline="0" dirty="0">
                <a:latin typeface="SabonLTStd-Roman"/>
              </a:rPr>
              <a:t>For a redox couple in which there is transfer of </a:t>
            </a:r>
            <a:r>
              <a:rPr lang="en-US" sz="1800" b="0" i="0" u="none" strike="noStrike" baseline="0" dirty="0">
                <a:latin typeface="MathematicalPi-One"/>
              </a:rPr>
              <a:t> </a:t>
            </a:r>
            <a:r>
              <a:rPr lang="en-US" sz="1800" b="0" i="0" u="none" strike="noStrike" baseline="0" dirty="0">
                <a:latin typeface="SabonLTStd-Roman"/>
              </a:rPr>
              <a:t>e</a:t>
            </a:r>
            <a:r>
              <a:rPr lang="en-US" sz="1800" b="0" i="0" u="none" strike="noStrike" baseline="30000" dirty="0">
                <a:latin typeface="SabonLTStd-Roman"/>
              </a:rPr>
              <a:t>-</a:t>
            </a:r>
            <a:r>
              <a:rPr lang="en-US" sz="1800" b="0" i="0" u="none" strike="noStrike" baseline="0" dirty="0">
                <a:latin typeface="SabonLTStd-Roman"/>
              </a:rPr>
              <a:t> electrons and H</a:t>
            </a:r>
            <a:r>
              <a:rPr lang="en-US" sz="1800" b="0" i="0" u="none" strike="noStrike" baseline="30000" dirty="0">
                <a:latin typeface="SabonLTStd-Roman"/>
              </a:rPr>
              <a:t>+</a:t>
            </a:r>
            <a:r>
              <a:rPr lang="en-US" sz="1800" b="0" i="0" u="none" strike="noStrike" baseline="0" dirty="0">
                <a:latin typeface="SabonLTStd-Roman"/>
              </a:rPr>
              <a:t> protons</a:t>
            </a:r>
            <a:endParaRPr lang="en-IN" dirty="0"/>
          </a:p>
        </p:txBody>
      </p:sp>
      <p:pic>
        <p:nvPicPr>
          <p:cNvPr id="6" name="Picture 5">
            <a:extLst>
              <a:ext uri="{FF2B5EF4-FFF2-40B4-BE49-F238E27FC236}">
                <a16:creationId xmlns:a16="http://schemas.microsoft.com/office/drawing/2014/main" id="{B103DB6F-01C4-E643-BE89-11D57A5AB8B8}"/>
              </a:ext>
            </a:extLst>
          </p:cNvPr>
          <p:cNvPicPr>
            <a:picLocks noChangeAspect="1"/>
          </p:cNvPicPr>
          <p:nvPr/>
        </p:nvPicPr>
        <p:blipFill>
          <a:blip r:embed="rId2"/>
          <a:stretch>
            <a:fillRect/>
          </a:stretch>
        </p:blipFill>
        <p:spPr>
          <a:xfrm>
            <a:off x="685800" y="1717916"/>
            <a:ext cx="5159149" cy="970299"/>
          </a:xfrm>
          <a:prstGeom prst="rect">
            <a:avLst/>
          </a:prstGeom>
        </p:spPr>
      </p:pic>
      <p:pic>
        <p:nvPicPr>
          <p:cNvPr id="8" name="Picture 7">
            <a:extLst>
              <a:ext uri="{FF2B5EF4-FFF2-40B4-BE49-F238E27FC236}">
                <a16:creationId xmlns:a16="http://schemas.microsoft.com/office/drawing/2014/main" id="{2761B193-E4FD-996A-2FCF-05F983F85310}"/>
              </a:ext>
            </a:extLst>
          </p:cNvPr>
          <p:cNvPicPr>
            <a:picLocks noChangeAspect="1"/>
          </p:cNvPicPr>
          <p:nvPr/>
        </p:nvPicPr>
        <p:blipFill>
          <a:blip r:embed="rId3"/>
          <a:stretch>
            <a:fillRect/>
          </a:stretch>
        </p:blipFill>
        <p:spPr>
          <a:xfrm>
            <a:off x="873868" y="2805996"/>
            <a:ext cx="2676293" cy="724829"/>
          </a:xfrm>
          <a:prstGeom prst="rect">
            <a:avLst/>
          </a:prstGeom>
        </p:spPr>
      </p:pic>
      <p:grpSp>
        <p:nvGrpSpPr>
          <p:cNvPr id="12" name="Group 11">
            <a:extLst>
              <a:ext uri="{FF2B5EF4-FFF2-40B4-BE49-F238E27FC236}">
                <a16:creationId xmlns:a16="http://schemas.microsoft.com/office/drawing/2014/main" id="{7D0D2FDF-579B-FCF0-0CB8-961335424BC9}"/>
              </a:ext>
            </a:extLst>
          </p:cNvPr>
          <p:cNvGrpSpPr/>
          <p:nvPr/>
        </p:nvGrpSpPr>
        <p:grpSpPr>
          <a:xfrm>
            <a:off x="577282" y="3795877"/>
            <a:ext cx="3945342" cy="814039"/>
            <a:chOff x="920232" y="3811262"/>
            <a:chExt cx="3945342" cy="814039"/>
          </a:xfrm>
        </p:grpSpPr>
        <p:pic>
          <p:nvPicPr>
            <p:cNvPr id="10" name="Picture 9">
              <a:extLst>
                <a:ext uri="{FF2B5EF4-FFF2-40B4-BE49-F238E27FC236}">
                  <a16:creationId xmlns:a16="http://schemas.microsoft.com/office/drawing/2014/main" id="{2E5602C9-7523-6923-057C-46A72CBBF9B5}"/>
                </a:ext>
              </a:extLst>
            </p:cNvPr>
            <p:cNvPicPr>
              <a:picLocks noChangeAspect="1"/>
            </p:cNvPicPr>
            <p:nvPr/>
          </p:nvPicPr>
          <p:blipFill>
            <a:blip r:embed="rId4"/>
            <a:stretch>
              <a:fillRect/>
            </a:stretch>
          </p:blipFill>
          <p:spPr>
            <a:xfrm>
              <a:off x="1163369" y="3811262"/>
              <a:ext cx="3702205" cy="814039"/>
            </a:xfrm>
            <a:prstGeom prst="rect">
              <a:avLst/>
            </a:prstGeom>
          </p:spPr>
        </p:pic>
        <p:sp>
          <p:nvSpPr>
            <p:cNvPr id="11" name="TextBox 10">
              <a:extLst>
                <a:ext uri="{FF2B5EF4-FFF2-40B4-BE49-F238E27FC236}">
                  <a16:creationId xmlns:a16="http://schemas.microsoft.com/office/drawing/2014/main" id="{1A90FCF4-843E-BA62-AEB9-5B8BEFCB10D1}"/>
                </a:ext>
              </a:extLst>
            </p:cNvPr>
            <p:cNvSpPr txBox="1"/>
            <p:nvPr/>
          </p:nvSpPr>
          <p:spPr>
            <a:xfrm>
              <a:off x="920232" y="4033615"/>
              <a:ext cx="300082" cy="369332"/>
            </a:xfrm>
            <a:prstGeom prst="rect">
              <a:avLst/>
            </a:prstGeom>
            <a:noFill/>
          </p:spPr>
          <p:txBody>
            <a:bodyPr wrap="none" rtlCol="0">
              <a:spAutoFit/>
            </a:bodyPr>
            <a:lstStyle/>
            <a:p>
              <a:r>
                <a:rPr lang="en-US" dirty="0"/>
                <a:t>=</a:t>
              </a:r>
              <a:endParaRPr lang="en-IN" dirty="0"/>
            </a:p>
          </p:txBody>
        </p:sp>
      </p:grpSp>
      <p:pic>
        <p:nvPicPr>
          <p:cNvPr id="16" name="Picture 15">
            <a:extLst>
              <a:ext uri="{FF2B5EF4-FFF2-40B4-BE49-F238E27FC236}">
                <a16:creationId xmlns:a16="http://schemas.microsoft.com/office/drawing/2014/main" id="{C56B5EE7-536F-79C2-BB19-E711CBFF6E59}"/>
              </a:ext>
            </a:extLst>
          </p:cNvPr>
          <p:cNvPicPr>
            <a:picLocks noChangeAspect="1"/>
          </p:cNvPicPr>
          <p:nvPr/>
        </p:nvPicPr>
        <p:blipFill>
          <a:blip r:embed="rId5"/>
          <a:stretch>
            <a:fillRect/>
          </a:stretch>
        </p:blipFill>
        <p:spPr>
          <a:xfrm>
            <a:off x="803949" y="4777648"/>
            <a:ext cx="2408663" cy="747132"/>
          </a:xfrm>
          <a:prstGeom prst="rect">
            <a:avLst/>
          </a:prstGeom>
        </p:spPr>
      </p:pic>
      <p:grpSp>
        <p:nvGrpSpPr>
          <p:cNvPr id="18" name="Group 17">
            <a:extLst>
              <a:ext uri="{FF2B5EF4-FFF2-40B4-BE49-F238E27FC236}">
                <a16:creationId xmlns:a16="http://schemas.microsoft.com/office/drawing/2014/main" id="{11146DD4-B24F-8B9B-1E63-1CF67AE6DEB2}"/>
              </a:ext>
            </a:extLst>
          </p:cNvPr>
          <p:cNvGrpSpPr/>
          <p:nvPr/>
        </p:nvGrpSpPr>
        <p:grpSpPr>
          <a:xfrm>
            <a:off x="4765761" y="3413837"/>
            <a:ext cx="2631688" cy="1208786"/>
            <a:chOff x="5564402" y="3343358"/>
            <a:chExt cx="2631688" cy="1208786"/>
          </a:xfrm>
        </p:grpSpPr>
        <p:pic>
          <p:nvPicPr>
            <p:cNvPr id="14" name="Picture 13">
              <a:extLst>
                <a:ext uri="{FF2B5EF4-FFF2-40B4-BE49-F238E27FC236}">
                  <a16:creationId xmlns:a16="http://schemas.microsoft.com/office/drawing/2014/main" id="{FDA4BA0F-D5DE-C7EA-0CC0-039B6CF747AE}"/>
                </a:ext>
              </a:extLst>
            </p:cNvPr>
            <p:cNvPicPr>
              <a:picLocks noChangeAspect="1"/>
            </p:cNvPicPr>
            <p:nvPr/>
          </p:nvPicPr>
          <p:blipFill>
            <a:blip r:embed="rId6"/>
            <a:stretch>
              <a:fillRect/>
            </a:stretch>
          </p:blipFill>
          <p:spPr>
            <a:xfrm>
              <a:off x="5564402" y="3726954"/>
              <a:ext cx="2631688" cy="825190"/>
            </a:xfrm>
            <a:prstGeom prst="rect">
              <a:avLst/>
            </a:prstGeom>
          </p:spPr>
        </p:pic>
        <p:sp>
          <p:nvSpPr>
            <p:cNvPr id="17" name="TextBox 16">
              <a:extLst>
                <a:ext uri="{FF2B5EF4-FFF2-40B4-BE49-F238E27FC236}">
                  <a16:creationId xmlns:a16="http://schemas.microsoft.com/office/drawing/2014/main" id="{F637A71F-4143-AD8C-D2BA-9E690A4F6D88}"/>
                </a:ext>
              </a:extLst>
            </p:cNvPr>
            <p:cNvSpPr txBox="1"/>
            <p:nvPr/>
          </p:nvSpPr>
          <p:spPr>
            <a:xfrm>
              <a:off x="5723686" y="3343358"/>
              <a:ext cx="1571264" cy="338554"/>
            </a:xfrm>
            <a:prstGeom prst="rect">
              <a:avLst/>
            </a:prstGeom>
            <a:noFill/>
          </p:spPr>
          <p:txBody>
            <a:bodyPr wrap="none" rtlCol="0">
              <a:spAutoFit/>
            </a:bodyPr>
            <a:lstStyle/>
            <a:p>
              <a:r>
                <a:rPr lang="en-US" sz="1600" dirty="0">
                  <a:solidFill>
                    <a:srgbClr val="C00000"/>
                  </a:solidFill>
                  <a:latin typeface="Arial" panose="020B0604020202020204" pitchFamily="34" charset="0"/>
                  <a:cs typeface="Arial" panose="020B0604020202020204" pitchFamily="34" charset="0"/>
                </a:rPr>
                <a:t>Ln x = ln 10.lnx</a:t>
              </a:r>
              <a:endParaRPr lang="en-IN" sz="1600" dirty="0">
                <a:solidFill>
                  <a:srgbClr val="C00000"/>
                </a:solidFill>
                <a:latin typeface="Arial" panose="020B0604020202020204" pitchFamily="34" charset="0"/>
                <a:cs typeface="Arial" panose="020B0604020202020204" pitchFamily="34" charset="0"/>
              </a:endParaRPr>
            </a:p>
          </p:txBody>
        </p:sp>
      </p:grpSp>
      <p:grpSp>
        <p:nvGrpSpPr>
          <p:cNvPr id="23" name="Group 22">
            <a:extLst>
              <a:ext uri="{FF2B5EF4-FFF2-40B4-BE49-F238E27FC236}">
                <a16:creationId xmlns:a16="http://schemas.microsoft.com/office/drawing/2014/main" id="{7868DE06-1B2F-FE58-ECDC-68CF33B220DF}"/>
              </a:ext>
            </a:extLst>
          </p:cNvPr>
          <p:cNvGrpSpPr/>
          <p:nvPr/>
        </p:nvGrpSpPr>
        <p:grpSpPr>
          <a:xfrm>
            <a:off x="873868" y="5710683"/>
            <a:ext cx="8225421" cy="999822"/>
            <a:chOff x="873868" y="5710683"/>
            <a:chExt cx="8225421" cy="999822"/>
          </a:xfrm>
        </p:grpSpPr>
        <p:pic>
          <p:nvPicPr>
            <p:cNvPr id="20" name="Picture 19">
              <a:extLst>
                <a:ext uri="{FF2B5EF4-FFF2-40B4-BE49-F238E27FC236}">
                  <a16:creationId xmlns:a16="http://schemas.microsoft.com/office/drawing/2014/main" id="{8A931AD6-5F9C-60DD-F6BE-E3D3A4A0DF28}"/>
                </a:ext>
              </a:extLst>
            </p:cNvPr>
            <p:cNvPicPr>
              <a:picLocks noChangeAspect="1"/>
            </p:cNvPicPr>
            <p:nvPr/>
          </p:nvPicPr>
          <p:blipFill>
            <a:blip r:embed="rId7"/>
            <a:stretch>
              <a:fillRect/>
            </a:stretch>
          </p:blipFill>
          <p:spPr>
            <a:xfrm>
              <a:off x="873868" y="5710683"/>
              <a:ext cx="2268827" cy="999822"/>
            </a:xfrm>
            <a:prstGeom prst="rect">
              <a:avLst/>
            </a:prstGeom>
          </p:spPr>
        </p:pic>
        <p:sp>
          <p:nvSpPr>
            <p:cNvPr id="21" name="TextBox 20">
              <a:extLst>
                <a:ext uri="{FF2B5EF4-FFF2-40B4-BE49-F238E27FC236}">
                  <a16:creationId xmlns:a16="http://schemas.microsoft.com/office/drawing/2014/main" id="{23694F5F-AA99-3B40-B474-4A05B755DF82}"/>
                </a:ext>
              </a:extLst>
            </p:cNvPr>
            <p:cNvSpPr txBox="1"/>
            <p:nvPr/>
          </p:nvSpPr>
          <p:spPr>
            <a:xfrm flipH="1">
              <a:off x="3850633" y="5996678"/>
              <a:ext cx="5248656" cy="369332"/>
            </a:xfrm>
            <a:prstGeom prst="rect">
              <a:avLst/>
            </a:prstGeom>
            <a:noFill/>
          </p:spPr>
          <p:txBody>
            <a:bodyPr wrap="square" rtlCol="0">
              <a:spAutoFit/>
            </a:bodyPr>
            <a:lstStyle/>
            <a:p>
              <a:r>
                <a:rPr lang="en-US" dirty="0">
                  <a:solidFill>
                    <a:srgbClr val="C00000"/>
                  </a:solidFill>
                  <a:latin typeface="Arial" panose="020B0604020202020204" pitchFamily="34" charset="0"/>
                  <a:cs typeface="Arial" panose="020B0604020202020204" pitchFamily="34" charset="0"/>
                </a:rPr>
                <a:t>The potential decreases when the pH increases.  </a:t>
              </a:r>
              <a:endParaRPr lang="en-IN" dirty="0">
                <a:solidFill>
                  <a:srgbClr val="C00000"/>
                </a:solidFill>
                <a:latin typeface="Arial" panose="020B0604020202020204" pitchFamily="34" charset="0"/>
                <a:cs typeface="Arial" panose="020B0604020202020204" pitchFamily="34" charset="0"/>
              </a:endParaRPr>
            </a:p>
          </p:txBody>
        </p:sp>
      </p:grpSp>
      <p:sp>
        <p:nvSpPr>
          <p:cNvPr id="22" name="TextBox 21">
            <a:extLst>
              <a:ext uri="{FF2B5EF4-FFF2-40B4-BE49-F238E27FC236}">
                <a16:creationId xmlns:a16="http://schemas.microsoft.com/office/drawing/2014/main" id="{F9EEBFF0-990E-11E3-AD0F-D88A8AC258AA}"/>
              </a:ext>
            </a:extLst>
          </p:cNvPr>
          <p:cNvSpPr txBox="1"/>
          <p:nvPr/>
        </p:nvSpPr>
        <p:spPr>
          <a:xfrm>
            <a:off x="3349139" y="4992273"/>
            <a:ext cx="3815468" cy="338554"/>
          </a:xfrm>
          <a:prstGeom prst="rect">
            <a:avLst/>
          </a:prstGeom>
          <a:noFill/>
        </p:spPr>
        <p:txBody>
          <a:bodyPr wrap="none" rtlCol="0">
            <a:spAutoFit/>
          </a:bodyPr>
          <a:lstStyle/>
          <a:p>
            <a:r>
              <a:rPr lang="pt-BR" sz="1600" b="0" i="0" u="none" strike="noStrike" baseline="0" dirty="0">
                <a:solidFill>
                  <a:srgbClr val="C00000"/>
                </a:solidFill>
                <a:latin typeface="Arial" panose="020B0604020202020204" pitchFamily="34" charset="0"/>
                <a:cs typeface="Arial" panose="020B0604020202020204" pitchFamily="34" charset="0"/>
              </a:rPr>
              <a:t>ln[H</a:t>
            </a:r>
            <a:r>
              <a:rPr lang="pt-BR" sz="1600" b="0" i="0" u="none" strike="noStrike" baseline="30000" dirty="0">
                <a:solidFill>
                  <a:srgbClr val="C00000"/>
                </a:solidFill>
                <a:latin typeface="Arial" panose="020B0604020202020204" pitchFamily="34" charset="0"/>
                <a:cs typeface="Arial" panose="020B0604020202020204" pitchFamily="34" charset="0"/>
              </a:rPr>
              <a:t>+</a:t>
            </a:r>
            <a:r>
              <a:rPr lang="pt-BR" sz="1600" b="0" i="0" u="none" strike="noStrike" baseline="0" dirty="0">
                <a:solidFill>
                  <a:srgbClr val="C00000"/>
                </a:solidFill>
                <a:latin typeface="Arial" panose="020B0604020202020204" pitchFamily="34" charset="0"/>
                <a:cs typeface="Arial" panose="020B0604020202020204" pitchFamily="34" charset="0"/>
              </a:rPr>
              <a:t>] = ln 10. log[H</a:t>
            </a:r>
            <a:r>
              <a:rPr lang="pt-BR" sz="1600" b="0" i="0" u="none" strike="noStrike" baseline="30000" dirty="0">
                <a:solidFill>
                  <a:srgbClr val="C00000"/>
                </a:solidFill>
                <a:latin typeface="Arial" panose="020B0604020202020204" pitchFamily="34" charset="0"/>
                <a:cs typeface="Arial" panose="020B0604020202020204" pitchFamily="34" charset="0"/>
              </a:rPr>
              <a:t>+</a:t>
            </a:r>
            <a:r>
              <a:rPr lang="pt-BR" sz="1600" b="0" i="0" u="none" strike="noStrike" baseline="0" dirty="0">
                <a:solidFill>
                  <a:srgbClr val="C00000"/>
                </a:solidFill>
                <a:latin typeface="Arial" panose="020B0604020202020204" pitchFamily="34" charset="0"/>
                <a:cs typeface="Arial" panose="020B0604020202020204" pitchFamily="34" charset="0"/>
              </a:rPr>
              <a:t>] with pH =- log[H</a:t>
            </a:r>
            <a:r>
              <a:rPr lang="pt-BR" sz="1600" b="0" i="0" u="none" strike="noStrike" baseline="30000" dirty="0">
                <a:solidFill>
                  <a:srgbClr val="C00000"/>
                </a:solidFill>
                <a:latin typeface="Arial" panose="020B0604020202020204" pitchFamily="34" charset="0"/>
                <a:cs typeface="Arial" panose="020B0604020202020204" pitchFamily="34" charset="0"/>
              </a:rPr>
              <a:t>+</a:t>
            </a:r>
            <a:r>
              <a:rPr lang="pt-BR" sz="1600" b="0" i="0" u="none" strike="noStrike" baseline="0" dirty="0">
                <a:solidFill>
                  <a:srgbClr val="C00000"/>
                </a:solidFill>
                <a:latin typeface="Arial" panose="020B0604020202020204" pitchFamily="34" charset="0"/>
                <a:cs typeface="Arial" panose="020B0604020202020204" pitchFamily="34" charset="0"/>
              </a:rPr>
              <a:t>]</a:t>
            </a:r>
            <a:r>
              <a:rPr lang="pt-BR" sz="1600" b="0" i="1" u="none" strike="noStrike" baseline="0" dirty="0">
                <a:solidFill>
                  <a:srgbClr val="C00000"/>
                </a:solidFill>
                <a:latin typeface="Arial" panose="020B0604020202020204" pitchFamily="34" charset="0"/>
                <a:cs typeface="Arial" panose="020B0604020202020204" pitchFamily="34" charset="0"/>
              </a:rPr>
              <a:t>,</a:t>
            </a:r>
            <a:endParaRPr lang="en-IN" sz="1600" dirty="0">
              <a:solidFill>
                <a:srgbClr val="C00000"/>
              </a:solidFill>
              <a:latin typeface="Arial" panose="020B06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13C7C2D1-B7BF-9257-DEF6-F086E5BFEC5D}"/>
              </a:ext>
            </a:extLst>
          </p:cNvPr>
          <p:cNvGrpSpPr/>
          <p:nvPr/>
        </p:nvGrpSpPr>
        <p:grpSpPr>
          <a:xfrm>
            <a:off x="8052730" y="2046032"/>
            <a:ext cx="3985299" cy="2240446"/>
            <a:chOff x="8052730" y="2046032"/>
            <a:chExt cx="3985299" cy="2240446"/>
          </a:xfrm>
        </p:grpSpPr>
        <p:sp>
          <p:nvSpPr>
            <p:cNvPr id="5" name="TextBox 4">
              <a:extLst>
                <a:ext uri="{FF2B5EF4-FFF2-40B4-BE49-F238E27FC236}">
                  <a16:creationId xmlns:a16="http://schemas.microsoft.com/office/drawing/2014/main" id="{F1232AB7-BEA6-479A-F260-92A2E490B8BA}"/>
                </a:ext>
              </a:extLst>
            </p:cNvPr>
            <p:cNvSpPr txBox="1"/>
            <p:nvPr/>
          </p:nvSpPr>
          <p:spPr>
            <a:xfrm>
              <a:off x="8052730" y="2046032"/>
              <a:ext cx="3985299" cy="553998"/>
            </a:xfrm>
            <a:prstGeom prst="rect">
              <a:avLst/>
            </a:prstGeom>
            <a:noFill/>
          </p:spPr>
          <p:txBody>
            <a:bodyPr wrap="square" rtlCol="0">
              <a:spAutoFit/>
            </a:bodyPr>
            <a:lstStyle/>
            <a:p>
              <a:pPr algn="just"/>
              <a:r>
                <a:rPr lang="en-US" sz="1500" b="0" i="0" u="none" strike="noStrike" baseline="0" dirty="0">
                  <a:solidFill>
                    <a:srgbClr val="C00000"/>
                  </a:solidFill>
                  <a:latin typeface="Arial" panose="020B0604020202020204" pitchFamily="34" charset="0"/>
                  <a:cs typeface="Arial" panose="020B0604020202020204" pitchFamily="34" charset="0"/>
                </a:rPr>
                <a:t>The half-reaction for the perchlorate/chlorate (</a:t>
              </a:r>
              <a:r>
                <a:rPr lang="en-US" sz="1500" b="0" i="0" u="none" strike="noStrike" dirty="0">
                  <a:solidFill>
                    <a:srgbClr val="C00000"/>
                  </a:solidFill>
                  <a:latin typeface="Arial" panose="020B0604020202020204" pitchFamily="34" charset="0"/>
                  <a:cs typeface="Arial" panose="020B0604020202020204" pitchFamily="34" charset="0"/>
                </a:rPr>
                <a:t>ClO</a:t>
              </a:r>
              <a:r>
                <a:rPr lang="en-US" sz="1500" b="0" i="0" u="none" strike="noStrike" baseline="-25000" dirty="0">
                  <a:solidFill>
                    <a:srgbClr val="C00000"/>
                  </a:solidFill>
                  <a:latin typeface="Arial" panose="020B0604020202020204" pitchFamily="34" charset="0"/>
                  <a:cs typeface="Arial" panose="020B0604020202020204" pitchFamily="34" charset="0"/>
                </a:rPr>
                <a:t>4</a:t>
              </a:r>
              <a:r>
                <a:rPr lang="en-US" sz="1500" b="0" i="0" u="none" strike="noStrike" baseline="30000" dirty="0">
                  <a:solidFill>
                    <a:srgbClr val="C00000"/>
                  </a:solidFill>
                  <a:latin typeface="Arial" panose="020B0604020202020204" pitchFamily="34" charset="0"/>
                  <a:cs typeface="Arial" panose="020B0604020202020204" pitchFamily="34" charset="0"/>
                </a:rPr>
                <a:t>-</a:t>
              </a:r>
              <a:r>
                <a:rPr lang="en-US" sz="1500" b="0" i="0" u="none" strike="noStrike" baseline="0" dirty="0">
                  <a:solidFill>
                    <a:srgbClr val="C00000"/>
                  </a:solidFill>
                  <a:latin typeface="Arial" panose="020B0604020202020204" pitchFamily="34" charset="0"/>
                  <a:cs typeface="Arial" panose="020B0604020202020204" pitchFamily="34" charset="0"/>
                </a:rPr>
                <a:t> /</a:t>
              </a:r>
              <a:r>
                <a:rPr lang="en-US" sz="1500" b="0" i="0" u="none" strike="noStrike" dirty="0">
                  <a:solidFill>
                    <a:srgbClr val="C00000"/>
                  </a:solidFill>
                  <a:latin typeface="Arial" panose="020B0604020202020204" pitchFamily="34" charset="0"/>
                  <a:cs typeface="Arial" panose="020B0604020202020204" pitchFamily="34" charset="0"/>
                </a:rPr>
                <a:t> ClO</a:t>
              </a:r>
              <a:r>
                <a:rPr lang="en-US" sz="1500" baseline="-25000" dirty="0">
                  <a:solidFill>
                    <a:srgbClr val="C00000"/>
                  </a:solidFill>
                  <a:latin typeface="Arial" panose="020B0604020202020204" pitchFamily="34" charset="0"/>
                  <a:cs typeface="Arial" panose="020B0604020202020204" pitchFamily="34" charset="0"/>
                </a:rPr>
                <a:t>3</a:t>
              </a:r>
              <a:r>
                <a:rPr lang="en-US" sz="1500" b="0" i="0" u="none" strike="noStrike" baseline="30000" dirty="0">
                  <a:solidFill>
                    <a:srgbClr val="C00000"/>
                  </a:solidFill>
                  <a:latin typeface="Arial" panose="020B0604020202020204" pitchFamily="34" charset="0"/>
                  <a:cs typeface="Arial" panose="020B0604020202020204" pitchFamily="34" charset="0"/>
                </a:rPr>
                <a:t>-</a:t>
              </a:r>
              <a:r>
                <a:rPr lang="en-US" sz="1500" b="0" i="0" u="none" strike="noStrike" dirty="0">
                  <a:solidFill>
                    <a:srgbClr val="C00000"/>
                  </a:solidFill>
                  <a:latin typeface="Arial" panose="020B0604020202020204" pitchFamily="34" charset="0"/>
                  <a:cs typeface="Arial" panose="020B0604020202020204" pitchFamily="34" charset="0"/>
                </a:rPr>
                <a:t>) </a:t>
              </a:r>
              <a:r>
                <a:rPr lang="en-IN" sz="1500" b="0" i="0" u="none" strike="noStrike" baseline="0" dirty="0">
                  <a:solidFill>
                    <a:srgbClr val="C00000"/>
                  </a:solidFill>
                  <a:latin typeface="Arial" panose="020B0604020202020204" pitchFamily="34" charset="0"/>
                  <a:cs typeface="Arial" panose="020B0604020202020204" pitchFamily="34" charset="0"/>
                </a:rPr>
                <a:t>couple is</a:t>
              </a:r>
              <a:endParaRPr lang="en-IN" sz="1500" dirty="0">
                <a:solidFill>
                  <a:srgbClr val="C00000"/>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A8ECE115-8EBB-33E0-0BA4-DDC8835C47D5}"/>
                </a:ext>
              </a:extLst>
            </p:cNvPr>
            <p:cNvPicPr>
              <a:picLocks noChangeAspect="1"/>
            </p:cNvPicPr>
            <p:nvPr/>
          </p:nvPicPr>
          <p:blipFill>
            <a:blip r:embed="rId8"/>
            <a:stretch>
              <a:fillRect/>
            </a:stretch>
          </p:blipFill>
          <p:spPr>
            <a:xfrm>
              <a:off x="8196914" y="2699236"/>
              <a:ext cx="3696929" cy="327991"/>
            </a:xfrm>
            <a:prstGeom prst="rect">
              <a:avLst/>
            </a:prstGeom>
          </p:spPr>
        </p:pic>
        <p:sp>
          <p:nvSpPr>
            <p:cNvPr id="13" name="TextBox 12">
              <a:extLst>
                <a:ext uri="{FF2B5EF4-FFF2-40B4-BE49-F238E27FC236}">
                  <a16:creationId xmlns:a16="http://schemas.microsoft.com/office/drawing/2014/main" id="{46887392-5C10-34E4-A996-B06B1DE9997C}"/>
                </a:ext>
              </a:extLst>
            </p:cNvPr>
            <p:cNvSpPr txBox="1"/>
            <p:nvPr/>
          </p:nvSpPr>
          <p:spPr>
            <a:xfrm>
              <a:off x="8349991" y="3198167"/>
              <a:ext cx="2669320" cy="1088311"/>
            </a:xfrm>
            <a:prstGeom prst="rect">
              <a:avLst/>
            </a:prstGeom>
            <a:noFill/>
          </p:spPr>
          <p:txBody>
            <a:bodyPr wrap="none" rtlCol="0">
              <a:spAutoFit/>
            </a:bodyPr>
            <a:lstStyle/>
            <a:p>
              <a:pPr>
                <a:lnSpc>
                  <a:spcPct val="150000"/>
                </a:lnSpc>
              </a:pPr>
              <a:r>
                <a:rPr lang="en-IN" sz="1500" dirty="0">
                  <a:latin typeface="Arial" panose="020B0604020202020204" pitchFamily="34" charset="0"/>
                  <a:cs typeface="Arial" panose="020B0604020202020204" pitchFamily="34" charset="0"/>
                </a:rPr>
                <a:t>At pH=0, E</a:t>
              </a:r>
              <a:r>
                <a:rPr lang="en-IN" sz="1500" baseline="30000" dirty="0">
                  <a:latin typeface="Arial" panose="020B0604020202020204" pitchFamily="34" charset="0"/>
                  <a:cs typeface="Arial" panose="020B0604020202020204" pitchFamily="34" charset="0"/>
                </a:rPr>
                <a:t>’</a:t>
              </a:r>
              <a:r>
                <a:rPr lang="en-IN" sz="1500" dirty="0">
                  <a:latin typeface="Arial" panose="020B0604020202020204" pitchFamily="34" charset="0"/>
                  <a:cs typeface="Arial" panose="020B0604020202020204" pitchFamily="34" charset="0"/>
                </a:rPr>
                <a:t> is +1.2 V at pH 7</a:t>
              </a:r>
            </a:p>
            <a:p>
              <a:pPr>
                <a:lnSpc>
                  <a:spcPct val="150000"/>
                </a:lnSpc>
              </a:pPr>
              <a:r>
                <a:rPr lang="en-IN" sz="1500" dirty="0">
                  <a:latin typeface="Arial" panose="020B0604020202020204" pitchFamily="34" charset="0"/>
                  <a:cs typeface="Arial" panose="020B0604020202020204" pitchFamily="34" charset="0"/>
                </a:rPr>
                <a:t>1.2 -2/2(7x0.059)V</a:t>
              </a:r>
            </a:p>
            <a:p>
              <a:pPr>
                <a:lnSpc>
                  <a:spcPct val="150000"/>
                </a:lnSpc>
              </a:pPr>
              <a:r>
                <a:rPr lang="en-IN" sz="1500" dirty="0">
                  <a:latin typeface="Arial" panose="020B0604020202020204" pitchFamily="34" charset="0"/>
                  <a:cs typeface="Arial" panose="020B0604020202020204" pitchFamily="34" charset="0"/>
                </a:rPr>
                <a:t>+0.78 V</a:t>
              </a:r>
            </a:p>
          </p:txBody>
        </p:sp>
      </p:grpSp>
    </p:spTree>
    <p:extLst>
      <p:ext uri="{BB962C8B-B14F-4D97-AF65-F5344CB8AC3E}">
        <p14:creationId xmlns:p14="http://schemas.microsoft.com/office/powerpoint/2010/main" val="1902322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childTnLst>
                                    <p:set>
                                      <p:cBhvr>
                                        <p:cTn id="23" dur="1" fill="hold">
                                          <p:stCondLst>
                                            <p:cond delay="0"/>
                                          </p:stCondLst>
                                        </p:cTn>
                                        <p:tgtEl>
                                          <p:spTgt spid="2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B1BEC62-2C72-7E7E-1889-601AE7EC4020}"/>
              </a:ext>
            </a:extLst>
          </p:cNvPr>
          <p:cNvSpPr txBox="1"/>
          <p:nvPr/>
        </p:nvSpPr>
        <p:spPr>
          <a:xfrm>
            <a:off x="3850633" y="91029"/>
            <a:ext cx="4110421" cy="400110"/>
          </a:xfrm>
          <a:prstGeom prst="rect">
            <a:avLst/>
          </a:prstGeom>
          <a:noFill/>
        </p:spPr>
        <p:txBody>
          <a:bodyPr wrap="none" rtlCol="0">
            <a:spAutoFit/>
          </a:bodyPr>
          <a:lstStyle/>
          <a:p>
            <a:r>
              <a:rPr lang="en-US" sz="2000" b="1" dirty="0">
                <a:solidFill>
                  <a:srgbClr val="C00000"/>
                </a:solidFill>
                <a:latin typeface="Arial" panose="020B0604020202020204" pitchFamily="34" charset="0"/>
                <a:cs typeface="Arial" panose="020B0604020202020204" pitchFamily="34" charset="0"/>
              </a:rPr>
              <a:t>Redox stability (</a:t>
            </a:r>
            <a:r>
              <a:rPr lang="en-US" sz="1600" b="1" dirty="0">
                <a:solidFill>
                  <a:srgbClr val="C00000"/>
                </a:solidFill>
                <a:latin typeface="Arial" panose="020B0604020202020204" pitchFamily="34" charset="0"/>
                <a:cs typeface="Arial" panose="020B0604020202020204" pitchFamily="34" charset="0"/>
              </a:rPr>
              <a:t>reaction with water</a:t>
            </a:r>
            <a:r>
              <a:rPr lang="en-US" sz="2000" b="1" dirty="0">
                <a:solidFill>
                  <a:srgbClr val="C00000"/>
                </a:solidFill>
                <a:latin typeface="Arial" panose="020B0604020202020204" pitchFamily="34" charset="0"/>
                <a:cs typeface="Arial" panose="020B0604020202020204" pitchFamily="34" charset="0"/>
              </a:rPr>
              <a:t>)</a:t>
            </a:r>
            <a:endParaRPr lang="en-IN" sz="2000" b="1" dirty="0">
              <a:solidFill>
                <a:srgbClr val="C00000"/>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DBA38387-E90D-A33C-F148-249877E18D33}"/>
              </a:ext>
            </a:extLst>
          </p:cNvPr>
          <p:cNvSpPr txBox="1"/>
          <p:nvPr/>
        </p:nvSpPr>
        <p:spPr>
          <a:xfrm>
            <a:off x="523850" y="480413"/>
            <a:ext cx="2702406" cy="369332"/>
          </a:xfrm>
          <a:prstGeom prst="rect">
            <a:avLst/>
          </a:prstGeom>
          <a:noFill/>
        </p:spPr>
        <p:txBody>
          <a:bodyPr wrap="none" rtlCol="0">
            <a:spAutoFit/>
          </a:bodyPr>
          <a:lstStyle/>
          <a:p>
            <a:r>
              <a:rPr lang="en-US" dirty="0">
                <a:solidFill>
                  <a:srgbClr val="00B050"/>
                </a:solidFill>
                <a:latin typeface="Arial" panose="020B0604020202020204" pitchFamily="34" charset="0"/>
                <a:cs typeface="Arial" panose="020B0604020202020204" pitchFamily="34" charset="0"/>
              </a:rPr>
              <a:t>Water as oxidizing agent</a:t>
            </a:r>
            <a:endParaRPr lang="en-IN" dirty="0">
              <a:solidFill>
                <a:srgbClr val="00B050"/>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1C72965C-02FC-6B57-FDA1-67C9FC31930A}"/>
              </a:ext>
            </a:extLst>
          </p:cNvPr>
          <p:cNvPicPr>
            <a:picLocks noChangeAspect="1"/>
          </p:cNvPicPr>
          <p:nvPr/>
        </p:nvPicPr>
        <p:blipFill>
          <a:blip r:embed="rId2"/>
          <a:stretch>
            <a:fillRect/>
          </a:stretch>
        </p:blipFill>
        <p:spPr>
          <a:xfrm>
            <a:off x="921834" y="925379"/>
            <a:ext cx="3077737" cy="479502"/>
          </a:xfrm>
          <a:prstGeom prst="rect">
            <a:avLst/>
          </a:prstGeom>
        </p:spPr>
      </p:pic>
      <p:pic>
        <p:nvPicPr>
          <p:cNvPr id="9" name="Picture 8">
            <a:extLst>
              <a:ext uri="{FF2B5EF4-FFF2-40B4-BE49-F238E27FC236}">
                <a16:creationId xmlns:a16="http://schemas.microsoft.com/office/drawing/2014/main" id="{7236CCB4-A4F8-7CFA-5E99-CFC33A2C2057}"/>
              </a:ext>
            </a:extLst>
          </p:cNvPr>
          <p:cNvPicPr>
            <a:picLocks noChangeAspect="1"/>
          </p:cNvPicPr>
          <p:nvPr/>
        </p:nvPicPr>
        <p:blipFill>
          <a:blip r:embed="rId3"/>
          <a:stretch>
            <a:fillRect/>
          </a:stretch>
        </p:blipFill>
        <p:spPr>
          <a:xfrm>
            <a:off x="848813" y="1920628"/>
            <a:ext cx="4148254" cy="367990"/>
          </a:xfrm>
          <a:prstGeom prst="rect">
            <a:avLst/>
          </a:prstGeom>
        </p:spPr>
      </p:pic>
      <p:sp>
        <p:nvSpPr>
          <p:cNvPr id="10" name="TextBox 9">
            <a:extLst>
              <a:ext uri="{FF2B5EF4-FFF2-40B4-BE49-F238E27FC236}">
                <a16:creationId xmlns:a16="http://schemas.microsoft.com/office/drawing/2014/main" id="{F4001891-D382-DBBC-60CD-18E6DDEED01A}"/>
              </a:ext>
            </a:extLst>
          </p:cNvPr>
          <p:cNvSpPr txBox="1"/>
          <p:nvPr/>
        </p:nvSpPr>
        <p:spPr>
          <a:xfrm>
            <a:off x="523850" y="1401262"/>
            <a:ext cx="3042692" cy="369332"/>
          </a:xfrm>
          <a:prstGeom prst="rect">
            <a:avLst/>
          </a:prstGeom>
          <a:noFill/>
        </p:spPr>
        <p:txBody>
          <a:bodyPr wrap="none" rtlCol="0">
            <a:spAutoFit/>
          </a:bodyPr>
          <a:lstStyle/>
          <a:p>
            <a:r>
              <a:rPr lang="en-US" dirty="0"/>
              <a:t>For equivalent hydronium ions</a:t>
            </a:r>
            <a:endParaRPr lang="en-IN" dirty="0"/>
          </a:p>
        </p:txBody>
      </p:sp>
      <p:grpSp>
        <p:nvGrpSpPr>
          <p:cNvPr id="20" name="Group 19">
            <a:extLst>
              <a:ext uri="{FF2B5EF4-FFF2-40B4-BE49-F238E27FC236}">
                <a16:creationId xmlns:a16="http://schemas.microsoft.com/office/drawing/2014/main" id="{FE1357CF-77C1-22DF-CA27-892EC11989E0}"/>
              </a:ext>
            </a:extLst>
          </p:cNvPr>
          <p:cNvGrpSpPr/>
          <p:nvPr/>
        </p:nvGrpSpPr>
        <p:grpSpPr>
          <a:xfrm>
            <a:off x="233358" y="3178860"/>
            <a:ext cx="6744007" cy="1377956"/>
            <a:chOff x="233358" y="3178860"/>
            <a:chExt cx="6744007" cy="1377956"/>
          </a:xfrm>
        </p:grpSpPr>
        <p:pic>
          <p:nvPicPr>
            <p:cNvPr id="12" name="Picture 11">
              <a:extLst>
                <a:ext uri="{FF2B5EF4-FFF2-40B4-BE49-F238E27FC236}">
                  <a16:creationId xmlns:a16="http://schemas.microsoft.com/office/drawing/2014/main" id="{55355FE9-B1C5-F8A1-D2F7-8A5C7EE6F1E2}"/>
                </a:ext>
              </a:extLst>
            </p:cNvPr>
            <p:cNvPicPr>
              <a:picLocks noChangeAspect="1"/>
            </p:cNvPicPr>
            <p:nvPr/>
          </p:nvPicPr>
          <p:blipFill>
            <a:blip r:embed="rId4"/>
            <a:stretch>
              <a:fillRect/>
            </a:stretch>
          </p:blipFill>
          <p:spPr>
            <a:xfrm>
              <a:off x="654205" y="3673726"/>
              <a:ext cx="3345366" cy="446049"/>
            </a:xfrm>
            <a:prstGeom prst="rect">
              <a:avLst/>
            </a:prstGeom>
          </p:spPr>
        </p:pic>
        <p:sp>
          <p:nvSpPr>
            <p:cNvPr id="13" name="TextBox 12">
              <a:extLst>
                <a:ext uri="{FF2B5EF4-FFF2-40B4-BE49-F238E27FC236}">
                  <a16:creationId xmlns:a16="http://schemas.microsoft.com/office/drawing/2014/main" id="{04CC0195-D181-4F92-149D-F4BA463503E8}"/>
                </a:ext>
              </a:extLst>
            </p:cNvPr>
            <p:cNvSpPr txBox="1"/>
            <p:nvPr/>
          </p:nvSpPr>
          <p:spPr>
            <a:xfrm>
              <a:off x="233358" y="3178860"/>
              <a:ext cx="2689582" cy="369332"/>
            </a:xfrm>
            <a:prstGeom prst="rect">
              <a:avLst/>
            </a:prstGeom>
            <a:noFill/>
          </p:spPr>
          <p:txBody>
            <a:bodyPr wrap="none" rtlCol="0">
              <a:spAutoFit/>
            </a:bodyPr>
            <a:lstStyle/>
            <a:p>
              <a:r>
                <a:rPr lang="en-US" dirty="0">
                  <a:solidFill>
                    <a:srgbClr val="00B050"/>
                  </a:solidFill>
                  <a:latin typeface="Arial" panose="020B0604020202020204" pitchFamily="34" charset="0"/>
                  <a:cs typeface="Arial" panose="020B0604020202020204" pitchFamily="34" charset="0"/>
                </a:rPr>
                <a:t>Water as reducing agent</a:t>
              </a:r>
              <a:endParaRPr lang="en-IN" dirty="0">
                <a:solidFill>
                  <a:srgbClr val="00B050"/>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09A17E9C-EF74-D740-E42E-2E122484ADC2}"/>
                </a:ext>
              </a:extLst>
            </p:cNvPr>
            <p:cNvPicPr>
              <a:picLocks noChangeAspect="1"/>
            </p:cNvPicPr>
            <p:nvPr/>
          </p:nvPicPr>
          <p:blipFill>
            <a:blip r:embed="rId5"/>
            <a:stretch>
              <a:fillRect/>
            </a:stretch>
          </p:blipFill>
          <p:spPr>
            <a:xfrm>
              <a:off x="646177" y="4188826"/>
              <a:ext cx="2676293" cy="367990"/>
            </a:xfrm>
            <a:prstGeom prst="rect">
              <a:avLst/>
            </a:prstGeom>
          </p:spPr>
        </p:pic>
        <p:sp>
          <p:nvSpPr>
            <p:cNvPr id="16" name="TextBox 15">
              <a:extLst>
                <a:ext uri="{FF2B5EF4-FFF2-40B4-BE49-F238E27FC236}">
                  <a16:creationId xmlns:a16="http://schemas.microsoft.com/office/drawing/2014/main" id="{86CD6F1C-E6D9-8928-0E84-347662329227}"/>
                </a:ext>
              </a:extLst>
            </p:cNvPr>
            <p:cNvSpPr txBox="1"/>
            <p:nvPr/>
          </p:nvSpPr>
          <p:spPr>
            <a:xfrm>
              <a:off x="3606570" y="4090570"/>
              <a:ext cx="3370795" cy="369332"/>
            </a:xfrm>
            <a:prstGeom prst="rect">
              <a:avLst/>
            </a:prstGeom>
            <a:noFill/>
          </p:spPr>
          <p:txBody>
            <a:bodyPr wrap="none" rtlCol="0">
              <a:spAutoFit/>
            </a:bodyPr>
            <a:lstStyle/>
            <a:p>
              <a:r>
                <a:rPr lang="en-US" dirty="0"/>
                <a:t>At a partial pressure of O</a:t>
              </a:r>
              <a:r>
                <a:rPr lang="en-US" baseline="-25000" dirty="0"/>
                <a:t>2</a:t>
              </a:r>
              <a:r>
                <a:rPr lang="en-US" dirty="0"/>
                <a:t> is 1 bar</a:t>
              </a:r>
              <a:endParaRPr lang="en-IN" dirty="0"/>
            </a:p>
          </p:txBody>
        </p:sp>
      </p:grpSp>
      <p:grpSp>
        <p:nvGrpSpPr>
          <p:cNvPr id="21" name="Group 20">
            <a:extLst>
              <a:ext uri="{FF2B5EF4-FFF2-40B4-BE49-F238E27FC236}">
                <a16:creationId xmlns:a16="http://schemas.microsoft.com/office/drawing/2014/main" id="{6936C14C-EDE1-18FA-9E07-F97D55DEB60A}"/>
              </a:ext>
            </a:extLst>
          </p:cNvPr>
          <p:cNvGrpSpPr/>
          <p:nvPr/>
        </p:nvGrpSpPr>
        <p:grpSpPr>
          <a:xfrm>
            <a:off x="8278146" y="128360"/>
            <a:ext cx="3913854" cy="5717387"/>
            <a:chOff x="8278146" y="128360"/>
            <a:chExt cx="3913854" cy="5717387"/>
          </a:xfrm>
        </p:grpSpPr>
        <p:pic>
          <p:nvPicPr>
            <p:cNvPr id="3" name="Picture 2">
              <a:extLst>
                <a:ext uri="{FF2B5EF4-FFF2-40B4-BE49-F238E27FC236}">
                  <a16:creationId xmlns:a16="http://schemas.microsoft.com/office/drawing/2014/main" id="{645BC3BE-7721-8798-AC84-7CD60111BFE0}"/>
                </a:ext>
              </a:extLst>
            </p:cNvPr>
            <p:cNvPicPr>
              <a:picLocks noChangeAspect="1"/>
            </p:cNvPicPr>
            <p:nvPr/>
          </p:nvPicPr>
          <p:blipFill>
            <a:blip r:embed="rId6"/>
            <a:stretch>
              <a:fillRect/>
            </a:stretch>
          </p:blipFill>
          <p:spPr>
            <a:xfrm>
              <a:off x="8585432" y="128360"/>
              <a:ext cx="2712944" cy="3932052"/>
            </a:xfrm>
            <a:prstGeom prst="rect">
              <a:avLst/>
            </a:prstGeom>
          </p:spPr>
        </p:pic>
        <p:sp>
          <p:nvSpPr>
            <p:cNvPr id="17" name="TextBox 16">
              <a:extLst>
                <a:ext uri="{FF2B5EF4-FFF2-40B4-BE49-F238E27FC236}">
                  <a16:creationId xmlns:a16="http://schemas.microsoft.com/office/drawing/2014/main" id="{123D1269-3DA6-752A-4A0A-1E53A3BF8CFB}"/>
                </a:ext>
              </a:extLst>
            </p:cNvPr>
            <p:cNvSpPr txBox="1"/>
            <p:nvPr/>
          </p:nvSpPr>
          <p:spPr>
            <a:xfrm>
              <a:off x="8278146" y="4137587"/>
              <a:ext cx="3913854" cy="1708160"/>
            </a:xfrm>
            <a:prstGeom prst="rect">
              <a:avLst/>
            </a:prstGeom>
            <a:noFill/>
          </p:spPr>
          <p:txBody>
            <a:bodyPr wrap="square" rtlCol="0">
              <a:spAutoFit/>
            </a:bodyPr>
            <a:lstStyle/>
            <a:p>
              <a:pPr algn="just"/>
              <a:r>
                <a:rPr lang="en-US" sz="1500" b="0" i="0" u="none" strike="noStrike" baseline="0" dirty="0">
                  <a:latin typeface="Arial" panose="020B0604020202020204" pitchFamily="34" charset="0"/>
                  <a:cs typeface="Arial" panose="020B0604020202020204" pitchFamily="34" charset="0"/>
                </a:rPr>
                <a:t>The variation of the reduction potentials of water with </a:t>
              </a:r>
              <a:r>
                <a:rPr lang="en-US" sz="1500" b="0" i="0" u="none" strike="noStrike" baseline="0" dirty="0" err="1">
                  <a:latin typeface="Arial" panose="020B0604020202020204" pitchFamily="34" charset="0"/>
                  <a:cs typeface="Arial" panose="020B0604020202020204" pitchFamily="34" charset="0"/>
                </a:rPr>
                <a:t>pH.</a:t>
              </a:r>
              <a:r>
                <a:rPr lang="en-US" sz="1500" b="0" i="0" u="none" strike="noStrike" baseline="0" dirty="0">
                  <a:latin typeface="Arial" panose="020B0604020202020204" pitchFamily="34" charset="0"/>
                  <a:cs typeface="Arial" panose="020B0604020202020204" pitchFamily="34" charset="0"/>
                </a:rPr>
                <a:t> The sloping lines defining the upper and lower limits of thermodynamic water stability are the potentials for the O</a:t>
              </a:r>
              <a:r>
                <a:rPr lang="en-US" sz="1500" b="0" i="0" u="none" strike="noStrike" baseline="-25000" dirty="0">
                  <a:latin typeface="Arial" panose="020B0604020202020204" pitchFamily="34" charset="0"/>
                  <a:cs typeface="Arial" panose="020B0604020202020204" pitchFamily="34" charset="0"/>
                </a:rPr>
                <a:t>2</a:t>
              </a:r>
              <a:r>
                <a:rPr lang="en-US" sz="1500" b="0" i="0" u="none" strike="noStrike" baseline="0" dirty="0">
                  <a:latin typeface="Arial" panose="020B0604020202020204" pitchFamily="34" charset="0"/>
                  <a:cs typeface="Arial" panose="020B0604020202020204" pitchFamily="34" charset="0"/>
                </a:rPr>
                <a:t> /H2O and H/H2 couples, respectively. The highlighted portion represents the stability range of </a:t>
              </a:r>
              <a:r>
                <a:rPr lang="en-IN" sz="1500" b="0" i="0" u="none" strike="noStrike" baseline="0" dirty="0">
                  <a:latin typeface="Arial" panose="020B0604020202020204" pitchFamily="34" charset="0"/>
                  <a:cs typeface="Arial" panose="020B0604020202020204" pitchFamily="34" charset="0"/>
                </a:rPr>
                <a:t>natural waters.</a:t>
              </a:r>
              <a:endParaRPr lang="en-IN" sz="1500" dirty="0">
                <a:latin typeface="Arial" panose="020B0604020202020204" pitchFamily="34" charset="0"/>
                <a:cs typeface="Arial" panose="020B0604020202020204" pitchFamily="34" charset="0"/>
              </a:endParaRPr>
            </a:p>
          </p:txBody>
        </p:sp>
      </p:grpSp>
      <p:pic>
        <p:nvPicPr>
          <p:cNvPr id="19" name="Picture 18">
            <a:extLst>
              <a:ext uri="{FF2B5EF4-FFF2-40B4-BE49-F238E27FC236}">
                <a16:creationId xmlns:a16="http://schemas.microsoft.com/office/drawing/2014/main" id="{ABC340FC-BB16-BF59-3D14-EE4BA2201822}"/>
              </a:ext>
            </a:extLst>
          </p:cNvPr>
          <p:cNvPicPr>
            <a:picLocks noChangeAspect="1"/>
          </p:cNvPicPr>
          <p:nvPr/>
        </p:nvPicPr>
        <p:blipFill>
          <a:blip r:embed="rId7"/>
          <a:stretch>
            <a:fillRect/>
          </a:stretch>
        </p:blipFill>
        <p:spPr>
          <a:xfrm>
            <a:off x="1875053" y="2384051"/>
            <a:ext cx="4192859" cy="635620"/>
          </a:xfrm>
          <a:prstGeom prst="rect">
            <a:avLst/>
          </a:prstGeom>
        </p:spPr>
      </p:pic>
      <p:sp>
        <p:nvSpPr>
          <p:cNvPr id="26" name="TextBox 25">
            <a:extLst>
              <a:ext uri="{FF2B5EF4-FFF2-40B4-BE49-F238E27FC236}">
                <a16:creationId xmlns:a16="http://schemas.microsoft.com/office/drawing/2014/main" id="{DE49501B-E9A4-87B8-E945-C837914A8D75}"/>
              </a:ext>
            </a:extLst>
          </p:cNvPr>
          <p:cNvSpPr txBox="1"/>
          <p:nvPr/>
        </p:nvSpPr>
        <p:spPr>
          <a:xfrm>
            <a:off x="208556" y="6163215"/>
            <a:ext cx="9504531"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 water oxidation occurs generally at higher potential due to kinetic barrier (4 e process) and due to formation of O-O bond </a:t>
            </a:r>
            <a:endParaRPr lang="en-IN" sz="1600" dirty="0">
              <a:latin typeface="Arial" panose="020B0604020202020204" pitchFamily="34" charset="0"/>
              <a:cs typeface="Arial" panose="020B0604020202020204" pitchFamily="34" charset="0"/>
            </a:endParaRPr>
          </a:p>
        </p:txBody>
      </p:sp>
      <p:grpSp>
        <p:nvGrpSpPr>
          <p:cNvPr id="31" name="Group 30">
            <a:extLst>
              <a:ext uri="{FF2B5EF4-FFF2-40B4-BE49-F238E27FC236}">
                <a16:creationId xmlns:a16="http://schemas.microsoft.com/office/drawing/2014/main" id="{2DA6EBE6-0788-6825-5D5A-7C19179570BB}"/>
              </a:ext>
            </a:extLst>
          </p:cNvPr>
          <p:cNvGrpSpPr/>
          <p:nvPr/>
        </p:nvGrpSpPr>
        <p:grpSpPr>
          <a:xfrm>
            <a:off x="233358" y="4743306"/>
            <a:ext cx="7487819" cy="1318667"/>
            <a:chOff x="233358" y="4743306"/>
            <a:chExt cx="7487819" cy="1318667"/>
          </a:xfrm>
        </p:grpSpPr>
        <p:grpSp>
          <p:nvGrpSpPr>
            <p:cNvPr id="25" name="Group 24">
              <a:extLst>
                <a:ext uri="{FF2B5EF4-FFF2-40B4-BE49-F238E27FC236}">
                  <a16:creationId xmlns:a16="http://schemas.microsoft.com/office/drawing/2014/main" id="{A500D5C6-E9FC-AA57-A858-B105B3B8DEF1}"/>
                </a:ext>
              </a:extLst>
            </p:cNvPr>
            <p:cNvGrpSpPr/>
            <p:nvPr/>
          </p:nvGrpSpPr>
          <p:grpSpPr>
            <a:xfrm>
              <a:off x="278897" y="5204870"/>
              <a:ext cx="7047493" cy="857103"/>
              <a:chOff x="447735" y="4971148"/>
              <a:chExt cx="7047493" cy="857103"/>
            </a:xfrm>
          </p:grpSpPr>
          <p:pic>
            <p:nvPicPr>
              <p:cNvPr id="23" name="Picture 22">
                <a:extLst>
                  <a:ext uri="{FF2B5EF4-FFF2-40B4-BE49-F238E27FC236}">
                    <a16:creationId xmlns:a16="http://schemas.microsoft.com/office/drawing/2014/main" id="{52C3C9D2-BB8A-06E6-54E3-1A850BA55883}"/>
                  </a:ext>
                </a:extLst>
              </p:cNvPr>
              <p:cNvPicPr>
                <a:picLocks noChangeAspect="1"/>
              </p:cNvPicPr>
              <p:nvPr/>
            </p:nvPicPr>
            <p:blipFill>
              <a:blip r:embed="rId8"/>
              <a:stretch>
                <a:fillRect/>
              </a:stretch>
            </p:blipFill>
            <p:spPr>
              <a:xfrm>
                <a:off x="447735" y="4971148"/>
                <a:ext cx="7047493" cy="417880"/>
              </a:xfrm>
              <a:prstGeom prst="rect">
                <a:avLst/>
              </a:prstGeom>
            </p:spPr>
          </p:pic>
          <p:sp>
            <p:nvSpPr>
              <p:cNvPr id="24" name="TextBox 23">
                <a:extLst>
                  <a:ext uri="{FF2B5EF4-FFF2-40B4-BE49-F238E27FC236}">
                    <a16:creationId xmlns:a16="http://schemas.microsoft.com/office/drawing/2014/main" id="{8AF93F19-9E6C-D37E-5ECE-D9EE61DC6D9E}"/>
                  </a:ext>
                </a:extLst>
              </p:cNvPr>
              <p:cNvSpPr txBox="1"/>
              <p:nvPr/>
            </p:nvSpPr>
            <p:spPr>
              <a:xfrm>
                <a:off x="658086" y="5458919"/>
                <a:ext cx="2722027" cy="369332"/>
              </a:xfrm>
              <a:prstGeom prst="rect">
                <a:avLst/>
              </a:prstGeom>
              <a:noFill/>
            </p:spPr>
            <p:txBody>
              <a:bodyPr wrap="none" rtlCol="0">
                <a:spAutoFit/>
              </a:bodyPr>
              <a:lstStyle/>
              <a:p>
                <a:r>
                  <a:rPr lang="en-US" dirty="0">
                    <a:solidFill>
                      <a:srgbClr val="C00000"/>
                    </a:solidFill>
                  </a:rPr>
                  <a:t>Higher pH favors oxidation </a:t>
                </a:r>
                <a:endParaRPr lang="en-IN" dirty="0">
                  <a:solidFill>
                    <a:srgbClr val="C00000"/>
                  </a:solidFill>
                </a:endParaRPr>
              </a:p>
            </p:txBody>
          </p:sp>
        </p:grpSp>
        <p:sp>
          <p:nvSpPr>
            <p:cNvPr id="27" name="TextBox 26">
              <a:extLst>
                <a:ext uri="{FF2B5EF4-FFF2-40B4-BE49-F238E27FC236}">
                  <a16:creationId xmlns:a16="http://schemas.microsoft.com/office/drawing/2014/main" id="{04C0ACCA-6017-4D62-0E15-B3136664453C}"/>
                </a:ext>
              </a:extLst>
            </p:cNvPr>
            <p:cNvSpPr txBox="1"/>
            <p:nvPr/>
          </p:nvSpPr>
          <p:spPr>
            <a:xfrm>
              <a:off x="233358" y="4743306"/>
              <a:ext cx="7487819"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Acidified water is a poor reducing agent,  however,  for </a:t>
              </a:r>
              <a:r>
                <a:rPr lang="en-US" sz="1600" dirty="0" err="1">
                  <a:latin typeface="Arial" panose="020B0604020202020204" pitchFamily="34" charset="0"/>
                  <a:cs typeface="Arial" panose="020B0604020202020204" pitchFamily="34" charset="0"/>
                </a:rPr>
                <a:t>E</a:t>
              </a:r>
              <a:r>
                <a:rPr lang="en-US" sz="1600" baseline="30000" dirty="0" err="1">
                  <a:latin typeface="Arial" panose="020B0604020202020204" pitchFamily="34" charset="0"/>
                  <a:cs typeface="Arial" panose="020B0604020202020204" pitchFamily="34" charset="0"/>
                </a:rPr>
                <a:t>o</a:t>
              </a:r>
              <a:r>
                <a:rPr lang="en-US" sz="1600" dirty="0">
                  <a:latin typeface="Arial" panose="020B0604020202020204" pitchFamily="34" charset="0"/>
                  <a:cs typeface="Arial" panose="020B0604020202020204" pitchFamily="34" charset="0"/>
                </a:rPr>
                <a:t> (Co</a:t>
              </a:r>
              <a:r>
                <a:rPr lang="en-US" sz="1600" baseline="30000" dirty="0">
                  <a:latin typeface="Arial" panose="020B0604020202020204" pitchFamily="34" charset="0"/>
                  <a:cs typeface="Arial" panose="020B0604020202020204" pitchFamily="34" charset="0"/>
                </a:rPr>
                <a:t>3+</a:t>
              </a:r>
              <a:r>
                <a:rPr lang="en-US" sz="1600" dirty="0">
                  <a:latin typeface="Arial" panose="020B0604020202020204" pitchFamily="34" charset="0"/>
                  <a:cs typeface="Arial" panose="020B0604020202020204" pitchFamily="34" charset="0"/>
                </a:rPr>
                <a:t>, Co</a:t>
              </a:r>
              <a:r>
                <a:rPr lang="en-US" sz="1600" baseline="30000" dirty="0">
                  <a:latin typeface="Arial" panose="020B0604020202020204" pitchFamily="34" charset="0"/>
                  <a:cs typeface="Arial" panose="020B0604020202020204" pitchFamily="34" charset="0"/>
                </a:rPr>
                <a:t>2+</a:t>
              </a:r>
              <a:r>
                <a:rPr lang="en-US" sz="1600" dirty="0">
                  <a:latin typeface="Arial" panose="020B0604020202020204" pitchFamily="34" charset="0"/>
                  <a:cs typeface="Arial" panose="020B0604020202020204" pitchFamily="34" charset="0"/>
                </a:rPr>
                <a:t>) = +1.92 V</a:t>
              </a:r>
              <a:endParaRPr lang="en-IN" sz="16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996165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31FBA7-5D7E-A510-8A4C-F7E5B0423B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3426" y="971550"/>
            <a:ext cx="2581275" cy="4457700"/>
          </a:xfrm>
          <a:prstGeom prst="rect">
            <a:avLst/>
          </a:prstGeom>
        </p:spPr>
      </p:pic>
      <p:sp>
        <p:nvSpPr>
          <p:cNvPr id="4" name="TextBox 3">
            <a:extLst>
              <a:ext uri="{FF2B5EF4-FFF2-40B4-BE49-F238E27FC236}">
                <a16:creationId xmlns:a16="http://schemas.microsoft.com/office/drawing/2014/main" id="{FC9B83CF-789A-2F50-99B4-5909E0B43B88}"/>
              </a:ext>
            </a:extLst>
          </p:cNvPr>
          <p:cNvSpPr txBox="1"/>
          <p:nvPr/>
        </p:nvSpPr>
        <p:spPr>
          <a:xfrm>
            <a:off x="4686300" y="190500"/>
            <a:ext cx="2819400" cy="369332"/>
          </a:xfrm>
          <a:prstGeom prst="rect">
            <a:avLst/>
          </a:prstGeom>
          <a:noFill/>
        </p:spPr>
        <p:txBody>
          <a:bodyPr wrap="square" rtlCol="0">
            <a:spAutoFit/>
          </a:bodyPr>
          <a:lstStyle/>
          <a:p>
            <a:r>
              <a:rPr lang="en-IN" b="1" dirty="0">
                <a:solidFill>
                  <a:srgbClr val="C00000"/>
                </a:solidFill>
                <a:latin typeface="Arial" panose="020B0604020202020204" pitchFamily="34" charset="0"/>
                <a:cs typeface="Arial" panose="020B0604020202020204" pitchFamily="34" charset="0"/>
              </a:rPr>
              <a:t>Three electrode setup</a:t>
            </a:r>
          </a:p>
        </p:txBody>
      </p:sp>
      <p:sp>
        <p:nvSpPr>
          <p:cNvPr id="5" name="TextBox 4">
            <a:extLst>
              <a:ext uri="{FF2B5EF4-FFF2-40B4-BE49-F238E27FC236}">
                <a16:creationId xmlns:a16="http://schemas.microsoft.com/office/drawing/2014/main" id="{D3F6307A-1056-4278-E88A-78F181F4DBD3}"/>
              </a:ext>
            </a:extLst>
          </p:cNvPr>
          <p:cNvSpPr txBox="1"/>
          <p:nvPr/>
        </p:nvSpPr>
        <p:spPr>
          <a:xfrm>
            <a:off x="7515225" y="1066800"/>
            <a:ext cx="2621230" cy="1754326"/>
          </a:xfrm>
          <a:prstGeom prst="rect">
            <a:avLst/>
          </a:prstGeom>
          <a:noFill/>
        </p:spPr>
        <p:txBody>
          <a:bodyPr wrap="none" rtlCol="0">
            <a:spAutoFit/>
          </a:bodyPr>
          <a:lstStyle/>
          <a:p>
            <a:r>
              <a:rPr lang="en-IN" dirty="0">
                <a:latin typeface="Arial" panose="020B0604020202020204" pitchFamily="34" charset="0"/>
                <a:cs typeface="Arial" panose="020B0604020202020204" pitchFamily="34" charset="0"/>
              </a:rPr>
              <a:t>RE-reference electrode</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WE-working electrode</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CE-counter electrode</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6599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8E2049-38B7-C211-63BC-49666282FC4A}"/>
              </a:ext>
            </a:extLst>
          </p:cNvPr>
          <p:cNvSpPr txBox="1"/>
          <p:nvPr/>
        </p:nvSpPr>
        <p:spPr>
          <a:xfrm>
            <a:off x="4608576" y="228600"/>
            <a:ext cx="2595582" cy="369332"/>
          </a:xfrm>
          <a:prstGeom prst="rect">
            <a:avLst/>
          </a:prstGeom>
          <a:noFill/>
        </p:spPr>
        <p:txBody>
          <a:bodyPr wrap="none" rtlCol="0">
            <a:spAutoFit/>
          </a:bodyPr>
          <a:lstStyle/>
          <a:p>
            <a:r>
              <a:rPr lang="en-IN" sz="1800" b="0" i="0" u="none" strike="noStrike" baseline="0" dirty="0">
                <a:solidFill>
                  <a:srgbClr val="C00000"/>
                </a:solidFill>
                <a:latin typeface="Arial" panose="020B0604020202020204" pitchFamily="34" charset="0"/>
                <a:cs typeface="Arial" panose="020B0604020202020204" pitchFamily="34" charset="0"/>
              </a:rPr>
              <a:t>Ion selective electrodes</a:t>
            </a:r>
            <a:endParaRPr lang="en-IN" dirty="0">
              <a:solidFill>
                <a:srgbClr val="C0000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D0D7A42-2C0F-509D-2EBC-7D9A27C9C1B5}"/>
              </a:ext>
            </a:extLst>
          </p:cNvPr>
          <p:cNvSpPr txBox="1"/>
          <p:nvPr/>
        </p:nvSpPr>
        <p:spPr>
          <a:xfrm>
            <a:off x="597796" y="670754"/>
            <a:ext cx="9813035" cy="784830"/>
          </a:xfrm>
          <a:prstGeom prst="rect">
            <a:avLst/>
          </a:prstGeom>
          <a:noFill/>
        </p:spPr>
        <p:txBody>
          <a:bodyPr wrap="square" rtlCol="0">
            <a:spAutoFit/>
          </a:bodyPr>
          <a:lstStyle/>
          <a:p>
            <a:pPr algn="just"/>
            <a:r>
              <a:rPr lang="en-IN" sz="1500" b="0" i="0" u="none" strike="noStrike" baseline="0" dirty="0">
                <a:latin typeface="Arial" panose="020B0604020202020204" pitchFamily="34" charset="0"/>
                <a:cs typeface="Arial" panose="020B0604020202020204" pitchFamily="34" charset="0"/>
              </a:rPr>
              <a:t>Liquid </a:t>
            </a:r>
            <a:r>
              <a:rPr lang="en-US" sz="1500" b="0" i="0" u="none" strike="noStrike" baseline="0" dirty="0">
                <a:latin typeface="Arial" panose="020B0604020202020204" pitchFamily="34" charset="0"/>
                <a:cs typeface="Arial" panose="020B0604020202020204" pitchFamily="34" charset="0"/>
              </a:rPr>
              <a:t>junction potential can arise when two different solutions are in contact. Although they are not good, </a:t>
            </a:r>
            <a:r>
              <a:rPr lang="en-IN" sz="1500" b="0" i="0" u="none" strike="noStrike" baseline="0" dirty="0">
                <a:latin typeface="Arial" panose="020B0604020202020204" pitchFamily="34" charset="0"/>
                <a:cs typeface="Arial" panose="020B0604020202020204" pitchFamily="34" charset="0"/>
              </a:rPr>
              <a:t>under some </a:t>
            </a:r>
            <a:r>
              <a:rPr lang="en-US" sz="1500" b="0" i="0" u="none" strike="noStrike" baseline="0" dirty="0">
                <a:latin typeface="Arial" panose="020B0604020202020204" pitchFamily="34" charset="0"/>
                <a:cs typeface="Arial" panose="020B0604020202020204" pitchFamily="34" charset="0"/>
              </a:rPr>
              <a:t>circumstances this potential between two solutions can be used to measure the relative concentrations of the two solutions</a:t>
            </a:r>
            <a:endParaRPr lang="en-IN" sz="15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E05C6C46-26DB-F872-C4D1-4718EA07A738}"/>
              </a:ext>
            </a:extLst>
          </p:cNvPr>
          <p:cNvPicPr>
            <a:picLocks noChangeAspect="1"/>
          </p:cNvPicPr>
          <p:nvPr/>
        </p:nvPicPr>
        <p:blipFill>
          <a:blip r:embed="rId2"/>
          <a:stretch>
            <a:fillRect/>
          </a:stretch>
        </p:blipFill>
        <p:spPr>
          <a:xfrm>
            <a:off x="1056305" y="1433477"/>
            <a:ext cx="7397103" cy="1991497"/>
          </a:xfrm>
          <a:prstGeom prst="rect">
            <a:avLst/>
          </a:prstGeom>
        </p:spPr>
      </p:pic>
      <p:sp>
        <p:nvSpPr>
          <p:cNvPr id="6" name="TextBox 5">
            <a:extLst>
              <a:ext uri="{FF2B5EF4-FFF2-40B4-BE49-F238E27FC236}">
                <a16:creationId xmlns:a16="http://schemas.microsoft.com/office/drawing/2014/main" id="{0FE236E3-1ADF-8606-6666-08BE96AE7E57}"/>
              </a:ext>
            </a:extLst>
          </p:cNvPr>
          <p:cNvSpPr txBox="1"/>
          <p:nvPr/>
        </p:nvSpPr>
        <p:spPr>
          <a:xfrm>
            <a:off x="472440" y="3557016"/>
            <a:ext cx="10229664" cy="553998"/>
          </a:xfrm>
          <a:prstGeom prst="rect">
            <a:avLst/>
          </a:prstGeom>
          <a:noFill/>
        </p:spPr>
        <p:txBody>
          <a:bodyPr wrap="square" rtlCol="0">
            <a:spAutoFit/>
          </a:bodyPr>
          <a:lstStyle/>
          <a:p>
            <a:pPr algn="just"/>
            <a:r>
              <a:rPr lang="en-US" sz="1500" b="0" i="0" u="none" strike="noStrike" baseline="0" dirty="0">
                <a:latin typeface="Arial" panose="020B0604020202020204" pitchFamily="34" charset="0"/>
                <a:cs typeface="Arial" panose="020B0604020202020204" pitchFamily="34" charset="0"/>
              </a:rPr>
              <a:t>we have two solutions, with different concentrations, which are separated by a barrier or membrane which has been carefully designed so that it is only permeable to </a:t>
            </a:r>
            <a:r>
              <a:rPr lang="en-US" sz="1500" b="0" i="1" u="none" strike="noStrike" baseline="0" dirty="0">
                <a:latin typeface="Arial" panose="020B0604020202020204" pitchFamily="34" charset="0"/>
                <a:cs typeface="Arial" panose="020B0604020202020204" pitchFamily="34" charset="0"/>
              </a:rPr>
              <a:t>one </a:t>
            </a:r>
            <a:r>
              <a:rPr lang="en-US" sz="1500" b="0" i="0" u="none" strike="noStrike" baseline="0" dirty="0">
                <a:latin typeface="Arial" panose="020B0604020202020204" pitchFamily="34" charset="0"/>
                <a:cs typeface="Arial" panose="020B0604020202020204" pitchFamily="34" charset="0"/>
              </a:rPr>
              <a:t>kind of ion. Let us assume that this ion is M+</a:t>
            </a:r>
            <a:endParaRPr lang="en-IN" sz="15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408EB164-CDCE-18BC-5C37-3A5DC5F98D4C}"/>
              </a:ext>
            </a:extLst>
          </p:cNvPr>
          <p:cNvSpPr txBox="1"/>
          <p:nvPr/>
        </p:nvSpPr>
        <p:spPr>
          <a:xfrm>
            <a:off x="472440" y="4426803"/>
            <a:ext cx="10977875" cy="323165"/>
          </a:xfrm>
          <a:prstGeom prst="rect">
            <a:avLst/>
          </a:prstGeom>
          <a:noFill/>
        </p:spPr>
        <p:txBody>
          <a:bodyPr wrap="square" rtlCol="0">
            <a:spAutoFit/>
          </a:bodyPr>
          <a:lstStyle/>
          <a:p>
            <a:pPr algn="just"/>
            <a:r>
              <a:rPr lang="en-US" sz="1500" b="0" i="0" u="none" strike="noStrike" baseline="0" dirty="0">
                <a:latin typeface="Arial" panose="020B0604020202020204" pitchFamily="34" charset="0"/>
                <a:cs typeface="Arial" panose="020B0604020202020204" pitchFamily="34" charset="0"/>
              </a:rPr>
              <a:t>Diffusion </a:t>
            </a:r>
            <a:r>
              <a:rPr lang="en-US" sz="1500" b="0" i="0" u="none" strike="noStrike" baseline="0" dirty="0" err="1">
                <a:latin typeface="Arial" panose="020B0604020202020204" pitchFamily="34" charset="0"/>
                <a:cs typeface="Arial" panose="020B0604020202020204" pitchFamily="34" charset="0"/>
              </a:rPr>
              <a:t>favours</a:t>
            </a:r>
            <a:r>
              <a:rPr lang="en-US" sz="1500" b="0" i="0" u="none" strike="noStrike" baseline="0" dirty="0">
                <a:latin typeface="Arial" panose="020B0604020202020204" pitchFamily="34" charset="0"/>
                <a:cs typeface="Arial" panose="020B0604020202020204" pitchFamily="34" charset="0"/>
              </a:rPr>
              <a:t> a flow of M+ from the more concentrated to the less concentrated solution, as indicated by the arrow.</a:t>
            </a:r>
            <a:endParaRPr lang="en-IN" sz="15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BB42D2DB-896F-AC9D-3EAF-F26AEF72AE10}"/>
              </a:ext>
            </a:extLst>
          </p:cNvPr>
          <p:cNvSpPr txBox="1"/>
          <p:nvPr/>
        </p:nvSpPr>
        <p:spPr>
          <a:xfrm>
            <a:off x="428671" y="4764024"/>
            <a:ext cx="10972876" cy="323165"/>
          </a:xfrm>
          <a:prstGeom prst="rect">
            <a:avLst/>
          </a:prstGeom>
          <a:noFill/>
        </p:spPr>
        <p:txBody>
          <a:bodyPr wrap="none" rtlCol="0">
            <a:spAutoFit/>
          </a:bodyPr>
          <a:lstStyle/>
          <a:p>
            <a:pPr algn="just"/>
            <a:r>
              <a:rPr lang="en-US" sz="1500" dirty="0">
                <a:latin typeface="Arial" panose="020B0604020202020204" pitchFamily="34" charset="0"/>
                <a:cs typeface="Arial" panose="020B0604020202020204" pitchFamily="34" charset="0"/>
              </a:rPr>
              <a:t>S</a:t>
            </a:r>
            <a:r>
              <a:rPr lang="en-US" sz="1500" b="0" i="0" u="none" strike="noStrike" baseline="0" dirty="0">
                <a:latin typeface="Arial" panose="020B0604020202020204" pitchFamily="34" charset="0"/>
                <a:cs typeface="Arial" panose="020B0604020202020204" pitchFamily="34" charset="0"/>
              </a:rPr>
              <a:t>uch a flow leaves an excess of negative counter-ions on the right and an excess of positive charge on the left, as shown in (b).</a:t>
            </a:r>
            <a:endParaRPr lang="en-IN" sz="15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22E61805-5BAD-991D-DE26-14CB228AB3AF}"/>
              </a:ext>
            </a:extLst>
          </p:cNvPr>
          <p:cNvSpPr txBox="1"/>
          <p:nvPr/>
        </p:nvSpPr>
        <p:spPr>
          <a:xfrm>
            <a:off x="428670" y="5215205"/>
            <a:ext cx="11403665" cy="553998"/>
          </a:xfrm>
          <a:prstGeom prst="rect">
            <a:avLst/>
          </a:prstGeom>
          <a:noFill/>
        </p:spPr>
        <p:txBody>
          <a:bodyPr wrap="square" rtlCol="0">
            <a:spAutoFit/>
          </a:bodyPr>
          <a:lstStyle/>
          <a:p>
            <a:pPr algn="just"/>
            <a:r>
              <a:rPr lang="en-IN" sz="1500" b="0" i="0" u="none" strike="noStrike" baseline="0" dirty="0">
                <a:latin typeface="Arial" panose="020B0604020202020204" pitchFamily="34" charset="0"/>
                <a:cs typeface="Arial" panose="020B0604020202020204" pitchFamily="34" charset="0"/>
              </a:rPr>
              <a:t>This </a:t>
            </a:r>
            <a:r>
              <a:rPr lang="en-US" sz="1500" b="0" i="0" u="none" strike="noStrike" baseline="0" dirty="0">
                <a:latin typeface="Arial" panose="020B0604020202020204" pitchFamily="34" charset="0"/>
                <a:cs typeface="Arial" panose="020B0604020202020204" pitchFamily="34" charset="0"/>
              </a:rPr>
              <a:t>charge separation opposes the flow and so eventually a situation is reached in which no further flow occurs and the potential across the barrier reaches a steady value</a:t>
            </a:r>
            <a:endParaRPr lang="en-IN" sz="15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9B342424-A6CE-D0A8-CE88-67E134FDF26B}"/>
              </a:ext>
            </a:extLst>
          </p:cNvPr>
          <p:cNvSpPr txBox="1"/>
          <p:nvPr/>
        </p:nvSpPr>
        <p:spPr>
          <a:xfrm>
            <a:off x="428670" y="5966877"/>
            <a:ext cx="10796545" cy="323165"/>
          </a:xfrm>
          <a:prstGeom prst="rect">
            <a:avLst/>
          </a:prstGeom>
          <a:noFill/>
        </p:spPr>
        <p:txBody>
          <a:bodyPr wrap="none" rtlCol="0">
            <a:spAutoFit/>
          </a:bodyPr>
          <a:lstStyle/>
          <a:p>
            <a:pPr algn="just"/>
            <a:r>
              <a:rPr lang="en-US" sz="1500" b="0" i="0" u="none" strike="noStrike" baseline="0" dirty="0">
                <a:latin typeface="Arial" panose="020B0604020202020204" pitchFamily="34" charset="0"/>
                <a:cs typeface="Arial" panose="020B0604020202020204" pitchFamily="34" charset="0"/>
              </a:rPr>
              <a:t>The potential can be measured by creating a cell in which a reference electrode is dipped into each solution, as shown in (c).</a:t>
            </a:r>
            <a:endParaRPr lang="en-IN" sz="1500"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F0FE8A51-DC8A-FF27-51A6-823D8AA6E624}"/>
              </a:ext>
            </a:extLst>
          </p:cNvPr>
          <p:cNvPicPr>
            <a:picLocks noChangeAspect="1"/>
          </p:cNvPicPr>
          <p:nvPr/>
        </p:nvPicPr>
        <p:blipFill>
          <a:blip r:embed="rId3"/>
          <a:stretch>
            <a:fillRect/>
          </a:stretch>
        </p:blipFill>
        <p:spPr>
          <a:xfrm>
            <a:off x="9853505" y="1161287"/>
            <a:ext cx="1918647" cy="2311031"/>
          </a:xfrm>
          <a:prstGeom prst="rect">
            <a:avLst/>
          </a:prstGeom>
        </p:spPr>
      </p:pic>
    </p:spTree>
    <p:extLst>
      <p:ext uri="{BB962C8B-B14F-4D97-AF65-F5344CB8AC3E}">
        <p14:creationId xmlns:p14="http://schemas.microsoft.com/office/powerpoint/2010/main" val="615438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A8957F-CD9A-6D30-C984-D016144441DF}"/>
              </a:ext>
            </a:extLst>
          </p:cNvPr>
          <p:cNvSpPr txBox="1"/>
          <p:nvPr/>
        </p:nvSpPr>
        <p:spPr>
          <a:xfrm>
            <a:off x="4169831" y="127560"/>
            <a:ext cx="3852337" cy="369332"/>
          </a:xfrm>
          <a:prstGeom prst="rect">
            <a:avLst/>
          </a:prstGeom>
          <a:noFill/>
        </p:spPr>
        <p:txBody>
          <a:bodyPr wrap="none" rtlCol="0">
            <a:spAutoFit/>
          </a:bodyPr>
          <a:lstStyle/>
          <a:p>
            <a:r>
              <a:rPr lang="en-US" sz="1800" b="1" i="0" u="none" strike="noStrike" baseline="0" dirty="0">
                <a:solidFill>
                  <a:srgbClr val="C00000"/>
                </a:solidFill>
                <a:latin typeface="Arial" panose="020B0604020202020204" pitchFamily="34" charset="0"/>
              </a:rPr>
              <a:t>Determination of pH of a Solution</a:t>
            </a:r>
            <a:endParaRPr lang="en-IN" dirty="0">
              <a:solidFill>
                <a:srgbClr val="C00000"/>
              </a:solidFill>
            </a:endParaRPr>
          </a:p>
        </p:txBody>
      </p:sp>
      <p:sp>
        <p:nvSpPr>
          <p:cNvPr id="4" name="TextBox 3">
            <a:extLst>
              <a:ext uri="{FF2B5EF4-FFF2-40B4-BE49-F238E27FC236}">
                <a16:creationId xmlns:a16="http://schemas.microsoft.com/office/drawing/2014/main" id="{592999BB-836A-7629-6158-282BF20DA10C}"/>
              </a:ext>
            </a:extLst>
          </p:cNvPr>
          <p:cNvSpPr txBox="1"/>
          <p:nvPr/>
        </p:nvSpPr>
        <p:spPr>
          <a:xfrm>
            <a:off x="4812884" y="463196"/>
            <a:ext cx="2721989" cy="369332"/>
          </a:xfrm>
          <a:prstGeom prst="rect">
            <a:avLst/>
          </a:prstGeom>
          <a:noFill/>
        </p:spPr>
        <p:txBody>
          <a:bodyPr wrap="square">
            <a:spAutoFit/>
          </a:bodyPr>
          <a:lstStyle/>
          <a:p>
            <a:r>
              <a:rPr lang="en-IN" sz="1800" b="1" i="0" u="none" strike="noStrike" baseline="0" dirty="0">
                <a:solidFill>
                  <a:srgbClr val="0000CD"/>
                </a:solidFill>
                <a:latin typeface="ArialRoundedMTBold"/>
              </a:rPr>
              <a:t>Quinhydrone Electrode</a:t>
            </a:r>
            <a:endParaRPr lang="en-IN" dirty="0"/>
          </a:p>
        </p:txBody>
      </p:sp>
      <p:sp>
        <p:nvSpPr>
          <p:cNvPr id="5" name="TextBox 4">
            <a:extLst>
              <a:ext uri="{FF2B5EF4-FFF2-40B4-BE49-F238E27FC236}">
                <a16:creationId xmlns:a16="http://schemas.microsoft.com/office/drawing/2014/main" id="{36223B82-62F7-1D46-9754-BE33B509E9C0}"/>
              </a:ext>
            </a:extLst>
          </p:cNvPr>
          <p:cNvSpPr txBox="1"/>
          <p:nvPr/>
        </p:nvSpPr>
        <p:spPr>
          <a:xfrm>
            <a:off x="906400" y="854391"/>
            <a:ext cx="9841585" cy="369332"/>
          </a:xfrm>
          <a:prstGeom prst="rect">
            <a:avLst/>
          </a:prstGeom>
          <a:noFill/>
        </p:spPr>
        <p:txBody>
          <a:bodyPr wrap="square" rtlCol="0">
            <a:spAutoFit/>
          </a:bodyPr>
          <a:lstStyle/>
          <a:p>
            <a:pPr algn="l"/>
            <a:r>
              <a:rPr lang="en-US" sz="1800" b="1" i="1" u="none" strike="noStrike" baseline="0" dirty="0">
                <a:solidFill>
                  <a:srgbClr val="000000"/>
                </a:solidFill>
                <a:latin typeface="CenturySchoolbook-BoldItalic"/>
              </a:rPr>
              <a:t>quinhydrone dissociates in water  giving </a:t>
            </a:r>
            <a:r>
              <a:rPr lang="en-US" sz="1800" b="1" i="1" u="none" strike="noStrike" baseline="0" dirty="0">
                <a:latin typeface="CenturySchoolbook-BoldItalic"/>
              </a:rPr>
              <a:t>equal concentration of </a:t>
            </a:r>
            <a:r>
              <a:rPr lang="en-US" sz="1800" b="1" i="1" u="none" strike="noStrike" baseline="0" dirty="0">
                <a:solidFill>
                  <a:srgbClr val="C10000"/>
                </a:solidFill>
                <a:latin typeface="CenturySchoolbook-BoldItalic"/>
              </a:rPr>
              <a:t>quinone </a:t>
            </a:r>
            <a:r>
              <a:rPr lang="en-US" sz="1800" b="1" i="1" u="none" strike="noStrike" baseline="0" dirty="0">
                <a:latin typeface="CenturySchoolbook-BoldItalic"/>
              </a:rPr>
              <a:t>and</a:t>
            </a:r>
            <a:r>
              <a:rPr lang="en-US" sz="1800" b="1" i="1" u="none" strike="noStrike" baseline="0" dirty="0">
                <a:solidFill>
                  <a:srgbClr val="0000CD"/>
                </a:solidFill>
                <a:latin typeface="CenturySchoolbook-BoldItalic"/>
              </a:rPr>
              <a:t> </a:t>
            </a:r>
            <a:r>
              <a:rPr lang="en-IN" sz="1800" b="1" i="1" u="none" strike="noStrike" baseline="0" dirty="0">
                <a:solidFill>
                  <a:srgbClr val="C10000"/>
                </a:solidFill>
                <a:latin typeface="CenturySchoolbook-BoldItalic"/>
              </a:rPr>
              <a:t>hydroquinone</a:t>
            </a:r>
            <a:endParaRPr lang="en-IN" dirty="0"/>
          </a:p>
        </p:txBody>
      </p:sp>
      <p:sp>
        <p:nvSpPr>
          <p:cNvPr id="6" name="TextBox 5">
            <a:extLst>
              <a:ext uri="{FF2B5EF4-FFF2-40B4-BE49-F238E27FC236}">
                <a16:creationId xmlns:a16="http://schemas.microsoft.com/office/drawing/2014/main" id="{425BA523-0B96-8167-DB78-EE47601AA455}"/>
              </a:ext>
            </a:extLst>
          </p:cNvPr>
          <p:cNvSpPr txBox="1"/>
          <p:nvPr/>
        </p:nvSpPr>
        <p:spPr>
          <a:xfrm>
            <a:off x="6227708" y="3095517"/>
            <a:ext cx="2340705" cy="369332"/>
          </a:xfrm>
          <a:prstGeom prst="rect">
            <a:avLst/>
          </a:prstGeom>
          <a:noFill/>
        </p:spPr>
        <p:txBody>
          <a:bodyPr wrap="none" rtlCol="0">
            <a:spAutoFit/>
          </a:bodyPr>
          <a:lstStyle/>
          <a:p>
            <a:r>
              <a:rPr lang="en-IN" sz="1800" b="1" i="0" u="none" strike="noStrike" baseline="0" dirty="0">
                <a:solidFill>
                  <a:srgbClr val="C10000"/>
                </a:solidFill>
                <a:latin typeface="Arial" panose="020B0604020202020204" pitchFamily="34" charset="0"/>
                <a:cs typeface="Arial" panose="020B0604020202020204" pitchFamily="34" charset="0"/>
              </a:rPr>
              <a:t>Q + 2H</a:t>
            </a:r>
            <a:r>
              <a:rPr lang="en-IN" sz="1800" b="1" i="0" u="none" strike="noStrike" baseline="30000" dirty="0">
                <a:solidFill>
                  <a:srgbClr val="C10000"/>
                </a:solidFill>
                <a:latin typeface="Arial" panose="020B0604020202020204" pitchFamily="34" charset="0"/>
                <a:cs typeface="Arial" panose="020B0604020202020204" pitchFamily="34" charset="0"/>
              </a:rPr>
              <a:t>+</a:t>
            </a:r>
            <a:r>
              <a:rPr lang="en-IN" sz="1800" b="1" i="0" u="none" strike="noStrike" baseline="0" dirty="0">
                <a:solidFill>
                  <a:srgbClr val="C10000"/>
                </a:solidFill>
                <a:latin typeface="Arial" panose="020B0604020202020204" pitchFamily="34" charset="0"/>
                <a:cs typeface="Arial" panose="020B0604020202020204" pitchFamily="34" charset="0"/>
              </a:rPr>
              <a:t> + 2e</a:t>
            </a:r>
            <a:r>
              <a:rPr lang="en-IN" sz="1800" b="1" i="0" u="none" strike="noStrike" baseline="30000" dirty="0">
                <a:solidFill>
                  <a:srgbClr val="C10000"/>
                </a:solidFill>
                <a:latin typeface="Arial" panose="020B0604020202020204" pitchFamily="34" charset="0"/>
                <a:cs typeface="Arial" panose="020B0604020202020204" pitchFamily="34" charset="0"/>
              </a:rPr>
              <a:t>-</a:t>
            </a:r>
            <a:r>
              <a:rPr lang="en-IN" sz="1800" b="1" i="0" u="none" strike="noStrike" baseline="0" dirty="0">
                <a:solidFill>
                  <a:srgbClr val="C10000"/>
                </a:solidFill>
                <a:latin typeface="Arial" panose="020B0604020202020204" pitchFamily="34" charset="0"/>
                <a:cs typeface="Arial" panose="020B0604020202020204" pitchFamily="34" charset="0"/>
              </a:rPr>
              <a:t> </a:t>
            </a:r>
            <a:r>
              <a:rPr lang="en-IN" dirty="0">
                <a:solidFill>
                  <a:srgbClr val="C10000"/>
                </a:solidFill>
                <a:latin typeface="Arial" panose="020B0604020202020204" pitchFamily="34" charset="0"/>
                <a:cs typeface="Arial" panose="020B0604020202020204" pitchFamily="34" charset="0"/>
              </a:rPr>
              <a:t>= </a:t>
            </a:r>
            <a:r>
              <a:rPr lang="en-IN" sz="1800" b="0" i="0" u="none" strike="noStrike" baseline="0" dirty="0">
                <a:solidFill>
                  <a:srgbClr val="C10000"/>
                </a:solidFill>
                <a:latin typeface="Arial" panose="020B0604020202020204" pitchFamily="34" charset="0"/>
                <a:cs typeface="Arial" panose="020B0604020202020204" pitchFamily="34" charset="0"/>
              </a:rPr>
              <a:t> </a:t>
            </a:r>
            <a:r>
              <a:rPr lang="en-IN" sz="1800" b="1" i="0" u="none" strike="noStrike" baseline="0" dirty="0">
                <a:solidFill>
                  <a:srgbClr val="C10000"/>
                </a:solidFill>
                <a:latin typeface="Arial" panose="020B0604020202020204" pitchFamily="34" charset="0"/>
                <a:cs typeface="Arial" panose="020B0604020202020204" pitchFamily="34" charset="0"/>
              </a:rPr>
              <a:t>QH</a:t>
            </a:r>
            <a:r>
              <a:rPr lang="en-IN" sz="1800" b="1" i="0" u="none" strike="noStrike" baseline="-25000" dirty="0">
                <a:solidFill>
                  <a:srgbClr val="C10000"/>
                </a:solidFill>
                <a:latin typeface="Arial" panose="020B0604020202020204" pitchFamily="34" charset="0"/>
                <a:cs typeface="Arial" panose="020B0604020202020204" pitchFamily="34" charset="0"/>
              </a:rPr>
              <a:t>2</a:t>
            </a:r>
            <a:endParaRPr lang="en-IN" baseline="-250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62BCC0C5-B265-D4DA-0E16-99C03961B635}"/>
              </a:ext>
            </a:extLst>
          </p:cNvPr>
          <p:cNvPicPr>
            <a:picLocks noChangeAspect="1"/>
          </p:cNvPicPr>
          <p:nvPr/>
        </p:nvPicPr>
        <p:blipFill>
          <a:blip r:embed="rId2"/>
          <a:stretch>
            <a:fillRect/>
          </a:stretch>
        </p:blipFill>
        <p:spPr>
          <a:xfrm>
            <a:off x="254272" y="2613564"/>
            <a:ext cx="4867740" cy="916552"/>
          </a:xfrm>
          <a:prstGeom prst="rect">
            <a:avLst/>
          </a:prstGeom>
        </p:spPr>
      </p:pic>
      <p:grpSp>
        <p:nvGrpSpPr>
          <p:cNvPr id="17" name="Group 16">
            <a:extLst>
              <a:ext uri="{FF2B5EF4-FFF2-40B4-BE49-F238E27FC236}">
                <a16:creationId xmlns:a16="http://schemas.microsoft.com/office/drawing/2014/main" id="{6D291466-0FBA-6353-5343-16933E7E95B6}"/>
              </a:ext>
            </a:extLst>
          </p:cNvPr>
          <p:cNvGrpSpPr/>
          <p:nvPr/>
        </p:nvGrpSpPr>
        <p:grpSpPr>
          <a:xfrm>
            <a:off x="254272" y="3661315"/>
            <a:ext cx="4247274" cy="1736261"/>
            <a:chOff x="565610" y="2366669"/>
            <a:chExt cx="4247274" cy="1736261"/>
          </a:xfrm>
        </p:grpSpPr>
        <p:pic>
          <p:nvPicPr>
            <p:cNvPr id="10" name="Picture 9">
              <a:extLst>
                <a:ext uri="{FF2B5EF4-FFF2-40B4-BE49-F238E27FC236}">
                  <a16:creationId xmlns:a16="http://schemas.microsoft.com/office/drawing/2014/main" id="{784B8ED6-41A6-CAB6-32F6-48A1FAD1E148}"/>
                </a:ext>
              </a:extLst>
            </p:cNvPr>
            <p:cNvPicPr>
              <a:picLocks noChangeAspect="1"/>
            </p:cNvPicPr>
            <p:nvPr/>
          </p:nvPicPr>
          <p:blipFill>
            <a:blip r:embed="rId3"/>
            <a:stretch>
              <a:fillRect/>
            </a:stretch>
          </p:blipFill>
          <p:spPr>
            <a:xfrm>
              <a:off x="565610" y="2366669"/>
              <a:ext cx="4247274" cy="811532"/>
            </a:xfrm>
            <a:prstGeom prst="rect">
              <a:avLst/>
            </a:prstGeom>
          </p:spPr>
        </p:pic>
        <p:grpSp>
          <p:nvGrpSpPr>
            <p:cNvPr id="14" name="Group 13">
              <a:extLst>
                <a:ext uri="{FF2B5EF4-FFF2-40B4-BE49-F238E27FC236}">
                  <a16:creationId xmlns:a16="http://schemas.microsoft.com/office/drawing/2014/main" id="{D2A224C4-F835-9900-E0FE-8F08B7C7C61F}"/>
                </a:ext>
              </a:extLst>
            </p:cNvPr>
            <p:cNvGrpSpPr/>
            <p:nvPr/>
          </p:nvGrpSpPr>
          <p:grpSpPr>
            <a:xfrm>
              <a:off x="613124" y="3291398"/>
              <a:ext cx="3556707" cy="811532"/>
              <a:chOff x="906400" y="4717288"/>
              <a:chExt cx="3556707" cy="811532"/>
            </a:xfrm>
          </p:grpSpPr>
          <p:pic>
            <p:nvPicPr>
              <p:cNvPr id="12" name="Picture 11">
                <a:extLst>
                  <a:ext uri="{FF2B5EF4-FFF2-40B4-BE49-F238E27FC236}">
                    <a16:creationId xmlns:a16="http://schemas.microsoft.com/office/drawing/2014/main" id="{B786A13C-9C12-7868-33D6-94966719DB1E}"/>
                  </a:ext>
                </a:extLst>
              </p:cNvPr>
              <p:cNvPicPr>
                <a:picLocks noChangeAspect="1"/>
              </p:cNvPicPr>
              <p:nvPr/>
            </p:nvPicPr>
            <p:blipFill>
              <a:blip r:embed="rId3"/>
              <a:srcRect r="43659"/>
              <a:stretch/>
            </p:blipFill>
            <p:spPr>
              <a:xfrm>
                <a:off x="906400" y="4717288"/>
                <a:ext cx="2392981" cy="811532"/>
              </a:xfrm>
              <a:prstGeom prst="rect">
                <a:avLst/>
              </a:prstGeom>
            </p:spPr>
          </p:pic>
          <p:sp>
            <p:nvSpPr>
              <p:cNvPr id="13" name="TextBox 12">
                <a:extLst>
                  <a:ext uri="{FF2B5EF4-FFF2-40B4-BE49-F238E27FC236}">
                    <a16:creationId xmlns:a16="http://schemas.microsoft.com/office/drawing/2014/main" id="{EAD0988C-B4D1-3F38-5517-27808025B325}"/>
                  </a:ext>
                </a:extLst>
              </p:cNvPr>
              <p:cNvSpPr txBox="1"/>
              <p:nvPr/>
            </p:nvSpPr>
            <p:spPr>
              <a:xfrm>
                <a:off x="3342287" y="4854489"/>
                <a:ext cx="1120820" cy="369332"/>
              </a:xfrm>
              <a:prstGeom prst="rect">
                <a:avLst/>
              </a:prstGeom>
              <a:noFill/>
            </p:spPr>
            <p:txBody>
              <a:bodyPr wrap="none" rtlCol="0">
                <a:spAutoFit/>
              </a:bodyPr>
              <a:lstStyle/>
              <a:p>
                <a:r>
                  <a:rPr lang="en-US" i="1" dirty="0">
                    <a:latin typeface="Arial" panose="020B0604020202020204" pitchFamily="34" charset="0"/>
                    <a:cs typeface="Arial" panose="020B0604020202020204" pitchFamily="34" charset="0"/>
                  </a:rPr>
                  <a:t>0.059.pH</a:t>
                </a:r>
                <a:endParaRPr lang="en-IN" i="1" dirty="0">
                  <a:latin typeface="Arial" panose="020B0604020202020204" pitchFamily="34" charset="0"/>
                  <a:cs typeface="Arial" panose="020B0604020202020204" pitchFamily="34" charset="0"/>
                </a:endParaRPr>
              </a:p>
            </p:txBody>
          </p:sp>
        </p:grpSp>
      </p:grpSp>
      <p:grpSp>
        <p:nvGrpSpPr>
          <p:cNvPr id="9" name="Group 8">
            <a:extLst>
              <a:ext uri="{FF2B5EF4-FFF2-40B4-BE49-F238E27FC236}">
                <a16:creationId xmlns:a16="http://schemas.microsoft.com/office/drawing/2014/main" id="{4D5DE066-D8A0-4EFB-6715-1D3E0820A63E}"/>
              </a:ext>
            </a:extLst>
          </p:cNvPr>
          <p:cNvGrpSpPr/>
          <p:nvPr/>
        </p:nvGrpSpPr>
        <p:grpSpPr>
          <a:xfrm>
            <a:off x="4019704" y="4967305"/>
            <a:ext cx="7342935" cy="1717438"/>
            <a:chOff x="4019704" y="4967305"/>
            <a:chExt cx="7342935" cy="1717438"/>
          </a:xfrm>
        </p:grpSpPr>
        <p:pic>
          <p:nvPicPr>
            <p:cNvPr id="16" name="Picture 15">
              <a:extLst>
                <a:ext uri="{FF2B5EF4-FFF2-40B4-BE49-F238E27FC236}">
                  <a16:creationId xmlns:a16="http://schemas.microsoft.com/office/drawing/2014/main" id="{02A14903-C5CE-0009-262A-8FC9B19803D0}"/>
                </a:ext>
              </a:extLst>
            </p:cNvPr>
            <p:cNvPicPr>
              <a:picLocks noChangeAspect="1"/>
            </p:cNvPicPr>
            <p:nvPr/>
          </p:nvPicPr>
          <p:blipFill>
            <a:blip r:embed="rId4"/>
            <a:stretch>
              <a:fillRect/>
            </a:stretch>
          </p:blipFill>
          <p:spPr>
            <a:xfrm>
              <a:off x="4019704" y="4967305"/>
              <a:ext cx="4247274" cy="1717438"/>
            </a:xfrm>
            <a:prstGeom prst="rect">
              <a:avLst/>
            </a:prstGeom>
          </p:spPr>
        </p:pic>
        <p:grpSp>
          <p:nvGrpSpPr>
            <p:cNvPr id="24" name="Group 23">
              <a:extLst>
                <a:ext uri="{FF2B5EF4-FFF2-40B4-BE49-F238E27FC236}">
                  <a16:creationId xmlns:a16="http://schemas.microsoft.com/office/drawing/2014/main" id="{F2B83083-F96C-DF14-EA40-2AB3F9B3F21F}"/>
                </a:ext>
              </a:extLst>
            </p:cNvPr>
            <p:cNvGrpSpPr/>
            <p:nvPr/>
          </p:nvGrpSpPr>
          <p:grpSpPr>
            <a:xfrm>
              <a:off x="7795637" y="5143952"/>
              <a:ext cx="3567002" cy="897515"/>
              <a:chOff x="6202837" y="3826464"/>
              <a:chExt cx="3567002" cy="897515"/>
            </a:xfrm>
          </p:grpSpPr>
          <p:sp>
            <p:nvSpPr>
              <p:cNvPr id="20" name="TextBox 19">
                <a:extLst>
                  <a:ext uri="{FF2B5EF4-FFF2-40B4-BE49-F238E27FC236}">
                    <a16:creationId xmlns:a16="http://schemas.microsoft.com/office/drawing/2014/main" id="{EE9E9CB6-B71D-FDBB-8CDC-6E36DE50E10C}"/>
                  </a:ext>
                </a:extLst>
              </p:cNvPr>
              <p:cNvSpPr txBox="1"/>
              <p:nvPr/>
            </p:nvSpPr>
            <p:spPr>
              <a:xfrm>
                <a:off x="6202837" y="3826464"/>
                <a:ext cx="3567002" cy="430887"/>
              </a:xfrm>
              <a:prstGeom prst="rect">
                <a:avLst/>
              </a:prstGeom>
              <a:noFill/>
            </p:spPr>
            <p:txBody>
              <a:bodyPr wrap="none" rtlCol="0">
                <a:spAutoFit/>
              </a:bodyPr>
              <a:lstStyle/>
              <a:p>
                <a:r>
                  <a:rPr lang="en-US" sz="2200" dirty="0">
                    <a:solidFill>
                      <a:srgbClr val="C00000"/>
                    </a:solidFill>
                    <a:latin typeface="Arial" panose="020B0604020202020204" pitchFamily="34" charset="0"/>
                    <a:cs typeface="Arial" panose="020B0604020202020204" pitchFamily="34" charset="0"/>
                  </a:rPr>
                  <a:t>pH = (0.6994 – E</a:t>
                </a:r>
                <a:r>
                  <a:rPr lang="en-US" sz="2200" baseline="-25000" dirty="0">
                    <a:solidFill>
                      <a:srgbClr val="C00000"/>
                    </a:solidFill>
                    <a:latin typeface="Arial" panose="020B0604020202020204" pitchFamily="34" charset="0"/>
                    <a:cs typeface="Arial" panose="020B0604020202020204" pitchFamily="34" charset="0"/>
                  </a:rPr>
                  <a:t>SCE </a:t>
                </a:r>
                <a:r>
                  <a:rPr lang="en-US" sz="2200" dirty="0">
                    <a:solidFill>
                      <a:srgbClr val="C00000"/>
                    </a:solidFill>
                    <a:latin typeface="Arial" panose="020B0604020202020204" pitchFamily="34" charset="0"/>
                    <a:cs typeface="Arial" panose="020B0604020202020204" pitchFamily="34" charset="0"/>
                  </a:rPr>
                  <a:t>– </a:t>
                </a:r>
                <a:r>
                  <a:rPr lang="en-US" sz="2200" dirty="0" err="1">
                    <a:solidFill>
                      <a:srgbClr val="C00000"/>
                    </a:solidFill>
                    <a:latin typeface="Arial" panose="020B0604020202020204" pitchFamily="34" charset="0"/>
                    <a:cs typeface="Arial" panose="020B0604020202020204" pitchFamily="34" charset="0"/>
                  </a:rPr>
                  <a:t>E</a:t>
                </a:r>
                <a:r>
                  <a:rPr lang="en-US" sz="2200" baseline="-25000" dirty="0" err="1">
                    <a:solidFill>
                      <a:srgbClr val="C00000"/>
                    </a:solidFill>
                    <a:latin typeface="Arial" panose="020B0604020202020204" pitchFamily="34" charset="0"/>
                    <a:cs typeface="Arial" panose="020B0604020202020204" pitchFamily="34" charset="0"/>
                  </a:rPr>
                  <a:t>cell</a:t>
                </a:r>
                <a:r>
                  <a:rPr lang="en-US" sz="2200" dirty="0">
                    <a:solidFill>
                      <a:srgbClr val="C00000"/>
                    </a:solidFill>
                    <a:latin typeface="Arial" panose="020B0604020202020204" pitchFamily="34" charset="0"/>
                    <a:cs typeface="Arial" panose="020B0604020202020204" pitchFamily="34" charset="0"/>
                  </a:rPr>
                  <a:t>)</a:t>
                </a:r>
                <a:endParaRPr lang="en-IN" sz="2200" dirty="0">
                  <a:solidFill>
                    <a:srgbClr val="C00000"/>
                  </a:solidFill>
                  <a:latin typeface="Arial" panose="020B0604020202020204" pitchFamily="34" charset="0"/>
                  <a:cs typeface="Arial" panose="020B0604020202020204" pitchFamily="34" charset="0"/>
                </a:endParaRPr>
              </a:p>
            </p:txBody>
          </p:sp>
          <p:cxnSp>
            <p:nvCxnSpPr>
              <p:cNvPr id="22" name="Straight Connector 21">
                <a:extLst>
                  <a:ext uri="{FF2B5EF4-FFF2-40B4-BE49-F238E27FC236}">
                    <a16:creationId xmlns:a16="http://schemas.microsoft.com/office/drawing/2014/main" id="{DF5006E0-5931-F3C5-5884-24180ADDAA0F}"/>
                  </a:ext>
                </a:extLst>
              </p:cNvPr>
              <p:cNvCxnSpPr/>
              <p:nvPr/>
            </p:nvCxnSpPr>
            <p:spPr>
              <a:xfrm>
                <a:off x="7164557" y="4269735"/>
                <a:ext cx="2366128" cy="0"/>
              </a:xfrm>
              <a:prstGeom prst="line">
                <a:avLst/>
              </a:prstGeom>
            </p:spPr>
            <p:style>
              <a:lnRef idx="3">
                <a:schemeClr val="dk1"/>
              </a:lnRef>
              <a:fillRef idx="0">
                <a:schemeClr val="dk1"/>
              </a:fillRef>
              <a:effectRef idx="2">
                <a:schemeClr val="dk1"/>
              </a:effectRef>
              <a:fontRef idx="minor">
                <a:schemeClr val="tx1"/>
              </a:fontRef>
            </p:style>
          </p:cxnSp>
          <p:sp>
            <p:nvSpPr>
              <p:cNvPr id="23" name="TextBox 22">
                <a:extLst>
                  <a:ext uri="{FF2B5EF4-FFF2-40B4-BE49-F238E27FC236}">
                    <a16:creationId xmlns:a16="http://schemas.microsoft.com/office/drawing/2014/main" id="{0AA21D97-2F30-83E7-F9B2-79FC67FFD15A}"/>
                  </a:ext>
                </a:extLst>
              </p:cNvPr>
              <p:cNvSpPr txBox="1"/>
              <p:nvPr/>
            </p:nvSpPr>
            <p:spPr>
              <a:xfrm>
                <a:off x="7697666" y="4293092"/>
                <a:ext cx="1048685" cy="430887"/>
              </a:xfrm>
              <a:prstGeom prst="rect">
                <a:avLst/>
              </a:prstGeom>
              <a:noFill/>
            </p:spPr>
            <p:txBody>
              <a:bodyPr wrap="none" rtlCol="0">
                <a:spAutoFit/>
              </a:bodyPr>
              <a:lstStyle/>
              <a:p>
                <a:r>
                  <a:rPr lang="en-US" sz="2200" dirty="0">
                    <a:solidFill>
                      <a:srgbClr val="C00000"/>
                    </a:solidFill>
                    <a:latin typeface="Arial" panose="020B0604020202020204" pitchFamily="34" charset="0"/>
                    <a:cs typeface="Arial" panose="020B0604020202020204" pitchFamily="34" charset="0"/>
                  </a:rPr>
                  <a:t>0.0592</a:t>
                </a:r>
                <a:endParaRPr lang="en-IN" sz="2200" dirty="0">
                  <a:solidFill>
                    <a:srgbClr val="C00000"/>
                  </a:solidFill>
                  <a:latin typeface="Arial" panose="020B0604020202020204" pitchFamily="34" charset="0"/>
                  <a:cs typeface="Arial" panose="020B0604020202020204" pitchFamily="34" charset="0"/>
                </a:endParaRPr>
              </a:p>
            </p:txBody>
          </p:sp>
        </p:grpSp>
      </p:grpSp>
      <p:pic>
        <p:nvPicPr>
          <p:cNvPr id="26" name="Picture 25">
            <a:extLst>
              <a:ext uri="{FF2B5EF4-FFF2-40B4-BE49-F238E27FC236}">
                <a16:creationId xmlns:a16="http://schemas.microsoft.com/office/drawing/2014/main" id="{05F4EEF0-468A-4F8C-1A8B-460858429FD7}"/>
              </a:ext>
            </a:extLst>
          </p:cNvPr>
          <p:cNvPicPr>
            <a:picLocks noChangeAspect="1"/>
          </p:cNvPicPr>
          <p:nvPr/>
        </p:nvPicPr>
        <p:blipFill>
          <a:blip r:embed="rId5"/>
          <a:stretch>
            <a:fillRect/>
          </a:stretch>
        </p:blipFill>
        <p:spPr>
          <a:xfrm>
            <a:off x="5013106" y="3741652"/>
            <a:ext cx="6018123" cy="310094"/>
          </a:xfrm>
          <a:prstGeom prst="rect">
            <a:avLst/>
          </a:prstGeom>
        </p:spPr>
      </p:pic>
      <p:pic>
        <p:nvPicPr>
          <p:cNvPr id="1026" name="Picture 2" descr="Match the List I with List II. List I List IIAConcentration cellPBElectrode  reversible with respect to anionQPt /Ce+4, Ce+3CQuinhydrone  electrodeRHg/Hg2Cl2, KClDRedox reactionSNaHg/NaCl/NaHg TAg/AgCl, Cl–">
            <a:extLst>
              <a:ext uri="{FF2B5EF4-FFF2-40B4-BE49-F238E27FC236}">
                <a16:creationId xmlns:a16="http://schemas.microsoft.com/office/drawing/2014/main" id="{19D25A73-EA59-EE57-23B2-8984E1B7367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33207" y="1346562"/>
            <a:ext cx="2729709" cy="160051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3328BF8-5F21-A289-4844-4E4D4F085757}"/>
              </a:ext>
            </a:extLst>
          </p:cNvPr>
          <p:cNvPicPr>
            <a:picLocks noChangeAspect="1"/>
          </p:cNvPicPr>
          <p:nvPr/>
        </p:nvPicPr>
        <p:blipFill>
          <a:blip r:embed="rId4"/>
          <a:srcRect b="37455"/>
          <a:stretch/>
        </p:blipFill>
        <p:spPr>
          <a:xfrm>
            <a:off x="925374" y="1295496"/>
            <a:ext cx="4247274" cy="1074163"/>
          </a:xfrm>
          <a:prstGeom prst="rect">
            <a:avLst/>
          </a:prstGeom>
        </p:spPr>
      </p:pic>
      <p:pic>
        <p:nvPicPr>
          <p:cNvPr id="1032" name="Picture 8" descr="Electrochemistry Part 2">
            <a:extLst>
              <a:ext uri="{FF2B5EF4-FFF2-40B4-BE49-F238E27FC236}">
                <a16:creationId xmlns:a16="http://schemas.microsoft.com/office/drawing/2014/main" id="{F665EE20-A138-FDD7-B66C-151E73743F2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11407" y="1236106"/>
            <a:ext cx="2927625" cy="21928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7491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683951-8246-BBDF-E922-0CA750D1731B}"/>
              </a:ext>
            </a:extLst>
          </p:cNvPr>
          <p:cNvSpPr txBox="1"/>
          <p:nvPr/>
        </p:nvSpPr>
        <p:spPr>
          <a:xfrm>
            <a:off x="4169831" y="127560"/>
            <a:ext cx="3852337" cy="369332"/>
          </a:xfrm>
          <a:prstGeom prst="rect">
            <a:avLst/>
          </a:prstGeom>
          <a:noFill/>
        </p:spPr>
        <p:txBody>
          <a:bodyPr wrap="none" rtlCol="0">
            <a:spAutoFit/>
          </a:bodyPr>
          <a:lstStyle/>
          <a:p>
            <a:r>
              <a:rPr lang="en-US" sz="1800" b="1" i="0" u="none" strike="noStrike" baseline="0" dirty="0">
                <a:solidFill>
                  <a:srgbClr val="C00000"/>
                </a:solidFill>
                <a:latin typeface="Arial" panose="020B0604020202020204" pitchFamily="34" charset="0"/>
              </a:rPr>
              <a:t>Determination of pH of a Solution</a:t>
            </a:r>
            <a:endParaRPr lang="en-IN" dirty="0">
              <a:solidFill>
                <a:srgbClr val="C00000"/>
              </a:solidFill>
            </a:endParaRPr>
          </a:p>
        </p:txBody>
      </p:sp>
      <p:sp>
        <p:nvSpPr>
          <p:cNvPr id="3" name="TextBox 2">
            <a:extLst>
              <a:ext uri="{FF2B5EF4-FFF2-40B4-BE49-F238E27FC236}">
                <a16:creationId xmlns:a16="http://schemas.microsoft.com/office/drawing/2014/main" id="{5DB581DF-F412-83B6-E9F2-BC9500FAEDE7}"/>
              </a:ext>
            </a:extLst>
          </p:cNvPr>
          <p:cNvSpPr txBox="1"/>
          <p:nvPr/>
        </p:nvSpPr>
        <p:spPr>
          <a:xfrm>
            <a:off x="5087204" y="496892"/>
            <a:ext cx="2163987" cy="369332"/>
          </a:xfrm>
          <a:prstGeom prst="rect">
            <a:avLst/>
          </a:prstGeom>
          <a:noFill/>
        </p:spPr>
        <p:txBody>
          <a:bodyPr wrap="square">
            <a:spAutoFit/>
          </a:bodyPr>
          <a:lstStyle/>
          <a:p>
            <a:r>
              <a:rPr lang="en-IN" sz="1800" b="1" i="0" u="none" strike="noStrike" baseline="0" dirty="0">
                <a:solidFill>
                  <a:srgbClr val="0000CD"/>
                </a:solidFill>
                <a:latin typeface="ArialRoundedMTBold"/>
              </a:rPr>
              <a:t>Glass Electrode</a:t>
            </a:r>
            <a:endParaRPr lang="en-IN" dirty="0"/>
          </a:p>
        </p:txBody>
      </p:sp>
      <p:sp>
        <p:nvSpPr>
          <p:cNvPr id="6" name="TextBox 5">
            <a:extLst>
              <a:ext uri="{FF2B5EF4-FFF2-40B4-BE49-F238E27FC236}">
                <a16:creationId xmlns:a16="http://schemas.microsoft.com/office/drawing/2014/main" id="{F92E84DF-980C-5863-3C92-BFA66B6A321E}"/>
              </a:ext>
            </a:extLst>
          </p:cNvPr>
          <p:cNvSpPr txBox="1"/>
          <p:nvPr/>
        </p:nvSpPr>
        <p:spPr>
          <a:xfrm>
            <a:off x="5202936" y="977536"/>
            <a:ext cx="5861304" cy="4616648"/>
          </a:xfrm>
          <a:prstGeom prst="rect">
            <a:avLst/>
          </a:prstGeom>
          <a:noFill/>
        </p:spPr>
        <p:txBody>
          <a:bodyPr wrap="square" rtlCol="0">
            <a:spAutoFit/>
          </a:bodyPr>
          <a:lstStyle/>
          <a:p>
            <a:pPr algn="just"/>
            <a:r>
              <a:rPr lang="en-IN" sz="1600" b="0" i="0" u="none" strike="noStrike" baseline="0" dirty="0">
                <a:solidFill>
                  <a:srgbClr val="000000"/>
                </a:solidFill>
                <a:latin typeface="Arial" panose="020B0604020202020204" pitchFamily="34" charset="0"/>
                <a:cs typeface="Arial" panose="020B0604020202020204" pitchFamily="34" charset="0"/>
              </a:rPr>
              <a:t>The </a:t>
            </a:r>
            <a:r>
              <a:rPr lang="en-IN" sz="1600" b="1" i="0" u="none" strike="noStrike" baseline="0" dirty="0">
                <a:solidFill>
                  <a:srgbClr val="0000CD"/>
                </a:solidFill>
                <a:latin typeface="Arial" panose="020B0604020202020204" pitchFamily="34" charset="0"/>
                <a:cs typeface="Arial" panose="020B0604020202020204" pitchFamily="34" charset="0"/>
              </a:rPr>
              <a:t>glass electrode </a:t>
            </a:r>
            <a:r>
              <a:rPr lang="en-IN" sz="1600" b="0" i="0" u="none" strike="noStrike" baseline="0" dirty="0">
                <a:solidFill>
                  <a:srgbClr val="000000"/>
                </a:solidFill>
                <a:latin typeface="Arial" panose="020B0604020202020204" pitchFamily="34" charset="0"/>
                <a:cs typeface="Arial" panose="020B0604020202020204" pitchFamily="34" charset="0"/>
              </a:rPr>
              <a:t>(indicator </a:t>
            </a:r>
            <a:r>
              <a:rPr lang="en-US" sz="1600" b="0" i="0" u="none" strike="noStrike" baseline="0" dirty="0">
                <a:solidFill>
                  <a:srgbClr val="000000"/>
                </a:solidFill>
                <a:latin typeface="Arial" panose="020B0604020202020204" pitchFamily="34" charset="0"/>
                <a:cs typeface="Arial" panose="020B0604020202020204" pitchFamily="34" charset="0"/>
              </a:rPr>
              <a:t>electrode) is a</a:t>
            </a:r>
            <a:r>
              <a:rPr lang="en-US" sz="1600" dirty="0">
                <a:solidFill>
                  <a:srgbClr val="000000"/>
                </a:solidFill>
                <a:latin typeface="Arial" panose="020B0604020202020204" pitchFamily="34" charset="0"/>
                <a:cs typeface="Arial" panose="020B0604020202020204" pitchFamily="34" charset="0"/>
              </a:rPr>
              <a:t>n</a:t>
            </a:r>
            <a:r>
              <a:rPr lang="en-US" sz="1600" b="0" i="0" u="none" strike="noStrike" baseline="0" dirty="0">
                <a:solidFill>
                  <a:srgbClr val="000000"/>
                </a:solidFill>
                <a:latin typeface="Arial" panose="020B0604020202020204" pitchFamily="34" charset="0"/>
                <a:cs typeface="Arial" panose="020B0604020202020204" pitchFamily="34" charset="0"/>
              </a:rPr>
              <a:t> ion –selective electrode made of a doped glass membrane that is selective to specific ions. </a:t>
            </a:r>
          </a:p>
          <a:p>
            <a:pPr algn="just"/>
            <a:endParaRPr lang="en-US" sz="1600" b="0" i="0" u="none" strike="noStrike" baseline="0" dirty="0">
              <a:solidFill>
                <a:srgbClr val="000000"/>
              </a:solidFill>
              <a:latin typeface="Arial" panose="020B0604020202020204" pitchFamily="34" charset="0"/>
              <a:cs typeface="Arial" panose="020B0604020202020204" pitchFamily="34" charset="0"/>
            </a:endParaRPr>
          </a:p>
          <a:p>
            <a:pPr algn="just"/>
            <a:r>
              <a:rPr lang="en-US" sz="1600" b="0" i="0" u="none" strike="noStrike" baseline="0" dirty="0">
                <a:solidFill>
                  <a:srgbClr val="000000"/>
                </a:solidFill>
                <a:latin typeface="Arial" panose="020B0604020202020204" pitchFamily="34" charset="0"/>
                <a:cs typeface="Arial" panose="020B0604020202020204" pitchFamily="34" charset="0"/>
              </a:rPr>
              <a:t> pH electrode is an example of glass electrode which is sensitive to H</a:t>
            </a:r>
            <a:r>
              <a:rPr lang="en-US" sz="1600" b="0" i="0" u="none" strike="noStrike" baseline="30000" dirty="0">
                <a:solidFill>
                  <a:srgbClr val="000000"/>
                </a:solidFill>
                <a:latin typeface="Arial" panose="020B0604020202020204" pitchFamily="34" charset="0"/>
                <a:cs typeface="Arial" panose="020B0604020202020204" pitchFamily="34" charset="0"/>
              </a:rPr>
              <a:t>+</a:t>
            </a:r>
            <a:r>
              <a:rPr lang="en-US" sz="1600" b="0" i="0" u="none" strike="noStrike" dirty="0">
                <a:solidFill>
                  <a:srgbClr val="000000"/>
                </a:solidFill>
                <a:latin typeface="Arial" panose="020B0604020202020204" pitchFamily="34" charset="0"/>
                <a:cs typeface="Arial" panose="020B0604020202020204" pitchFamily="34" charset="0"/>
              </a:rPr>
              <a:t> ions. </a:t>
            </a:r>
          </a:p>
          <a:p>
            <a:pPr algn="just"/>
            <a:endParaRPr lang="en-US" sz="1600" b="0" i="0" u="none" strike="noStrike" dirty="0">
              <a:solidFill>
                <a:srgbClr val="000000"/>
              </a:solidFill>
              <a:latin typeface="Arial" panose="020B0604020202020204" pitchFamily="34" charset="0"/>
              <a:cs typeface="Arial" panose="020B0604020202020204" pitchFamily="34" charset="0"/>
            </a:endParaRPr>
          </a:p>
          <a:p>
            <a:pPr algn="just"/>
            <a:r>
              <a:rPr lang="en-IN" sz="1600" b="0" i="0" u="none" strike="noStrike" baseline="0" dirty="0">
                <a:latin typeface="Arial" panose="020B0604020202020204" pitchFamily="34" charset="0"/>
                <a:cs typeface="Arial" panose="020B0604020202020204" pitchFamily="34" charset="0"/>
              </a:rPr>
              <a:t>A </a:t>
            </a:r>
            <a:r>
              <a:rPr lang="en-US" sz="1600" b="0" i="0" u="none" strike="noStrike" baseline="0" dirty="0">
                <a:latin typeface="Arial" panose="020B0604020202020204" pitchFamily="34" charset="0"/>
                <a:cs typeface="Arial" panose="020B0604020202020204" pitchFamily="34" charset="0"/>
              </a:rPr>
              <a:t>potential is built up across the thin </a:t>
            </a:r>
            <a:r>
              <a:rPr lang="en-IN" sz="1600" b="0" i="0" u="none" strike="noStrike" baseline="0" dirty="0">
                <a:latin typeface="Arial" panose="020B0604020202020204" pitchFamily="34" charset="0"/>
                <a:cs typeface="Arial" panose="020B0604020202020204" pitchFamily="34" charset="0"/>
              </a:rPr>
              <a:t>glass membrane due to ion </a:t>
            </a:r>
            <a:r>
              <a:rPr lang="en-US" sz="1600" b="0" i="0" u="none" strike="noStrike" baseline="0" dirty="0">
                <a:latin typeface="Arial" panose="020B0604020202020204" pitchFamily="34" charset="0"/>
                <a:cs typeface="Arial" panose="020B0604020202020204" pitchFamily="34" charset="0"/>
              </a:rPr>
              <a:t>exchange between the Na+ ions in the glass and the H+(</a:t>
            </a:r>
            <a:r>
              <a:rPr lang="en-US" sz="1600" b="0" i="0" u="none" strike="noStrike" baseline="0" dirty="0" err="1">
                <a:latin typeface="Arial" panose="020B0604020202020204" pitchFamily="34" charset="0"/>
                <a:cs typeface="Arial" panose="020B0604020202020204" pitchFamily="34" charset="0"/>
              </a:rPr>
              <a:t>aq</a:t>
            </a:r>
            <a:r>
              <a:rPr lang="en-US" sz="1600" b="0" i="0" u="none" strike="noStrike" baseline="0" dirty="0">
                <a:latin typeface="Arial" panose="020B0604020202020204" pitchFamily="34" charset="0"/>
                <a:cs typeface="Arial" panose="020B0604020202020204" pitchFamily="34" charset="0"/>
              </a:rPr>
              <a:t>) ions in the </a:t>
            </a:r>
            <a:r>
              <a:rPr lang="en-IN" sz="1600" b="0" i="0" u="none" strike="noStrike" baseline="0" dirty="0">
                <a:latin typeface="Arial" panose="020B0604020202020204" pitchFamily="34" charset="0"/>
                <a:cs typeface="Arial" panose="020B0604020202020204" pitchFamily="34" charset="0"/>
              </a:rPr>
              <a:t>internal and external solutions.</a:t>
            </a:r>
            <a:r>
              <a:rPr lang="en-US" sz="1600" b="0" i="0" u="none" strike="noStrike" baseline="0" dirty="0">
                <a:solidFill>
                  <a:srgbClr val="000000"/>
                </a:solidFill>
                <a:latin typeface="Arial" panose="020B0604020202020204" pitchFamily="34" charset="0"/>
                <a:cs typeface="Arial" panose="020B0604020202020204" pitchFamily="34" charset="0"/>
              </a:rPr>
              <a:t> </a:t>
            </a:r>
            <a:endParaRPr lang="en-IN" sz="1600" dirty="0">
              <a:solidFill>
                <a:srgbClr val="000000"/>
              </a:solidFill>
              <a:latin typeface="Arial" panose="020B0604020202020204" pitchFamily="34" charset="0"/>
              <a:cs typeface="Arial" panose="020B0604020202020204" pitchFamily="34" charset="0"/>
            </a:endParaRPr>
          </a:p>
          <a:p>
            <a:pPr algn="just"/>
            <a:endParaRPr lang="en-IN" sz="1600" b="0" i="0" u="none" strike="noStrike" baseline="0" dirty="0">
              <a:solidFill>
                <a:srgbClr val="000000"/>
              </a:solidFill>
              <a:latin typeface="Arial" panose="020B0604020202020204" pitchFamily="34" charset="0"/>
              <a:cs typeface="Arial" panose="020B0604020202020204" pitchFamily="34" charset="0"/>
            </a:endParaRPr>
          </a:p>
          <a:p>
            <a:pPr algn="just"/>
            <a:r>
              <a:rPr lang="en-IN" sz="1800" b="0" i="0" u="none" strike="noStrike" baseline="0" dirty="0">
                <a:latin typeface="Sabon-Roman"/>
              </a:rPr>
              <a:t>This potential is measured </a:t>
            </a:r>
            <a:r>
              <a:rPr lang="en-US" sz="1800" b="0" i="0" u="none" strike="noStrike" baseline="0" dirty="0">
                <a:latin typeface="Sabon-Roman"/>
              </a:rPr>
              <a:t>between the AgCl/Ag electrode built into the assembly and a </a:t>
            </a:r>
            <a:r>
              <a:rPr lang="en-IN" sz="1800" b="0" i="0" u="none" strike="noStrike" baseline="0" dirty="0">
                <a:latin typeface="Sabon-Roman"/>
              </a:rPr>
              <a:t>second reference electrode (calomel electrode) </a:t>
            </a:r>
            <a:r>
              <a:rPr lang="en-US" sz="1600" dirty="0">
                <a:latin typeface="Arial" panose="020B0604020202020204" pitchFamily="34" charset="0"/>
                <a:cs typeface="Arial" panose="020B0604020202020204" pitchFamily="34" charset="0"/>
              </a:rPr>
              <a:t>which is dipped into the </a:t>
            </a:r>
            <a:r>
              <a:rPr lang="en-IN" sz="1600" dirty="0">
                <a:latin typeface="Arial" panose="020B0604020202020204" pitchFamily="34" charset="0"/>
                <a:cs typeface="Arial" panose="020B0604020202020204" pitchFamily="34" charset="0"/>
              </a:rPr>
              <a:t>solution under test.</a:t>
            </a:r>
            <a:endParaRPr lang="en-IN" sz="1600" b="0" i="0" u="none" strike="noStrike" baseline="0" dirty="0">
              <a:solidFill>
                <a:srgbClr val="000000"/>
              </a:solidFill>
              <a:latin typeface="Arial" panose="020B0604020202020204" pitchFamily="34" charset="0"/>
              <a:cs typeface="Arial" panose="020B0604020202020204" pitchFamily="34" charset="0"/>
            </a:endParaRPr>
          </a:p>
          <a:p>
            <a:pPr algn="just"/>
            <a:endParaRPr lang="en-IN" sz="1600" dirty="0">
              <a:solidFill>
                <a:srgbClr val="000000"/>
              </a:solidFill>
              <a:latin typeface="Arial" panose="020B0604020202020204" pitchFamily="34" charset="0"/>
              <a:cs typeface="Arial" panose="020B0604020202020204" pitchFamily="34" charset="0"/>
            </a:endParaRPr>
          </a:p>
          <a:p>
            <a:pPr algn="just"/>
            <a:r>
              <a:rPr lang="en-IN" sz="1600" b="0" i="0" u="none" strike="noStrike" baseline="0" dirty="0">
                <a:solidFill>
                  <a:srgbClr val="000000"/>
                </a:solidFill>
                <a:latin typeface="Arial" panose="020B0604020202020204" pitchFamily="34" charset="0"/>
                <a:cs typeface="Arial" panose="020B0604020202020204" pitchFamily="34" charset="0"/>
              </a:rPr>
              <a:t>A </a:t>
            </a:r>
            <a:r>
              <a:rPr lang="en-US" sz="1600" b="0" i="1" u="none" strike="noStrike" baseline="0" dirty="0">
                <a:solidFill>
                  <a:srgbClr val="C10000"/>
                </a:solidFill>
                <a:latin typeface="Arial" panose="020B0604020202020204" pitchFamily="34" charset="0"/>
                <a:cs typeface="Arial" panose="020B0604020202020204" pitchFamily="34" charset="0"/>
              </a:rPr>
              <a:t>silver wire </a:t>
            </a:r>
            <a:r>
              <a:rPr lang="en-US" sz="1600" b="0" i="0" u="none" strike="noStrike" baseline="0" dirty="0">
                <a:solidFill>
                  <a:srgbClr val="000000"/>
                </a:solidFill>
                <a:latin typeface="Arial" panose="020B0604020202020204" pitchFamily="34" charset="0"/>
                <a:cs typeface="Arial" panose="020B0604020202020204" pitchFamily="34" charset="0"/>
              </a:rPr>
              <a:t>in this solution forms </a:t>
            </a:r>
            <a:r>
              <a:rPr lang="en-IN" sz="1600" b="0" i="0" u="none" strike="noStrike" baseline="0" dirty="0">
                <a:solidFill>
                  <a:srgbClr val="000000"/>
                </a:solidFill>
                <a:latin typeface="Arial" panose="020B0604020202020204" pitchFamily="34" charset="0"/>
                <a:cs typeface="Arial" panose="020B0604020202020204" pitchFamily="34" charset="0"/>
              </a:rPr>
              <a:t>a </a:t>
            </a:r>
            <a:r>
              <a:rPr lang="en-IN" sz="1600" b="0" i="0" u="none" strike="noStrike" baseline="0" dirty="0">
                <a:solidFill>
                  <a:srgbClr val="C10000"/>
                </a:solidFill>
                <a:latin typeface="Arial" panose="020B0604020202020204" pitchFamily="34" charset="0"/>
                <a:cs typeface="Arial" panose="020B0604020202020204" pitchFamily="34" charset="0"/>
              </a:rPr>
              <a:t>Ag – AgCl </a:t>
            </a:r>
            <a:r>
              <a:rPr lang="en-IN" sz="1600" b="0" i="0" u="none" strike="noStrike" baseline="0" dirty="0">
                <a:solidFill>
                  <a:srgbClr val="000000"/>
                </a:solidFill>
                <a:latin typeface="Arial" panose="020B0604020202020204" pitchFamily="34" charset="0"/>
                <a:cs typeface="Arial" panose="020B0604020202020204" pitchFamily="34" charset="0"/>
              </a:rPr>
              <a:t>reference electrode</a:t>
            </a:r>
            <a:endParaRPr lang="en-IN" sz="16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C9F4AA7E-1424-B040-F643-B72D776B8D2A}"/>
              </a:ext>
            </a:extLst>
          </p:cNvPr>
          <p:cNvPicPr>
            <a:picLocks noChangeAspect="1"/>
          </p:cNvPicPr>
          <p:nvPr/>
        </p:nvPicPr>
        <p:blipFill>
          <a:blip r:embed="rId2"/>
          <a:stretch>
            <a:fillRect/>
          </a:stretch>
        </p:blipFill>
        <p:spPr>
          <a:xfrm>
            <a:off x="437818" y="502878"/>
            <a:ext cx="2989006" cy="3021496"/>
          </a:xfrm>
          <a:prstGeom prst="rect">
            <a:avLst/>
          </a:prstGeom>
        </p:spPr>
      </p:pic>
      <p:grpSp>
        <p:nvGrpSpPr>
          <p:cNvPr id="14" name="Group 13">
            <a:extLst>
              <a:ext uri="{FF2B5EF4-FFF2-40B4-BE49-F238E27FC236}">
                <a16:creationId xmlns:a16="http://schemas.microsoft.com/office/drawing/2014/main" id="{07B6828C-AF18-2C45-ADDE-3643FD84A0B3}"/>
              </a:ext>
            </a:extLst>
          </p:cNvPr>
          <p:cNvGrpSpPr/>
          <p:nvPr/>
        </p:nvGrpSpPr>
        <p:grpSpPr>
          <a:xfrm>
            <a:off x="126468" y="3950425"/>
            <a:ext cx="6110584" cy="2560986"/>
            <a:chOff x="126468" y="3950425"/>
            <a:chExt cx="6110584" cy="2560986"/>
          </a:xfrm>
        </p:grpSpPr>
        <p:sp>
          <p:nvSpPr>
            <p:cNvPr id="4" name="TextBox 3">
              <a:extLst>
                <a:ext uri="{FF2B5EF4-FFF2-40B4-BE49-F238E27FC236}">
                  <a16:creationId xmlns:a16="http://schemas.microsoft.com/office/drawing/2014/main" id="{C44885F0-C1D6-9D49-3F53-CE7C69830928}"/>
                </a:ext>
              </a:extLst>
            </p:cNvPr>
            <p:cNvSpPr txBox="1"/>
            <p:nvPr/>
          </p:nvSpPr>
          <p:spPr>
            <a:xfrm>
              <a:off x="549896" y="3950425"/>
              <a:ext cx="2765501" cy="338554"/>
            </a:xfrm>
            <a:prstGeom prst="rect">
              <a:avLst/>
            </a:prstGeom>
            <a:noFill/>
          </p:spPr>
          <p:txBody>
            <a:bodyPr wrap="none" rtlCol="0">
              <a:spAutoFit/>
            </a:bodyPr>
            <a:lstStyle/>
            <a:p>
              <a:r>
                <a:rPr lang="en-IN" sz="1600" dirty="0" err="1">
                  <a:latin typeface="Arial" panose="020B0604020202020204" pitchFamily="34" charset="0"/>
                  <a:cs typeface="Arial" panose="020B0604020202020204" pitchFamily="34" charset="0"/>
                </a:rPr>
                <a:t>E</a:t>
              </a:r>
              <a:r>
                <a:rPr lang="en-IN" sz="1600" baseline="-25000" dirty="0" err="1">
                  <a:latin typeface="Arial" panose="020B0604020202020204" pitchFamily="34" charset="0"/>
                  <a:cs typeface="Arial" panose="020B0604020202020204" pitchFamily="34" charset="0"/>
                </a:rPr>
                <a:t>cell</a:t>
              </a:r>
              <a:r>
                <a:rPr lang="en-IN" sz="1600" dirty="0">
                  <a:latin typeface="Arial" panose="020B0604020202020204" pitchFamily="34" charset="0"/>
                  <a:cs typeface="Arial" panose="020B0604020202020204" pitchFamily="34" charset="0"/>
                </a:rPr>
                <a:t> = E </a:t>
              </a:r>
              <a:r>
                <a:rPr lang="en-IN" sz="1600" baseline="-25000" dirty="0">
                  <a:latin typeface="Arial" panose="020B0604020202020204" pitchFamily="34" charset="0"/>
                  <a:cs typeface="Arial" panose="020B0604020202020204" pitchFamily="34" charset="0"/>
                </a:rPr>
                <a:t>calomel</a:t>
              </a:r>
              <a:r>
                <a:rPr lang="en-IN" sz="1600" dirty="0">
                  <a:latin typeface="Arial" panose="020B0604020202020204" pitchFamily="34" charset="0"/>
                  <a:cs typeface="Arial" panose="020B0604020202020204" pitchFamily="34" charset="0"/>
                </a:rPr>
                <a:t> – E </a:t>
              </a:r>
              <a:r>
                <a:rPr lang="en-IN" sz="1600" baseline="-25000" dirty="0">
                  <a:latin typeface="Arial" panose="020B0604020202020204" pitchFamily="34" charset="0"/>
                  <a:cs typeface="Arial" panose="020B0604020202020204" pitchFamily="34" charset="0"/>
                </a:rPr>
                <a:t>glass electrode</a:t>
              </a:r>
            </a:p>
          </p:txBody>
        </p:sp>
        <p:sp>
          <p:nvSpPr>
            <p:cNvPr id="5" name="TextBox 4">
              <a:extLst>
                <a:ext uri="{FF2B5EF4-FFF2-40B4-BE49-F238E27FC236}">
                  <a16:creationId xmlns:a16="http://schemas.microsoft.com/office/drawing/2014/main" id="{53111F7E-72B7-55A5-610D-6B4D834D15AA}"/>
                </a:ext>
              </a:extLst>
            </p:cNvPr>
            <p:cNvSpPr txBox="1"/>
            <p:nvPr/>
          </p:nvSpPr>
          <p:spPr>
            <a:xfrm>
              <a:off x="307443" y="4441601"/>
              <a:ext cx="3951723" cy="369332"/>
            </a:xfrm>
            <a:prstGeom prst="rect">
              <a:avLst/>
            </a:prstGeom>
            <a:noFill/>
          </p:spPr>
          <p:txBody>
            <a:bodyPr wrap="none" rtlCol="0">
              <a:spAutoFit/>
            </a:bodyPr>
            <a:lstStyle/>
            <a:p>
              <a:r>
                <a:rPr lang="en-IN" sz="1800" dirty="0" err="1">
                  <a:latin typeface="Arial" panose="020B0604020202020204" pitchFamily="34" charset="0"/>
                  <a:cs typeface="Arial" panose="020B0604020202020204" pitchFamily="34" charset="0"/>
                </a:rPr>
                <a:t>E</a:t>
              </a:r>
              <a:r>
                <a:rPr lang="en-IN" sz="1800" baseline="-25000" dirty="0" err="1">
                  <a:latin typeface="Arial" panose="020B0604020202020204" pitchFamily="34" charset="0"/>
                  <a:cs typeface="Arial" panose="020B0604020202020204" pitchFamily="34" charset="0"/>
                </a:rPr>
                <a:t>glass</a:t>
              </a:r>
              <a:r>
                <a:rPr lang="en-IN" sz="1800" baseline="-25000" dirty="0">
                  <a:latin typeface="Arial" panose="020B0604020202020204" pitchFamily="34" charset="0"/>
                  <a:cs typeface="Arial" panose="020B0604020202020204" pitchFamily="34" charset="0"/>
                </a:rPr>
                <a:t> electrode </a:t>
              </a:r>
              <a:r>
                <a:rPr lang="en-IN" sz="1800" dirty="0">
                  <a:latin typeface="Arial" panose="020B0604020202020204" pitchFamily="34" charset="0"/>
                  <a:cs typeface="Arial" panose="020B0604020202020204" pitchFamily="34" charset="0"/>
                </a:rPr>
                <a:t>= </a:t>
              </a:r>
              <a:r>
                <a:rPr lang="en-IN" sz="1800" dirty="0" err="1">
                  <a:latin typeface="Arial" panose="020B0604020202020204" pitchFamily="34" charset="0"/>
                  <a:cs typeface="Arial" panose="020B0604020202020204" pitchFamily="34" charset="0"/>
                </a:rPr>
                <a:t>E</a:t>
              </a:r>
              <a:r>
                <a:rPr lang="en-IN" sz="1800" baseline="30000" dirty="0" err="1">
                  <a:latin typeface="Arial" panose="020B0604020202020204" pitchFamily="34" charset="0"/>
                  <a:cs typeface="Arial" panose="020B0604020202020204" pitchFamily="34" charset="0"/>
                </a:rPr>
                <a:t>o</a:t>
              </a:r>
              <a:r>
                <a:rPr lang="en-IN" sz="1800" baseline="-25000" dirty="0" err="1">
                  <a:latin typeface="Arial" panose="020B0604020202020204" pitchFamily="34" charset="0"/>
                  <a:cs typeface="Arial" panose="020B0604020202020204" pitchFamily="34" charset="0"/>
                </a:rPr>
                <a:t>glass</a:t>
              </a:r>
              <a:r>
                <a:rPr lang="en-IN" sz="1800" baseline="-25000" dirty="0">
                  <a:latin typeface="Arial" panose="020B0604020202020204" pitchFamily="34" charset="0"/>
                  <a:cs typeface="Arial" panose="020B0604020202020204" pitchFamily="34" charset="0"/>
                </a:rPr>
                <a:t> electrode</a:t>
              </a:r>
              <a:r>
                <a:rPr lang="en-IN" sz="1800" dirty="0">
                  <a:latin typeface="Arial" panose="020B0604020202020204" pitchFamily="34" charset="0"/>
                  <a:cs typeface="Arial" panose="020B0604020202020204" pitchFamily="34" charset="0"/>
                </a:rPr>
                <a:t> +0.059pH</a:t>
              </a:r>
              <a:endParaRPr lang="en-IN" dirty="0"/>
            </a:p>
          </p:txBody>
        </p:sp>
        <p:grpSp>
          <p:nvGrpSpPr>
            <p:cNvPr id="12" name="Group 11">
              <a:extLst>
                <a:ext uri="{FF2B5EF4-FFF2-40B4-BE49-F238E27FC236}">
                  <a16:creationId xmlns:a16="http://schemas.microsoft.com/office/drawing/2014/main" id="{35FD8F32-2D31-E101-EA51-879E43824170}"/>
                </a:ext>
              </a:extLst>
            </p:cNvPr>
            <p:cNvGrpSpPr/>
            <p:nvPr/>
          </p:nvGrpSpPr>
          <p:grpSpPr>
            <a:xfrm>
              <a:off x="549896" y="5060784"/>
              <a:ext cx="3327848" cy="866738"/>
              <a:chOff x="437818" y="5594184"/>
              <a:chExt cx="3327848" cy="866738"/>
            </a:xfrm>
          </p:grpSpPr>
          <p:sp>
            <p:nvSpPr>
              <p:cNvPr id="9" name="TextBox 8">
                <a:extLst>
                  <a:ext uri="{FF2B5EF4-FFF2-40B4-BE49-F238E27FC236}">
                    <a16:creationId xmlns:a16="http://schemas.microsoft.com/office/drawing/2014/main" id="{8C48FEAB-54D4-56F3-68EA-57761F1BF546}"/>
                  </a:ext>
                </a:extLst>
              </p:cNvPr>
              <p:cNvSpPr txBox="1"/>
              <p:nvPr/>
            </p:nvSpPr>
            <p:spPr>
              <a:xfrm>
                <a:off x="437818" y="5594184"/>
                <a:ext cx="2986715" cy="400110"/>
              </a:xfrm>
              <a:prstGeom prst="rect">
                <a:avLst/>
              </a:prstGeom>
              <a:noFill/>
            </p:spPr>
            <p:txBody>
              <a:bodyPr wrap="none" rtlCol="0">
                <a:spAutoFit/>
              </a:bodyPr>
              <a:lstStyle/>
              <a:p>
                <a:r>
                  <a:rPr lang="en-US" sz="2000" dirty="0">
                    <a:solidFill>
                      <a:srgbClr val="C00000"/>
                    </a:solidFill>
                    <a:latin typeface="Arial" panose="020B0604020202020204" pitchFamily="34" charset="0"/>
                    <a:cs typeface="Arial" panose="020B0604020202020204" pitchFamily="34" charset="0"/>
                  </a:rPr>
                  <a:t>pH = (0.241 – </a:t>
                </a:r>
                <a:r>
                  <a:rPr lang="en-US" sz="2000" dirty="0" err="1">
                    <a:solidFill>
                      <a:srgbClr val="C00000"/>
                    </a:solidFill>
                    <a:latin typeface="Arial" panose="020B0604020202020204" pitchFamily="34" charset="0"/>
                    <a:cs typeface="Arial" panose="020B0604020202020204" pitchFamily="34" charset="0"/>
                  </a:rPr>
                  <a:t>E</a:t>
                </a:r>
                <a:r>
                  <a:rPr lang="en-US" sz="2000" baseline="30000" dirty="0" err="1">
                    <a:solidFill>
                      <a:srgbClr val="C00000"/>
                    </a:solidFill>
                    <a:latin typeface="Arial" panose="020B0604020202020204" pitchFamily="34" charset="0"/>
                    <a:cs typeface="Arial" panose="020B0604020202020204" pitchFamily="34" charset="0"/>
                  </a:rPr>
                  <a:t>o</a:t>
                </a:r>
                <a:r>
                  <a:rPr lang="en-US" sz="2000" baseline="-25000" dirty="0" err="1">
                    <a:solidFill>
                      <a:srgbClr val="C00000"/>
                    </a:solidFill>
                    <a:latin typeface="Arial" panose="020B0604020202020204" pitchFamily="34" charset="0"/>
                    <a:cs typeface="Arial" panose="020B0604020202020204" pitchFamily="34" charset="0"/>
                  </a:rPr>
                  <a:t>G</a:t>
                </a:r>
                <a:r>
                  <a:rPr lang="en-US" sz="2000" baseline="-25000" dirty="0">
                    <a:solidFill>
                      <a:srgbClr val="C00000"/>
                    </a:solidFill>
                    <a:latin typeface="Arial" panose="020B0604020202020204" pitchFamily="34" charset="0"/>
                    <a:cs typeface="Arial" panose="020B0604020202020204" pitchFamily="34" charset="0"/>
                  </a:rPr>
                  <a:t> </a:t>
                </a:r>
                <a:r>
                  <a:rPr lang="en-US" sz="2000" dirty="0">
                    <a:solidFill>
                      <a:srgbClr val="C00000"/>
                    </a:solidFill>
                    <a:latin typeface="Arial" panose="020B0604020202020204" pitchFamily="34" charset="0"/>
                    <a:cs typeface="Arial" panose="020B0604020202020204" pitchFamily="34" charset="0"/>
                  </a:rPr>
                  <a:t>– </a:t>
                </a:r>
                <a:r>
                  <a:rPr lang="en-US" sz="2000" dirty="0" err="1">
                    <a:solidFill>
                      <a:srgbClr val="C00000"/>
                    </a:solidFill>
                    <a:latin typeface="Arial" panose="020B0604020202020204" pitchFamily="34" charset="0"/>
                    <a:cs typeface="Arial" panose="020B0604020202020204" pitchFamily="34" charset="0"/>
                  </a:rPr>
                  <a:t>E</a:t>
                </a:r>
                <a:r>
                  <a:rPr lang="en-US" sz="2000" baseline="-25000" dirty="0" err="1">
                    <a:solidFill>
                      <a:srgbClr val="C00000"/>
                    </a:solidFill>
                    <a:latin typeface="Arial" panose="020B0604020202020204" pitchFamily="34" charset="0"/>
                    <a:cs typeface="Arial" panose="020B0604020202020204" pitchFamily="34" charset="0"/>
                  </a:rPr>
                  <a:t>cell</a:t>
                </a:r>
                <a:r>
                  <a:rPr lang="en-US" sz="2000" dirty="0">
                    <a:solidFill>
                      <a:srgbClr val="C00000"/>
                    </a:solidFill>
                    <a:latin typeface="Arial" panose="020B0604020202020204" pitchFamily="34" charset="0"/>
                    <a:cs typeface="Arial" panose="020B0604020202020204" pitchFamily="34" charset="0"/>
                  </a:rPr>
                  <a:t>)</a:t>
                </a:r>
                <a:endParaRPr lang="en-IN" sz="2000" dirty="0">
                  <a:solidFill>
                    <a:srgbClr val="C00000"/>
                  </a:solidFill>
                  <a:latin typeface="Arial" panose="020B0604020202020204" pitchFamily="34" charset="0"/>
                  <a:cs typeface="Arial" panose="020B0604020202020204" pitchFamily="34" charset="0"/>
                </a:endParaRPr>
              </a:p>
            </p:txBody>
          </p:sp>
          <p:cxnSp>
            <p:nvCxnSpPr>
              <p:cNvPr id="10" name="Straight Connector 9">
                <a:extLst>
                  <a:ext uri="{FF2B5EF4-FFF2-40B4-BE49-F238E27FC236}">
                    <a16:creationId xmlns:a16="http://schemas.microsoft.com/office/drawing/2014/main" id="{D05283D2-8F8A-C06A-4FA2-4D929E027B74}"/>
                  </a:ext>
                </a:extLst>
              </p:cNvPr>
              <p:cNvCxnSpPr/>
              <p:nvPr/>
            </p:nvCxnSpPr>
            <p:spPr>
              <a:xfrm>
                <a:off x="1399538" y="6037455"/>
                <a:ext cx="2366128" cy="0"/>
              </a:xfrm>
              <a:prstGeom prst="line">
                <a:avLst/>
              </a:prstGeom>
            </p:spPr>
            <p:style>
              <a:lnRef idx="3">
                <a:schemeClr val="dk1"/>
              </a:lnRef>
              <a:fillRef idx="0">
                <a:schemeClr val="dk1"/>
              </a:fillRef>
              <a:effectRef idx="2">
                <a:schemeClr val="dk1"/>
              </a:effectRef>
              <a:fontRef idx="minor">
                <a:schemeClr val="tx1"/>
              </a:fontRef>
            </p:style>
          </p:cxnSp>
          <p:sp>
            <p:nvSpPr>
              <p:cNvPr id="11" name="TextBox 10">
                <a:extLst>
                  <a:ext uri="{FF2B5EF4-FFF2-40B4-BE49-F238E27FC236}">
                    <a16:creationId xmlns:a16="http://schemas.microsoft.com/office/drawing/2014/main" id="{24347092-2304-5E1B-0A55-66267C8B5DBE}"/>
                  </a:ext>
                </a:extLst>
              </p:cNvPr>
              <p:cNvSpPr txBox="1"/>
              <p:nvPr/>
            </p:nvSpPr>
            <p:spPr>
              <a:xfrm>
                <a:off x="1932647" y="6060812"/>
                <a:ext cx="968535" cy="400110"/>
              </a:xfrm>
              <a:prstGeom prst="rect">
                <a:avLst/>
              </a:prstGeom>
              <a:noFill/>
            </p:spPr>
            <p:txBody>
              <a:bodyPr wrap="none" rtlCol="0">
                <a:spAutoFit/>
              </a:bodyPr>
              <a:lstStyle/>
              <a:p>
                <a:r>
                  <a:rPr lang="en-US" sz="2000" dirty="0">
                    <a:solidFill>
                      <a:srgbClr val="C00000"/>
                    </a:solidFill>
                    <a:latin typeface="Arial" panose="020B0604020202020204" pitchFamily="34" charset="0"/>
                    <a:cs typeface="Arial" panose="020B0604020202020204" pitchFamily="34" charset="0"/>
                  </a:rPr>
                  <a:t>0.0592</a:t>
                </a:r>
                <a:endParaRPr lang="en-IN" sz="2000" dirty="0">
                  <a:solidFill>
                    <a:srgbClr val="C00000"/>
                  </a:solidFill>
                  <a:latin typeface="Arial" panose="020B0604020202020204" pitchFamily="34" charset="0"/>
                  <a:cs typeface="Arial" panose="020B0604020202020204" pitchFamily="34" charset="0"/>
                </a:endParaRPr>
              </a:p>
            </p:txBody>
          </p:sp>
        </p:grpSp>
        <p:sp>
          <p:nvSpPr>
            <p:cNvPr id="13" name="TextBox 12">
              <a:extLst>
                <a:ext uri="{FF2B5EF4-FFF2-40B4-BE49-F238E27FC236}">
                  <a16:creationId xmlns:a16="http://schemas.microsoft.com/office/drawing/2014/main" id="{642271D4-7FDE-3B51-51CC-17ED4A4B9851}"/>
                </a:ext>
              </a:extLst>
            </p:cNvPr>
            <p:cNvSpPr txBox="1"/>
            <p:nvPr/>
          </p:nvSpPr>
          <p:spPr>
            <a:xfrm>
              <a:off x="126468" y="6142079"/>
              <a:ext cx="6110584" cy="369332"/>
            </a:xfrm>
            <a:prstGeom prst="rect">
              <a:avLst/>
            </a:prstGeom>
            <a:noFill/>
          </p:spPr>
          <p:txBody>
            <a:bodyPr wrap="none" rtlCol="0">
              <a:spAutoFit/>
            </a:bodyPr>
            <a:lstStyle/>
            <a:p>
              <a:r>
                <a:rPr lang="en-IN" dirty="0" err="1"/>
                <a:t>E</a:t>
              </a:r>
              <a:r>
                <a:rPr lang="en-IN" baseline="30000" dirty="0" err="1"/>
                <a:t>o</a:t>
              </a:r>
              <a:r>
                <a:rPr lang="en-IN" baseline="-25000" dirty="0" err="1"/>
                <a:t>G</a:t>
              </a:r>
              <a:r>
                <a:rPr lang="en-IN" baseline="-25000" dirty="0"/>
                <a:t> </a:t>
              </a:r>
              <a:r>
                <a:rPr lang="en-IN" dirty="0"/>
                <a:t> can be calculated using solution of known H</a:t>
              </a:r>
              <a:r>
                <a:rPr lang="en-IN" baseline="30000" dirty="0"/>
                <a:t>+</a:t>
              </a:r>
              <a:r>
                <a:rPr lang="en-IN" dirty="0"/>
                <a:t> concentration</a:t>
              </a:r>
            </a:p>
          </p:txBody>
        </p:sp>
      </p:grpSp>
    </p:spTree>
    <p:extLst>
      <p:ext uri="{BB962C8B-B14F-4D97-AF65-F5344CB8AC3E}">
        <p14:creationId xmlns:p14="http://schemas.microsoft.com/office/powerpoint/2010/main" val="2305982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3ADB07-E596-260A-3007-62953649EEEF}"/>
              </a:ext>
            </a:extLst>
          </p:cNvPr>
          <p:cNvSpPr txBox="1"/>
          <p:nvPr/>
        </p:nvSpPr>
        <p:spPr>
          <a:xfrm>
            <a:off x="5095875" y="95250"/>
            <a:ext cx="2159566" cy="369332"/>
          </a:xfrm>
          <a:prstGeom prst="rect">
            <a:avLst/>
          </a:prstGeom>
          <a:noFill/>
        </p:spPr>
        <p:txBody>
          <a:bodyPr wrap="none" rtlCol="0">
            <a:spAutoFit/>
          </a:bodyPr>
          <a:lstStyle/>
          <a:p>
            <a:r>
              <a:rPr lang="en-IN" b="1" dirty="0">
                <a:solidFill>
                  <a:srgbClr val="C00000"/>
                </a:solidFill>
                <a:latin typeface="Arial" panose="020B0604020202020204" pitchFamily="34" charset="0"/>
                <a:cs typeface="Arial" panose="020B0604020202020204" pitchFamily="34" charset="0"/>
              </a:rPr>
              <a:t>Pourbaix Diagram</a:t>
            </a:r>
          </a:p>
        </p:txBody>
      </p:sp>
      <p:sp>
        <p:nvSpPr>
          <p:cNvPr id="3" name="TextBox 2">
            <a:extLst>
              <a:ext uri="{FF2B5EF4-FFF2-40B4-BE49-F238E27FC236}">
                <a16:creationId xmlns:a16="http://schemas.microsoft.com/office/drawing/2014/main" id="{BB40276C-48FE-C892-300A-45538601B51E}"/>
              </a:ext>
            </a:extLst>
          </p:cNvPr>
          <p:cNvSpPr txBox="1"/>
          <p:nvPr/>
        </p:nvSpPr>
        <p:spPr>
          <a:xfrm>
            <a:off x="628650" y="443390"/>
            <a:ext cx="10934700" cy="584775"/>
          </a:xfrm>
          <a:prstGeom prst="rect">
            <a:avLst/>
          </a:prstGeom>
          <a:noFill/>
        </p:spPr>
        <p:txBody>
          <a:bodyPr wrap="square" rtlCol="0">
            <a:spAutoFit/>
          </a:bodyPr>
          <a:lstStyle/>
          <a:p>
            <a:r>
              <a:rPr lang="en-IN" sz="1600" dirty="0">
                <a:latin typeface="Arial" panose="020B0604020202020204" pitchFamily="34" charset="0"/>
                <a:cs typeface="Arial" panose="020B0604020202020204" pitchFamily="34" charset="0"/>
              </a:rPr>
              <a:t>Pourbaix diagram also know as potential Vs pH diagram, provides information on the conditions of pH and potential under which a species is thermodynamic stable. </a:t>
            </a:r>
          </a:p>
        </p:txBody>
      </p:sp>
      <p:pic>
        <p:nvPicPr>
          <p:cNvPr id="5" name="Picture 4">
            <a:extLst>
              <a:ext uri="{FF2B5EF4-FFF2-40B4-BE49-F238E27FC236}">
                <a16:creationId xmlns:a16="http://schemas.microsoft.com/office/drawing/2014/main" id="{E89F212E-3E2B-4346-9C8F-E3FDCA18745A}"/>
              </a:ext>
            </a:extLst>
          </p:cNvPr>
          <p:cNvPicPr>
            <a:picLocks noChangeAspect="1"/>
          </p:cNvPicPr>
          <p:nvPr/>
        </p:nvPicPr>
        <p:blipFill>
          <a:blip r:embed="rId2"/>
          <a:stretch>
            <a:fillRect/>
          </a:stretch>
        </p:blipFill>
        <p:spPr>
          <a:xfrm>
            <a:off x="364408" y="1220798"/>
            <a:ext cx="3394232" cy="4337098"/>
          </a:xfrm>
          <a:prstGeom prst="rect">
            <a:avLst/>
          </a:prstGeom>
        </p:spPr>
      </p:pic>
      <p:sp>
        <p:nvSpPr>
          <p:cNvPr id="6" name="TextBox 5">
            <a:extLst>
              <a:ext uri="{FF2B5EF4-FFF2-40B4-BE49-F238E27FC236}">
                <a16:creationId xmlns:a16="http://schemas.microsoft.com/office/drawing/2014/main" id="{929AFF81-FD38-6155-6E0A-37232B627216}"/>
              </a:ext>
            </a:extLst>
          </p:cNvPr>
          <p:cNvSpPr txBox="1"/>
          <p:nvPr/>
        </p:nvSpPr>
        <p:spPr>
          <a:xfrm>
            <a:off x="364408" y="5557896"/>
            <a:ext cx="3289457" cy="523220"/>
          </a:xfrm>
          <a:prstGeom prst="rect">
            <a:avLst/>
          </a:prstGeom>
          <a:noFill/>
        </p:spPr>
        <p:txBody>
          <a:bodyPr wrap="square" rtlCol="0">
            <a:spAutoFit/>
          </a:bodyPr>
          <a:lstStyle/>
          <a:p>
            <a:pPr algn="just"/>
            <a:r>
              <a:rPr lang="en-IN" sz="1400" b="0" i="0" u="none" strike="noStrike" baseline="0" dirty="0">
                <a:latin typeface="Arial" panose="020B0604020202020204" pitchFamily="34" charset="0"/>
                <a:cs typeface="Arial" panose="020B0604020202020204" pitchFamily="34" charset="0"/>
              </a:rPr>
              <a:t>Pourbaix diagram for </a:t>
            </a:r>
            <a:r>
              <a:rPr lang="en-US" sz="1400" b="0" i="0" u="none" strike="noStrike" baseline="0" dirty="0">
                <a:latin typeface="Arial" panose="020B0604020202020204" pitchFamily="34" charset="0"/>
                <a:cs typeface="Arial" panose="020B0604020202020204" pitchFamily="34" charset="0"/>
              </a:rPr>
              <a:t>some important naturally occurring aqua species </a:t>
            </a:r>
            <a:r>
              <a:rPr lang="en-IN" sz="1400" b="0" i="0" u="none" strike="noStrike" baseline="0" dirty="0">
                <a:latin typeface="Arial" panose="020B0604020202020204" pitchFamily="34" charset="0"/>
                <a:cs typeface="Arial" panose="020B0604020202020204" pitchFamily="34" charset="0"/>
              </a:rPr>
              <a:t>of iron</a:t>
            </a:r>
            <a:endParaRPr lang="en-IN" sz="14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E093F33F-7B91-6CC3-A59F-9AD0A6CAE7CD}"/>
              </a:ext>
            </a:extLst>
          </p:cNvPr>
          <p:cNvPicPr>
            <a:picLocks noChangeAspect="1"/>
          </p:cNvPicPr>
          <p:nvPr/>
        </p:nvPicPr>
        <p:blipFill>
          <a:blip r:embed="rId3"/>
          <a:stretch>
            <a:fillRect/>
          </a:stretch>
        </p:blipFill>
        <p:spPr>
          <a:xfrm>
            <a:off x="3914775" y="1146839"/>
            <a:ext cx="4483510" cy="795130"/>
          </a:xfrm>
          <a:prstGeom prst="rect">
            <a:avLst/>
          </a:prstGeom>
        </p:spPr>
      </p:pic>
      <p:sp>
        <p:nvSpPr>
          <p:cNvPr id="9" name="TextBox 8">
            <a:extLst>
              <a:ext uri="{FF2B5EF4-FFF2-40B4-BE49-F238E27FC236}">
                <a16:creationId xmlns:a16="http://schemas.microsoft.com/office/drawing/2014/main" id="{4DD1EE52-1EAE-5222-B4A0-2D46B745D04C}"/>
              </a:ext>
            </a:extLst>
          </p:cNvPr>
          <p:cNvSpPr txBox="1"/>
          <p:nvPr/>
        </p:nvSpPr>
        <p:spPr>
          <a:xfrm>
            <a:off x="3914775" y="2009476"/>
            <a:ext cx="7838767" cy="584775"/>
          </a:xfrm>
          <a:prstGeom prst="rect">
            <a:avLst/>
          </a:prstGeom>
          <a:noFill/>
        </p:spPr>
        <p:txBody>
          <a:bodyPr wrap="square" rtlCol="0">
            <a:spAutoFit/>
          </a:bodyPr>
          <a:lstStyle/>
          <a:p>
            <a:pPr algn="just"/>
            <a:r>
              <a:rPr lang="en-US" sz="1600" b="0" i="0" u="none" strike="noStrike" baseline="0" dirty="0">
                <a:latin typeface="Arial" panose="020B0604020202020204" pitchFamily="34" charset="0"/>
                <a:cs typeface="Arial" panose="020B0604020202020204" pitchFamily="34" charset="0"/>
              </a:rPr>
              <a:t>This reaction does not involve H</a:t>
            </a:r>
            <a:r>
              <a:rPr lang="en-US" sz="1600" b="0" i="0" u="none" strike="noStrike" baseline="30000" dirty="0">
                <a:latin typeface="Arial" panose="020B0604020202020204" pitchFamily="34" charset="0"/>
                <a:cs typeface="Arial" panose="020B0604020202020204" pitchFamily="34" charset="0"/>
              </a:rPr>
              <a:t>+</a:t>
            </a:r>
            <a:r>
              <a:rPr lang="en-US" sz="1600" b="0" i="0" u="none" strike="noStrike" baseline="0" dirty="0">
                <a:latin typeface="Arial" panose="020B0604020202020204" pitchFamily="34" charset="0"/>
                <a:cs typeface="Arial" panose="020B0604020202020204" pitchFamily="34" charset="0"/>
              </a:rPr>
              <a:t> ions, so its potential is independent of pH and represented by a horizontal line. </a:t>
            </a:r>
            <a:endParaRPr lang="en-IN"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A0E213CF-3653-161E-0960-A8520DECA56D}"/>
              </a:ext>
            </a:extLst>
          </p:cNvPr>
          <p:cNvSpPr txBox="1"/>
          <p:nvPr/>
        </p:nvSpPr>
        <p:spPr>
          <a:xfrm>
            <a:off x="3914775" y="2660006"/>
            <a:ext cx="7591425" cy="646331"/>
          </a:xfrm>
          <a:prstGeom prst="rect">
            <a:avLst/>
          </a:prstGeom>
          <a:noFill/>
        </p:spPr>
        <p:txBody>
          <a:bodyPr wrap="square" rtlCol="0">
            <a:spAutoFit/>
          </a:bodyPr>
          <a:lstStyle/>
          <a:p>
            <a:pPr algn="l"/>
            <a:r>
              <a:rPr lang="en-US" sz="1800" b="0" i="0" u="none" strike="noStrike" baseline="0" dirty="0">
                <a:latin typeface="SabonLTStd-Roman"/>
              </a:rPr>
              <a:t>If the environment contains an oxidizing couple with a potential </a:t>
            </a:r>
            <a:r>
              <a:rPr lang="en-IN" sz="1800" b="0" i="0" u="none" strike="noStrike" baseline="0" dirty="0">
                <a:latin typeface="SabonLTStd-Roman"/>
              </a:rPr>
              <a:t>above this line (more + </a:t>
            </a:r>
            <a:r>
              <a:rPr lang="en-IN" sz="1800" b="0" i="0" u="none" strike="noStrike" baseline="0" dirty="0" err="1">
                <a:latin typeface="SabonLTStd-Roman"/>
              </a:rPr>
              <a:t>ve</a:t>
            </a:r>
            <a:r>
              <a:rPr lang="en-IN" sz="1800" b="0" i="0" u="none" strike="noStrike" baseline="0" dirty="0">
                <a:latin typeface="SabonLTStd-Roman"/>
              </a:rPr>
              <a:t>), </a:t>
            </a:r>
            <a:r>
              <a:rPr lang="en-US" sz="1800" b="0" i="0" u="none" strike="noStrike" baseline="0" dirty="0">
                <a:latin typeface="SabonLTStd-Roman"/>
              </a:rPr>
              <a:t>then Fe</a:t>
            </a:r>
            <a:r>
              <a:rPr lang="en-US" sz="1800" b="0" i="0" u="none" strike="noStrike" baseline="30000" dirty="0">
                <a:latin typeface="SabonLTStd-Roman"/>
              </a:rPr>
              <a:t>3+</a:t>
            </a:r>
            <a:r>
              <a:rPr lang="en-US" sz="1800" b="0" i="0" u="none" strike="noStrike" baseline="0" dirty="0">
                <a:latin typeface="SabonLTStd-Roman"/>
              </a:rPr>
              <a:t> will </a:t>
            </a:r>
            <a:r>
              <a:rPr lang="en-IN" sz="1800" b="0" i="0" u="none" strike="noStrike" baseline="0" dirty="0">
                <a:latin typeface="SabonLTStd-Roman"/>
              </a:rPr>
              <a:t>be the major species.</a:t>
            </a:r>
            <a:endParaRPr lang="en-IN" dirty="0"/>
          </a:p>
        </p:txBody>
      </p:sp>
      <p:sp>
        <p:nvSpPr>
          <p:cNvPr id="11" name="TextBox 10">
            <a:extLst>
              <a:ext uri="{FF2B5EF4-FFF2-40B4-BE49-F238E27FC236}">
                <a16:creationId xmlns:a16="http://schemas.microsoft.com/office/drawing/2014/main" id="{5D240EDC-F96B-BEE6-060D-11F1BA878C48}"/>
              </a:ext>
            </a:extLst>
          </p:cNvPr>
          <p:cNvSpPr txBox="1"/>
          <p:nvPr/>
        </p:nvSpPr>
        <p:spPr>
          <a:xfrm>
            <a:off x="3926450" y="3379000"/>
            <a:ext cx="7827092" cy="646331"/>
          </a:xfrm>
          <a:prstGeom prst="rect">
            <a:avLst/>
          </a:prstGeom>
          <a:noFill/>
        </p:spPr>
        <p:txBody>
          <a:bodyPr wrap="square" rtlCol="0">
            <a:spAutoFit/>
          </a:bodyPr>
          <a:lstStyle/>
          <a:p>
            <a:pPr algn="just"/>
            <a:r>
              <a:rPr lang="en-US" sz="1800" b="0" i="0" u="none" strike="noStrike" baseline="0" dirty="0">
                <a:latin typeface="SabonLTStd-Roman"/>
              </a:rPr>
              <a:t>The horizontal line towards the top left of the diagram is a boundary that separates the regions where Fe</a:t>
            </a:r>
            <a:r>
              <a:rPr lang="en-US" sz="1800" b="0" i="0" u="none" strike="noStrike" baseline="30000" dirty="0">
                <a:latin typeface="SabonLTStd-Roman"/>
              </a:rPr>
              <a:t>3+</a:t>
            </a:r>
            <a:r>
              <a:rPr lang="en-US" sz="1800" b="0" i="0" u="none" strike="noStrike" baseline="0" dirty="0">
                <a:latin typeface="MathematicalPi-One"/>
              </a:rPr>
              <a:t> </a:t>
            </a:r>
            <a:r>
              <a:rPr lang="en-US" sz="1800" b="0" i="0" u="none" strike="noStrike" baseline="0" dirty="0">
                <a:latin typeface="SabonLTStd-Roman"/>
              </a:rPr>
              <a:t>and Fe</a:t>
            </a:r>
            <a:r>
              <a:rPr lang="en-US" sz="1800" b="0" i="0" u="none" strike="noStrike" baseline="30000" dirty="0">
                <a:latin typeface="SabonLTStd-Roman"/>
              </a:rPr>
              <a:t>2+</a:t>
            </a:r>
            <a:r>
              <a:rPr lang="en-US" sz="1800" b="0" i="0" u="none" strike="noStrike" baseline="0" dirty="0">
                <a:latin typeface="MathematicalPi-One"/>
              </a:rPr>
              <a:t> </a:t>
            </a:r>
            <a:r>
              <a:rPr lang="en-US" sz="1800" b="0" i="0" u="none" strike="noStrike" baseline="0" dirty="0">
                <a:latin typeface="SabonLTStd-Roman"/>
              </a:rPr>
              <a:t>dominate.</a:t>
            </a:r>
            <a:endParaRPr lang="en-IN" dirty="0"/>
          </a:p>
        </p:txBody>
      </p:sp>
      <p:grpSp>
        <p:nvGrpSpPr>
          <p:cNvPr id="18" name="Group 17">
            <a:extLst>
              <a:ext uri="{FF2B5EF4-FFF2-40B4-BE49-F238E27FC236}">
                <a16:creationId xmlns:a16="http://schemas.microsoft.com/office/drawing/2014/main" id="{9977EB02-E28F-1BE9-1993-F397A3E5D6FD}"/>
              </a:ext>
            </a:extLst>
          </p:cNvPr>
          <p:cNvGrpSpPr/>
          <p:nvPr/>
        </p:nvGrpSpPr>
        <p:grpSpPr>
          <a:xfrm>
            <a:off x="3926450" y="4093562"/>
            <a:ext cx="7883890" cy="2410389"/>
            <a:chOff x="3926450" y="4093562"/>
            <a:chExt cx="7883890" cy="2410389"/>
          </a:xfrm>
        </p:grpSpPr>
        <p:pic>
          <p:nvPicPr>
            <p:cNvPr id="13" name="Picture 12">
              <a:extLst>
                <a:ext uri="{FF2B5EF4-FFF2-40B4-BE49-F238E27FC236}">
                  <a16:creationId xmlns:a16="http://schemas.microsoft.com/office/drawing/2014/main" id="{D1698C1E-E2F5-562F-6DAE-33A6A8C9037C}"/>
                </a:ext>
              </a:extLst>
            </p:cNvPr>
            <p:cNvPicPr>
              <a:picLocks noChangeAspect="1"/>
            </p:cNvPicPr>
            <p:nvPr/>
          </p:nvPicPr>
          <p:blipFill>
            <a:blip r:embed="rId4"/>
            <a:stretch>
              <a:fillRect/>
            </a:stretch>
          </p:blipFill>
          <p:spPr>
            <a:xfrm>
              <a:off x="4072091" y="4519352"/>
              <a:ext cx="4326194" cy="487017"/>
            </a:xfrm>
            <a:prstGeom prst="rect">
              <a:avLst/>
            </a:prstGeom>
          </p:spPr>
        </p:pic>
        <p:sp>
          <p:nvSpPr>
            <p:cNvPr id="14" name="TextBox 13">
              <a:extLst>
                <a:ext uri="{FF2B5EF4-FFF2-40B4-BE49-F238E27FC236}">
                  <a16:creationId xmlns:a16="http://schemas.microsoft.com/office/drawing/2014/main" id="{F29FC1DE-39D8-3C85-46DD-6DDC82E9BA28}"/>
                </a:ext>
              </a:extLst>
            </p:cNvPr>
            <p:cNvSpPr txBox="1"/>
            <p:nvPr/>
          </p:nvSpPr>
          <p:spPr>
            <a:xfrm>
              <a:off x="3993433" y="4093562"/>
              <a:ext cx="2601994" cy="338554"/>
            </a:xfrm>
            <a:prstGeom prst="rect">
              <a:avLst/>
            </a:prstGeom>
            <a:noFill/>
          </p:spPr>
          <p:txBody>
            <a:bodyPr wrap="none" rtlCol="0">
              <a:spAutoFit/>
            </a:bodyPr>
            <a:lstStyle/>
            <a:p>
              <a:r>
                <a:rPr lang="en-IN" sz="1600" dirty="0">
                  <a:solidFill>
                    <a:srgbClr val="C00000"/>
                  </a:solidFill>
                  <a:latin typeface="Arial" panose="020B0604020202020204" pitchFamily="34" charset="0"/>
                  <a:cs typeface="Arial" panose="020B0604020202020204" pitchFamily="34" charset="0"/>
                </a:rPr>
                <a:t>Consider another reaction </a:t>
              </a:r>
            </a:p>
          </p:txBody>
        </p:sp>
        <p:sp>
          <p:nvSpPr>
            <p:cNvPr id="15" name="TextBox 14">
              <a:extLst>
                <a:ext uri="{FF2B5EF4-FFF2-40B4-BE49-F238E27FC236}">
                  <a16:creationId xmlns:a16="http://schemas.microsoft.com/office/drawing/2014/main" id="{7D37C9BD-49A5-95BD-8921-C75C80539568}"/>
                </a:ext>
              </a:extLst>
            </p:cNvPr>
            <p:cNvSpPr txBox="1"/>
            <p:nvPr/>
          </p:nvSpPr>
          <p:spPr>
            <a:xfrm>
              <a:off x="4019550" y="5006369"/>
              <a:ext cx="7284050" cy="584775"/>
            </a:xfrm>
            <a:prstGeom prst="rect">
              <a:avLst/>
            </a:prstGeom>
            <a:noFill/>
          </p:spPr>
          <p:txBody>
            <a:bodyPr wrap="square" rtlCol="0">
              <a:spAutoFit/>
            </a:bodyPr>
            <a:lstStyle/>
            <a:p>
              <a:pPr algn="just"/>
              <a:r>
                <a:rPr lang="en-IN" sz="1600" dirty="0">
                  <a:latin typeface="Arial" panose="020B0604020202020204" pitchFamily="34" charset="0"/>
                  <a:cs typeface="Arial" panose="020B0604020202020204" pitchFamily="34" charset="0"/>
                </a:rPr>
                <a:t>There is no electron transfer occurs in this reaction and so independent of potential. However, the reaction depends on the pH of the environment. </a:t>
              </a:r>
            </a:p>
          </p:txBody>
        </p:sp>
        <p:sp>
          <p:nvSpPr>
            <p:cNvPr id="16" name="TextBox 15">
              <a:extLst>
                <a:ext uri="{FF2B5EF4-FFF2-40B4-BE49-F238E27FC236}">
                  <a16:creationId xmlns:a16="http://schemas.microsoft.com/office/drawing/2014/main" id="{0278FE60-69DD-6CD4-5FBC-0880659FD93A}"/>
                </a:ext>
              </a:extLst>
            </p:cNvPr>
            <p:cNvSpPr txBox="1"/>
            <p:nvPr/>
          </p:nvSpPr>
          <p:spPr>
            <a:xfrm>
              <a:off x="4072091" y="5591144"/>
              <a:ext cx="6056466" cy="338554"/>
            </a:xfrm>
            <a:prstGeom prst="rect">
              <a:avLst/>
            </a:prstGeom>
            <a:noFill/>
          </p:spPr>
          <p:txBody>
            <a:bodyPr wrap="none" rtlCol="0">
              <a:spAutoFit/>
            </a:bodyPr>
            <a:lstStyle/>
            <a:p>
              <a:r>
                <a:rPr lang="en-IN" sz="1600" dirty="0">
                  <a:latin typeface="Arial" panose="020B0604020202020204" pitchFamily="34" charset="0"/>
                  <a:cs typeface="Arial" panose="020B0604020202020204" pitchFamily="34" charset="0"/>
                </a:rPr>
                <a:t>At low pH, Fe</a:t>
              </a:r>
              <a:r>
                <a:rPr lang="en-IN" sz="1600" baseline="30000" dirty="0">
                  <a:latin typeface="Arial" panose="020B0604020202020204" pitchFamily="34" charset="0"/>
                  <a:cs typeface="Arial" panose="020B0604020202020204" pitchFamily="34" charset="0"/>
                </a:rPr>
                <a:t>3+</a:t>
              </a:r>
              <a:r>
                <a:rPr lang="en-IN" sz="1600" dirty="0">
                  <a:latin typeface="Arial" panose="020B0604020202020204" pitchFamily="34" charset="0"/>
                  <a:cs typeface="Arial" panose="020B0604020202020204" pitchFamily="34" charset="0"/>
                </a:rPr>
                <a:t> is favoured and at high pH Fe(OH)</a:t>
              </a:r>
              <a:r>
                <a:rPr lang="en-IN" sz="1600" baseline="-25000" dirty="0">
                  <a:latin typeface="Arial" panose="020B0604020202020204" pitchFamily="34" charset="0"/>
                  <a:cs typeface="Arial" panose="020B0604020202020204" pitchFamily="34" charset="0"/>
                </a:rPr>
                <a:t>3</a:t>
              </a:r>
              <a:r>
                <a:rPr lang="en-IN" sz="1600" dirty="0">
                  <a:latin typeface="Arial" panose="020B0604020202020204" pitchFamily="34" charset="0"/>
                  <a:cs typeface="Arial" panose="020B0604020202020204" pitchFamily="34" charset="0"/>
                </a:rPr>
                <a:t> is favoured. </a:t>
              </a:r>
            </a:p>
          </p:txBody>
        </p:sp>
        <p:sp>
          <p:nvSpPr>
            <p:cNvPr id="17" name="TextBox 16">
              <a:extLst>
                <a:ext uri="{FF2B5EF4-FFF2-40B4-BE49-F238E27FC236}">
                  <a16:creationId xmlns:a16="http://schemas.microsoft.com/office/drawing/2014/main" id="{5285839D-24B4-B117-1233-B8F3D7F31979}"/>
                </a:ext>
              </a:extLst>
            </p:cNvPr>
            <p:cNvSpPr txBox="1"/>
            <p:nvPr/>
          </p:nvSpPr>
          <p:spPr>
            <a:xfrm>
              <a:off x="3926450" y="6165397"/>
              <a:ext cx="7883890" cy="338554"/>
            </a:xfrm>
            <a:prstGeom prst="rect">
              <a:avLst/>
            </a:prstGeom>
            <a:noFill/>
          </p:spPr>
          <p:txBody>
            <a:bodyPr wrap="none" rtlCol="0">
              <a:spAutoFit/>
            </a:bodyPr>
            <a:lstStyle/>
            <a:p>
              <a:pPr algn="l"/>
              <a:r>
                <a:rPr lang="en-IN" sz="1600" b="0" i="0" u="none" strike="noStrike" baseline="0" dirty="0">
                  <a:solidFill>
                    <a:srgbClr val="C00000"/>
                  </a:solidFill>
                  <a:latin typeface="Arial" panose="020B0604020202020204" pitchFamily="34" charset="0"/>
                  <a:cs typeface="Arial" panose="020B0604020202020204" pitchFamily="34" charset="0"/>
                </a:rPr>
                <a:t>Fe</a:t>
              </a:r>
              <a:r>
                <a:rPr lang="en-IN" sz="1600" b="0" i="0" u="none" strike="noStrike" baseline="30000" dirty="0">
                  <a:solidFill>
                    <a:srgbClr val="C00000"/>
                  </a:solidFill>
                  <a:latin typeface="Arial" panose="020B0604020202020204" pitchFamily="34" charset="0"/>
                  <a:cs typeface="Arial" panose="020B0604020202020204" pitchFamily="34" charset="0"/>
                </a:rPr>
                <a:t>3+</a:t>
              </a:r>
              <a:r>
                <a:rPr lang="en-IN" sz="1600" b="0" i="0" u="none" strike="noStrike" dirty="0">
                  <a:solidFill>
                    <a:srgbClr val="C00000"/>
                  </a:solidFill>
                  <a:latin typeface="Arial" panose="020B0604020202020204" pitchFamily="34" charset="0"/>
                  <a:cs typeface="Arial" panose="020B0604020202020204" pitchFamily="34" charset="0"/>
                </a:rPr>
                <a:t> </a:t>
              </a:r>
              <a:r>
                <a:rPr lang="en-US" sz="1600" b="0" i="0" u="none" strike="noStrike" baseline="0" dirty="0">
                  <a:solidFill>
                    <a:srgbClr val="C00000"/>
                  </a:solidFill>
                  <a:latin typeface="Arial" panose="020B0604020202020204" pitchFamily="34" charset="0"/>
                  <a:cs typeface="Arial" panose="020B0604020202020204" pitchFamily="34" charset="0"/>
                </a:rPr>
                <a:t>is the dominant species in the solution if its concentration exceeds 10 </a:t>
              </a:r>
              <a:r>
                <a:rPr lang="en-US" sz="1600" b="0" i="0" u="none" strike="noStrike" baseline="0" dirty="0" err="1">
                  <a:solidFill>
                    <a:srgbClr val="C00000"/>
                  </a:solidFill>
                  <a:latin typeface="Arial" panose="020B0604020202020204" pitchFamily="34" charset="0"/>
                  <a:cs typeface="Arial" panose="020B0604020202020204" pitchFamily="34" charset="0"/>
                </a:rPr>
                <a:t>μmol</a:t>
              </a:r>
              <a:r>
                <a:rPr lang="en-US" sz="1600" b="0" i="0" u="none" strike="noStrike" baseline="0" dirty="0">
                  <a:solidFill>
                    <a:srgbClr val="C00000"/>
                  </a:solidFill>
                  <a:latin typeface="Arial" panose="020B0604020202020204" pitchFamily="34" charset="0"/>
                  <a:cs typeface="Arial" panose="020B0604020202020204" pitchFamily="34" charset="0"/>
                </a:rPr>
                <a:t>/dm</a:t>
              </a:r>
              <a:r>
                <a:rPr lang="en-US" sz="1600" b="0" i="0" u="none" strike="noStrike" baseline="30000" dirty="0">
                  <a:solidFill>
                    <a:srgbClr val="C00000"/>
                  </a:solidFill>
                  <a:latin typeface="Arial" panose="020B0604020202020204" pitchFamily="34" charset="0"/>
                  <a:cs typeface="Arial" panose="020B0604020202020204" pitchFamily="34" charset="0"/>
                </a:rPr>
                <a:t>3</a:t>
              </a:r>
              <a:endParaRPr lang="en-IN" sz="1600" baseline="30000" dirty="0">
                <a:solidFill>
                  <a:srgbClr val="C00000"/>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625840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FF7CBE-473D-E62A-D6AE-7CBB06046988}"/>
              </a:ext>
            </a:extLst>
          </p:cNvPr>
          <p:cNvSpPr txBox="1"/>
          <p:nvPr/>
        </p:nvSpPr>
        <p:spPr>
          <a:xfrm>
            <a:off x="4730688" y="67102"/>
            <a:ext cx="1949573" cy="400110"/>
          </a:xfrm>
          <a:prstGeom prst="rect">
            <a:avLst/>
          </a:prstGeom>
          <a:noFill/>
        </p:spPr>
        <p:txBody>
          <a:bodyPr wrap="none" rtlCol="0">
            <a:spAutoFit/>
          </a:bodyPr>
          <a:lstStyle/>
          <a:p>
            <a:r>
              <a:rPr lang="en-IN" sz="2000" b="1" i="0" u="none" strike="noStrike" baseline="0" dirty="0">
                <a:solidFill>
                  <a:srgbClr val="C00000"/>
                </a:solidFill>
                <a:latin typeface="Arial" panose="020B0604020202020204" pitchFamily="34" charset="0"/>
                <a:cs typeface="Arial" panose="020B0604020202020204" pitchFamily="34" charset="0"/>
              </a:rPr>
              <a:t>Natural waters</a:t>
            </a:r>
            <a:endParaRPr lang="en-IN" sz="2000" b="1" dirty="0">
              <a:solidFill>
                <a:srgbClr val="C0000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4EDA8261-2D6E-7D24-0917-B9FD9A9E1D84}"/>
              </a:ext>
            </a:extLst>
          </p:cNvPr>
          <p:cNvSpPr txBox="1"/>
          <p:nvPr/>
        </p:nvSpPr>
        <p:spPr>
          <a:xfrm>
            <a:off x="244105" y="584840"/>
            <a:ext cx="7633070" cy="584775"/>
          </a:xfrm>
          <a:prstGeom prst="rect">
            <a:avLst/>
          </a:prstGeom>
          <a:noFill/>
        </p:spPr>
        <p:txBody>
          <a:bodyPr wrap="square" rtlCol="0">
            <a:spAutoFit/>
          </a:bodyPr>
          <a:lstStyle/>
          <a:p>
            <a:pPr algn="just"/>
            <a:r>
              <a:rPr lang="en-US" sz="1600" b="0" i="0" u="none" strike="noStrike" baseline="0" dirty="0">
                <a:latin typeface="Arial" panose="020B0604020202020204" pitchFamily="34" charset="0"/>
                <a:cs typeface="Arial" panose="020B0604020202020204" pitchFamily="34" charset="0"/>
              </a:rPr>
              <a:t>When fresh water is in contact with the atmosphere, it is saturated with O</a:t>
            </a:r>
            <a:r>
              <a:rPr lang="en-US" sz="1600" b="0" i="0" u="none" strike="noStrike" baseline="-25000" dirty="0">
                <a:latin typeface="Arial" panose="020B0604020202020204" pitchFamily="34" charset="0"/>
                <a:cs typeface="Arial" panose="020B0604020202020204" pitchFamily="34" charset="0"/>
              </a:rPr>
              <a:t>2</a:t>
            </a:r>
            <a:r>
              <a:rPr lang="en-US" sz="1600" b="0" i="0" u="none" strike="noStrike" baseline="0" dirty="0">
                <a:latin typeface="Arial" panose="020B0604020202020204" pitchFamily="34" charset="0"/>
                <a:cs typeface="Arial" panose="020B0604020202020204" pitchFamily="34" charset="0"/>
              </a:rPr>
              <a:t>, and many species may be oxidized by this powerful oxidizing agent.</a:t>
            </a:r>
            <a:endParaRPr lang="en-IN" sz="16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DF23D29-10AC-2912-2A99-6C972BFA6B8D}"/>
              </a:ext>
            </a:extLst>
          </p:cNvPr>
          <p:cNvSpPr txBox="1"/>
          <p:nvPr/>
        </p:nvSpPr>
        <p:spPr>
          <a:xfrm>
            <a:off x="210999" y="1314663"/>
            <a:ext cx="7633070" cy="584775"/>
          </a:xfrm>
          <a:prstGeom prst="rect">
            <a:avLst/>
          </a:prstGeom>
          <a:noFill/>
        </p:spPr>
        <p:txBody>
          <a:bodyPr wrap="square" rtlCol="0">
            <a:spAutoFit/>
          </a:bodyPr>
          <a:lstStyle/>
          <a:p>
            <a:pPr algn="just"/>
            <a:r>
              <a:rPr lang="en-US" sz="1600" dirty="0">
                <a:latin typeface="Arial" panose="020B0604020202020204" pitchFamily="34" charset="0"/>
                <a:cs typeface="Arial" panose="020B0604020202020204" pitchFamily="34" charset="0"/>
              </a:rPr>
              <a:t>R</a:t>
            </a:r>
            <a:r>
              <a:rPr lang="en-US" sz="1600" b="0" i="0" u="none" strike="noStrike" baseline="0" dirty="0">
                <a:latin typeface="Arial" panose="020B0604020202020204" pitchFamily="34" charset="0"/>
                <a:cs typeface="Arial" panose="020B0604020202020204" pitchFamily="34" charset="0"/>
              </a:rPr>
              <a:t>educed forms are found in the absence of oxygen, especially where there is organic matter to act as a reducing agent</a:t>
            </a:r>
            <a:endParaRPr lang="en-IN" sz="16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C58D3154-86EB-BC91-D67D-523A044186A5}"/>
              </a:ext>
            </a:extLst>
          </p:cNvPr>
          <p:cNvSpPr txBox="1"/>
          <p:nvPr/>
        </p:nvSpPr>
        <p:spPr>
          <a:xfrm>
            <a:off x="176745" y="1985902"/>
            <a:ext cx="7666176" cy="830997"/>
          </a:xfrm>
          <a:prstGeom prst="rect">
            <a:avLst/>
          </a:prstGeom>
          <a:noFill/>
        </p:spPr>
        <p:txBody>
          <a:bodyPr wrap="square" rtlCol="0">
            <a:spAutoFit/>
          </a:bodyPr>
          <a:lstStyle/>
          <a:p>
            <a:pPr algn="just"/>
            <a:r>
              <a:rPr lang="en-US" sz="1600" b="0" i="0" u="none" strike="noStrike" baseline="0" dirty="0">
                <a:latin typeface="Arial" panose="020B0604020202020204" pitchFamily="34" charset="0"/>
                <a:cs typeface="Arial" panose="020B0604020202020204" pitchFamily="34" charset="0"/>
              </a:rPr>
              <a:t>The major acid system that controls the pH of the medium is CO</a:t>
            </a:r>
            <a:r>
              <a:rPr lang="en-US" sz="1600" b="0" i="0" u="none" strike="noStrike" baseline="-25000" dirty="0">
                <a:latin typeface="Arial" panose="020B0604020202020204" pitchFamily="34" charset="0"/>
                <a:cs typeface="Arial" panose="020B0604020202020204" pitchFamily="34" charset="0"/>
              </a:rPr>
              <a:t>2</a:t>
            </a:r>
            <a:r>
              <a:rPr lang="en-US" sz="1600" b="0" i="0" u="none" strike="noStrike" baseline="0" dirty="0">
                <a:latin typeface="Arial" panose="020B0604020202020204" pitchFamily="34" charset="0"/>
                <a:cs typeface="Arial" panose="020B0604020202020204" pitchFamily="34" charset="0"/>
              </a:rPr>
              <a:t>/H</a:t>
            </a:r>
            <a:r>
              <a:rPr lang="en-US" sz="1600" b="0" i="0" u="none" strike="noStrike" baseline="-25000" dirty="0">
                <a:latin typeface="Arial" panose="020B0604020202020204" pitchFamily="34" charset="0"/>
                <a:cs typeface="Arial" panose="020B0604020202020204" pitchFamily="34" charset="0"/>
              </a:rPr>
              <a:t>2</a:t>
            </a:r>
            <a:r>
              <a:rPr lang="en-US" sz="1600" b="0" i="0" u="none" strike="noStrike" baseline="0" dirty="0">
                <a:latin typeface="Arial" panose="020B0604020202020204" pitchFamily="34" charset="0"/>
                <a:cs typeface="Arial" panose="020B0604020202020204" pitchFamily="34" charset="0"/>
              </a:rPr>
              <a:t>CO</a:t>
            </a:r>
            <a:r>
              <a:rPr lang="en-US" sz="1600" b="0" i="0" u="none" strike="noStrike" baseline="-25000" dirty="0">
                <a:latin typeface="Arial" panose="020B0604020202020204" pitchFamily="34" charset="0"/>
                <a:cs typeface="Arial" panose="020B0604020202020204" pitchFamily="34" charset="0"/>
              </a:rPr>
              <a:t>3</a:t>
            </a:r>
            <a:r>
              <a:rPr lang="en-US" sz="1600" b="0" i="0" u="none" strike="noStrike" baseline="0" dirty="0">
                <a:latin typeface="Arial" panose="020B0604020202020204" pitchFamily="34" charset="0"/>
                <a:cs typeface="Arial" panose="020B0604020202020204" pitchFamily="34" charset="0"/>
              </a:rPr>
              <a:t>/HCO</a:t>
            </a:r>
            <a:r>
              <a:rPr lang="en-US" sz="1600" b="0" i="0" u="none" strike="noStrike" baseline="-25000" dirty="0">
                <a:latin typeface="Arial" panose="020B0604020202020204" pitchFamily="34" charset="0"/>
                <a:cs typeface="Arial" panose="020B0604020202020204" pitchFamily="34" charset="0"/>
              </a:rPr>
              <a:t>3</a:t>
            </a:r>
            <a:r>
              <a:rPr lang="en-US" sz="1600" b="0" i="0" u="none" strike="noStrike" dirty="0">
                <a:latin typeface="Arial" panose="020B0604020202020204" pitchFamily="34" charset="0"/>
                <a:cs typeface="Arial" panose="020B0604020202020204" pitchFamily="34" charset="0"/>
              </a:rPr>
              <a:t>/</a:t>
            </a:r>
            <a:r>
              <a:rPr lang="en-IN" sz="1600" b="0" i="0" u="none" strike="noStrike" baseline="0" dirty="0">
                <a:latin typeface="Arial" panose="020B0604020202020204" pitchFamily="34" charset="0"/>
                <a:cs typeface="Arial" panose="020B0604020202020204" pitchFamily="34" charset="0"/>
              </a:rPr>
              <a:t>CO</a:t>
            </a:r>
            <a:r>
              <a:rPr lang="en-IN" sz="1600" b="0" i="0" u="none" strike="noStrike" baseline="-25000" dirty="0">
                <a:latin typeface="Arial" panose="020B0604020202020204" pitchFamily="34" charset="0"/>
                <a:cs typeface="Arial" panose="020B0604020202020204" pitchFamily="34" charset="0"/>
              </a:rPr>
              <a:t>3</a:t>
            </a:r>
            <a:r>
              <a:rPr lang="en-IN" sz="1600" b="0" i="0" u="none" strike="noStrike" baseline="30000" dirty="0">
                <a:latin typeface="Arial" panose="020B0604020202020204" pitchFamily="34" charset="0"/>
                <a:cs typeface="Arial" panose="020B0604020202020204" pitchFamily="34" charset="0"/>
              </a:rPr>
              <a:t>-</a:t>
            </a:r>
            <a:r>
              <a:rPr lang="en-US" sz="1600" b="0" i="0" u="none" strike="noStrike" baseline="30000" dirty="0">
                <a:latin typeface="Arial" panose="020B0604020202020204" pitchFamily="34" charset="0"/>
                <a:cs typeface="Arial" panose="020B0604020202020204" pitchFamily="34" charset="0"/>
              </a:rPr>
              <a:t>2</a:t>
            </a:r>
            <a:r>
              <a:rPr lang="en-US" sz="1600" b="0" i="0" u="none" strike="noStrike" baseline="0" dirty="0">
                <a:latin typeface="Arial" panose="020B0604020202020204" pitchFamily="34" charset="0"/>
                <a:cs typeface="Arial" panose="020B0604020202020204" pitchFamily="34" charset="0"/>
              </a:rPr>
              <a:t>, where atmospheric CO</a:t>
            </a:r>
            <a:r>
              <a:rPr lang="en-US" sz="1600" b="0" i="0" u="none" strike="noStrike" baseline="-25000" dirty="0">
                <a:latin typeface="Arial" panose="020B0604020202020204" pitchFamily="34" charset="0"/>
                <a:cs typeface="Arial" panose="020B0604020202020204" pitchFamily="34" charset="0"/>
              </a:rPr>
              <a:t>2</a:t>
            </a:r>
            <a:r>
              <a:rPr lang="en-US" sz="1600" b="0" i="0" u="none" strike="noStrike" baseline="0" dirty="0">
                <a:latin typeface="Arial" panose="020B0604020202020204" pitchFamily="34" charset="0"/>
                <a:cs typeface="Arial" panose="020B0604020202020204" pitchFamily="34" charset="0"/>
              </a:rPr>
              <a:t> provides the acid and dissolved carbonate minerals provide the base.</a:t>
            </a:r>
            <a:endParaRPr lang="en-IN" sz="16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7C09C9F9-0ECE-4DF9-9369-9CB8D4F8C3DB}"/>
              </a:ext>
            </a:extLst>
          </p:cNvPr>
          <p:cNvSpPr txBox="1"/>
          <p:nvPr/>
        </p:nvSpPr>
        <p:spPr>
          <a:xfrm>
            <a:off x="244105" y="2856790"/>
            <a:ext cx="7603875" cy="830997"/>
          </a:xfrm>
          <a:prstGeom prst="rect">
            <a:avLst/>
          </a:prstGeom>
          <a:noFill/>
        </p:spPr>
        <p:txBody>
          <a:bodyPr wrap="square" rtlCol="0">
            <a:spAutoFit/>
          </a:bodyPr>
          <a:lstStyle/>
          <a:p>
            <a:pPr algn="just"/>
            <a:r>
              <a:rPr lang="en-US" sz="1600" b="0" i="0" u="none" strike="noStrike" baseline="0" dirty="0">
                <a:latin typeface="Arial" panose="020B0604020202020204" pitchFamily="34" charset="0"/>
                <a:cs typeface="Arial" panose="020B0604020202020204" pitchFamily="34" charset="0"/>
              </a:rPr>
              <a:t>The CO</a:t>
            </a:r>
            <a:r>
              <a:rPr lang="en-US" sz="1600" b="0" i="0" u="none" strike="noStrike" baseline="-25000" dirty="0">
                <a:latin typeface="Arial" panose="020B0604020202020204" pitchFamily="34" charset="0"/>
                <a:cs typeface="Arial" panose="020B0604020202020204" pitchFamily="34" charset="0"/>
              </a:rPr>
              <a:t>2</a:t>
            </a:r>
            <a:r>
              <a:rPr lang="en-US" sz="1600" b="0" i="0" u="none" strike="noStrike" baseline="0" dirty="0">
                <a:latin typeface="Arial" panose="020B0604020202020204" pitchFamily="34" charset="0"/>
                <a:cs typeface="Arial" panose="020B0604020202020204" pitchFamily="34" charset="0"/>
              </a:rPr>
              <a:t> which is acidic lowers the pH and makes the potential more “+” </a:t>
            </a:r>
            <a:r>
              <a:rPr lang="en-US" sz="1600" b="0" i="0" u="none" strike="noStrike" baseline="0" dirty="0" err="1">
                <a:latin typeface="Arial" panose="020B0604020202020204" pitchFamily="34" charset="0"/>
                <a:cs typeface="Arial" panose="020B0604020202020204" pitchFamily="34" charset="0"/>
              </a:rPr>
              <a:t>ve</a:t>
            </a:r>
            <a:r>
              <a:rPr lang="en-US" sz="1600" b="0" i="0" u="none" strike="noStrike" baseline="0" dirty="0">
                <a:latin typeface="Arial" panose="020B0604020202020204" pitchFamily="34" charset="0"/>
                <a:cs typeface="Arial" panose="020B0604020202020204" pitchFamily="34" charset="0"/>
              </a:rPr>
              <a:t>. The reverse process, photosynthesis, consumes CO</a:t>
            </a:r>
            <a:r>
              <a:rPr lang="en-US" sz="1600" b="0" i="0" u="none" strike="noStrike" baseline="-25000" dirty="0">
                <a:latin typeface="Arial" panose="020B0604020202020204" pitchFamily="34" charset="0"/>
                <a:cs typeface="Arial" panose="020B0604020202020204" pitchFamily="34" charset="0"/>
              </a:rPr>
              <a:t>2</a:t>
            </a:r>
            <a:r>
              <a:rPr lang="en-US" sz="1600" b="0" i="0" u="none" strike="noStrike" baseline="0" dirty="0">
                <a:latin typeface="Arial" panose="020B0604020202020204" pitchFamily="34" charset="0"/>
                <a:cs typeface="Arial" panose="020B0604020202020204" pitchFamily="34" charset="0"/>
              </a:rPr>
              <a:t>, thus raising the pH and making the potential more negative.</a:t>
            </a:r>
            <a:endParaRPr lang="en-IN" sz="1600"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BBEC61CE-C97F-FBC5-A631-12E56C176BB4}"/>
              </a:ext>
            </a:extLst>
          </p:cNvPr>
          <p:cNvPicPr>
            <a:picLocks noChangeAspect="1"/>
          </p:cNvPicPr>
          <p:nvPr/>
        </p:nvPicPr>
        <p:blipFill>
          <a:blip r:embed="rId2"/>
          <a:stretch>
            <a:fillRect/>
          </a:stretch>
        </p:blipFill>
        <p:spPr>
          <a:xfrm>
            <a:off x="8578667" y="191132"/>
            <a:ext cx="2423473" cy="3096677"/>
          </a:xfrm>
          <a:prstGeom prst="rect">
            <a:avLst/>
          </a:prstGeom>
        </p:spPr>
      </p:pic>
      <p:grpSp>
        <p:nvGrpSpPr>
          <p:cNvPr id="15" name="Group 14">
            <a:extLst>
              <a:ext uri="{FF2B5EF4-FFF2-40B4-BE49-F238E27FC236}">
                <a16:creationId xmlns:a16="http://schemas.microsoft.com/office/drawing/2014/main" id="{9B763717-14FB-78E9-28C0-1C5A99191135}"/>
              </a:ext>
            </a:extLst>
          </p:cNvPr>
          <p:cNvGrpSpPr/>
          <p:nvPr/>
        </p:nvGrpSpPr>
        <p:grpSpPr>
          <a:xfrm>
            <a:off x="210999" y="3305876"/>
            <a:ext cx="11823881" cy="3430488"/>
            <a:chOff x="210999" y="3305876"/>
            <a:chExt cx="11823881" cy="3430488"/>
          </a:xfrm>
        </p:grpSpPr>
        <p:grpSp>
          <p:nvGrpSpPr>
            <p:cNvPr id="12" name="Group 11">
              <a:extLst>
                <a:ext uri="{FF2B5EF4-FFF2-40B4-BE49-F238E27FC236}">
                  <a16:creationId xmlns:a16="http://schemas.microsoft.com/office/drawing/2014/main" id="{F44F68C9-A4C6-917D-D7CC-40E700D18C7C}"/>
                </a:ext>
              </a:extLst>
            </p:cNvPr>
            <p:cNvGrpSpPr/>
            <p:nvPr/>
          </p:nvGrpSpPr>
          <p:grpSpPr>
            <a:xfrm>
              <a:off x="210999" y="3305876"/>
              <a:ext cx="11130005" cy="3276600"/>
              <a:chOff x="210999" y="3390268"/>
              <a:chExt cx="11130005" cy="3276600"/>
            </a:xfrm>
          </p:grpSpPr>
          <p:pic>
            <p:nvPicPr>
              <p:cNvPr id="5" name="Picture 4">
                <a:extLst>
                  <a:ext uri="{FF2B5EF4-FFF2-40B4-BE49-F238E27FC236}">
                    <a16:creationId xmlns:a16="http://schemas.microsoft.com/office/drawing/2014/main" id="{819890B0-F7C8-A82C-69A4-66FF21128529}"/>
                  </a:ext>
                </a:extLst>
              </p:cNvPr>
              <p:cNvPicPr>
                <a:picLocks noChangeAspect="1"/>
              </p:cNvPicPr>
              <p:nvPr/>
            </p:nvPicPr>
            <p:blipFill>
              <a:blip r:embed="rId3"/>
              <a:stretch>
                <a:fillRect/>
              </a:stretch>
            </p:blipFill>
            <p:spPr>
              <a:xfrm>
                <a:off x="8569288" y="3390268"/>
                <a:ext cx="2771716" cy="3276600"/>
              </a:xfrm>
              <a:prstGeom prst="rect">
                <a:avLst/>
              </a:prstGeom>
            </p:spPr>
          </p:pic>
          <p:sp>
            <p:nvSpPr>
              <p:cNvPr id="10" name="TextBox 9">
                <a:extLst>
                  <a:ext uri="{FF2B5EF4-FFF2-40B4-BE49-F238E27FC236}">
                    <a16:creationId xmlns:a16="http://schemas.microsoft.com/office/drawing/2014/main" id="{79976977-0B0F-38FE-0FC7-D30212A8BBB2}"/>
                  </a:ext>
                </a:extLst>
              </p:cNvPr>
              <p:cNvSpPr txBox="1"/>
              <p:nvPr/>
            </p:nvSpPr>
            <p:spPr>
              <a:xfrm>
                <a:off x="210999" y="4213569"/>
                <a:ext cx="7864311" cy="2308324"/>
              </a:xfrm>
              <a:prstGeom prst="rect">
                <a:avLst/>
              </a:prstGeom>
              <a:noFill/>
            </p:spPr>
            <p:txBody>
              <a:bodyPr wrap="square" rtlCol="0">
                <a:spAutoFit/>
              </a:bodyPr>
              <a:lstStyle/>
              <a:p>
                <a:pPr algn="just"/>
                <a:r>
                  <a:rPr lang="en-US" sz="1600" b="0" i="0" u="none" strike="noStrike" baseline="0" dirty="0">
                    <a:latin typeface="Arial" panose="020B0604020202020204" pitchFamily="34" charset="0"/>
                    <a:cs typeface="Arial" panose="020B0604020202020204" pitchFamily="34" charset="0"/>
                  </a:rPr>
                  <a:t>At the surface, the water is fully oxygenated and the iron must be present in particles of the insoluble </a:t>
                </a:r>
                <a:r>
                  <a:rPr lang="en-US" sz="1600" b="0" i="0" u="none" strike="noStrike" baseline="0" dirty="0" err="1">
                    <a:latin typeface="Arial" panose="020B0604020202020204" pitchFamily="34" charset="0"/>
                    <a:cs typeface="Arial" panose="020B0604020202020204" pitchFamily="34" charset="0"/>
                  </a:rPr>
                  <a:t>FeO</a:t>
                </a:r>
                <a:r>
                  <a:rPr lang="en-US" sz="1600" b="0" i="0" u="none" strike="noStrike" baseline="0" dirty="0">
                    <a:latin typeface="Arial" panose="020B0604020202020204" pitchFamily="34" charset="0"/>
                    <a:cs typeface="Arial" panose="020B0604020202020204" pitchFamily="34" charset="0"/>
                  </a:rPr>
                  <a:t>(OH); these particles tend to settle. </a:t>
                </a:r>
              </a:p>
              <a:p>
                <a:pPr algn="just"/>
                <a:endParaRPr lang="en-US" sz="1600" dirty="0">
                  <a:latin typeface="Arial" panose="020B0604020202020204" pitchFamily="34" charset="0"/>
                  <a:cs typeface="Arial" panose="020B0604020202020204" pitchFamily="34" charset="0"/>
                </a:endParaRPr>
              </a:p>
              <a:p>
                <a:pPr algn="just"/>
                <a:r>
                  <a:rPr lang="en-US" sz="1600" b="0" i="0" u="none" strike="noStrike" baseline="0" dirty="0">
                    <a:latin typeface="Arial" panose="020B0604020202020204" pitchFamily="34" charset="0"/>
                    <a:cs typeface="Arial" panose="020B0604020202020204" pitchFamily="34" charset="0"/>
                  </a:rPr>
                  <a:t>At greater depth, the O</a:t>
                </a:r>
                <a:r>
                  <a:rPr lang="en-US" sz="1600" b="0" i="0" u="none" strike="noStrike" baseline="-25000" dirty="0">
                    <a:latin typeface="Arial" panose="020B0604020202020204" pitchFamily="34" charset="0"/>
                    <a:cs typeface="Arial" panose="020B0604020202020204" pitchFamily="34" charset="0"/>
                  </a:rPr>
                  <a:t>2</a:t>
                </a:r>
                <a:r>
                  <a:rPr lang="en-US" sz="1600" b="0" i="0" u="none" strike="noStrike" baseline="0" dirty="0">
                    <a:latin typeface="Arial" panose="020B0604020202020204" pitchFamily="34" charset="0"/>
                    <a:cs typeface="Arial" panose="020B0604020202020204" pitchFamily="34" charset="0"/>
                  </a:rPr>
                  <a:t> content is low. If the organic content or other sources of reducing agents are sufficient, the oxide will be reduced and iron will dissolve as Fe2+. </a:t>
                </a:r>
              </a:p>
              <a:p>
                <a:pPr algn="just"/>
                <a:endParaRPr lang="en-US" sz="1600" dirty="0">
                  <a:latin typeface="Arial" panose="020B0604020202020204" pitchFamily="34" charset="0"/>
                  <a:cs typeface="Arial" panose="020B0604020202020204" pitchFamily="34" charset="0"/>
                </a:endParaRPr>
              </a:p>
              <a:p>
                <a:pPr algn="just"/>
                <a:r>
                  <a:rPr lang="en-US" sz="1600" b="0" i="0" u="none" strike="noStrike" baseline="0" dirty="0">
                    <a:latin typeface="Arial" panose="020B0604020202020204" pitchFamily="34" charset="0"/>
                    <a:cs typeface="Arial" panose="020B0604020202020204" pitchFamily="34" charset="0"/>
                  </a:rPr>
                  <a:t>The Fe(II) ions will then diffuse towards the surface where they encounter O</a:t>
                </a:r>
                <a:r>
                  <a:rPr lang="en-US" sz="1600" b="0" i="0" u="none" strike="noStrike" baseline="-25000" dirty="0">
                    <a:latin typeface="Arial" panose="020B0604020202020204" pitchFamily="34" charset="0"/>
                    <a:cs typeface="Arial" panose="020B0604020202020204" pitchFamily="34" charset="0"/>
                  </a:rPr>
                  <a:t>2</a:t>
                </a:r>
                <a:r>
                  <a:rPr lang="en-US" sz="1600" b="0" i="0" u="none" strike="noStrike" baseline="0" dirty="0">
                    <a:latin typeface="Arial" panose="020B0604020202020204" pitchFamily="34" charset="0"/>
                    <a:cs typeface="Arial" panose="020B0604020202020204" pitchFamily="34" charset="0"/>
                  </a:rPr>
                  <a:t> and are oxidized to insoluble </a:t>
                </a:r>
                <a:r>
                  <a:rPr lang="en-US" sz="1600" b="0" i="0" u="none" strike="noStrike" baseline="0" dirty="0" err="1">
                    <a:latin typeface="Arial" panose="020B0604020202020204" pitchFamily="34" charset="0"/>
                    <a:cs typeface="Arial" panose="020B0604020202020204" pitchFamily="34" charset="0"/>
                  </a:rPr>
                  <a:t>FeO</a:t>
                </a:r>
                <a:r>
                  <a:rPr lang="en-US" sz="1600" b="0" i="0" u="none" strike="noStrike" baseline="0" dirty="0">
                    <a:latin typeface="Arial" panose="020B0604020202020204" pitchFamily="34" charset="0"/>
                    <a:cs typeface="Arial" panose="020B0604020202020204" pitchFamily="34" charset="0"/>
                  </a:rPr>
                  <a:t>(OH) again</a:t>
                </a:r>
                <a:endParaRPr lang="en-IN" sz="1600" dirty="0">
                  <a:latin typeface="Arial" panose="020B0604020202020204" pitchFamily="34" charset="0"/>
                  <a:cs typeface="Arial" panose="020B0604020202020204" pitchFamily="34" charset="0"/>
                </a:endParaRPr>
              </a:p>
            </p:txBody>
          </p:sp>
        </p:grpSp>
        <p:sp>
          <p:nvSpPr>
            <p:cNvPr id="14" name="TextBox 13">
              <a:extLst>
                <a:ext uri="{FF2B5EF4-FFF2-40B4-BE49-F238E27FC236}">
                  <a16:creationId xmlns:a16="http://schemas.microsoft.com/office/drawing/2014/main" id="{146B6A95-C393-1854-15EC-F0F83340DD23}"/>
                </a:ext>
              </a:extLst>
            </p:cNvPr>
            <p:cNvSpPr txBox="1"/>
            <p:nvPr/>
          </p:nvSpPr>
          <p:spPr>
            <a:xfrm>
              <a:off x="8413490" y="6428587"/>
              <a:ext cx="3621390" cy="307777"/>
            </a:xfrm>
            <a:prstGeom prst="rect">
              <a:avLst/>
            </a:prstGeom>
            <a:noFill/>
          </p:spPr>
          <p:txBody>
            <a:bodyPr wrap="square">
              <a:spAutoFit/>
            </a:bodyPr>
            <a:lstStyle/>
            <a:p>
              <a:pPr algn="l"/>
              <a:r>
                <a:rPr lang="en-US" sz="1400" dirty="0">
                  <a:solidFill>
                    <a:srgbClr val="C00000"/>
                  </a:solidFill>
                  <a:latin typeface="Arial" panose="020B0604020202020204" pitchFamily="34" charset="0"/>
                  <a:cs typeface="Arial" panose="020B0604020202020204" pitchFamily="34" charset="0"/>
                </a:rPr>
                <a:t>R</a:t>
              </a:r>
              <a:r>
                <a:rPr lang="en-US" sz="1400" b="0" i="0" u="none" strike="noStrike" baseline="0" dirty="0">
                  <a:solidFill>
                    <a:srgbClr val="C00000"/>
                  </a:solidFill>
                  <a:latin typeface="Arial" panose="020B0604020202020204" pitchFamily="34" charset="0"/>
                  <a:cs typeface="Arial" panose="020B0604020202020204" pitchFamily="34" charset="0"/>
                </a:rPr>
                <a:t>egions typical of various natural </a:t>
              </a:r>
              <a:r>
                <a:rPr lang="en-IN" sz="1400" b="0" i="0" u="none" strike="noStrike" baseline="0" dirty="0">
                  <a:solidFill>
                    <a:srgbClr val="C00000"/>
                  </a:solidFill>
                  <a:latin typeface="Arial" panose="020B0604020202020204" pitchFamily="34" charset="0"/>
                  <a:cs typeface="Arial" panose="020B0604020202020204" pitchFamily="34" charset="0"/>
                </a:rPr>
                <a:t>waters.</a:t>
              </a:r>
              <a:endParaRPr lang="en-IN" sz="1400" dirty="0">
                <a:solidFill>
                  <a:srgbClr val="C00000"/>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790982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03B48E-BA60-0C01-567F-76C3F1BFA1AE}"/>
              </a:ext>
            </a:extLst>
          </p:cNvPr>
          <p:cNvPicPr>
            <a:picLocks noChangeAspect="1"/>
          </p:cNvPicPr>
          <p:nvPr/>
        </p:nvPicPr>
        <p:blipFill>
          <a:blip r:embed="rId2"/>
          <a:stretch>
            <a:fillRect/>
          </a:stretch>
        </p:blipFill>
        <p:spPr>
          <a:xfrm>
            <a:off x="771525" y="942231"/>
            <a:ext cx="9963150" cy="4282258"/>
          </a:xfrm>
          <a:prstGeom prst="rect">
            <a:avLst/>
          </a:prstGeom>
        </p:spPr>
      </p:pic>
      <p:sp>
        <p:nvSpPr>
          <p:cNvPr id="4" name="TextBox 3">
            <a:extLst>
              <a:ext uri="{FF2B5EF4-FFF2-40B4-BE49-F238E27FC236}">
                <a16:creationId xmlns:a16="http://schemas.microsoft.com/office/drawing/2014/main" id="{D53C5459-394F-CFB3-87CA-BCF02D8A4E1C}"/>
              </a:ext>
            </a:extLst>
          </p:cNvPr>
          <p:cNvSpPr txBox="1"/>
          <p:nvPr/>
        </p:nvSpPr>
        <p:spPr>
          <a:xfrm>
            <a:off x="4140138" y="143302"/>
            <a:ext cx="3688830" cy="400110"/>
          </a:xfrm>
          <a:prstGeom prst="rect">
            <a:avLst/>
          </a:prstGeom>
          <a:noFill/>
        </p:spPr>
        <p:txBody>
          <a:bodyPr wrap="none" rtlCol="0">
            <a:spAutoFit/>
          </a:bodyPr>
          <a:lstStyle/>
          <a:p>
            <a:r>
              <a:rPr lang="en-IN" sz="2000" b="1" i="0" u="none" strike="noStrike" baseline="0" dirty="0">
                <a:solidFill>
                  <a:srgbClr val="C00000"/>
                </a:solidFill>
                <a:latin typeface="Arial" panose="020B0604020202020204" pitchFamily="34" charset="0"/>
                <a:cs typeface="Arial" panose="020B0604020202020204" pitchFamily="34" charset="0"/>
              </a:rPr>
              <a:t>Pourbaix diagram: corrosion</a:t>
            </a:r>
            <a:endParaRPr lang="en-IN" sz="2000" b="1" dirty="0">
              <a:solidFill>
                <a:srgbClr val="C00000"/>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B42C4DE9-9A3B-E17B-0977-C2113DDBFD6B}"/>
              </a:ext>
            </a:extLst>
          </p:cNvPr>
          <p:cNvSpPr txBox="1"/>
          <p:nvPr/>
        </p:nvSpPr>
        <p:spPr>
          <a:xfrm>
            <a:off x="5419725" y="5438642"/>
            <a:ext cx="6064481" cy="830997"/>
          </a:xfrm>
          <a:prstGeom prst="rect">
            <a:avLst/>
          </a:prstGeom>
          <a:noFill/>
        </p:spPr>
        <p:txBody>
          <a:bodyPr wrap="none" rtlCol="0">
            <a:spAutoFit/>
          </a:bodyPr>
          <a:lstStyle/>
          <a:p>
            <a:pPr marL="342900" indent="-342900">
              <a:buAutoNum type="arabicPeriod"/>
            </a:pPr>
            <a:r>
              <a:rPr lang="en-IN" sz="1600" b="1" dirty="0">
                <a:latin typeface="Arial" panose="020B0604020202020204" pitchFamily="34" charset="0"/>
                <a:cs typeface="Arial" panose="020B0604020202020204" pitchFamily="34" charset="0"/>
              </a:rPr>
              <a:t>Corrosion-metal dissolution occurs</a:t>
            </a:r>
          </a:p>
          <a:p>
            <a:pPr marL="342900" indent="-342900">
              <a:buAutoNum type="arabicPeriod"/>
            </a:pPr>
            <a:r>
              <a:rPr lang="en-IN" sz="1600" b="1" dirty="0">
                <a:latin typeface="Arial" panose="020B0604020202020204" pitchFamily="34" charset="0"/>
                <a:cs typeface="Arial" panose="020B0604020202020204" pitchFamily="34" charset="0"/>
              </a:rPr>
              <a:t>Passivation-formation of insoluble oxides on the surface</a:t>
            </a:r>
          </a:p>
          <a:p>
            <a:pPr marL="342900" indent="-342900">
              <a:buAutoNum type="arabicPeriod"/>
            </a:pPr>
            <a:r>
              <a:rPr lang="en-IN" sz="1600" b="1" dirty="0">
                <a:latin typeface="Arial" panose="020B0604020202020204" pitchFamily="34" charset="0"/>
                <a:cs typeface="Arial" panose="020B0604020202020204" pitchFamily="34" charset="0"/>
              </a:rPr>
              <a:t>Immune-where the  metal is stable</a:t>
            </a:r>
          </a:p>
        </p:txBody>
      </p:sp>
      <p:pic>
        <p:nvPicPr>
          <p:cNvPr id="7" name="Picture 6">
            <a:extLst>
              <a:ext uri="{FF2B5EF4-FFF2-40B4-BE49-F238E27FC236}">
                <a16:creationId xmlns:a16="http://schemas.microsoft.com/office/drawing/2014/main" id="{E33A03A7-8178-C280-53A9-8B74BECAAE9D}"/>
              </a:ext>
            </a:extLst>
          </p:cNvPr>
          <p:cNvPicPr>
            <a:picLocks noChangeAspect="1"/>
          </p:cNvPicPr>
          <p:nvPr/>
        </p:nvPicPr>
        <p:blipFill>
          <a:blip r:embed="rId3"/>
          <a:stretch>
            <a:fillRect/>
          </a:stretch>
        </p:blipFill>
        <p:spPr>
          <a:xfrm>
            <a:off x="4994787" y="596616"/>
            <a:ext cx="2202426" cy="477078"/>
          </a:xfrm>
          <a:prstGeom prst="rect">
            <a:avLst/>
          </a:prstGeom>
        </p:spPr>
      </p:pic>
    </p:spTree>
    <p:extLst>
      <p:ext uri="{BB962C8B-B14F-4D97-AF65-F5344CB8AC3E}">
        <p14:creationId xmlns:p14="http://schemas.microsoft.com/office/powerpoint/2010/main" val="14105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F7BC9B-F89E-A789-293B-E7CCBE502EDE}"/>
              </a:ext>
            </a:extLst>
          </p:cNvPr>
          <p:cNvPicPr>
            <a:picLocks noChangeAspect="1"/>
          </p:cNvPicPr>
          <p:nvPr/>
        </p:nvPicPr>
        <p:blipFill>
          <a:blip r:embed="rId2"/>
          <a:stretch>
            <a:fillRect/>
          </a:stretch>
        </p:blipFill>
        <p:spPr>
          <a:xfrm>
            <a:off x="786052" y="630959"/>
            <a:ext cx="3776804" cy="2349586"/>
          </a:xfrm>
          <a:prstGeom prst="rect">
            <a:avLst/>
          </a:prstGeom>
        </p:spPr>
      </p:pic>
      <p:sp>
        <p:nvSpPr>
          <p:cNvPr id="4" name="TextBox 3">
            <a:extLst>
              <a:ext uri="{FF2B5EF4-FFF2-40B4-BE49-F238E27FC236}">
                <a16:creationId xmlns:a16="http://schemas.microsoft.com/office/drawing/2014/main" id="{0738D229-797B-7C61-6975-C00A113F417A}"/>
              </a:ext>
            </a:extLst>
          </p:cNvPr>
          <p:cNvSpPr txBox="1"/>
          <p:nvPr/>
        </p:nvSpPr>
        <p:spPr>
          <a:xfrm>
            <a:off x="465059" y="3119170"/>
            <a:ext cx="4661105" cy="553998"/>
          </a:xfrm>
          <a:prstGeom prst="rect">
            <a:avLst/>
          </a:prstGeom>
          <a:noFill/>
        </p:spPr>
        <p:txBody>
          <a:bodyPr wrap="square" rtlCol="0">
            <a:spAutoFit/>
          </a:bodyPr>
          <a:lstStyle/>
          <a:p>
            <a:pPr algn="just"/>
            <a:r>
              <a:rPr lang="en-US" sz="1500" b="0" i="0" u="none" strike="noStrike" baseline="0" dirty="0">
                <a:latin typeface="Arial" panose="020B0604020202020204" pitchFamily="34" charset="0"/>
                <a:cs typeface="Arial" panose="020B0604020202020204" pitchFamily="34" charset="0"/>
              </a:rPr>
              <a:t>The stainless steel walls of the Walt Disney concert hall in Los </a:t>
            </a:r>
            <a:r>
              <a:rPr lang="en-IN" sz="1500" b="0" i="0" u="none" strike="noStrike" baseline="0" dirty="0">
                <a:latin typeface="Arial" panose="020B0604020202020204" pitchFamily="34" charset="0"/>
                <a:cs typeface="Arial" panose="020B0604020202020204" pitchFamily="34" charset="0"/>
              </a:rPr>
              <a:t>Angeles</a:t>
            </a:r>
            <a:endParaRPr lang="en-IN" sz="1500" dirty="0">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8E410021-1461-A6DB-C9E7-D4DC53C7C2A5}"/>
              </a:ext>
            </a:extLst>
          </p:cNvPr>
          <p:cNvGrpSpPr/>
          <p:nvPr/>
        </p:nvGrpSpPr>
        <p:grpSpPr>
          <a:xfrm>
            <a:off x="5523357" y="699575"/>
            <a:ext cx="5676900" cy="2280970"/>
            <a:chOff x="5953125" y="838200"/>
            <a:chExt cx="5676900" cy="2280970"/>
          </a:xfrm>
        </p:grpSpPr>
        <p:sp>
          <p:nvSpPr>
            <p:cNvPr id="5" name="TextBox 4">
              <a:extLst>
                <a:ext uri="{FF2B5EF4-FFF2-40B4-BE49-F238E27FC236}">
                  <a16:creationId xmlns:a16="http://schemas.microsoft.com/office/drawing/2014/main" id="{3F95BCF4-0F9B-2075-757C-2B8ADB36C2C0}"/>
                </a:ext>
              </a:extLst>
            </p:cNvPr>
            <p:cNvSpPr txBox="1"/>
            <p:nvPr/>
          </p:nvSpPr>
          <p:spPr>
            <a:xfrm>
              <a:off x="5953125" y="838200"/>
              <a:ext cx="5676900" cy="553998"/>
            </a:xfrm>
            <a:prstGeom prst="rect">
              <a:avLst/>
            </a:prstGeom>
            <a:noFill/>
          </p:spPr>
          <p:txBody>
            <a:bodyPr wrap="square" rtlCol="0">
              <a:spAutoFit/>
            </a:bodyPr>
            <a:lstStyle/>
            <a:p>
              <a:pPr algn="just"/>
              <a:r>
                <a:rPr lang="en-IN" sz="1500" dirty="0">
                  <a:latin typeface="Arial" panose="020B0604020202020204" pitchFamily="34" charset="0"/>
                  <a:cs typeface="Arial" panose="020B0604020202020204" pitchFamily="34" charset="0"/>
                </a:rPr>
                <a:t>Stainless steel is composed majorly of Fe and Carbon with 10% Cr.</a:t>
              </a:r>
            </a:p>
          </p:txBody>
        </p:sp>
        <p:sp>
          <p:nvSpPr>
            <p:cNvPr id="6" name="TextBox 5">
              <a:extLst>
                <a:ext uri="{FF2B5EF4-FFF2-40B4-BE49-F238E27FC236}">
                  <a16:creationId xmlns:a16="http://schemas.microsoft.com/office/drawing/2014/main" id="{B91EAB3F-409F-57A4-D038-B7BCB10B3901}"/>
                </a:ext>
              </a:extLst>
            </p:cNvPr>
            <p:cNvSpPr txBox="1"/>
            <p:nvPr/>
          </p:nvSpPr>
          <p:spPr>
            <a:xfrm>
              <a:off x="5953125" y="1528753"/>
              <a:ext cx="5676900" cy="553998"/>
            </a:xfrm>
            <a:prstGeom prst="rect">
              <a:avLst/>
            </a:prstGeom>
            <a:noFill/>
          </p:spPr>
          <p:txBody>
            <a:bodyPr wrap="square" rtlCol="0">
              <a:spAutoFit/>
            </a:bodyPr>
            <a:lstStyle/>
            <a:p>
              <a:pPr algn="just"/>
              <a:r>
                <a:rPr lang="en-IN" sz="1500" dirty="0">
                  <a:latin typeface="Arial" panose="020B0604020202020204" pitchFamily="34" charset="0"/>
                  <a:cs typeface="Arial" panose="020B0604020202020204" pitchFamily="34" charset="0"/>
                </a:rPr>
                <a:t>Cr protects the stainless steel against corrosion by the formation of a thin oxide layer (Cr</a:t>
              </a:r>
              <a:r>
                <a:rPr lang="en-IN" sz="1500" baseline="-25000" dirty="0">
                  <a:latin typeface="Arial" panose="020B0604020202020204" pitchFamily="34" charset="0"/>
                  <a:cs typeface="Arial" panose="020B0604020202020204" pitchFamily="34" charset="0"/>
                </a:rPr>
                <a:t>2</a:t>
              </a:r>
              <a:r>
                <a:rPr lang="en-IN" sz="1500" dirty="0">
                  <a:latin typeface="Arial" panose="020B0604020202020204" pitchFamily="34" charset="0"/>
                  <a:cs typeface="Arial" panose="020B0604020202020204" pitchFamily="34" charset="0"/>
                </a:rPr>
                <a:t>O</a:t>
              </a:r>
              <a:r>
                <a:rPr lang="en-IN" sz="1500" baseline="-25000" dirty="0">
                  <a:latin typeface="Arial" panose="020B0604020202020204" pitchFamily="34" charset="0"/>
                  <a:cs typeface="Arial" panose="020B0604020202020204" pitchFamily="34" charset="0"/>
                </a:rPr>
                <a:t>3</a:t>
              </a:r>
              <a:r>
                <a:rPr lang="en-IN" sz="1500" dirty="0">
                  <a:latin typeface="Arial" panose="020B0604020202020204" pitchFamily="34" charset="0"/>
                  <a:cs typeface="Arial" panose="020B0604020202020204" pitchFamily="34" charset="0"/>
                </a:rPr>
                <a:t>) over the surface of the steel.</a:t>
              </a:r>
            </a:p>
          </p:txBody>
        </p:sp>
        <p:sp>
          <p:nvSpPr>
            <p:cNvPr id="7" name="TextBox 6">
              <a:extLst>
                <a:ext uri="{FF2B5EF4-FFF2-40B4-BE49-F238E27FC236}">
                  <a16:creationId xmlns:a16="http://schemas.microsoft.com/office/drawing/2014/main" id="{44C87062-BFD7-6860-D7FC-D57879400E30}"/>
                </a:ext>
              </a:extLst>
            </p:cNvPr>
            <p:cNvSpPr txBox="1"/>
            <p:nvPr/>
          </p:nvSpPr>
          <p:spPr>
            <a:xfrm>
              <a:off x="5953125" y="2334340"/>
              <a:ext cx="5676900" cy="784830"/>
            </a:xfrm>
            <a:prstGeom prst="rect">
              <a:avLst/>
            </a:prstGeom>
            <a:noFill/>
          </p:spPr>
          <p:txBody>
            <a:bodyPr wrap="square" rtlCol="0">
              <a:spAutoFit/>
            </a:bodyPr>
            <a:lstStyle/>
            <a:p>
              <a:pPr algn="just"/>
              <a:r>
                <a:rPr lang="en-IN" sz="1500" b="0" i="0" u="none" strike="noStrike" baseline="0" dirty="0">
                  <a:latin typeface="Arial" panose="020B0604020202020204" pitchFamily="34" charset="0"/>
                  <a:cs typeface="Arial" panose="020B0604020202020204" pitchFamily="34" charset="0"/>
                </a:rPr>
                <a:t>The oxide layer passivates </a:t>
              </a:r>
              <a:r>
                <a:rPr lang="en-US" sz="1500" b="0" i="0" u="none" strike="noStrike" baseline="0" dirty="0">
                  <a:latin typeface="Arial" panose="020B0604020202020204" pitchFamily="34" charset="0"/>
                  <a:cs typeface="Arial" panose="020B0604020202020204" pitchFamily="34" charset="0"/>
                </a:rPr>
                <a:t>the steel and is self-repairing. That is </a:t>
              </a:r>
              <a:r>
                <a:rPr lang="en-IN" sz="1500" b="0" i="0" u="none" strike="noStrike" baseline="0" dirty="0">
                  <a:latin typeface="Arial" panose="020B0604020202020204" pitchFamily="34" charset="0"/>
                  <a:cs typeface="Arial" panose="020B0604020202020204" pitchFamily="34" charset="0"/>
                </a:rPr>
                <a:t>if </a:t>
              </a:r>
              <a:r>
                <a:rPr lang="en-US" sz="1500" b="0" i="0" u="none" strike="noStrike" baseline="0" dirty="0">
                  <a:latin typeface="Arial" panose="020B0604020202020204" pitchFamily="34" charset="0"/>
                  <a:cs typeface="Arial" panose="020B0604020202020204" pitchFamily="34" charset="0"/>
                </a:rPr>
                <a:t>the oxide coating is scratched off, further oxidation of the chromium in the steel occurs to repair it.</a:t>
              </a:r>
              <a:endParaRPr lang="en-IN" sz="1500" dirty="0">
                <a:latin typeface="Arial" panose="020B0604020202020204" pitchFamily="34" charset="0"/>
                <a:cs typeface="Arial" panose="020B0604020202020204" pitchFamily="34" charset="0"/>
              </a:endParaRPr>
            </a:p>
          </p:txBody>
        </p:sp>
      </p:grpSp>
      <p:sp>
        <p:nvSpPr>
          <p:cNvPr id="9" name="TextBox 8">
            <a:extLst>
              <a:ext uri="{FF2B5EF4-FFF2-40B4-BE49-F238E27FC236}">
                <a16:creationId xmlns:a16="http://schemas.microsoft.com/office/drawing/2014/main" id="{E61820BB-EEE8-716A-D563-8D3F1C865C44}"/>
              </a:ext>
            </a:extLst>
          </p:cNvPr>
          <p:cNvSpPr txBox="1"/>
          <p:nvPr/>
        </p:nvSpPr>
        <p:spPr>
          <a:xfrm>
            <a:off x="3695343" y="44225"/>
            <a:ext cx="4801314" cy="369332"/>
          </a:xfrm>
          <a:prstGeom prst="rect">
            <a:avLst/>
          </a:prstGeom>
          <a:noFill/>
        </p:spPr>
        <p:txBody>
          <a:bodyPr wrap="none" rtlCol="0">
            <a:spAutoFit/>
          </a:bodyPr>
          <a:lstStyle/>
          <a:p>
            <a:r>
              <a:rPr lang="en-US" b="1" dirty="0">
                <a:solidFill>
                  <a:srgbClr val="C00000"/>
                </a:solidFill>
                <a:latin typeface="Arial" panose="020B0604020202020204" pitchFamily="34" charset="0"/>
                <a:cs typeface="Arial" panose="020B0604020202020204" pitchFamily="34" charset="0"/>
              </a:rPr>
              <a:t>S</a:t>
            </a:r>
            <a:r>
              <a:rPr lang="en-US" sz="1800" b="1" i="0" u="none" strike="noStrike" baseline="0" dirty="0">
                <a:solidFill>
                  <a:srgbClr val="C00000"/>
                </a:solidFill>
                <a:latin typeface="Arial" panose="020B0604020202020204" pitchFamily="34" charset="0"/>
                <a:cs typeface="Arial" panose="020B0604020202020204" pitchFamily="34" charset="0"/>
              </a:rPr>
              <a:t>acrificial anodes and cathodic protection</a:t>
            </a:r>
            <a:endParaRPr lang="en-IN" b="1" dirty="0">
              <a:solidFill>
                <a:srgbClr val="C00000"/>
              </a:solidFill>
              <a:latin typeface="Arial" panose="020B0604020202020204" pitchFamily="34" charset="0"/>
              <a:cs typeface="Arial" panose="020B0604020202020204" pitchFamily="34" charset="0"/>
            </a:endParaRPr>
          </a:p>
        </p:txBody>
      </p:sp>
      <p:grpSp>
        <p:nvGrpSpPr>
          <p:cNvPr id="13" name="Group 12">
            <a:extLst>
              <a:ext uri="{FF2B5EF4-FFF2-40B4-BE49-F238E27FC236}">
                <a16:creationId xmlns:a16="http://schemas.microsoft.com/office/drawing/2014/main" id="{6CA44412-F48B-F26F-C929-A2CE28E486F8}"/>
              </a:ext>
            </a:extLst>
          </p:cNvPr>
          <p:cNvGrpSpPr/>
          <p:nvPr/>
        </p:nvGrpSpPr>
        <p:grpSpPr>
          <a:xfrm>
            <a:off x="465059" y="3396169"/>
            <a:ext cx="11088433" cy="2862322"/>
            <a:chOff x="465059" y="3396169"/>
            <a:chExt cx="11088433" cy="2862322"/>
          </a:xfrm>
        </p:grpSpPr>
        <p:sp>
          <p:nvSpPr>
            <p:cNvPr id="11" name="TextBox 10">
              <a:extLst>
                <a:ext uri="{FF2B5EF4-FFF2-40B4-BE49-F238E27FC236}">
                  <a16:creationId xmlns:a16="http://schemas.microsoft.com/office/drawing/2014/main" id="{31610429-5B52-AACD-855C-741688400BA6}"/>
                </a:ext>
              </a:extLst>
            </p:cNvPr>
            <p:cNvSpPr txBox="1"/>
            <p:nvPr/>
          </p:nvSpPr>
          <p:spPr>
            <a:xfrm>
              <a:off x="5523357" y="3396169"/>
              <a:ext cx="6030135" cy="2862322"/>
            </a:xfrm>
            <a:prstGeom prst="rect">
              <a:avLst/>
            </a:prstGeom>
            <a:noFill/>
          </p:spPr>
          <p:txBody>
            <a:bodyPr wrap="square" rtlCol="0">
              <a:spAutoFit/>
            </a:bodyPr>
            <a:lstStyle/>
            <a:p>
              <a:pPr algn="just"/>
              <a:r>
                <a:rPr lang="en-US" sz="1500" b="0" i="0" u="none" strike="noStrike" baseline="0" dirty="0">
                  <a:latin typeface="Arial" panose="020B0604020202020204" pitchFamily="34" charset="0"/>
                  <a:cs typeface="Arial" panose="020B0604020202020204" pitchFamily="34" charset="0"/>
                </a:rPr>
                <a:t>In the absence of Zn, Fe is oxidized and is precipitated in the form of Fe(OH)</a:t>
              </a:r>
              <a:r>
                <a:rPr lang="en-US" sz="1500" b="0" i="0" u="none" strike="noStrike" baseline="-25000" dirty="0">
                  <a:latin typeface="Arial" panose="020B0604020202020204" pitchFamily="34" charset="0"/>
                  <a:cs typeface="Arial" panose="020B0604020202020204" pitchFamily="34" charset="0"/>
                </a:rPr>
                <a:t>2</a:t>
              </a:r>
              <a:r>
                <a:rPr lang="en-US" sz="1500" b="0" i="0" u="none" strike="noStrike" baseline="0" dirty="0">
                  <a:latin typeface="Arial" panose="020B0604020202020204" pitchFamily="34" charset="0"/>
                  <a:cs typeface="Arial" panose="020B0604020202020204" pitchFamily="34" charset="0"/>
                </a:rPr>
                <a:t>. If sufficient O</a:t>
              </a:r>
              <a:r>
                <a:rPr lang="en-US" sz="1500" b="0" i="0" u="none" strike="noStrike" baseline="-25000" dirty="0">
                  <a:latin typeface="Arial" panose="020B0604020202020204" pitchFamily="34" charset="0"/>
                  <a:cs typeface="Arial" panose="020B0604020202020204" pitchFamily="34" charset="0"/>
                </a:rPr>
                <a:t>2</a:t>
              </a:r>
              <a:r>
                <a:rPr lang="en-US" sz="1500" b="0" i="0" u="none" strike="noStrike" baseline="0" dirty="0">
                  <a:latin typeface="Arial" panose="020B0604020202020204" pitchFamily="34" charset="0"/>
                  <a:cs typeface="Arial" panose="020B0604020202020204" pitchFamily="34" charset="0"/>
                </a:rPr>
                <a:t> is available, further oxidation results in the formation of the familiar </a:t>
              </a:r>
              <a:r>
                <a:rPr lang="en-IN" sz="1500" b="0" i="0" u="none" strike="noStrike" baseline="0" dirty="0">
                  <a:latin typeface="Arial" panose="020B0604020202020204" pitchFamily="34" charset="0"/>
                  <a:cs typeface="Arial" panose="020B0604020202020204" pitchFamily="34" charset="0"/>
                </a:rPr>
                <a:t>red-brown (‘rust-coloured’) Fe</a:t>
              </a:r>
              <a:r>
                <a:rPr lang="en-IN" sz="1500" b="0" i="0" u="none" strike="noStrike" baseline="-25000" dirty="0">
                  <a:latin typeface="Arial" panose="020B0604020202020204" pitchFamily="34" charset="0"/>
                  <a:cs typeface="Arial" panose="020B0604020202020204" pitchFamily="34" charset="0"/>
                </a:rPr>
                <a:t>2</a:t>
              </a:r>
              <a:r>
                <a:rPr lang="en-IN" sz="1500" b="0" i="0" u="none" strike="noStrike" baseline="0" dirty="0">
                  <a:latin typeface="Arial" panose="020B0604020202020204" pitchFamily="34" charset="0"/>
                  <a:cs typeface="Arial" panose="020B0604020202020204" pitchFamily="34" charset="0"/>
                </a:rPr>
                <a:t>O</a:t>
              </a:r>
              <a:r>
                <a:rPr lang="en-IN" sz="1500" b="0" i="0" u="none" strike="noStrike" baseline="-25000" dirty="0">
                  <a:latin typeface="Arial" panose="020B0604020202020204" pitchFamily="34" charset="0"/>
                  <a:cs typeface="Arial" panose="020B0604020202020204" pitchFamily="34" charset="0"/>
                </a:rPr>
                <a:t>3</a:t>
              </a:r>
              <a:r>
                <a:rPr lang="en-IN" sz="1500" b="0" i="0" u="none" strike="noStrike" baseline="0" dirty="0">
                  <a:latin typeface="Arial" panose="020B0604020202020204" pitchFamily="34" charset="0"/>
                  <a:cs typeface="Arial" panose="020B0604020202020204" pitchFamily="34" charset="0"/>
                </a:rPr>
                <a:t>H</a:t>
              </a:r>
              <a:r>
                <a:rPr lang="en-IN" sz="1500" b="0" i="0" u="none" strike="noStrike" baseline="-25000" dirty="0">
                  <a:latin typeface="Arial" panose="020B0604020202020204" pitchFamily="34" charset="0"/>
                  <a:cs typeface="Arial" panose="020B0604020202020204" pitchFamily="34" charset="0"/>
                </a:rPr>
                <a:t>2</a:t>
              </a:r>
              <a:r>
                <a:rPr lang="en-IN" sz="1500" b="0" i="0" u="none" strike="noStrike" baseline="0" dirty="0">
                  <a:latin typeface="Arial" panose="020B0604020202020204" pitchFamily="34" charset="0"/>
                  <a:cs typeface="Arial" panose="020B0604020202020204" pitchFamily="34" charset="0"/>
                </a:rPr>
                <a:t>O.</a:t>
              </a:r>
            </a:p>
            <a:p>
              <a:pPr algn="just"/>
              <a:endParaRPr lang="en-IN" sz="1500" dirty="0">
                <a:latin typeface="Arial" panose="020B0604020202020204" pitchFamily="34" charset="0"/>
                <a:cs typeface="Arial" panose="020B0604020202020204" pitchFamily="34" charset="0"/>
              </a:endParaRPr>
            </a:p>
            <a:p>
              <a:pPr algn="just"/>
              <a:r>
                <a:rPr lang="en-IN" sz="1500" b="0" i="0" u="none" strike="noStrike" baseline="0" dirty="0">
                  <a:latin typeface="Arial" panose="020B0604020202020204" pitchFamily="34" charset="0"/>
                  <a:cs typeface="Arial" panose="020B0604020202020204" pitchFamily="34" charset="0"/>
                </a:rPr>
                <a:t>For Zn-coated steel, </a:t>
              </a:r>
              <a:r>
                <a:rPr lang="en-US" sz="1500" b="0" i="0" u="none" strike="noStrike" baseline="0" dirty="0">
                  <a:latin typeface="Arial" panose="020B0604020202020204" pitchFamily="34" charset="0"/>
                  <a:cs typeface="Arial" panose="020B0604020202020204" pitchFamily="34" charset="0"/>
                </a:rPr>
                <a:t>oxidation of Zn is thermodynamically more </a:t>
              </a:r>
              <a:r>
                <a:rPr lang="en-US" sz="1500" b="0" i="0" u="none" strike="noStrike" baseline="0" dirty="0" err="1">
                  <a:latin typeface="Arial" panose="020B0604020202020204" pitchFamily="34" charset="0"/>
                  <a:cs typeface="Arial" panose="020B0604020202020204" pitchFamily="34" charset="0"/>
                </a:rPr>
                <a:t>favourable</a:t>
              </a:r>
              <a:r>
                <a:rPr lang="en-US" sz="1500" b="0" i="0" u="none" strike="noStrike" baseline="0" dirty="0">
                  <a:latin typeface="Arial" panose="020B0604020202020204" pitchFamily="34" charset="0"/>
                  <a:cs typeface="Arial" panose="020B0604020202020204" pitchFamily="34" charset="0"/>
                </a:rPr>
                <a:t> than that of Fe, and so the corrosion (rusting) of the steel </a:t>
              </a:r>
              <a:r>
                <a:rPr lang="en-IN" sz="1500" b="0" i="0" u="none" strike="noStrike" baseline="0" dirty="0">
                  <a:latin typeface="Arial" panose="020B0604020202020204" pitchFamily="34" charset="0"/>
                  <a:cs typeface="Arial" panose="020B0604020202020204" pitchFamily="34" charset="0"/>
                </a:rPr>
                <a:t>is inhibited. </a:t>
              </a:r>
              <a:r>
                <a:rPr lang="en-US" sz="1500" b="0" i="0" u="none" strike="noStrike" baseline="0" dirty="0">
                  <a:latin typeface="Arial" panose="020B0604020202020204" pitchFamily="34" charset="0"/>
                  <a:cs typeface="Arial" panose="020B0604020202020204" pitchFamily="34" charset="0"/>
                </a:rPr>
                <a:t>Furthermore, the Zn</a:t>
              </a:r>
              <a:r>
                <a:rPr lang="en-US" sz="1500" b="0" i="0" u="none" strike="noStrike" baseline="30000" dirty="0">
                  <a:latin typeface="Arial" panose="020B0604020202020204" pitchFamily="34" charset="0"/>
                  <a:cs typeface="Arial" panose="020B0604020202020204" pitchFamily="34" charset="0"/>
                </a:rPr>
                <a:t>2+</a:t>
              </a:r>
              <a:r>
                <a:rPr lang="en-US" sz="1500" b="0" i="0" u="none" strike="noStrike" baseline="0" dirty="0">
                  <a:latin typeface="Arial" panose="020B0604020202020204" pitchFamily="34" charset="0"/>
                  <a:cs typeface="Arial" panose="020B0604020202020204" pitchFamily="34" charset="0"/>
                </a:rPr>
                <a:t> ions precipitate as Zn(OH)</a:t>
              </a:r>
              <a:r>
                <a:rPr lang="en-US" sz="1500" b="0" i="0" u="none" strike="noStrike" baseline="-25000" dirty="0">
                  <a:latin typeface="Arial" panose="020B0604020202020204" pitchFamily="34" charset="0"/>
                  <a:cs typeface="Arial" panose="020B0604020202020204" pitchFamily="34" charset="0"/>
                </a:rPr>
                <a:t>2</a:t>
              </a:r>
              <a:r>
                <a:rPr lang="en-US" sz="1500" b="0" i="0" u="none" strike="noStrike" baseline="0" dirty="0">
                  <a:latin typeface="Arial" panose="020B0604020202020204" pitchFamily="34" charset="0"/>
                  <a:cs typeface="Arial" panose="020B0604020202020204" pitchFamily="34" charset="0"/>
                </a:rPr>
                <a:t> (</a:t>
              </a:r>
              <a:r>
                <a:rPr lang="en-US" sz="1500" b="0" i="0" u="none" strike="noStrike" baseline="0" dirty="0" err="1">
                  <a:latin typeface="Arial" panose="020B0604020202020204" pitchFamily="34" charset="0"/>
                  <a:cs typeface="Arial" panose="020B0604020202020204" pitchFamily="34" charset="0"/>
                </a:rPr>
                <a:t>K</a:t>
              </a:r>
              <a:r>
                <a:rPr lang="en-US" sz="1500" b="0" i="0" u="none" strike="noStrike" baseline="-25000" dirty="0" err="1">
                  <a:latin typeface="Arial" panose="020B0604020202020204" pitchFamily="34" charset="0"/>
                  <a:cs typeface="Arial" panose="020B0604020202020204" pitchFamily="34" charset="0"/>
                </a:rPr>
                <a:t>sp</a:t>
              </a:r>
              <a:r>
                <a:rPr lang="en-US" sz="1500" b="0" i="0" u="none" strike="noStrike" baseline="0" dirty="0">
                  <a:latin typeface="Arial" panose="020B0604020202020204" pitchFamily="34" charset="0"/>
                  <a:cs typeface="Arial" panose="020B0604020202020204" pitchFamily="34" charset="0"/>
                </a:rPr>
                <a:t> = 7 x </a:t>
              </a:r>
              <a:r>
                <a:rPr lang="en-US" sz="1500" b="0" i="0" u="none" strike="noStrike" dirty="0">
                  <a:latin typeface="Arial" panose="020B0604020202020204" pitchFamily="34" charset="0"/>
                  <a:cs typeface="Arial" panose="020B0604020202020204" pitchFamily="34" charset="0"/>
                </a:rPr>
                <a:t>10</a:t>
              </a:r>
              <a:r>
                <a:rPr lang="en-US" sz="1500" b="0" i="0" u="none" strike="noStrike" baseline="30000" dirty="0">
                  <a:latin typeface="Arial" panose="020B0604020202020204" pitchFamily="34" charset="0"/>
                  <a:cs typeface="Arial" panose="020B0604020202020204" pitchFamily="34" charset="0"/>
                </a:rPr>
                <a:t>-17</a:t>
              </a:r>
              <a:r>
                <a:rPr lang="en-US" sz="1500" b="0" i="0" u="none" strike="noStrike" baseline="0" dirty="0">
                  <a:latin typeface="Arial" panose="020B0604020202020204" pitchFamily="34" charset="0"/>
                  <a:cs typeface="Arial" panose="020B0604020202020204" pitchFamily="34" charset="0"/>
                </a:rPr>
                <a:t>), forming a deposit around the scratched area providing further protection for the steel.</a:t>
              </a:r>
            </a:p>
            <a:p>
              <a:pPr algn="just"/>
              <a:endParaRPr lang="en-US" sz="1500" dirty="0">
                <a:latin typeface="Arial" panose="020B0604020202020204" pitchFamily="34" charset="0"/>
                <a:cs typeface="Arial" panose="020B0604020202020204" pitchFamily="34" charset="0"/>
              </a:endParaRPr>
            </a:p>
            <a:p>
              <a:pPr algn="just"/>
              <a:r>
                <a:rPr lang="en-US" sz="1500" dirty="0">
                  <a:latin typeface="Arial" panose="020B0604020202020204" pitchFamily="34" charset="0"/>
                  <a:cs typeface="Arial" panose="020B0604020202020204" pitchFamily="34" charset="0"/>
                </a:rPr>
                <a:t>For example, in sea water metal blocks (Mg or Zn) are used to protect the cathode. Fe will never be able to function as anode. </a:t>
              </a:r>
              <a:endParaRPr lang="en-IN" sz="1500"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E920247E-99F0-211B-E00F-CE9FCCD1E660}"/>
                </a:ext>
              </a:extLst>
            </p:cNvPr>
            <p:cNvPicPr>
              <a:picLocks noChangeAspect="1"/>
            </p:cNvPicPr>
            <p:nvPr/>
          </p:nvPicPr>
          <p:blipFill>
            <a:blip r:embed="rId3"/>
            <a:stretch>
              <a:fillRect/>
            </a:stretch>
          </p:blipFill>
          <p:spPr>
            <a:xfrm>
              <a:off x="465059" y="4084367"/>
              <a:ext cx="4517530" cy="1601791"/>
            </a:xfrm>
            <a:prstGeom prst="rect">
              <a:avLst/>
            </a:prstGeom>
          </p:spPr>
        </p:pic>
      </p:grpSp>
    </p:spTree>
    <p:extLst>
      <p:ext uri="{BB962C8B-B14F-4D97-AF65-F5344CB8AC3E}">
        <p14:creationId xmlns:p14="http://schemas.microsoft.com/office/powerpoint/2010/main" val="3269043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E24631-06C6-AF3F-921E-F622A78E08E3}"/>
              </a:ext>
            </a:extLst>
          </p:cNvPr>
          <p:cNvSpPr txBox="1"/>
          <p:nvPr/>
        </p:nvSpPr>
        <p:spPr>
          <a:xfrm>
            <a:off x="3607798" y="136464"/>
            <a:ext cx="5124722" cy="369332"/>
          </a:xfrm>
          <a:prstGeom prst="rect">
            <a:avLst/>
          </a:prstGeom>
          <a:noFill/>
        </p:spPr>
        <p:txBody>
          <a:bodyPr wrap="square">
            <a:spAutoFit/>
          </a:bodyPr>
          <a:lstStyle/>
          <a:p>
            <a:r>
              <a:rPr lang="en-IN" sz="1800" b="1" dirty="0">
                <a:solidFill>
                  <a:srgbClr val="C00000"/>
                </a:solidFill>
                <a:latin typeface="Arial" panose="020B0604020202020204" pitchFamily="34" charset="0"/>
                <a:cs typeface="Arial" panose="020B0604020202020204" pitchFamily="34" charset="0"/>
              </a:rPr>
              <a:t>Electrodeposition: to prevent corrosion</a:t>
            </a:r>
            <a:endParaRPr lang="en-IN" dirty="0">
              <a:solidFill>
                <a:srgbClr val="C0000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F9E13DC-6D51-995E-2886-E994BB0B2007}"/>
              </a:ext>
            </a:extLst>
          </p:cNvPr>
          <p:cNvSpPr txBox="1"/>
          <p:nvPr/>
        </p:nvSpPr>
        <p:spPr>
          <a:xfrm>
            <a:off x="832104" y="704708"/>
            <a:ext cx="9628632" cy="584775"/>
          </a:xfrm>
          <a:prstGeom prst="rect">
            <a:avLst/>
          </a:prstGeom>
          <a:noFill/>
        </p:spPr>
        <p:txBody>
          <a:bodyPr wrap="square" rtlCol="0">
            <a:spAutoFit/>
          </a:bodyPr>
          <a:lstStyle/>
          <a:p>
            <a:pPr algn="just"/>
            <a:r>
              <a:rPr lang="en-IN" sz="1600" dirty="0">
                <a:latin typeface="Arial" panose="020B0604020202020204" pitchFamily="34" charset="0"/>
                <a:cs typeface="Arial" panose="020B0604020202020204" pitchFamily="34" charset="0"/>
              </a:rPr>
              <a:t>Electrodeposition of a metal over the other can protect the base metal against corrosion. Often a layer of an inert metal is deposited over the base metal.</a:t>
            </a:r>
          </a:p>
        </p:txBody>
      </p:sp>
      <p:sp>
        <p:nvSpPr>
          <p:cNvPr id="4" name="TextBox 3">
            <a:extLst>
              <a:ext uri="{FF2B5EF4-FFF2-40B4-BE49-F238E27FC236}">
                <a16:creationId xmlns:a16="http://schemas.microsoft.com/office/drawing/2014/main" id="{6EF4642A-0F39-00E1-E237-DDE2716988D1}"/>
              </a:ext>
            </a:extLst>
          </p:cNvPr>
          <p:cNvSpPr txBox="1"/>
          <p:nvPr/>
        </p:nvSpPr>
        <p:spPr>
          <a:xfrm>
            <a:off x="832104" y="1449790"/>
            <a:ext cx="9628632" cy="584775"/>
          </a:xfrm>
          <a:prstGeom prst="rect">
            <a:avLst/>
          </a:prstGeom>
          <a:noFill/>
        </p:spPr>
        <p:txBody>
          <a:bodyPr wrap="square" rtlCol="0">
            <a:spAutoFit/>
          </a:bodyPr>
          <a:lstStyle/>
          <a:p>
            <a:pPr algn="just"/>
            <a:r>
              <a:rPr lang="en-US" sz="1600" b="0" i="0" u="none" strike="noStrike" baseline="0" dirty="0">
                <a:latin typeface="Arial" panose="020B0604020202020204" pitchFamily="34" charset="0"/>
                <a:cs typeface="Arial" panose="020B0604020202020204" pitchFamily="34" charset="0"/>
              </a:rPr>
              <a:t>In a first step, the reduction of a cation on the substrate surface (aided by an applied potential or current) to form an </a:t>
            </a:r>
            <a:r>
              <a:rPr lang="en-US" sz="1600" b="0" i="1" u="none" strike="noStrike" baseline="0" dirty="0">
                <a:latin typeface="Arial" panose="020B0604020202020204" pitchFamily="34" charset="0"/>
                <a:cs typeface="Arial" panose="020B0604020202020204" pitchFamily="34" charset="0"/>
              </a:rPr>
              <a:t>adatom, </a:t>
            </a:r>
            <a:r>
              <a:rPr lang="en-US" sz="1600" b="0" i="0" u="none" strike="noStrike" baseline="0" dirty="0">
                <a:latin typeface="Arial" panose="020B0604020202020204" pitchFamily="34" charset="0"/>
                <a:cs typeface="Arial" panose="020B0604020202020204" pitchFamily="34" charset="0"/>
              </a:rPr>
              <a:t>and its migration over the surface to an energetically </a:t>
            </a:r>
            <a:r>
              <a:rPr lang="en-US" sz="1600" b="0" i="0" u="none" strike="noStrike" baseline="0" dirty="0" err="1">
                <a:latin typeface="Arial" panose="020B0604020202020204" pitchFamily="34" charset="0"/>
                <a:cs typeface="Arial" panose="020B0604020202020204" pitchFamily="34" charset="0"/>
              </a:rPr>
              <a:t>favourable</a:t>
            </a:r>
            <a:r>
              <a:rPr lang="en-US" sz="1600" b="0" i="0" u="none" strike="noStrike" baseline="0" dirty="0">
                <a:latin typeface="Arial" panose="020B0604020202020204" pitchFamily="34" charset="0"/>
                <a:cs typeface="Arial" panose="020B0604020202020204" pitchFamily="34" charset="0"/>
              </a:rPr>
              <a:t> site.</a:t>
            </a:r>
            <a:endParaRPr lang="en-IN" sz="16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5636BF1-8EA0-18D8-A2B9-1222FBCCEE47}"/>
              </a:ext>
            </a:extLst>
          </p:cNvPr>
          <p:cNvSpPr txBox="1"/>
          <p:nvPr/>
        </p:nvSpPr>
        <p:spPr>
          <a:xfrm>
            <a:off x="758952" y="2255857"/>
            <a:ext cx="9089136" cy="338554"/>
          </a:xfrm>
          <a:prstGeom prst="rect">
            <a:avLst/>
          </a:prstGeom>
          <a:noFill/>
        </p:spPr>
        <p:txBody>
          <a:bodyPr wrap="square" rtlCol="0">
            <a:spAutoFit/>
          </a:bodyPr>
          <a:lstStyle/>
          <a:p>
            <a:pPr algn="l"/>
            <a:r>
              <a:rPr lang="en-IN" sz="1600" b="0" i="0" u="none" strike="noStrike" baseline="0" dirty="0">
                <a:latin typeface="Arial" panose="020B0604020202020204" pitchFamily="34" charset="0"/>
                <a:cs typeface="Arial" panose="020B0604020202020204" pitchFamily="34" charset="0"/>
              </a:rPr>
              <a:t>Other </a:t>
            </a:r>
            <a:r>
              <a:rPr lang="en-US" sz="1600" b="0" i="0" u="none" strike="noStrike" baseline="0" dirty="0">
                <a:latin typeface="Arial" panose="020B0604020202020204" pitchFamily="34" charset="0"/>
                <a:cs typeface="Arial" panose="020B0604020202020204" pitchFamily="34" charset="0"/>
              </a:rPr>
              <a:t>atoms get electrodeposit with the first, forming the nucleus </a:t>
            </a:r>
            <a:r>
              <a:rPr lang="en-IN" sz="1600" b="0" i="0" u="none" strike="noStrike" baseline="0" dirty="0">
                <a:latin typeface="Arial" panose="020B0604020202020204" pitchFamily="34" charset="0"/>
                <a:cs typeface="Arial" panose="020B0604020202020204" pitchFamily="34" charset="0"/>
              </a:rPr>
              <a:t>of a new phase</a:t>
            </a:r>
            <a:endParaRPr lang="en-IN" sz="16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813D41F5-597F-87A8-4207-93D23C4DDC3C}"/>
              </a:ext>
            </a:extLst>
          </p:cNvPr>
          <p:cNvSpPr txBox="1"/>
          <p:nvPr/>
        </p:nvSpPr>
        <p:spPr>
          <a:xfrm>
            <a:off x="758952" y="2712372"/>
            <a:ext cx="9893808" cy="1077218"/>
          </a:xfrm>
          <a:prstGeom prst="rect">
            <a:avLst/>
          </a:prstGeom>
          <a:noFill/>
        </p:spPr>
        <p:txBody>
          <a:bodyPr wrap="square" rtlCol="0">
            <a:spAutoFit/>
          </a:bodyPr>
          <a:lstStyle/>
          <a:p>
            <a:pPr algn="just"/>
            <a:r>
              <a:rPr lang="en-US" sz="1600" b="0" i="0" u="none" strike="noStrike" baseline="0" dirty="0">
                <a:latin typeface="Arial" panose="020B0604020202020204" pitchFamily="34" charset="0"/>
                <a:cs typeface="Arial" panose="020B0604020202020204" pitchFamily="34" charset="0"/>
              </a:rPr>
              <a:t>The nucleus grows parallel and/or perpendicular to the surface. A number of nuclei can form and grow on the surface</a:t>
            </a:r>
          </a:p>
          <a:p>
            <a:pPr algn="just"/>
            <a:endParaRPr lang="en-US" sz="1600" dirty="0">
              <a:latin typeface="Arial" panose="020B0604020202020204" pitchFamily="34" charset="0"/>
              <a:cs typeface="Arial" panose="020B0604020202020204" pitchFamily="34" charset="0"/>
            </a:endParaRPr>
          </a:p>
          <a:p>
            <a:pPr algn="just"/>
            <a:r>
              <a:rPr lang="en-US" sz="1600" dirty="0">
                <a:latin typeface="Arial" panose="020B0604020202020204" pitchFamily="34" charset="0"/>
                <a:cs typeface="Arial" panose="020B0604020202020204" pitchFamily="34" charset="0"/>
              </a:rPr>
              <a:t>This will continue to form few layer of metals which protect the oxidation of the base metal. </a:t>
            </a:r>
            <a:endParaRPr lang="en-IN" sz="16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3C47E403-A317-7C86-30C2-9E011C7C3989}"/>
              </a:ext>
            </a:extLst>
          </p:cNvPr>
          <p:cNvSpPr txBox="1"/>
          <p:nvPr/>
        </p:nvSpPr>
        <p:spPr>
          <a:xfrm>
            <a:off x="758952" y="3907551"/>
            <a:ext cx="4663456" cy="338554"/>
          </a:xfrm>
          <a:prstGeom prst="rect">
            <a:avLst/>
          </a:prstGeom>
          <a:noFill/>
        </p:spPr>
        <p:txBody>
          <a:bodyPr wrap="none" rtlCol="0">
            <a:spAutoFit/>
          </a:bodyPr>
          <a:lstStyle/>
          <a:p>
            <a:r>
              <a:rPr lang="en-IN" sz="1600" dirty="0">
                <a:latin typeface="Arial" panose="020B0604020202020204" pitchFamily="34" charset="0"/>
                <a:cs typeface="Arial" panose="020B0604020202020204" pitchFamily="34" charset="0"/>
              </a:rPr>
              <a:t>This process is controlled by the potential applied</a:t>
            </a:r>
          </a:p>
        </p:txBody>
      </p:sp>
      <p:grpSp>
        <p:nvGrpSpPr>
          <p:cNvPr id="11" name="Group 10">
            <a:extLst>
              <a:ext uri="{FF2B5EF4-FFF2-40B4-BE49-F238E27FC236}">
                <a16:creationId xmlns:a16="http://schemas.microsoft.com/office/drawing/2014/main" id="{1B81B413-C473-C303-DF87-F314BE0162C2}"/>
              </a:ext>
            </a:extLst>
          </p:cNvPr>
          <p:cNvGrpSpPr/>
          <p:nvPr/>
        </p:nvGrpSpPr>
        <p:grpSpPr>
          <a:xfrm>
            <a:off x="854170" y="4364066"/>
            <a:ext cx="10584974" cy="1677322"/>
            <a:chOff x="854170" y="4364066"/>
            <a:chExt cx="10584974" cy="1677322"/>
          </a:xfrm>
        </p:grpSpPr>
        <p:sp>
          <p:nvSpPr>
            <p:cNvPr id="8" name="TextBox 7">
              <a:extLst>
                <a:ext uri="{FF2B5EF4-FFF2-40B4-BE49-F238E27FC236}">
                  <a16:creationId xmlns:a16="http://schemas.microsoft.com/office/drawing/2014/main" id="{EC546C30-25C6-A928-7DE0-8656C0C0EFC4}"/>
                </a:ext>
              </a:extLst>
            </p:cNvPr>
            <p:cNvSpPr txBox="1"/>
            <p:nvPr/>
          </p:nvSpPr>
          <p:spPr>
            <a:xfrm>
              <a:off x="854170" y="4364066"/>
              <a:ext cx="2236510" cy="369332"/>
            </a:xfrm>
            <a:prstGeom prst="rect">
              <a:avLst/>
            </a:prstGeom>
            <a:noFill/>
          </p:spPr>
          <p:txBody>
            <a:bodyPr wrap="none" rtlCol="0">
              <a:spAutoFit/>
            </a:bodyPr>
            <a:lstStyle/>
            <a:p>
              <a:r>
                <a:rPr lang="en-IN" b="1" dirty="0">
                  <a:solidFill>
                    <a:srgbClr val="C00000"/>
                  </a:solidFill>
                  <a:latin typeface="Arial" panose="020B0604020202020204" pitchFamily="34" charset="0"/>
                  <a:cs typeface="Arial" panose="020B0604020202020204" pitchFamily="34" charset="0"/>
                </a:rPr>
                <a:t>Electroless plating</a:t>
              </a:r>
            </a:p>
          </p:txBody>
        </p:sp>
        <p:sp>
          <p:nvSpPr>
            <p:cNvPr id="9" name="TextBox 8">
              <a:extLst>
                <a:ext uri="{FF2B5EF4-FFF2-40B4-BE49-F238E27FC236}">
                  <a16:creationId xmlns:a16="http://schemas.microsoft.com/office/drawing/2014/main" id="{CFC5E92E-5E0A-38EE-18B5-BE04D3714D55}"/>
                </a:ext>
              </a:extLst>
            </p:cNvPr>
            <p:cNvSpPr txBox="1"/>
            <p:nvPr/>
          </p:nvSpPr>
          <p:spPr>
            <a:xfrm>
              <a:off x="854170" y="4851359"/>
              <a:ext cx="10584974" cy="584775"/>
            </a:xfrm>
            <a:prstGeom prst="rect">
              <a:avLst/>
            </a:prstGeom>
            <a:noFill/>
          </p:spPr>
          <p:txBody>
            <a:bodyPr wrap="square" rtlCol="0">
              <a:spAutoFit/>
            </a:bodyPr>
            <a:lstStyle/>
            <a:p>
              <a:pPr algn="l"/>
              <a:r>
                <a:rPr lang="en-IN" sz="1600" b="0" i="0" u="none" strike="noStrike" baseline="0" dirty="0">
                  <a:latin typeface="Arial" panose="020B0604020202020204" pitchFamily="34" charset="0"/>
                  <a:cs typeface="Arial" panose="020B0604020202020204" pitchFamily="34" charset="0"/>
                </a:rPr>
                <a:t>It is an autocatalytic </a:t>
              </a:r>
              <a:r>
                <a:rPr lang="en-US" sz="1600" b="0" i="0" u="none" strike="noStrike" baseline="0" dirty="0">
                  <a:latin typeface="Arial" panose="020B0604020202020204" pitchFamily="34" charset="0"/>
                  <a:cs typeface="Arial" panose="020B0604020202020204" pitchFamily="34" charset="0"/>
                </a:rPr>
                <a:t>reaction on the metal surface after nucleation has begun. A reducing agent R reduces metal ions to the corresponding metal on the substrate surface by undergoing surface-induced oxidation.</a:t>
              </a:r>
              <a:endParaRPr lang="en-IN"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C1D72038-691E-E9BA-2BE1-D7DA14B844C5}"/>
                </a:ext>
              </a:extLst>
            </p:cNvPr>
            <p:cNvSpPr txBox="1"/>
            <p:nvPr/>
          </p:nvSpPr>
          <p:spPr>
            <a:xfrm>
              <a:off x="1618488" y="5672056"/>
              <a:ext cx="4227439" cy="369332"/>
            </a:xfrm>
            <a:prstGeom prst="rect">
              <a:avLst/>
            </a:prstGeom>
            <a:noFill/>
          </p:spPr>
          <p:txBody>
            <a:bodyPr wrap="none" rtlCol="0">
              <a:spAutoFit/>
            </a:bodyPr>
            <a:lstStyle/>
            <a:p>
              <a:r>
                <a:rPr lang="pt-BR" sz="1800" b="0" i="0" u="none" strike="noStrike" baseline="0" dirty="0">
                  <a:latin typeface="Times New Roman" panose="02020603050405020304" pitchFamily="18" charset="0"/>
                </a:rPr>
                <a:t>Ni</a:t>
              </a:r>
              <a:r>
                <a:rPr lang="pt-BR" sz="1800" b="0" i="0" u="none" strike="noStrike" baseline="30000" dirty="0">
                  <a:latin typeface="Times New Roman" panose="02020603050405020304" pitchFamily="18" charset="0"/>
                </a:rPr>
                <a:t>2+</a:t>
              </a:r>
              <a:r>
                <a:rPr lang="pt-BR" sz="1800" b="0" i="0" u="none" strike="noStrike" baseline="0" dirty="0">
                  <a:latin typeface="Times New Roman" panose="02020603050405020304" pitchFamily="18" charset="0"/>
                </a:rPr>
                <a:t> + </a:t>
              </a:r>
              <a:r>
                <a:rPr lang="pt-BR" sz="1800" b="0" i="0" u="none" strike="noStrike" dirty="0">
                  <a:latin typeface="Times New Roman" panose="02020603050405020304" pitchFamily="18" charset="0"/>
                </a:rPr>
                <a:t>H</a:t>
              </a:r>
              <a:r>
                <a:rPr lang="pt-BR" sz="1800" b="0" i="0" u="none" strike="noStrike" baseline="-25000" dirty="0">
                  <a:latin typeface="Times New Roman" panose="02020603050405020304" pitchFamily="18" charset="0"/>
                </a:rPr>
                <a:t>2</a:t>
              </a:r>
              <a:r>
                <a:rPr lang="pt-BR" sz="1800" b="0" i="0" u="none" strike="noStrike" dirty="0">
                  <a:latin typeface="Times New Roman" panose="02020603050405020304" pitchFamily="18" charset="0"/>
                </a:rPr>
                <a:t>PO</a:t>
              </a:r>
              <a:r>
                <a:rPr lang="pt-BR" sz="1800" b="0" i="0" u="none" strike="noStrike" baseline="-25000" dirty="0">
                  <a:latin typeface="Times New Roman" panose="02020603050405020304" pitchFamily="18" charset="0"/>
                </a:rPr>
                <a:t>2</a:t>
              </a:r>
              <a:r>
                <a:rPr lang="pt-BR" sz="1800" b="0" i="0" u="none" strike="noStrike" baseline="30000" dirty="0">
                  <a:latin typeface="Times New Roman" panose="02020603050405020304" pitchFamily="18" charset="0"/>
                </a:rPr>
                <a:t>-</a:t>
              </a:r>
              <a:r>
                <a:rPr lang="pt-BR" sz="1800" b="0" i="0" u="none" strike="noStrike" baseline="0" dirty="0">
                  <a:latin typeface="Times New Roman" panose="02020603050405020304" pitchFamily="18" charset="0"/>
                </a:rPr>
                <a:t> + H</a:t>
              </a:r>
              <a:r>
                <a:rPr lang="pt-BR" sz="1800" b="0" i="0" u="none" strike="noStrike" baseline="-25000" dirty="0">
                  <a:latin typeface="Times New Roman" panose="02020603050405020304" pitchFamily="18" charset="0"/>
                </a:rPr>
                <a:t>2</a:t>
              </a:r>
              <a:r>
                <a:rPr lang="pt-BR" sz="1800" b="0" i="0" u="none" strike="noStrike" baseline="0" dirty="0">
                  <a:latin typeface="Times New Roman" panose="02020603050405020304" pitchFamily="18" charset="0"/>
                </a:rPr>
                <a:t>O </a:t>
              </a:r>
              <a:r>
                <a:rPr lang="pt-BR" sz="1800" b="0" i="0" u="none" strike="noStrike" baseline="0" dirty="0">
                  <a:latin typeface="Times New Roman" panose="02020603050405020304" pitchFamily="18" charset="0"/>
                  <a:sym typeface="Symbol" panose="05050102010706020507" pitchFamily="18" charset="2"/>
                </a:rPr>
                <a:t> </a:t>
              </a:r>
              <a:r>
                <a:rPr lang="pt-BR" sz="1800" b="0" i="0" u="none" strike="noStrike" baseline="0" dirty="0">
                  <a:latin typeface="Times New Roman" panose="02020603050405020304" pitchFamily="18" charset="0"/>
                </a:rPr>
                <a:t>Ni + </a:t>
              </a:r>
              <a:r>
                <a:rPr lang="pt-BR" sz="1800" b="0" i="0" u="none" strike="noStrike" dirty="0">
                  <a:latin typeface="Times New Roman" panose="02020603050405020304" pitchFamily="18" charset="0"/>
                </a:rPr>
                <a:t>H</a:t>
              </a:r>
              <a:r>
                <a:rPr lang="pt-BR" sz="1800" b="0" i="0" u="none" strike="noStrike" baseline="-25000" dirty="0">
                  <a:latin typeface="Times New Roman" panose="02020603050405020304" pitchFamily="18" charset="0"/>
                </a:rPr>
                <a:t>2</a:t>
              </a:r>
              <a:r>
                <a:rPr lang="pt-BR" sz="1800" b="0" i="0" u="none" strike="noStrike" dirty="0">
                  <a:latin typeface="Times New Roman" panose="02020603050405020304" pitchFamily="18" charset="0"/>
                </a:rPr>
                <a:t>PO</a:t>
              </a:r>
              <a:r>
                <a:rPr lang="pt-BR" sz="1800" b="0" i="0" u="none" strike="noStrike" baseline="-25000" dirty="0">
                  <a:latin typeface="Times New Roman" panose="02020603050405020304" pitchFamily="18" charset="0"/>
                </a:rPr>
                <a:t>3</a:t>
              </a:r>
              <a:r>
                <a:rPr lang="pt-BR" sz="1800" b="0" i="0" u="none" strike="noStrike" baseline="30000" dirty="0">
                  <a:latin typeface="Times New Roman" panose="02020603050405020304" pitchFamily="18" charset="0"/>
                </a:rPr>
                <a:t>- </a:t>
              </a:r>
              <a:r>
                <a:rPr lang="pt-BR" sz="1800" b="0" i="0" u="none" strike="noStrike" baseline="0" dirty="0">
                  <a:latin typeface="Times New Roman" panose="02020603050405020304" pitchFamily="18" charset="0"/>
                </a:rPr>
                <a:t>+ 2H</a:t>
              </a:r>
              <a:r>
                <a:rPr lang="pt-BR" sz="1800" b="0" i="0" u="none" strike="noStrike" baseline="30000" dirty="0">
                  <a:latin typeface="Times New Roman" panose="02020603050405020304" pitchFamily="18" charset="0"/>
                </a:rPr>
                <a:t>+</a:t>
              </a:r>
              <a:endParaRPr lang="en-IN" baseline="30000" dirty="0"/>
            </a:p>
          </p:txBody>
        </p:sp>
      </p:grpSp>
    </p:spTree>
    <p:extLst>
      <p:ext uri="{BB962C8B-B14F-4D97-AF65-F5344CB8AC3E}">
        <p14:creationId xmlns:p14="http://schemas.microsoft.com/office/powerpoint/2010/main" val="3697743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37248" y="901640"/>
            <a:ext cx="2168302" cy="2962931"/>
          </a:xfrm>
          <a:prstGeom prst="rect">
            <a:avLst/>
          </a:prstGeom>
        </p:spPr>
      </p:pic>
      <p:sp>
        <p:nvSpPr>
          <p:cNvPr id="4" name="object 4"/>
          <p:cNvSpPr txBox="1"/>
          <p:nvPr/>
        </p:nvSpPr>
        <p:spPr>
          <a:xfrm>
            <a:off x="3465660" y="856954"/>
            <a:ext cx="5260679" cy="4773848"/>
          </a:xfrm>
          <a:prstGeom prst="rect">
            <a:avLst/>
          </a:prstGeom>
        </p:spPr>
        <p:txBody>
          <a:bodyPr vert="horz" wrap="square" lIns="0" tIns="73129" rIns="0" bIns="0" rtlCol="0">
            <a:spAutoFit/>
          </a:bodyPr>
          <a:lstStyle/>
          <a:p>
            <a:pPr marL="464685" indent="-343188">
              <a:spcBef>
                <a:spcPts val="576"/>
              </a:spcBef>
              <a:buFont typeface="Microsoft Sans Serif"/>
              <a:buChar char="•"/>
              <a:tabLst>
                <a:tab pos="464685" algn="l"/>
              </a:tabLst>
            </a:pPr>
            <a:r>
              <a:rPr sz="1995" b="1" u="sng" dirty="0">
                <a:uFill>
                  <a:solidFill>
                    <a:srgbClr val="000000"/>
                  </a:solidFill>
                </a:uFill>
                <a:latin typeface="Arial" panose="020B0604020202020204" pitchFamily="34" charset="0"/>
                <a:cs typeface="Arial" panose="020B0604020202020204" pitchFamily="34" charset="0"/>
              </a:rPr>
              <a:t>Negative</a:t>
            </a:r>
            <a:r>
              <a:rPr sz="1995" b="1" u="sng" spc="-113" dirty="0">
                <a:uFill>
                  <a:solidFill>
                    <a:srgbClr val="000000"/>
                  </a:solidFill>
                </a:uFill>
                <a:latin typeface="Arial" panose="020B0604020202020204" pitchFamily="34" charset="0"/>
                <a:cs typeface="Arial" panose="020B0604020202020204" pitchFamily="34" charset="0"/>
              </a:rPr>
              <a:t> </a:t>
            </a:r>
            <a:r>
              <a:rPr sz="1995" b="1" u="sng" spc="-9" dirty="0">
                <a:uFill>
                  <a:solidFill>
                    <a:srgbClr val="000000"/>
                  </a:solidFill>
                </a:uFill>
                <a:latin typeface="Arial" panose="020B0604020202020204" pitchFamily="34" charset="0"/>
                <a:cs typeface="Arial" panose="020B0604020202020204" pitchFamily="34" charset="0"/>
              </a:rPr>
              <a:t>Electrode</a:t>
            </a:r>
            <a:endParaRPr sz="1995" dirty="0">
              <a:latin typeface="Arial" panose="020B0604020202020204" pitchFamily="34" charset="0"/>
              <a:cs typeface="Arial" panose="020B0604020202020204" pitchFamily="34" charset="0"/>
            </a:endParaRPr>
          </a:p>
          <a:p>
            <a:pPr marL="865454" lvl="1" indent="-286182">
              <a:spcBef>
                <a:spcPts val="494"/>
              </a:spcBef>
              <a:buFont typeface="Microsoft Sans Serif"/>
              <a:buChar char="–"/>
              <a:tabLst>
                <a:tab pos="865454" algn="l"/>
              </a:tabLst>
            </a:pPr>
            <a:r>
              <a:rPr sz="1600" spc="-190" dirty="0">
                <a:latin typeface="Arial" panose="020B0604020202020204" pitchFamily="34" charset="0"/>
                <a:cs typeface="Arial" panose="020B0604020202020204" pitchFamily="34" charset="0"/>
              </a:rPr>
              <a:t>Is</a:t>
            </a:r>
            <a:r>
              <a:rPr sz="1600" spc="-150" dirty="0">
                <a:latin typeface="Arial" panose="020B0604020202020204" pitchFamily="34" charset="0"/>
                <a:cs typeface="Arial" panose="020B0604020202020204" pitchFamily="34" charset="0"/>
              </a:rPr>
              <a:t> </a:t>
            </a:r>
            <a:r>
              <a:rPr sz="1600" spc="-50" dirty="0">
                <a:latin typeface="Arial" panose="020B0604020202020204" pitchFamily="34" charset="0"/>
                <a:cs typeface="Arial" panose="020B0604020202020204" pitchFamily="34" charset="0"/>
              </a:rPr>
              <a:t>the</a:t>
            </a:r>
            <a:r>
              <a:rPr sz="1600" spc="-141" dirty="0">
                <a:latin typeface="Arial" panose="020B0604020202020204" pitchFamily="34" charset="0"/>
                <a:cs typeface="Arial" panose="020B0604020202020204" pitchFamily="34" charset="0"/>
              </a:rPr>
              <a:t> </a:t>
            </a:r>
            <a:r>
              <a:rPr lang="en-IN" sz="1600" spc="-154" dirty="0">
                <a:latin typeface="Arial" panose="020B0604020202020204" pitchFamily="34" charset="0"/>
                <a:cs typeface="Arial" panose="020B0604020202020204" pitchFamily="34" charset="0"/>
              </a:rPr>
              <a:t>OBJECT</a:t>
            </a:r>
            <a:r>
              <a:rPr lang="en-IN" sz="1600" spc="-181" dirty="0">
                <a:latin typeface="Arial" panose="020B0604020202020204" pitchFamily="34" charset="0"/>
                <a:cs typeface="Arial" panose="020B0604020202020204" pitchFamily="34" charset="0"/>
              </a:rPr>
              <a:t> </a:t>
            </a:r>
            <a:r>
              <a:rPr lang="en-IN" sz="1600" spc="-185" dirty="0">
                <a:latin typeface="Arial" panose="020B0604020202020204" pitchFamily="34" charset="0"/>
                <a:cs typeface="Arial" panose="020B0604020202020204" pitchFamily="34" charset="0"/>
              </a:rPr>
              <a:t>TO</a:t>
            </a:r>
            <a:r>
              <a:rPr lang="en-IN" sz="1600" spc="-150" dirty="0">
                <a:latin typeface="Arial" panose="020B0604020202020204" pitchFamily="34" charset="0"/>
                <a:cs typeface="Arial" panose="020B0604020202020204" pitchFamily="34" charset="0"/>
              </a:rPr>
              <a:t> </a:t>
            </a:r>
            <a:r>
              <a:rPr lang="en-IN" sz="1600" spc="-131" dirty="0">
                <a:latin typeface="Arial" panose="020B0604020202020204" pitchFamily="34" charset="0"/>
                <a:cs typeface="Arial" panose="020B0604020202020204" pitchFamily="34" charset="0"/>
              </a:rPr>
              <a:t>BE</a:t>
            </a:r>
            <a:r>
              <a:rPr lang="en-IN" sz="1600" spc="-163" dirty="0">
                <a:latin typeface="Arial" panose="020B0604020202020204" pitchFamily="34" charset="0"/>
                <a:cs typeface="Arial" panose="020B0604020202020204" pitchFamily="34" charset="0"/>
              </a:rPr>
              <a:t> </a:t>
            </a:r>
            <a:r>
              <a:rPr lang="en-IN" sz="1600" spc="-9" dirty="0">
                <a:latin typeface="Arial" panose="020B0604020202020204" pitchFamily="34" charset="0"/>
                <a:cs typeface="Arial" panose="020B0604020202020204" pitchFamily="34" charset="0"/>
              </a:rPr>
              <a:t>PLATED</a:t>
            </a:r>
            <a:endParaRPr sz="1600" dirty="0">
              <a:latin typeface="Arial" panose="020B0604020202020204" pitchFamily="34" charset="0"/>
              <a:cs typeface="Arial" panose="020B0604020202020204" pitchFamily="34" charset="0"/>
            </a:endParaRPr>
          </a:p>
          <a:p>
            <a:pPr marL="865454" marR="746835" lvl="1" indent="-286182">
              <a:spcBef>
                <a:spcPts val="485"/>
              </a:spcBef>
              <a:buFont typeface="Microsoft Sans Serif"/>
              <a:buChar char="–"/>
              <a:tabLst>
                <a:tab pos="865454" algn="l"/>
              </a:tabLst>
            </a:pPr>
            <a:r>
              <a:rPr sz="1600" spc="-82" dirty="0">
                <a:latin typeface="Arial" panose="020B0604020202020204" pitchFamily="34" charset="0"/>
                <a:cs typeface="Arial" panose="020B0604020202020204" pitchFamily="34" charset="0"/>
              </a:rPr>
              <a:t>so</a:t>
            </a:r>
            <a:r>
              <a:rPr sz="1600" spc="-154" dirty="0">
                <a:latin typeface="Arial" panose="020B0604020202020204" pitchFamily="34" charset="0"/>
                <a:cs typeface="Arial" panose="020B0604020202020204" pitchFamily="34" charset="0"/>
              </a:rPr>
              <a:t> </a:t>
            </a:r>
            <a:r>
              <a:rPr sz="1600" spc="-45" dirty="0">
                <a:latin typeface="Arial" panose="020B0604020202020204" pitchFamily="34" charset="0"/>
                <a:cs typeface="Arial" panose="020B0604020202020204" pitchFamily="34" charset="0"/>
              </a:rPr>
              <a:t>the</a:t>
            </a:r>
            <a:r>
              <a:rPr sz="1600" spc="-150" dirty="0">
                <a:latin typeface="Arial" panose="020B0604020202020204" pitchFamily="34" charset="0"/>
                <a:cs typeface="Arial" panose="020B0604020202020204" pitchFamily="34" charset="0"/>
              </a:rPr>
              <a:t> </a:t>
            </a:r>
            <a:r>
              <a:rPr sz="1600" spc="-54" dirty="0">
                <a:latin typeface="Arial" panose="020B0604020202020204" pitchFamily="34" charset="0"/>
                <a:cs typeface="Arial" panose="020B0604020202020204" pitchFamily="34" charset="0"/>
              </a:rPr>
              <a:t>positive</a:t>
            </a:r>
            <a:r>
              <a:rPr sz="1600" spc="-127" dirty="0">
                <a:latin typeface="Arial" panose="020B0604020202020204" pitchFamily="34" charset="0"/>
                <a:cs typeface="Arial" panose="020B0604020202020204" pitchFamily="34" charset="0"/>
              </a:rPr>
              <a:t> </a:t>
            </a:r>
            <a:r>
              <a:rPr sz="1600" spc="-63" dirty="0">
                <a:latin typeface="Arial" panose="020B0604020202020204" pitchFamily="34" charset="0"/>
                <a:cs typeface="Arial" panose="020B0604020202020204" pitchFamily="34" charset="0"/>
              </a:rPr>
              <a:t>metal</a:t>
            </a:r>
            <a:r>
              <a:rPr sz="1600" spc="-131" dirty="0">
                <a:latin typeface="Arial" panose="020B0604020202020204" pitchFamily="34" charset="0"/>
                <a:cs typeface="Arial" panose="020B0604020202020204" pitchFamily="34" charset="0"/>
              </a:rPr>
              <a:t> </a:t>
            </a:r>
            <a:r>
              <a:rPr sz="1600" spc="-63" dirty="0">
                <a:latin typeface="Arial" panose="020B0604020202020204" pitchFamily="34" charset="0"/>
                <a:cs typeface="Arial" panose="020B0604020202020204" pitchFamily="34" charset="0"/>
              </a:rPr>
              <a:t>ions</a:t>
            </a:r>
            <a:r>
              <a:rPr sz="1600" spc="-136" dirty="0">
                <a:latin typeface="Arial" panose="020B0604020202020204" pitchFamily="34" charset="0"/>
                <a:cs typeface="Arial" panose="020B0604020202020204" pitchFamily="34" charset="0"/>
              </a:rPr>
              <a:t> </a:t>
            </a:r>
            <a:r>
              <a:rPr sz="1600" spc="-54" dirty="0">
                <a:latin typeface="Arial" panose="020B0604020202020204" pitchFamily="34" charset="0"/>
                <a:cs typeface="Arial" panose="020B0604020202020204" pitchFamily="34" charset="0"/>
              </a:rPr>
              <a:t>would</a:t>
            </a:r>
            <a:r>
              <a:rPr sz="1600" spc="-145" dirty="0">
                <a:latin typeface="Arial" panose="020B0604020202020204" pitchFamily="34" charset="0"/>
                <a:cs typeface="Arial" panose="020B0604020202020204" pitchFamily="34" charset="0"/>
              </a:rPr>
              <a:t> </a:t>
            </a:r>
            <a:r>
              <a:rPr sz="1600" spc="-50" dirty="0">
                <a:latin typeface="Arial" panose="020B0604020202020204" pitchFamily="34" charset="0"/>
                <a:cs typeface="Arial" panose="020B0604020202020204" pitchFamily="34" charset="0"/>
              </a:rPr>
              <a:t>go </a:t>
            </a:r>
            <a:r>
              <a:rPr sz="1600" spc="-73" dirty="0">
                <a:latin typeface="Arial" panose="020B0604020202020204" pitchFamily="34" charset="0"/>
                <a:cs typeface="Arial" panose="020B0604020202020204" pitchFamily="34" charset="0"/>
              </a:rPr>
              <a:t>towards</a:t>
            </a:r>
            <a:r>
              <a:rPr sz="1600" spc="-15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it</a:t>
            </a:r>
            <a:r>
              <a:rPr sz="1600" spc="-154" dirty="0">
                <a:latin typeface="Arial" panose="020B0604020202020204" pitchFamily="34" charset="0"/>
                <a:cs typeface="Arial" panose="020B0604020202020204" pitchFamily="34" charset="0"/>
              </a:rPr>
              <a:t> </a:t>
            </a:r>
            <a:r>
              <a:rPr sz="1600" spc="-77" dirty="0">
                <a:latin typeface="Arial" panose="020B0604020202020204" pitchFamily="34" charset="0"/>
                <a:cs typeface="Arial" panose="020B0604020202020204" pitchFamily="34" charset="0"/>
              </a:rPr>
              <a:t>and</a:t>
            </a:r>
            <a:r>
              <a:rPr sz="1600" spc="-159" dirty="0">
                <a:latin typeface="Arial" panose="020B0604020202020204" pitchFamily="34" charset="0"/>
                <a:cs typeface="Arial" panose="020B0604020202020204" pitchFamily="34" charset="0"/>
              </a:rPr>
              <a:t> </a:t>
            </a:r>
            <a:r>
              <a:rPr sz="1600" spc="-63" dirty="0">
                <a:latin typeface="Arial" panose="020B0604020202020204" pitchFamily="34" charset="0"/>
                <a:cs typeface="Arial" panose="020B0604020202020204" pitchFamily="34" charset="0"/>
              </a:rPr>
              <a:t>be</a:t>
            </a:r>
            <a:r>
              <a:rPr sz="1600" spc="-181" dirty="0">
                <a:latin typeface="Arial" panose="020B0604020202020204" pitchFamily="34" charset="0"/>
                <a:cs typeface="Arial" panose="020B0604020202020204" pitchFamily="34" charset="0"/>
              </a:rPr>
              <a:t> </a:t>
            </a:r>
            <a:r>
              <a:rPr sz="1600" spc="-9" dirty="0">
                <a:latin typeface="Arial" panose="020B0604020202020204" pitchFamily="34" charset="0"/>
                <a:cs typeface="Arial" panose="020B0604020202020204" pitchFamily="34" charset="0"/>
              </a:rPr>
              <a:t>REDUCED.</a:t>
            </a:r>
            <a:endParaRPr sz="1600" dirty="0">
              <a:latin typeface="Arial" panose="020B0604020202020204" pitchFamily="34" charset="0"/>
              <a:cs typeface="Arial" panose="020B0604020202020204" pitchFamily="34" charset="0"/>
            </a:endParaRPr>
          </a:p>
          <a:p>
            <a:pPr marL="865454" lvl="1" indent="-286182">
              <a:spcBef>
                <a:spcPts val="490"/>
              </a:spcBef>
              <a:buFont typeface="Microsoft Sans Serif"/>
              <a:buChar char="–"/>
              <a:tabLst>
                <a:tab pos="865454" algn="l"/>
              </a:tabLst>
            </a:pPr>
            <a:r>
              <a:rPr sz="1600" spc="-131" dirty="0">
                <a:latin typeface="Arial" panose="020B0604020202020204" pitchFamily="34" charset="0"/>
                <a:cs typeface="Arial" panose="020B0604020202020204" pitchFamily="34" charset="0"/>
              </a:rPr>
              <a:t>It</a:t>
            </a:r>
            <a:r>
              <a:rPr sz="1600" spc="-163" dirty="0">
                <a:latin typeface="Arial" panose="020B0604020202020204" pitchFamily="34" charset="0"/>
                <a:cs typeface="Arial" panose="020B0604020202020204" pitchFamily="34" charset="0"/>
              </a:rPr>
              <a:t> </a:t>
            </a:r>
            <a:r>
              <a:rPr sz="1600" spc="-63" dirty="0">
                <a:latin typeface="Arial" panose="020B0604020202020204" pitchFamily="34" charset="0"/>
                <a:cs typeface="Arial" panose="020B0604020202020204" pitchFamily="34" charset="0"/>
              </a:rPr>
              <a:t>is</a:t>
            </a:r>
            <a:r>
              <a:rPr sz="1600" spc="-150" dirty="0">
                <a:latin typeface="Arial" panose="020B0604020202020204" pitchFamily="34" charset="0"/>
                <a:cs typeface="Arial" panose="020B0604020202020204" pitchFamily="34" charset="0"/>
              </a:rPr>
              <a:t> </a:t>
            </a:r>
            <a:r>
              <a:rPr sz="1600" spc="-45" dirty="0">
                <a:latin typeface="Arial" panose="020B0604020202020204" pitchFamily="34" charset="0"/>
                <a:cs typeface="Arial" panose="020B0604020202020204" pitchFamily="34" charset="0"/>
              </a:rPr>
              <a:t>the</a:t>
            </a:r>
            <a:r>
              <a:rPr sz="1600" spc="-163" dirty="0">
                <a:latin typeface="Arial" panose="020B0604020202020204" pitchFamily="34" charset="0"/>
                <a:cs typeface="Arial" panose="020B0604020202020204" pitchFamily="34" charset="0"/>
              </a:rPr>
              <a:t> </a:t>
            </a:r>
            <a:r>
              <a:rPr sz="1600" spc="-23" dirty="0">
                <a:latin typeface="Arial" panose="020B0604020202020204" pitchFamily="34" charset="0"/>
                <a:cs typeface="Arial" panose="020B0604020202020204" pitchFamily="34" charset="0"/>
              </a:rPr>
              <a:t>CATHODE</a:t>
            </a:r>
            <a:endParaRPr sz="1600" dirty="0">
              <a:latin typeface="Arial" panose="020B0604020202020204" pitchFamily="34" charset="0"/>
              <a:cs typeface="Arial" panose="020B0604020202020204" pitchFamily="34" charset="0"/>
            </a:endParaRPr>
          </a:p>
          <a:p>
            <a:pPr>
              <a:spcBef>
                <a:spcPts val="966"/>
              </a:spcBef>
            </a:pPr>
            <a:endParaRPr sz="1995" dirty="0">
              <a:latin typeface="Arial" panose="020B0604020202020204" pitchFamily="34" charset="0"/>
              <a:cs typeface="Arial" panose="020B0604020202020204" pitchFamily="34" charset="0"/>
            </a:endParaRPr>
          </a:p>
          <a:p>
            <a:pPr marL="579273">
              <a:tabLst>
                <a:tab pos="1224765" algn="l"/>
                <a:tab pos="3782548" algn="l"/>
              </a:tabLst>
            </a:pPr>
            <a:r>
              <a:rPr sz="1995" b="1" u="sng" spc="-18" dirty="0">
                <a:uFill>
                  <a:solidFill>
                    <a:srgbClr val="000000"/>
                  </a:solidFill>
                </a:uFill>
                <a:latin typeface="Arial" panose="020B0604020202020204" pitchFamily="34" charset="0"/>
                <a:cs typeface="Arial" panose="020B0604020202020204" pitchFamily="34" charset="0"/>
              </a:rPr>
              <a:t>Red:</a:t>
            </a:r>
            <a:r>
              <a:rPr sz="1995" b="1" dirty="0">
                <a:latin typeface="Arial" panose="020B0604020202020204" pitchFamily="34" charset="0"/>
                <a:cs typeface="Arial" panose="020B0604020202020204" pitchFamily="34" charset="0"/>
              </a:rPr>
              <a:t>	</a:t>
            </a:r>
            <a:r>
              <a:rPr sz="1995" spc="-168" dirty="0">
                <a:latin typeface="Arial" panose="020B0604020202020204" pitchFamily="34" charset="0"/>
                <a:cs typeface="Arial" panose="020B0604020202020204" pitchFamily="34" charset="0"/>
              </a:rPr>
              <a:t>Ag</a:t>
            </a:r>
            <a:r>
              <a:rPr sz="1972" spc="-251" baseline="24904" dirty="0">
                <a:latin typeface="Arial" panose="020B0604020202020204" pitchFamily="34" charset="0"/>
                <a:cs typeface="Arial" panose="020B0604020202020204" pitchFamily="34" charset="0"/>
              </a:rPr>
              <a:t>+</a:t>
            </a:r>
            <a:r>
              <a:rPr sz="1972" spc="61" baseline="24904" dirty="0">
                <a:latin typeface="Arial" panose="020B0604020202020204" pitchFamily="34" charset="0"/>
                <a:cs typeface="Arial" panose="020B0604020202020204" pitchFamily="34" charset="0"/>
              </a:rPr>
              <a:t> </a:t>
            </a:r>
            <a:r>
              <a:rPr sz="1995" spc="-467" dirty="0">
                <a:latin typeface="Arial" panose="020B0604020202020204" pitchFamily="34" charset="0"/>
                <a:cs typeface="Arial" panose="020B0604020202020204" pitchFamily="34" charset="0"/>
              </a:rPr>
              <a:t>+</a:t>
            </a:r>
            <a:r>
              <a:rPr sz="1995" spc="-181" dirty="0">
                <a:latin typeface="Arial" panose="020B0604020202020204" pitchFamily="34" charset="0"/>
                <a:cs typeface="Arial" panose="020B0604020202020204" pitchFamily="34" charset="0"/>
              </a:rPr>
              <a:t> </a:t>
            </a:r>
            <a:r>
              <a:rPr sz="1995" spc="-23" dirty="0">
                <a:latin typeface="Arial" panose="020B0604020202020204" pitchFamily="34" charset="0"/>
                <a:cs typeface="Arial" panose="020B0604020202020204" pitchFamily="34" charset="0"/>
              </a:rPr>
              <a:t>1e-</a:t>
            </a:r>
            <a:r>
              <a:rPr lang="en-IN" sz="1995" spc="-23" dirty="0">
                <a:latin typeface="Arial" panose="020B0604020202020204" pitchFamily="34" charset="0"/>
                <a:cs typeface="Arial" panose="020B0604020202020204" pitchFamily="34" charset="0"/>
              </a:rPr>
              <a:t> </a:t>
            </a:r>
            <a:r>
              <a:rPr lang="en-IN" sz="1995" spc="-23" dirty="0">
                <a:latin typeface="Arial" panose="020B0604020202020204" pitchFamily="34" charset="0"/>
                <a:cs typeface="Arial" panose="020B0604020202020204" pitchFamily="34" charset="0"/>
                <a:sym typeface="Symbol" panose="05050102010706020507" pitchFamily="18" charset="2"/>
              </a:rPr>
              <a:t> </a:t>
            </a:r>
            <a:r>
              <a:rPr lang="en-IN" sz="1995" spc="-23" dirty="0">
                <a:latin typeface="Arial" panose="020B0604020202020204" pitchFamily="34" charset="0"/>
                <a:cs typeface="Arial" panose="020B0604020202020204" pitchFamily="34" charset="0"/>
              </a:rPr>
              <a:t>A</a:t>
            </a:r>
            <a:r>
              <a:rPr sz="1995" spc="-23" dirty="0">
                <a:latin typeface="Arial" panose="020B0604020202020204" pitchFamily="34" charset="0"/>
                <a:cs typeface="Arial" panose="020B0604020202020204" pitchFamily="34" charset="0"/>
              </a:rPr>
              <a:t>g</a:t>
            </a:r>
            <a:r>
              <a:rPr sz="1972" spc="-34" baseline="24904" dirty="0">
                <a:latin typeface="Arial" panose="020B0604020202020204" pitchFamily="34" charset="0"/>
                <a:cs typeface="Arial" panose="020B0604020202020204" pitchFamily="34" charset="0"/>
              </a:rPr>
              <a:t>0</a:t>
            </a:r>
            <a:endParaRPr sz="1972" baseline="24904" dirty="0">
              <a:latin typeface="Arial" panose="020B0604020202020204" pitchFamily="34" charset="0"/>
              <a:cs typeface="Arial" panose="020B0604020202020204" pitchFamily="34" charset="0"/>
            </a:endParaRPr>
          </a:p>
          <a:p>
            <a:pPr marL="388677" indent="-342612">
              <a:spcBef>
                <a:spcPts val="1886"/>
              </a:spcBef>
              <a:buFont typeface="Microsoft Sans Serif"/>
              <a:buChar char="•"/>
              <a:tabLst>
                <a:tab pos="388677" algn="l"/>
              </a:tabLst>
            </a:pPr>
            <a:r>
              <a:rPr sz="1995" b="1" u="sng" dirty="0">
                <a:uFill>
                  <a:solidFill>
                    <a:srgbClr val="000000"/>
                  </a:solidFill>
                </a:uFill>
                <a:latin typeface="Arial" panose="020B0604020202020204" pitchFamily="34" charset="0"/>
                <a:cs typeface="Arial" panose="020B0604020202020204" pitchFamily="34" charset="0"/>
              </a:rPr>
              <a:t>Positive</a:t>
            </a:r>
            <a:r>
              <a:rPr sz="1995" b="1" u="sng" spc="-100" dirty="0">
                <a:uFill>
                  <a:solidFill>
                    <a:srgbClr val="000000"/>
                  </a:solidFill>
                </a:uFill>
                <a:latin typeface="Arial" panose="020B0604020202020204" pitchFamily="34" charset="0"/>
                <a:cs typeface="Arial" panose="020B0604020202020204" pitchFamily="34" charset="0"/>
              </a:rPr>
              <a:t> </a:t>
            </a:r>
            <a:r>
              <a:rPr sz="1995" b="1" u="sng" spc="-9" dirty="0">
                <a:uFill>
                  <a:solidFill>
                    <a:srgbClr val="000000"/>
                  </a:solidFill>
                </a:uFill>
                <a:latin typeface="Arial" panose="020B0604020202020204" pitchFamily="34" charset="0"/>
                <a:cs typeface="Arial" panose="020B0604020202020204" pitchFamily="34" charset="0"/>
              </a:rPr>
              <a:t>Electrode</a:t>
            </a:r>
            <a:endParaRPr sz="1995" dirty="0">
              <a:latin typeface="Arial" panose="020B0604020202020204" pitchFamily="34" charset="0"/>
              <a:cs typeface="Arial" panose="020B0604020202020204" pitchFamily="34" charset="0"/>
            </a:endParaRPr>
          </a:p>
          <a:p>
            <a:pPr marL="789446" lvl="1" indent="-286182">
              <a:spcBef>
                <a:spcPts val="490"/>
              </a:spcBef>
              <a:buFont typeface="Microsoft Sans Serif"/>
              <a:buChar char="–"/>
              <a:tabLst>
                <a:tab pos="789446" algn="l"/>
              </a:tabLst>
            </a:pPr>
            <a:r>
              <a:rPr sz="1600" spc="-18" dirty="0">
                <a:latin typeface="Arial" panose="020B0604020202020204" pitchFamily="34" charset="0"/>
                <a:cs typeface="Arial" panose="020B0604020202020204" pitchFamily="34" charset="0"/>
              </a:rPr>
              <a:t>Made</a:t>
            </a:r>
            <a:r>
              <a:rPr sz="1600" spc="-127" dirty="0">
                <a:latin typeface="Arial" panose="020B0604020202020204" pitchFamily="34" charset="0"/>
                <a:cs typeface="Arial" panose="020B0604020202020204" pitchFamily="34" charset="0"/>
              </a:rPr>
              <a:t> </a:t>
            </a:r>
            <a:r>
              <a:rPr sz="1600" spc="-45" dirty="0">
                <a:latin typeface="Arial" panose="020B0604020202020204" pitchFamily="34" charset="0"/>
                <a:cs typeface="Arial" panose="020B0604020202020204" pitchFamily="34" charset="0"/>
              </a:rPr>
              <a:t>of</a:t>
            </a:r>
            <a:r>
              <a:rPr sz="1600" spc="-145" dirty="0">
                <a:latin typeface="Arial" panose="020B0604020202020204" pitchFamily="34" charset="0"/>
                <a:cs typeface="Arial" panose="020B0604020202020204" pitchFamily="34" charset="0"/>
              </a:rPr>
              <a:t> </a:t>
            </a:r>
            <a:r>
              <a:rPr sz="1600" spc="-63" dirty="0">
                <a:latin typeface="Arial" panose="020B0604020202020204" pitchFamily="34" charset="0"/>
                <a:cs typeface="Arial" panose="020B0604020202020204" pitchFamily="34" charset="0"/>
              </a:rPr>
              <a:t>plating</a:t>
            </a:r>
            <a:r>
              <a:rPr sz="1600" spc="-136" dirty="0">
                <a:latin typeface="Arial" panose="020B0604020202020204" pitchFamily="34" charset="0"/>
                <a:cs typeface="Arial" panose="020B0604020202020204" pitchFamily="34" charset="0"/>
              </a:rPr>
              <a:t> </a:t>
            </a:r>
            <a:r>
              <a:rPr sz="1600" spc="-18" dirty="0">
                <a:latin typeface="Arial" panose="020B0604020202020204" pitchFamily="34" charset="0"/>
                <a:cs typeface="Arial" panose="020B0604020202020204" pitchFamily="34" charset="0"/>
              </a:rPr>
              <a:t>metal</a:t>
            </a:r>
            <a:endParaRPr sz="1600" dirty="0">
              <a:latin typeface="Arial" panose="020B0604020202020204" pitchFamily="34" charset="0"/>
              <a:cs typeface="Arial" panose="020B0604020202020204" pitchFamily="34" charset="0"/>
            </a:endParaRPr>
          </a:p>
          <a:p>
            <a:pPr marL="789446" marR="39156" lvl="1" indent="-286182">
              <a:spcBef>
                <a:spcPts val="490"/>
              </a:spcBef>
              <a:buFont typeface="Microsoft Sans Serif"/>
              <a:buChar char="–"/>
              <a:tabLst>
                <a:tab pos="789446" algn="l"/>
              </a:tabLst>
            </a:pPr>
            <a:r>
              <a:rPr sz="1600" spc="-131" dirty="0">
                <a:latin typeface="Arial" panose="020B0604020202020204" pitchFamily="34" charset="0"/>
                <a:cs typeface="Arial" panose="020B0604020202020204" pitchFamily="34" charset="0"/>
              </a:rPr>
              <a:t>It</a:t>
            </a:r>
            <a:r>
              <a:rPr sz="1600" spc="-150" dirty="0">
                <a:latin typeface="Arial" panose="020B0604020202020204" pitchFamily="34" charset="0"/>
                <a:cs typeface="Arial" panose="020B0604020202020204" pitchFamily="34" charset="0"/>
              </a:rPr>
              <a:t> </a:t>
            </a:r>
            <a:r>
              <a:rPr sz="1600" spc="-77" dirty="0">
                <a:latin typeface="Arial" panose="020B0604020202020204" pitchFamily="34" charset="0"/>
                <a:cs typeface="Arial" panose="020B0604020202020204" pitchFamily="34" charset="0"/>
              </a:rPr>
              <a:t>dissolves</a:t>
            </a:r>
            <a:r>
              <a:rPr sz="1600" spc="-109" dirty="0">
                <a:latin typeface="Arial" panose="020B0604020202020204" pitchFamily="34" charset="0"/>
                <a:cs typeface="Arial" panose="020B0604020202020204" pitchFamily="34" charset="0"/>
              </a:rPr>
              <a:t> </a:t>
            </a:r>
            <a:r>
              <a:rPr sz="1600" spc="-41" dirty="0">
                <a:latin typeface="Arial" panose="020B0604020202020204" pitchFamily="34" charset="0"/>
                <a:cs typeface="Arial" panose="020B0604020202020204" pitchFamily="34" charset="0"/>
              </a:rPr>
              <a:t>into</a:t>
            </a:r>
            <a:r>
              <a:rPr sz="1600" spc="-154" dirty="0">
                <a:latin typeface="Arial" panose="020B0604020202020204" pitchFamily="34" charset="0"/>
                <a:cs typeface="Arial" panose="020B0604020202020204" pitchFamily="34" charset="0"/>
              </a:rPr>
              <a:t> </a:t>
            </a:r>
            <a:r>
              <a:rPr sz="1600" spc="-45" dirty="0">
                <a:latin typeface="Arial" panose="020B0604020202020204" pitchFamily="34" charset="0"/>
                <a:cs typeface="Arial" panose="020B0604020202020204" pitchFamily="34" charset="0"/>
              </a:rPr>
              <a:t>solution</a:t>
            </a:r>
            <a:r>
              <a:rPr sz="1600" spc="-145" dirty="0">
                <a:latin typeface="Arial" panose="020B0604020202020204" pitchFamily="34" charset="0"/>
                <a:cs typeface="Arial" panose="020B0604020202020204" pitchFamily="34" charset="0"/>
              </a:rPr>
              <a:t> </a:t>
            </a:r>
            <a:r>
              <a:rPr sz="1600" spc="-113" dirty="0">
                <a:latin typeface="Arial" panose="020B0604020202020204" pitchFamily="34" charset="0"/>
                <a:cs typeface="Arial" panose="020B0604020202020204" pitchFamily="34" charset="0"/>
              </a:rPr>
              <a:t>as</a:t>
            </a:r>
            <a:r>
              <a:rPr sz="1600" spc="-136" dirty="0">
                <a:latin typeface="Arial" panose="020B0604020202020204" pitchFamily="34" charset="0"/>
                <a:cs typeface="Arial" panose="020B0604020202020204" pitchFamily="34" charset="0"/>
              </a:rPr>
              <a:t> </a:t>
            </a:r>
            <a:r>
              <a:rPr sz="1600" spc="-59" dirty="0">
                <a:latin typeface="Arial" panose="020B0604020202020204" pitchFamily="34" charset="0"/>
                <a:cs typeface="Arial" panose="020B0604020202020204" pitchFamily="34" charset="0"/>
              </a:rPr>
              <a:t>metal</a:t>
            </a:r>
            <a:r>
              <a:rPr sz="1600" spc="-154" dirty="0">
                <a:latin typeface="Arial" panose="020B0604020202020204" pitchFamily="34" charset="0"/>
                <a:cs typeface="Arial" panose="020B0604020202020204" pitchFamily="34" charset="0"/>
              </a:rPr>
              <a:t> </a:t>
            </a:r>
            <a:r>
              <a:rPr sz="1600" spc="-45" dirty="0">
                <a:latin typeface="Arial" panose="020B0604020202020204" pitchFamily="34" charset="0"/>
                <a:cs typeface="Arial" panose="020B0604020202020204" pitchFamily="34" charset="0"/>
              </a:rPr>
              <a:t>strip</a:t>
            </a:r>
            <a:r>
              <a:rPr sz="1600" spc="-150" dirty="0">
                <a:latin typeface="Arial" panose="020B0604020202020204" pitchFamily="34" charset="0"/>
                <a:cs typeface="Arial" panose="020B0604020202020204" pitchFamily="34" charset="0"/>
              </a:rPr>
              <a:t> </a:t>
            </a:r>
            <a:r>
              <a:rPr sz="1600" spc="-45" dirty="0">
                <a:latin typeface="Arial" panose="020B0604020202020204" pitchFamily="34" charset="0"/>
                <a:cs typeface="Arial" panose="020B0604020202020204" pitchFamily="34" charset="0"/>
              </a:rPr>
              <a:t>gets </a:t>
            </a:r>
            <a:r>
              <a:rPr sz="1600" spc="-73" dirty="0">
                <a:latin typeface="Arial" panose="020B0604020202020204" pitchFamily="34" charset="0"/>
                <a:cs typeface="Arial" panose="020B0604020202020204" pitchFamily="34" charset="0"/>
              </a:rPr>
              <a:t>OXIDIZED.</a:t>
            </a:r>
            <a:endParaRPr sz="1600" dirty="0">
              <a:latin typeface="Arial" panose="020B0604020202020204" pitchFamily="34" charset="0"/>
              <a:cs typeface="Arial" panose="020B0604020202020204" pitchFamily="34" charset="0"/>
            </a:endParaRPr>
          </a:p>
          <a:p>
            <a:pPr marL="789446" lvl="1" indent="-286182">
              <a:spcBef>
                <a:spcPts val="490"/>
              </a:spcBef>
              <a:buFont typeface="Microsoft Sans Serif"/>
              <a:buChar char="–"/>
              <a:tabLst>
                <a:tab pos="789446" algn="l"/>
              </a:tabLst>
            </a:pPr>
            <a:r>
              <a:rPr sz="1600" spc="-131" dirty="0">
                <a:latin typeface="Arial" panose="020B0604020202020204" pitchFamily="34" charset="0"/>
                <a:cs typeface="Arial" panose="020B0604020202020204" pitchFamily="34" charset="0"/>
              </a:rPr>
              <a:t>It</a:t>
            </a:r>
            <a:r>
              <a:rPr sz="1600" spc="-163" dirty="0">
                <a:latin typeface="Arial" panose="020B0604020202020204" pitchFamily="34" charset="0"/>
                <a:cs typeface="Arial" panose="020B0604020202020204" pitchFamily="34" charset="0"/>
              </a:rPr>
              <a:t> </a:t>
            </a:r>
            <a:r>
              <a:rPr sz="1600" spc="-63" dirty="0">
                <a:latin typeface="Arial" panose="020B0604020202020204" pitchFamily="34" charset="0"/>
                <a:cs typeface="Arial" panose="020B0604020202020204" pitchFamily="34" charset="0"/>
              </a:rPr>
              <a:t>is</a:t>
            </a:r>
            <a:r>
              <a:rPr sz="1600" spc="-150" dirty="0">
                <a:latin typeface="Arial" panose="020B0604020202020204" pitchFamily="34" charset="0"/>
                <a:cs typeface="Arial" panose="020B0604020202020204" pitchFamily="34" charset="0"/>
              </a:rPr>
              <a:t> </a:t>
            </a:r>
            <a:r>
              <a:rPr sz="1600" spc="-45" dirty="0">
                <a:latin typeface="Arial" panose="020B0604020202020204" pitchFamily="34" charset="0"/>
                <a:cs typeface="Arial" panose="020B0604020202020204" pitchFamily="34" charset="0"/>
              </a:rPr>
              <a:t>the</a:t>
            </a:r>
            <a:r>
              <a:rPr sz="1600" spc="-163" dirty="0">
                <a:latin typeface="Arial" panose="020B0604020202020204" pitchFamily="34" charset="0"/>
                <a:cs typeface="Arial" panose="020B0604020202020204" pitchFamily="34" charset="0"/>
              </a:rPr>
              <a:t> </a:t>
            </a:r>
            <a:r>
              <a:rPr sz="1600" spc="-18" dirty="0">
                <a:latin typeface="Arial" panose="020B0604020202020204" pitchFamily="34" charset="0"/>
                <a:cs typeface="Arial" panose="020B0604020202020204" pitchFamily="34" charset="0"/>
              </a:rPr>
              <a:t>ANODE</a:t>
            </a:r>
            <a:endParaRPr sz="1600" dirty="0">
              <a:latin typeface="Arial" panose="020B0604020202020204" pitchFamily="34" charset="0"/>
              <a:cs typeface="Arial" panose="020B0604020202020204" pitchFamily="34" charset="0"/>
            </a:endParaRPr>
          </a:p>
          <a:p>
            <a:pPr marL="789446" lvl="1" indent="-286182">
              <a:spcBef>
                <a:spcPts val="490"/>
              </a:spcBef>
              <a:buFont typeface="Microsoft Sans Serif"/>
              <a:buChar char="–"/>
              <a:tabLst>
                <a:tab pos="789446" algn="l"/>
              </a:tabLst>
            </a:pPr>
            <a:r>
              <a:rPr sz="1600" spc="-103" dirty="0">
                <a:latin typeface="Arial" panose="020B0604020202020204" pitchFamily="34" charset="0"/>
                <a:cs typeface="Arial" panose="020B0604020202020204" pitchFamily="34" charset="0"/>
              </a:rPr>
              <a:t>This</a:t>
            </a:r>
            <a:r>
              <a:rPr sz="1600" spc="-131" dirty="0">
                <a:latin typeface="Arial" panose="020B0604020202020204" pitchFamily="34" charset="0"/>
                <a:cs typeface="Arial" panose="020B0604020202020204" pitchFamily="34" charset="0"/>
              </a:rPr>
              <a:t> </a:t>
            </a:r>
            <a:r>
              <a:rPr sz="1600" spc="-63" dirty="0">
                <a:latin typeface="Arial" panose="020B0604020202020204" pitchFamily="34" charset="0"/>
                <a:cs typeface="Arial" panose="020B0604020202020204" pitchFamily="34" charset="0"/>
              </a:rPr>
              <a:t>replenishes</a:t>
            </a:r>
            <a:r>
              <a:rPr sz="1600" spc="-154" dirty="0">
                <a:latin typeface="Arial" panose="020B0604020202020204" pitchFamily="34" charset="0"/>
                <a:cs typeface="Arial" panose="020B0604020202020204" pitchFamily="34" charset="0"/>
              </a:rPr>
              <a:t> </a:t>
            </a:r>
            <a:r>
              <a:rPr sz="1600" spc="-45" dirty="0">
                <a:latin typeface="Arial" panose="020B0604020202020204" pitchFamily="34" charset="0"/>
                <a:cs typeface="Arial" panose="020B0604020202020204" pitchFamily="34" charset="0"/>
              </a:rPr>
              <a:t>the</a:t>
            </a:r>
            <a:r>
              <a:rPr sz="1600" spc="-145" dirty="0">
                <a:latin typeface="Arial" panose="020B0604020202020204" pitchFamily="34" charset="0"/>
                <a:cs typeface="Arial" panose="020B0604020202020204" pitchFamily="34" charset="0"/>
              </a:rPr>
              <a:t> </a:t>
            </a:r>
            <a:r>
              <a:rPr sz="1600" spc="-63" dirty="0">
                <a:latin typeface="Arial" panose="020B0604020202020204" pitchFamily="34" charset="0"/>
                <a:cs typeface="Arial" panose="020B0604020202020204" pitchFamily="34" charset="0"/>
              </a:rPr>
              <a:t>ions</a:t>
            </a:r>
            <a:r>
              <a:rPr sz="1600" spc="-131" dirty="0">
                <a:latin typeface="Arial" panose="020B0604020202020204" pitchFamily="34" charset="0"/>
                <a:cs typeface="Arial" panose="020B0604020202020204" pitchFamily="34" charset="0"/>
              </a:rPr>
              <a:t> </a:t>
            </a:r>
            <a:r>
              <a:rPr sz="1600" spc="-50" dirty="0">
                <a:latin typeface="Arial" panose="020B0604020202020204" pitchFamily="34" charset="0"/>
                <a:cs typeface="Arial" panose="020B0604020202020204" pitchFamily="34" charset="0"/>
              </a:rPr>
              <a:t>for</a:t>
            </a:r>
            <a:r>
              <a:rPr sz="1600" spc="-145" dirty="0">
                <a:latin typeface="Arial" panose="020B0604020202020204" pitchFamily="34" charset="0"/>
                <a:cs typeface="Arial" panose="020B0604020202020204" pitchFamily="34" charset="0"/>
              </a:rPr>
              <a:t> </a:t>
            </a:r>
            <a:r>
              <a:rPr sz="1600" spc="-9" dirty="0">
                <a:latin typeface="Arial" panose="020B0604020202020204" pitchFamily="34" charset="0"/>
                <a:cs typeface="Arial" panose="020B0604020202020204" pitchFamily="34" charset="0"/>
              </a:rPr>
              <a:t>plating.</a:t>
            </a:r>
            <a:endParaRPr sz="1600" dirty="0">
              <a:latin typeface="Arial" panose="020B0604020202020204" pitchFamily="34" charset="0"/>
              <a:cs typeface="Arial" panose="020B0604020202020204" pitchFamily="34" charset="0"/>
            </a:endParaRPr>
          </a:p>
          <a:p>
            <a:pPr>
              <a:spcBef>
                <a:spcPts val="961"/>
              </a:spcBef>
            </a:pPr>
            <a:endParaRPr sz="1600" dirty="0">
              <a:latin typeface="Arial" panose="020B0604020202020204" pitchFamily="34" charset="0"/>
              <a:cs typeface="Arial" panose="020B0604020202020204" pitchFamily="34" charset="0"/>
            </a:endParaRPr>
          </a:p>
          <a:p>
            <a:pPr marL="388677">
              <a:spcBef>
                <a:spcPts val="5"/>
              </a:spcBef>
              <a:tabLst>
                <a:tab pos="2447802" algn="l"/>
              </a:tabLst>
            </a:pPr>
            <a:r>
              <a:rPr sz="1995" b="1" u="sng" dirty="0">
                <a:uFill>
                  <a:solidFill>
                    <a:srgbClr val="000000"/>
                  </a:solidFill>
                </a:uFill>
                <a:latin typeface="Arial" panose="020B0604020202020204" pitchFamily="34" charset="0"/>
                <a:cs typeface="Arial" panose="020B0604020202020204" pitchFamily="34" charset="0"/>
              </a:rPr>
              <a:t>Ox:</a:t>
            </a:r>
            <a:r>
              <a:rPr sz="1995" b="1" spc="431" dirty="0">
                <a:latin typeface="Arial" panose="020B0604020202020204" pitchFamily="34" charset="0"/>
                <a:cs typeface="Arial" panose="020B0604020202020204" pitchFamily="34" charset="0"/>
              </a:rPr>
              <a:t> </a:t>
            </a:r>
            <a:r>
              <a:rPr sz="1995" spc="-23" dirty="0">
                <a:latin typeface="Arial" panose="020B0604020202020204" pitchFamily="34" charset="0"/>
                <a:cs typeface="Arial" panose="020B0604020202020204" pitchFamily="34" charset="0"/>
              </a:rPr>
              <a:t>Ag</a:t>
            </a:r>
            <a:r>
              <a:rPr sz="1972" spc="-34" baseline="24904" dirty="0">
                <a:latin typeface="Arial" panose="020B0604020202020204" pitchFamily="34" charset="0"/>
                <a:cs typeface="Arial" panose="020B0604020202020204" pitchFamily="34" charset="0"/>
              </a:rPr>
              <a:t>0</a:t>
            </a:r>
            <a:r>
              <a:rPr lang="en-IN" sz="1972" spc="-34" dirty="0">
                <a:latin typeface="Arial" panose="020B0604020202020204" pitchFamily="34" charset="0"/>
                <a:cs typeface="Arial" panose="020B0604020202020204" pitchFamily="34" charset="0"/>
              </a:rPr>
              <a:t> </a:t>
            </a:r>
            <a:r>
              <a:rPr lang="en-IN" sz="1972" spc="-34" dirty="0">
                <a:latin typeface="Arial" panose="020B0604020202020204" pitchFamily="34" charset="0"/>
                <a:cs typeface="Arial" panose="020B0604020202020204" pitchFamily="34" charset="0"/>
                <a:sym typeface="Symbol" panose="05050102010706020507" pitchFamily="18" charset="2"/>
              </a:rPr>
              <a:t> </a:t>
            </a:r>
            <a:r>
              <a:rPr sz="1995" spc="-172" dirty="0">
                <a:latin typeface="Arial" panose="020B0604020202020204" pitchFamily="34" charset="0"/>
                <a:cs typeface="Arial" panose="020B0604020202020204" pitchFamily="34" charset="0"/>
              </a:rPr>
              <a:t>Ag</a:t>
            </a:r>
            <a:r>
              <a:rPr sz="1972" spc="-258" baseline="24904" dirty="0">
                <a:latin typeface="Arial" panose="020B0604020202020204" pitchFamily="34" charset="0"/>
                <a:cs typeface="Arial" panose="020B0604020202020204" pitchFamily="34" charset="0"/>
              </a:rPr>
              <a:t>+</a:t>
            </a:r>
            <a:r>
              <a:rPr sz="1972" spc="47" baseline="24904" dirty="0">
                <a:latin typeface="Arial" panose="020B0604020202020204" pitchFamily="34" charset="0"/>
                <a:cs typeface="Arial" panose="020B0604020202020204" pitchFamily="34" charset="0"/>
              </a:rPr>
              <a:t> </a:t>
            </a:r>
            <a:r>
              <a:rPr sz="1995" spc="-467" dirty="0">
                <a:latin typeface="Arial" panose="020B0604020202020204" pitchFamily="34" charset="0"/>
                <a:cs typeface="Arial" panose="020B0604020202020204" pitchFamily="34" charset="0"/>
              </a:rPr>
              <a:t>+</a:t>
            </a:r>
            <a:r>
              <a:rPr sz="1995" spc="-172" dirty="0">
                <a:latin typeface="Arial" panose="020B0604020202020204" pitchFamily="34" charset="0"/>
                <a:cs typeface="Arial" panose="020B0604020202020204" pitchFamily="34" charset="0"/>
              </a:rPr>
              <a:t> </a:t>
            </a:r>
            <a:r>
              <a:rPr sz="1995" spc="-23" dirty="0">
                <a:latin typeface="Arial" panose="020B0604020202020204" pitchFamily="34" charset="0"/>
                <a:cs typeface="Arial" panose="020B0604020202020204" pitchFamily="34" charset="0"/>
              </a:rPr>
              <a:t>1e</a:t>
            </a:r>
            <a:r>
              <a:rPr sz="1972" spc="-34" baseline="24904" dirty="0">
                <a:latin typeface="Arial" panose="020B0604020202020204" pitchFamily="34" charset="0"/>
                <a:cs typeface="Arial" panose="020B0604020202020204" pitchFamily="34" charset="0"/>
              </a:rPr>
              <a:t>-</a:t>
            </a:r>
            <a:endParaRPr sz="1972" baseline="24904"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F4AB10DB-A791-30E0-6EE5-76BA04DADA29}"/>
              </a:ext>
            </a:extLst>
          </p:cNvPr>
          <p:cNvSpPr txBox="1"/>
          <p:nvPr/>
        </p:nvSpPr>
        <p:spPr>
          <a:xfrm>
            <a:off x="4275310" y="143766"/>
            <a:ext cx="3352800" cy="369332"/>
          </a:xfrm>
          <a:prstGeom prst="rect">
            <a:avLst/>
          </a:prstGeom>
          <a:noFill/>
        </p:spPr>
        <p:txBody>
          <a:bodyPr wrap="square">
            <a:spAutoFit/>
          </a:bodyPr>
          <a:lstStyle/>
          <a:p>
            <a:r>
              <a:rPr lang="en-IN" sz="1800" b="1" dirty="0">
                <a:solidFill>
                  <a:srgbClr val="C00000"/>
                </a:solidFill>
                <a:latin typeface="Arial" panose="020B0604020202020204" pitchFamily="34" charset="0"/>
                <a:cs typeface="Arial" panose="020B0604020202020204" pitchFamily="34" charset="0"/>
              </a:rPr>
              <a:t>Electrolysis:</a:t>
            </a:r>
            <a:r>
              <a:rPr lang="en-IN" sz="1800" b="1" spc="14" dirty="0">
                <a:solidFill>
                  <a:srgbClr val="C00000"/>
                </a:solidFill>
                <a:latin typeface="Arial" panose="020B0604020202020204" pitchFamily="34" charset="0"/>
                <a:cs typeface="Arial" panose="020B0604020202020204" pitchFamily="34" charset="0"/>
              </a:rPr>
              <a:t> </a:t>
            </a:r>
            <a:r>
              <a:rPr lang="en-IN" sz="1800" b="1" spc="-9" dirty="0">
                <a:solidFill>
                  <a:srgbClr val="C00000"/>
                </a:solidFill>
                <a:latin typeface="Arial" panose="020B0604020202020204" pitchFamily="34" charset="0"/>
                <a:cs typeface="Arial" panose="020B0604020202020204" pitchFamily="34" charset="0"/>
              </a:rPr>
              <a:t>Electroplating</a:t>
            </a:r>
            <a:endParaRPr lang="en-IN" dirty="0">
              <a:solidFill>
                <a:srgbClr val="C00000"/>
              </a:solidFill>
              <a:latin typeface="Arial" panose="020B0604020202020204" pitchFamily="34" charset="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2223942-9A4F-8777-AF22-26BDAE9C13B1}"/>
              </a:ext>
            </a:extLst>
          </p:cNvPr>
          <p:cNvSpPr txBox="1"/>
          <p:nvPr/>
        </p:nvSpPr>
        <p:spPr>
          <a:xfrm>
            <a:off x="4275310" y="143766"/>
            <a:ext cx="3352800" cy="369332"/>
          </a:xfrm>
          <a:prstGeom prst="rect">
            <a:avLst/>
          </a:prstGeom>
          <a:noFill/>
        </p:spPr>
        <p:txBody>
          <a:bodyPr wrap="square">
            <a:spAutoFit/>
          </a:bodyPr>
          <a:lstStyle/>
          <a:p>
            <a:r>
              <a:rPr lang="en-IN" sz="1800" b="1" dirty="0">
                <a:solidFill>
                  <a:srgbClr val="C00000"/>
                </a:solidFill>
                <a:latin typeface="Arial" panose="020B0604020202020204" pitchFamily="34" charset="0"/>
                <a:cs typeface="Arial" panose="020B0604020202020204" pitchFamily="34" charset="0"/>
              </a:rPr>
              <a:t>Electrolysis:</a:t>
            </a:r>
            <a:r>
              <a:rPr lang="en-IN" sz="1800" b="1" spc="14" dirty="0">
                <a:solidFill>
                  <a:srgbClr val="C00000"/>
                </a:solidFill>
                <a:latin typeface="Arial" panose="020B0604020202020204" pitchFamily="34" charset="0"/>
                <a:cs typeface="Arial" panose="020B0604020202020204" pitchFamily="34" charset="0"/>
              </a:rPr>
              <a:t> </a:t>
            </a:r>
            <a:r>
              <a:rPr lang="en-IN" sz="1800" b="1" spc="-9" dirty="0">
                <a:solidFill>
                  <a:srgbClr val="C00000"/>
                </a:solidFill>
                <a:latin typeface="Arial" panose="020B0604020202020204" pitchFamily="34" charset="0"/>
                <a:cs typeface="Arial" panose="020B0604020202020204" pitchFamily="34" charset="0"/>
              </a:rPr>
              <a:t>Electroplating</a:t>
            </a:r>
            <a:endParaRPr lang="en-IN" dirty="0">
              <a:solidFill>
                <a:srgbClr val="C0000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E5DB1B45-5AB4-BEDC-083B-0CA24261F504}"/>
              </a:ext>
            </a:extLst>
          </p:cNvPr>
          <p:cNvSpPr txBox="1"/>
          <p:nvPr/>
        </p:nvSpPr>
        <p:spPr>
          <a:xfrm>
            <a:off x="607821" y="2738544"/>
            <a:ext cx="4372992" cy="2308324"/>
          </a:xfrm>
          <a:prstGeom prst="rect">
            <a:avLst/>
          </a:prstGeom>
          <a:noFill/>
        </p:spPr>
        <p:txBody>
          <a:bodyPr wrap="none" rtlCol="0">
            <a:spAutoFit/>
          </a:bodyPr>
          <a:lstStyle/>
          <a:p>
            <a:pPr algn="l"/>
            <a:r>
              <a:rPr lang="en-IN" b="1" dirty="0">
                <a:solidFill>
                  <a:srgbClr val="000000"/>
                </a:solidFill>
                <a:latin typeface="Arial" panose="020B0604020202020204" pitchFamily="34" charset="0"/>
                <a:cs typeface="Arial" panose="020B0604020202020204" pitchFamily="34" charset="0"/>
              </a:rPr>
              <a:t>m = M.I.t/</a:t>
            </a:r>
            <a:r>
              <a:rPr lang="en-IN" b="1" dirty="0" err="1">
                <a:solidFill>
                  <a:srgbClr val="000000"/>
                </a:solidFill>
                <a:latin typeface="Arial" panose="020B0604020202020204" pitchFamily="34" charset="0"/>
                <a:cs typeface="Arial" panose="020B0604020202020204" pitchFamily="34" charset="0"/>
              </a:rPr>
              <a:t>nF</a:t>
            </a:r>
            <a:endParaRPr lang="en-IN" sz="1800" b="1" i="0" u="none" strike="noStrike" baseline="0" dirty="0">
              <a:solidFill>
                <a:srgbClr val="000000"/>
              </a:solidFill>
              <a:latin typeface="Arial" panose="020B0604020202020204" pitchFamily="34" charset="0"/>
              <a:cs typeface="Arial" panose="020B0604020202020204" pitchFamily="34" charset="0"/>
            </a:endParaRPr>
          </a:p>
          <a:p>
            <a:endParaRPr lang="en-IN" sz="1800" b="1" i="0" u="none" strike="noStrike" baseline="0" dirty="0">
              <a:latin typeface="Arial" panose="020B0604020202020204" pitchFamily="34" charset="0"/>
              <a:cs typeface="Arial" panose="020B0604020202020204" pitchFamily="34" charset="0"/>
            </a:endParaRPr>
          </a:p>
          <a:p>
            <a:pPr marR="69770" algn="l"/>
            <a:r>
              <a:rPr lang="en-IN" sz="1800" i="0" u="none" strike="noStrike" baseline="0" dirty="0">
                <a:latin typeface="Arial" panose="020B0604020202020204" pitchFamily="34" charset="0"/>
                <a:cs typeface="Arial" panose="020B0604020202020204" pitchFamily="34" charset="0"/>
              </a:rPr>
              <a:t>m -mass of substance</a:t>
            </a:r>
          </a:p>
          <a:p>
            <a:pPr marR="23620" algn="l"/>
            <a:r>
              <a:rPr lang="en-US" sz="1800" i="0" u="none" strike="noStrike" baseline="0" dirty="0">
                <a:latin typeface="Arial" panose="020B0604020202020204" pitchFamily="34" charset="0"/>
                <a:cs typeface="Arial" panose="020B0604020202020204" pitchFamily="34" charset="0"/>
              </a:rPr>
              <a:t>M -molecular weight of the substance</a:t>
            </a:r>
          </a:p>
          <a:p>
            <a:pPr marR="64200" algn="l"/>
            <a:r>
              <a:rPr lang="en-IN" sz="1800" i="0" u="none" strike="noStrike" baseline="0" dirty="0">
                <a:latin typeface="Arial" panose="020B0604020202020204" pitchFamily="34" charset="0"/>
                <a:cs typeface="Arial" panose="020B0604020202020204" pitchFamily="34" charset="0"/>
              </a:rPr>
              <a:t>I -current passed (A)</a:t>
            </a:r>
          </a:p>
          <a:p>
            <a:pPr marR="20450" algn="l"/>
            <a:r>
              <a:rPr lang="en-US" sz="1800" i="0" u="none" strike="noStrike" baseline="0" dirty="0">
                <a:latin typeface="Arial" panose="020B0604020202020204" pitchFamily="34" charset="0"/>
                <a:cs typeface="Arial" panose="020B0604020202020204" pitchFamily="34" charset="0"/>
              </a:rPr>
              <a:t>t -time for which the current is passed (s)</a:t>
            </a:r>
          </a:p>
          <a:p>
            <a:pPr marR="31500" algn="l"/>
            <a:r>
              <a:rPr lang="en-US" sz="1800" i="0" u="none" strike="noStrike" baseline="0" dirty="0">
                <a:latin typeface="Arial" panose="020B0604020202020204" pitchFamily="34" charset="0"/>
                <a:cs typeface="Arial" panose="020B0604020202020204" pitchFamily="34" charset="0"/>
              </a:rPr>
              <a:t>n -number of electrons transferred</a:t>
            </a:r>
          </a:p>
          <a:p>
            <a:pPr marR="30350" algn="l"/>
            <a:r>
              <a:rPr lang="en-US" sz="1800" i="0" u="none" strike="noStrike" baseline="0" dirty="0">
                <a:latin typeface="Arial" panose="020B0604020202020204" pitchFamily="34" charset="0"/>
                <a:cs typeface="Arial" panose="020B0604020202020204" pitchFamily="34" charset="0"/>
              </a:rPr>
              <a:t>F -Faraday constant (96475 C / </a:t>
            </a:r>
            <a:r>
              <a:rPr lang="en-US" sz="1800" i="0" u="none" strike="noStrike" baseline="0" dirty="0" err="1">
                <a:latin typeface="Arial" panose="020B0604020202020204" pitchFamily="34" charset="0"/>
                <a:cs typeface="Arial" panose="020B0604020202020204" pitchFamily="34" charset="0"/>
              </a:rPr>
              <a:t>eqv</a:t>
            </a:r>
            <a:r>
              <a:rPr lang="en-US" sz="1800" i="0" u="none" strike="noStrike" baseline="0"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319F916C-A35F-0074-92F7-F5E4E6ABBD9D}"/>
              </a:ext>
            </a:extLst>
          </p:cNvPr>
          <p:cNvSpPr txBox="1"/>
          <p:nvPr/>
        </p:nvSpPr>
        <p:spPr>
          <a:xfrm>
            <a:off x="592274" y="747266"/>
            <a:ext cx="10367005" cy="369332"/>
          </a:xfrm>
          <a:prstGeom prst="rect">
            <a:avLst/>
          </a:prstGeom>
          <a:noFill/>
        </p:spPr>
        <p:txBody>
          <a:bodyPr wrap="none" rtlCol="0">
            <a:spAutoFit/>
          </a:bodyPr>
          <a:lstStyle/>
          <a:p>
            <a:r>
              <a:rPr lang="en-US" sz="1800" spc="-190" dirty="0">
                <a:latin typeface="Tahoma"/>
                <a:cs typeface="Tahoma"/>
              </a:rPr>
              <a:t>If</a:t>
            </a:r>
            <a:r>
              <a:rPr lang="en-US" sz="1800" spc="-210" dirty="0">
                <a:latin typeface="Tahoma"/>
                <a:cs typeface="Tahoma"/>
              </a:rPr>
              <a:t> </a:t>
            </a:r>
            <a:r>
              <a:rPr lang="en-US" sz="1800" spc="-120" dirty="0">
                <a:latin typeface="Tahoma"/>
                <a:cs typeface="Tahoma"/>
              </a:rPr>
              <a:t>10</a:t>
            </a:r>
            <a:r>
              <a:rPr lang="en-US" sz="1800" spc="-240" dirty="0">
                <a:latin typeface="Tahoma"/>
                <a:cs typeface="Tahoma"/>
              </a:rPr>
              <a:t> </a:t>
            </a:r>
            <a:r>
              <a:rPr lang="en-US" sz="1800" spc="-125" dirty="0">
                <a:latin typeface="Tahoma"/>
                <a:cs typeface="Tahoma"/>
              </a:rPr>
              <a:t>amps</a:t>
            </a:r>
            <a:r>
              <a:rPr lang="en-US" sz="1800" spc="-220" dirty="0">
                <a:latin typeface="Tahoma"/>
                <a:cs typeface="Tahoma"/>
              </a:rPr>
              <a:t> </a:t>
            </a:r>
            <a:r>
              <a:rPr lang="en-US" sz="1800" spc="-95" dirty="0">
                <a:latin typeface="Tahoma"/>
                <a:cs typeface="Tahoma"/>
              </a:rPr>
              <a:t>are</a:t>
            </a:r>
            <a:r>
              <a:rPr lang="en-US" sz="1800" spc="-210" dirty="0">
                <a:latin typeface="Tahoma"/>
                <a:cs typeface="Tahoma"/>
              </a:rPr>
              <a:t> </a:t>
            </a:r>
            <a:r>
              <a:rPr lang="en-US" sz="1800" spc="-80" dirty="0">
                <a:latin typeface="Tahoma"/>
                <a:cs typeface="Tahoma"/>
              </a:rPr>
              <a:t>run</a:t>
            </a:r>
            <a:r>
              <a:rPr lang="en-US" sz="1800" spc="-210" dirty="0">
                <a:latin typeface="Tahoma"/>
                <a:cs typeface="Tahoma"/>
              </a:rPr>
              <a:t> </a:t>
            </a:r>
            <a:r>
              <a:rPr lang="en-US" sz="1800" spc="-95" dirty="0">
                <a:latin typeface="Tahoma"/>
                <a:cs typeface="Tahoma"/>
              </a:rPr>
              <a:t>through</a:t>
            </a:r>
            <a:r>
              <a:rPr lang="en-US" sz="1800" spc="-204" dirty="0">
                <a:latin typeface="Tahoma"/>
                <a:cs typeface="Tahoma"/>
              </a:rPr>
              <a:t> </a:t>
            </a:r>
            <a:r>
              <a:rPr lang="en-US" sz="1800" spc="-130" dirty="0">
                <a:latin typeface="Tahoma"/>
                <a:cs typeface="Tahoma"/>
              </a:rPr>
              <a:t>a</a:t>
            </a:r>
            <a:r>
              <a:rPr lang="en-US" sz="1800" spc="-220" dirty="0">
                <a:latin typeface="Tahoma"/>
                <a:cs typeface="Tahoma"/>
              </a:rPr>
              <a:t> </a:t>
            </a:r>
            <a:r>
              <a:rPr lang="en-US" sz="1800" spc="-150" dirty="0">
                <a:latin typeface="Tahoma"/>
                <a:cs typeface="Tahoma"/>
              </a:rPr>
              <a:t>CuSO</a:t>
            </a:r>
            <a:r>
              <a:rPr lang="en-US" sz="1800" spc="-225" baseline="-20634" dirty="0">
                <a:latin typeface="Tahoma"/>
                <a:cs typeface="Tahoma"/>
              </a:rPr>
              <a:t>4 </a:t>
            </a:r>
            <a:r>
              <a:rPr lang="en-US" sz="1800" spc="-60" dirty="0">
                <a:latin typeface="Tahoma"/>
                <a:cs typeface="Tahoma"/>
              </a:rPr>
              <a:t>solution</a:t>
            </a:r>
            <a:r>
              <a:rPr lang="en-US" sz="1800" spc="-235" dirty="0">
                <a:latin typeface="Tahoma"/>
                <a:cs typeface="Tahoma"/>
              </a:rPr>
              <a:t> </a:t>
            </a:r>
            <a:r>
              <a:rPr lang="en-US" sz="1800" spc="-65" dirty="0">
                <a:latin typeface="Tahoma"/>
                <a:cs typeface="Tahoma"/>
              </a:rPr>
              <a:t>for</a:t>
            </a:r>
            <a:r>
              <a:rPr lang="en-US" sz="1800" spc="-215" dirty="0">
                <a:latin typeface="Tahoma"/>
                <a:cs typeface="Tahoma"/>
              </a:rPr>
              <a:t> </a:t>
            </a:r>
            <a:r>
              <a:rPr lang="en-US" sz="1800" spc="-125" dirty="0">
                <a:latin typeface="Tahoma"/>
                <a:cs typeface="Tahoma"/>
              </a:rPr>
              <a:t>5</a:t>
            </a:r>
            <a:r>
              <a:rPr lang="en-US" sz="1800" spc="-215" dirty="0">
                <a:latin typeface="Tahoma"/>
                <a:cs typeface="Tahoma"/>
              </a:rPr>
              <a:t> </a:t>
            </a:r>
            <a:r>
              <a:rPr lang="en-US" sz="1800" spc="-95" dirty="0">
                <a:latin typeface="Tahoma"/>
                <a:cs typeface="Tahoma"/>
              </a:rPr>
              <a:t>minutes,</a:t>
            </a:r>
            <a:r>
              <a:rPr lang="en-US" sz="1800" spc="-215" dirty="0">
                <a:latin typeface="Tahoma"/>
                <a:cs typeface="Tahoma"/>
              </a:rPr>
              <a:t> </a:t>
            </a:r>
            <a:r>
              <a:rPr lang="en-US" sz="1800" spc="-45" dirty="0">
                <a:latin typeface="Tahoma"/>
                <a:cs typeface="Tahoma"/>
              </a:rPr>
              <a:t>calculate </a:t>
            </a:r>
            <a:r>
              <a:rPr lang="en-US" sz="1800" spc="-65" dirty="0">
                <a:latin typeface="Tahoma"/>
                <a:cs typeface="Tahoma"/>
              </a:rPr>
              <a:t>the</a:t>
            </a:r>
            <a:r>
              <a:rPr lang="en-US" sz="1800" spc="-215" dirty="0">
                <a:latin typeface="Tahoma"/>
                <a:cs typeface="Tahoma"/>
              </a:rPr>
              <a:t> </a:t>
            </a:r>
            <a:r>
              <a:rPr lang="en-US" sz="1800" spc="-145" dirty="0">
                <a:latin typeface="Tahoma"/>
                <a:cs typeface="Tahoma"/>
              </a:rPr>
              <a:t>grams</a:t>
            </a:r>
            <a:r>
              <a:rPr lang="en-US" sz="1800" spc="-225" dirty="0">
                <a:latin typeface="Tahoma"/>
                <a:cs typeface="Tahoma"/>
              </a:rPr>
              <a:t> </a:t>
            </a:r>
            <a:r>
              <a:rPr lang="en-US" sz="1800" spc="-45" dirty="0">
                <a:latin typeface="Tahoma"/>
                <a:cs typeface="Tahoma"/>
              </a:rPr>
              <a:t>of</a:t>
            </a:r>
            <a:r>
              <a:rPr lang="en-US" sz="1800" spc="-235" dirty="0">
                <a:latin typeface="Tahoma"/>
                <a:cs typeface="Tahoma"/>
              </a:rPr>
              <a:t> </a:t>
            </a:r>
            <a:r>
              <a:rPr lang="en-US" sz="1800" spc="-130" dirty="0">
                <a:latin typeface="Tahoma"/>
                <a:cs typeface="Tahoma"/>
              </a:rPr>
              <a:t>Cu</a:t>
            </a:r>
            <a:r>
              <a:rPr lang="en-US" sz="1800" spc="-229" dirty="0">
                <a:latin typeface="Tahoma"/>
                <a:cs typeface="Tahoma"/>
              </a:rPr>
              <a:t> </a:t>
            </a:r>
            <a:r>
              <a:rPr lang="en-US" sz="1800" spc="-70" dirty="0">
                <a:latin typeface="Tahoma"/>
                <a:cs typeface="Tahoma"/>
              </a:rPr>
              <a:t>that</a:t>
            </a:r>
            <a:r>
              <a:rPr lang="en-US" sz="1800" spc="-235" dirty="0">
                <a:latin typeface="Tahoma"/>
                <a:cs typeface="Tahoma"/>
              </a:rPr>
              <a:t> </a:t>
            </a:r>
            <a:r>
              <a:rPr lang="en-US" sz="1800" spc="-20" dirty="0">
                <a:latin typeface="Tahoma"/>
                <a:cs typeface="Tahoma"/>
              </a:rPr>
              <a:t>will</a:t>
            </a:r>
            <a:r>
              <a:rPr lang="en-US" sz="1800" spc="-245" dirty="0">
                <a:latin typeface="Tahoma"/>
                <a:cs typeface="Tahoma"/>
              </a:rPr>
              <a:t> </a:t>
            </a:r>
            <a:r>
              <a:rPr lang="en-US" sz="1800" spc="-70" dirty="0">
                <a:latin typeface="Tahoma"/>
                <a:cs typeface="Tahoma"/>
              </a:rPr>
              <a:t>plate</a:t>
            </a:r>
            <a:r>
              <a:rPr lang="en-US" sz="1800" spc="-215" dirty="0">
                <a:latin typeface="Tahoma"/>
                <a:cs typeface="Tahoma"/>
              </a:rPr>
              <a:t> </a:t>
            </a:r>
            <a:r>
              <a:rPr lang="en-US" sz="1800" spc="-65" dirty="0">
                <a:latin typeface="Tahoma"/>
                <a:cs typeface="Tahoma"/>
              </a:rPr>
              <a:t>onto</a:t>
            </a:r>
            <a:r>
              <a:rPr lang="en-US" sz="1800" spc="-235" dirty="0">
                <a:latin typeface="Tahoma"/>
                <a:cs typeface="Tahoma"/>
              </a:rPr>
              <a:t> </a:t>
            </a:r>
            <a:r>
              <a:rPr lang="en-US" sz="1800" spc="-65" dirty="0">
                <a:latin typeface="Tahoma"/>
                <a:cs typeface="Tahoma"/>
              </a:rPr>
              <a:t>the</a:t>
            </a:r>
            <a:r>
              <a:rPr lang="en-US" sz="1800" spc="-215" dirty="0">
                <a:latin typeface="Tahoma"/>
                <a:cs typeface="Tahoma"/>
              </a:rPr>
              <a:t> </a:t>
            </a:r>
            <a:r>
              <a:rPr lang="en-US" sz="1800" spc="-10" dirty="0">
                <a:latin typeface="Tahoma"/>
                <a:cs typeface="Tahoma"/>
              </a:rPr>
              <a:t>spoon</a:t>
            </a:r>
            <a:endParaRPr lang="en-IN" dirty="0"/>
          </a:p>
        </p:txBody>
      </p:sp>
      <p:sp>
        <p:nvSpPr>
          <p:cNvPr id="8" name="TextBox 7">
            <a:extLst>
              <a:ext uri="{FF2B5EF4-FFF2-40B4-BE49-F238E27FC236}">
                <a16:creationId xmlns:a16="http://schemas.microsoft.com/office/drawing/2014/main" id="{67DF466A-4416-48DC-FFFE-F9FA91EE719C}"/>
              </a:ext>
            </a:extLst>
          </p:cNvPr>
          <p:cNvSpPr txBox="1"/>
          <p:nvPr/>
        </p:nvSpPr>
        <p:spPr>
          <a:xfrm>
            <a:off x="1064302" y="1371535"/>
            <a:ext cx="2369559" cy="430887"/>
          </a:xfrm>
          <a:prstGeom prst="rect">
            <a:avLst/>
          </a:prstGeom>
          <a:noFill/>
        </p:spPr>
        <p:txBody>
          <a:bodyPr wrap="none" rtlCol="0">
            <a:spAutoFit/>
          </a:bodyPr>
          <a:lstStyle/>
          <a:p>
            <a:r>
              <a:rPr lang="en-US" sz="2200" b="1" dirty="0">
                <a:latin typeface="Arial" panose="020B0604020202020204" pitchFamily="34" charset="0"/>
                <a:cs typeface="Arial" panose="020B0604020202020204" pitchFamily="34" charset="0"/>
              </a:rPr>
              <a:t>Cu</a:t>
            </a:r>
            <a:r>
              <a:rPr lang="en-US" sz="2200" b="1" baseline="30000" dirty="0">
                <a:latin typeface="Arial" panose="020B0604020202020204" pitchFamily="34" charset="0"/>
                <a:cs typeface="Arial" panose="020B0604020202020204" pitchFamily="34" charset="0"/>
              </a:rPr>
              <a:t>2+</a:t>
            </a:r>
            <a:r>
              <a:rPr lang="en-US" sz="2200" b="1" dirty="0">
                <a:latin typeface="Arial" panose="020B0604020202020204" pitchFamily="34" charset="0"/>
                <a:cs typeface="Arial" panose="020B0604020202020204" pitchFamily="34" charset="0"/>
              </a:rPr>
              <a:t> + 2e</a:t>
            </a:r>
            <a:r>
              <a:rPr lang="en-US" sz="2200" b="1" baseline="30000" dirty="0">
                <a:latin typeface="Arial" panose="020B0604020202020204" pitchFamily="34" charset="0"/>
                <a:cs typeface="Arial" panose="020B0604020202020204" pitchFamily="34" charset="0"/>
              </a:rPr>
              <a:t>-</a:t>
            </a:r>
            <a:r>
              <a:rPr lang="en-US" sz="2200" b="1" dirty="0">
                <a:latin typeface="Arial" panose="020B0604020202020204" pitchFamily="34" charset="0"/>
                <a:cs typeface="Arial" panose="020B0604020202020204" pitchFamily="34" charset="0"/>
              </a:rPr>
              <a:t>  → Cu</a:t>
            </a:r>
            <a:endParaRPr lang="en-IN" sz="2200" b="1"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812F179E-1509-339D-2B37-C6204163DDDD}"/>
              </a:ext>
            </a:extLst>
          </p:cNvPr>
          <p:cNvSpPr txBox="1"/>
          <p:nvPr/>
        </p:nvSpPr>
        <p:spPr>
          <a:xfrm>
            <a:off x="739226" y="2031324"/>
            <a:ext cx="3507242" cy="646331"/>
          </a:xfrm>
          <a:prstGeom prst="rect">
            <a:avLst/>
          </a:prstGeom>
          <a:noFill/>
        </p:spPr>
        <p:txBody>
          <a:bodyPr wrap="none" rtlCol="0">
            <a:spAutoFit/>
          </a:bodyPr>
          <a:lstStyle/>
          <a:p>
            <a:r>
              <a:rPr lang="en-IN" sz="1800" b="1" i="1" spc="-9" dirty="0">
                <a:latin typeface="Arial" panose="020B0604020202020204" pitchFamily="34" charset="0"/>
                <a:cs typeface="Arial" panose="020B0604020202020204" pitchFamily="34" charset="0"/>
              </a:rPr>
              <a:t>Coulombs</a:t>
            </a:r>
            <a:r>
              <a:rPr lang="en-IN" b="1" i="1" spc="-9" dirty="0">
                <a:latin typeface="Arial" panose="020B0604020202020204" pitchFamily="34" charset="0"/>
                <a:cs typeface="Arial" panose="020B0604020202020204" pitchFamily="34" charset="0"/>
              </a:rPr>
              <a:t> </a:t>
            </a:r>
            <a:r>
              <a:rPr lang="en-IN" sz="1800" b="1" i="1" spc="-45" dirty="0">
                <a:latin typeface="Arial" panose="020B0604020202020204" pitchFamily="34" charset="0"/>
                <a:cs typeface="Arial" panose="020B0604020202020204" pitchFamily="34" charset="0"/>
              </a:rPr>
              <a:t>= </a:t>
            </a:r>
            <a:r>
              <a:rPr lang="en-IN" sz="1800" b="1" i="1" dirty="0">
                <a:latin typeface="Arial" panose="020B0604020202020204" pitchFamily="34" charset="0"/>
                <a:cs typeface="Arial" panose="020B0604020202020204" pitchFamily="34" charset="0"/>
              </a:rPr>
              <a:t>#</a:t>
            </a:r>
            <a:r>
              <a:rPr lang="en-IN" sz="1800" b="1" i="1" spc="-27" dirty="0">
                <a:latin typeface="Arial" panose="020B0604020202020204" pitchFamily="34" charset="0"/>
                <a:cs typeface="Arial" panose="020B0604020202020204" pitchFamily="34" charset="0"/>
              </a:rPr>
              <a:t> </a:t>
            </a:r>
            <a:r>
              <a:rPr lang="en-IN" sz="1800" b="1" i="1" spc="-18" dirty="0">
                <a:latin typeface="Arial" panose="020B0604020202020204" pitchFamily="34" charset="0"/>
                <a:cs typeface="Arial" panose="020B0604020202020204" pitchFamily="34" charset="0"/>
              </a:rPr>
              <a:t>amps</a:t>
            </a:r>
            <a:r>
              <a:rPr lang="en-IN" b="1" i="1" spc="-18" dirty="0">
                <a:latin typeface="Arial" panose="020B0604020202020204" pitchFamily="34" charset="0"/>
                <a:cs typeface="Arial" panose="020B0604020202020204" pitchFamily="34" charset="0"/>
              </a:rPr>
              <a:t> </a:t>
            </a:r>
            <a:r>
              <a:rPr lang="en-IN" sz="1800" b="1" i="1" spc="-45" dirty="0">
                <a:latin typeface="Arial" panose="020B0604020202020204" pitchFamily="34" charset="0"/>
                <a:cs typeface="Arial" panose="020B0604020202020204" pitchFamily="34" charset="0"/>
              </a:rPr>
              <a:t>x</a:t>
            </a:r>
            <a:r>
              <a:rPr lang="en-IN" b="1" i="1" spc="-45" dirty="0">
                <a:latin typeface="Arial" panose="020B0604020202020204" pitchFamily="34" charset="0"/>
                <a:cs typeface="Arial" panose="020B0604020202020204" pitchFamily="34" charset="0"/>
              </a:rPr>
              <a:t> </a:t>
            </a:r>
            <a:r>
              <a:rPr lang="en-IN" sz="1800" b="1" i="1" spc="-9" dirty="0">
                <a:latin typeface="Arial" panose="020B0604020202020204" pitchFamily="34" charset="0"/>
                <a:cs typeface="Arial" panose="020B0604020202020204" pitchFamily="34" charset="0"/>
              </a:rPr>
              <a:t>seconds</a:t>
            </a:r>
            <a:endParaRPr lang="en-IN" sz="1800" dirty="0">
              <a:latin typeface="Arial" panose="020B0604020202020204" pitchFamily="34" charset="0"/>
              <a:cs typeface="Arial" panose="020B0604020202020204" pitchFamily="34" charset="0"/>
            </a:endParaRPr>
          </a:p>
          <a:p>
            <a:endParaRPr lang="en-IN" dirty="0"/>
          </a:p>
        </p:txBody>
      </p:sp>
      <p:sp>
        <p:nvSpPr>
          <p:cNvPr id="10" name="TextBox 9">
            <a:extLst>
              <a:ext uri="{FF2B5EF4-FFF2-40B4-BE49-F238E27FC236}">
                <a16:creationId xmlns:a16="http://schemas.microsoft.com/office/drawing/2014/main" id="{603F4409-1D8E-8D23-EC1E-CC1FFE879161}"/>
              </a:ext>
            </a:extLst>
          </p:cNvPr>
          <p:cNvSpPr txBox="1"/>
          <p:nvPr/>
        </p:nvSpPr>
        <p:spPr>
          <a:xfrm>
            <a:off x="4017364" y="1354548"/>
            <a:ext cx="2723438" cy="646331"/>
          </a:xfrm>
          <a:prstGeom prst="rect">
            <a:avLst/>
          </a:prstGeom>
          <a:noFill/>
        </p:spPr>
        <p:txBody>
          <a:bodyPr wrap="none" rtlCol="0">
            <a:spAutoFit/>
          </a:bodyPr>
          <a:lstStyle/>
          <a:p>
            <a:r>
              <a:rPr lang="it-IT" sz="1800" b="1" i="1" dirty="0">
                <a:latin typeface="Arial" panose="020B0604020202020204" pitchFamily="34" charset="0"/>
                <a:cs typeface="Arial" panose="020B0604020202020204" pitchFamily="34" charset="0"/>
              </a:rPr>
              <a:t>1</a:t>
            </a:r>
            <a:r>
              <a:rPr lang="it-IT" sz="1800" b="1" i="1" spc="-18" dirty="0">
                <a:latin typeface="Arial" panose="020B0604020202020204" pitchFamily="34" charset="0"/>
                <a:cs typeface="Arial" panose="020B0604020202020204" pitchFamily="34" charset="0"/>
              </a:rPr>
              <a:t> </a:t>
            </a:r>
            <a:r>
              <a:rPr lang="it-IT" sz="1800" b="1" i="1" dirty="0">
                <a:latin typeface="Arial" panose="020B0604020202020204" pitchFamily="34" charset="0"/>
                <a:cs typeface="Arial" panose="020B0604020202020204" pitchFamily="34" charset="0"/>
              </a:rPr>
              <a:t>mole</a:t>
            </a:r>
            <a:r>
              <a:rPr lang="it-IT" sz="1800" b="1" i="1" spc="-50" dirty="0">
                <a:latin typeface="Arial" panose="020B0604020202020204" pitchFamily="34" charset="0"/>
                <a:cs typeface="Arial" panose="020B0604020202020204" pitchFamily="34" charset="0"/>
              </a:rPr>
              <a:t> </a:t>
            </a:r>
            <a:r>
              <a:rPr lang="it-IT" sz="1800" b="1" i="1" dirty="0">
                <a:latin typeface="Arial" panose="020B0604020202020204" pitchFamily="34" charset="0"/>
                <a:cs typeface="Arial" panose="020B0604020202020204" pitchFamily="34" charset="0"/>
              </a:rPr>
              <a:t>Cu</a:t>
            </a:r>
            <a:r>
              <a:rPr lang="it-IT" sz="1800" b="1" i="1" spc="-14" dirty="0">
                <a:latin typeface="Arial" panose="020B0604020202020204" pitchFamily="34" charset="0"/>
                <a:cs typeface="Arial" panose="020B0604020202020204" pitchFamily="34" charset="0"/>
              </a:rPr>
              <a:t> </a:t>
            </a:r>
            <a:r>
              <a:rPr lang="it-IT" sz="1800" b="1" i="1" dirty="0">
                <a:latin typeface="Arial" panose="020B0604020202020204" pitchFamily="34" charset="0"/>
                <a:cs typeface="Arial" panose="020B0604020202020204" pitchFamily="34" charset="0"/>
              </a:rPr>
              <a:t>=</a:t>
            </a:r>
            <a:r>
              <a:rPr lang="it-IT" sz="1800" b="1" i="1" spc="-18" dirty="0">
                <a:latin typeface="Arial" panose="020B0604020202020204" pitchFamily="34" charset="0"/>
                <a:cs typeface="Arial" panose="020B0604020202020204" pitchFamily="34" charset="0"/>
              </a:rPr>
              <a:t> </a:t>
            </a:r>
            <a:r>
              <a:rPr lang="it-IT" sz="1800" b="1" i="1" dirty="0">
                <a:latin typeface="Arial" panose="020B0604020202020204" pitchFamily="34" charset="0"/>
                <a:cs typeface="Arial" panose="020B0604020202020204" pitchFamily="34" charset="0"/>
              </a:rPr>
              <a:t>63.5</a:t>
            </a:r>
            <a:r>
              <a:rPr lang="it-IT" sz="1800" b="1" i="1" spc="-63" dirty="0">
                <a:latin typeface="Arial" panose="020B0604020202020204" pitchFamily="34" charset="0"/>
                <a:cs typeface="Arial" panose="020B0604020202020204" pitchFamily="34" charset="0"/>
              </a:rPr>
              <a:t> </a:t>
            </a:r>
            <a:r>
              <a:rPr lang="it-IT" sz="1800" b="1" i="1" spc="-18" dirty="0">
                <a:latin typeface="Arial" panose="020B0604020202020204" pitchFamily="34" charset="0"/>
                <a:cs typeface="Arial" panose="020B0604020202020204" pitchFamily="34" charset="0"/>
              </a:rPr>
              <a:t>grams</a:t>
            </a:r>
            <a:endParaRPr lang="it-IT" sz="1800" dirty="0">
              <a:latin typeface="Arial" panose="020B0604020202020204" pitchFamily="34" charset="0"/>
              <a:cs typeface="Arial" panose="020B0604020202020204" pitchFamily="34" charset="0"/>
            </a:endParaRPr>
          </a:p>
          <a:p>
            <a:endParaRPr lang="en-IN" dirty="0"/>
          </a:p>
        </p:txBody>
      </p:sp>
      <p:sp>
        <p:nvSpPr>
          <p:cNvPr id="11" name="TextBox 10">
            <a:extLst>
              <a:ext uri="{FF2B5EF4-FFF2-40B4-BE49-F238E27FC236}">
                <a16:creationId xmlns:a16="http://schemas.microsoft.com/office/drawing/2014/main" id="{73414EC1-4313-CB1D-D63F-D097AF6EE697}"/>
              </a:ext>
            </a:extLst>
          </p:cNvPr>
          <p:cNvSpPr txBox="1"/>
          <p:nvPr/>
        </p:nvSpPr>
        <p:spPr>
          <a:xfrm>
            <a:off x="5606321" y="3043003"/>
            <a:ext cx="3397084" cy="646331"/>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 63.5 x 10 x 300 s / 2 x 96500</a:t>
            </a:r>
          </a:p>
          <a:p>
            <a:r>
              <a:rPr lang="en-US" b="1" dirty="0">
                <a:latin typeface="Arial" panose="020B0604020202020204" pitchFamily="34" charset="0"/>
                <a:cs typeface="Arial" panose="020B0604020202020204" pitchFamily="34" charset="0"/>
              </a:rPr>
              <a:t>= 0.987 g</a:t>
            </a:r>
            <a:endParaRPr lang="en-IN" b="1" dirty="0">
              <a:latin typeface="Arial" panose="020B0604020202020204" pitchFamily="34" charset="0"/>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F43F13-20B5-9F27-6131-32AC59A771EA}"/>
              </a:ext>
            </a:extLst>
          </p:cNvPr>
          <p:cNvSpPr txBox="1"/>
          <p:nvPr/>
        </p:nvSpPr>
        <p:spPr>
          <a:xfrm>
            <a:off x="4117122" y="128016"/>
            <a:ext cx="4185761" cy="369332"/>
          </a:xfrm>
          <a:prstGeom prst="rect">
            <a:avLst/>
          </a:prstGeom>
          <a:noFill/>
        </p:spPr>
        <p:txBody>
          <a:bodyPr wrap="none" rtlCol="0">
            <a:spAutoFit/>
          </a:bodyPr>
          <a:lstStyle/>
          <a:p>
            <a:r>
              <a:rPr lang="en-IN" b="1" dirty="0">
                <a:solidFill>
                  <a:srgbClr val="C00000"/>
                </a:solidFill>
                <a:latin typeface="Arial" panose="020B0604020202020204" pitchFamily="34" charset="0"/>
                <a:cs typeface="Arial" panose="020B0604020202020204" pitchFamily="34" charset="0"/>
              </a:rPr>
              <a:t>Latimer Diagram (Potential Diagram)</a:t>
            </a:r>
          </a:p>
        </p:txBody>
      </p:sp>
      <p:sp>
        <p:nvSpPr>
          <p:cNvPr id="3" name="TextBox 2">
            <a:extLst>
              <a:ext uri="{FF2B5EF4-FFF2-40B4-BE49-F238E27FC236}">
                <a16:creationId xmlns:a16="http://schemas.microsoft.com/office/drawing/2014/main" id="{178200F2-7D76-A848-0143-F952877EB8E0}"/>
              </a:ext>
            </a:extLst>
          </p:cNvPr>
          <p:cNvSpPr txBox="1"/>
          <p:nvPr/>
        </p:nvSpPr>
        <p:spPr>
          <a:xfrm>
            <a:off x="979932" y="575756"/>
            <a:ext cx="10232136" cy="584775"/>
          </a:xfrm>
          <a:prstGeom prst="rect">
            <a:avLst/>
          </a:prstGeom>
          <a:noFill/>
        </p:spPr>
        <p:txBody>
          <a:bodyPr wrap="square" rtlCol="0">
            <a:spAutoFit/>
          </a:bodyPr>
          <a:lstStyle/>
          <a:p>
            <a:pPr algn="l"/>
            <a:r>
              <a:rPr lang="en-US" sz="1600" b="1" i="0" u="none" strike="noStrike" baseline="0" dirty="0">
                <a:latin typeface="Arial" panose="020B0604020202020204" pitchFamily="34" charset="0"/>
                <a:cs typeface="Arial" panose="020B0604020202020204" pitchFamily="34" charset="0"/>
              </a:rPr>
              <a:t>A Latimer diagram summarizes information (electrochemical potential) in a compact form and (as we explain) shows the relationships between the various species in a particularly simpler way.</a:t>
            </a:r>
            <a:endParaRPr lang="en-IN" sz="1600" b="1" dirty="0">
              <a:latin typeface="Arial" panose="020B0604020202020204" pitchFamily="34" charset="0"/>
              <a:cs typeface="Arial" panose="020B0604020202020204" pitchFamily="34" charset="0"/>
            </a:endParaRPr>
          </a:p>
        </p:txBody>
      </p:sp>
      <p:grpSp>
        <p:nvGrpSpPr>
          <p:cNvPr id="10" name="Group 9">
            <a:extLst>
              <a:ext uri="{FF2B5EF4-FFF2-40B4-BE49-F238E27FC236}">
                <a16:creationId xmlns:a16="http://schemas.microsoft.com/office/drawing/2014/main" id="{5B9A529E-C28F-83A2-8554-85CF583B5E86}"/>
              </a:ext>
            </a:extLst>
          </p:cNvPr>
          <p:cNvGrpSpPr/>
          <p:nvPr/>
        </p:nvGrpSpPr>
        <p:grpSpPr>
          <a:xfrm>
            <a:off x="979932" y="1238939"/>
            <a:ext cx="9594215" cy="2735933"/>
            <a:chOff x="979932" y="1238939"/>
            <a:chExt cx="9594215" cy="2735933"/>
          </a:xfrm>
        </p:grpSpPr>
        <p:sp>
          <p:nvSpPr>
            <p:cNvPr id="7" name="object 5">
              <a:extLst>
                <a:ext uri="{FF2B5EF4-FFF2-40B4-BE49-F238E27FC236}">
                  <a16:creationId xmlns:a16="http://schemas.microsoft.com/office/drawing/2014/main" id="{A3FE11F6-40ED-4339-D146-D6392C65B6CA}"/>
                </a:ext>
              </a:extLst>
            </p:cNvPr>
            <p:cNvSpPr txBox="1"/>
            <p:nvPr/>
          </p:nvSpPr>
          <p:spPr>
            <a:xfrm>
              <a:off x="979932" y="1897380"/>
              <a:ext cx="9594215" cy="2077492"/>
            </a:xfrm>
            <a:prstGeom prst="rect">
              <a:avLst/>
            </a:prstGeom>
          </p:spPr>
          <p:txBody>
            <a:bodyPr vert="horz" wrap="square" lIns="0" tIns="12700" rIns="0" bIns="0" rtlCol="0">
              <a:spAutoFit/>
            </a:bodyPr>
            <a:lstStyle/>
            <a:p>
              <a:pPr marL="428625" indent="-377825" algn="just">
                <a:lnSpc>
                  <a:spcPts val="3175"/>
                </a:lnSpc>
                <a:buChar char="•"/>
                <a:tabLst>
                  <a:tab pos="428625" algn="l"/>
                </a:tabLst>
              </a:pPr>
              <a:r>
                <a:rPr sz="1600" spc="50" dirty="0">
                  <a:latin typeface="Arial" panose="020B0604020202020204" pitchFamily="34" charset="0"/>
                  <a:cs typeface="Arial" panose="020B0604020202020204" pitchFamily="34" charset="0"/>
                </a:rPr>
                <a:t>typically</a:t>
              </a:r>
              <a:r>
                <a:rPr sz="1600" spc="240" dirty="0">
                  <a:latin typeface="Arial" panose="020B0604020202020204" pitchFamily="34" charset="0"/>
                  <a:cs typeface="Arial" panose="020B0604020202020204" pitchFamily="34" charset="0"/>
                </a:rPr>
                <a:t> </a:t>
              </a:r>
              <a:r>
                <a:rPr sz="1600" spc="60" dirty="0">
                  <a:latin typeface="Arial" panose="020B0604020202020204" pitchFamily="34" charset="0"/>
                  <a:cs typeface="Arial" panose="020B0604020202020204" pitchFamily="34" charset="0"/>
                </a:rPr>
                <a:t>under</a:t>
              </a:r>
              <a:r>
                <a:rPr sz="1600" spc="270" dirty="0">
                  <a:latin typeface="Arial" panose="020B0604020202020204" pitchFamily="34" charset="0"/>
                  <a:cs typeface="Arial" panose="020B0604020202020204" pitchFamily="34" charset="0"/>
                </a:rPr>
                <a:t> </a:t>
              </a:r>
              <a:r>
                <a:rPr sz="1600" spc="70" dirty="0">
                  <a:latin typeface="Arial" panose="020B0604020202020204" pitchFamily="34" charset="0"/>
                  <a:cs typeface="Arial" panose="020B0604020202020204" pitchFamily="34" charset="0"/>
                </a:rPr>
                <a:t>standard</a:t>
              </a:r>
              <a:r>
                <a:rPr sz="1600" spc="265" dirty="0">
                  <a:latin typeface="Arial" panose="020B0604020202020204" pitchFamily="34" charset="0"/>
                  <a:cs typeface="Arial" panose="020B0604020202020204" pitchFamily="34" charset="0"/>
                </a:rPr>
                <a:t> </a:t>
              </a:r>
              <a:r>
                <a:rPr sz="1600" spc="45" dirty="0">
                  <a:latin typeface="Arial" panose="020B0604020202020204" pitchFamily="34" charset="0"/>
                  <a:cs typeface="Arial" panose="020B0604020202020204" pitchFamily="34" charset="0"/>
                </a:rPr>
                <a:t>conditions</a:t>
              </a:r>
              <a:r>
                <a:rPr sz="1600" spc="254"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in</a:t>
              </a:r>
              <a:r>
                <a:rPr sz="1600" spc="275"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either</a:t>
              </a:r>
              <a:r>
                <a:rPr sz="1600" spc="270" dirty="0">
                  <a:latin typeface="Arial" panose="020B0604020202020204" pitchFamily="34" charset="0"/>
                  <a:cs typeface="Arial" panose="020B0604020202020204" pitchFamily="34" charset="0"/>
                </a:rPr>
                <a:t> </a:t>
              </a:r>
              <a:r>
                <a:rPr sz="1600" spc="75" dirty="0">
                  <a:latin typeface="Arial" panose="020B0604020202020204" pitchFamily="34" charset="0"/>
                  <a:cs typeface="Arial" panose="020B0604020202020204" pitchFamily="34" charset="0"/>
                </a:rPr>
                <a:t>strong</a:t>
              </a:r>
              <a:r>
                <a:rPr sz="1600" spc="235" dirty="0">
                  <a:latin typeface="Arial" panose="020B0604020202020204" pitchFamily="34" charset="0"/>
                  <a:cs typeface="Arial" panose="020B0604020202020204" pitchFamily="34" charset="0"/>
                </a:rPr>
                <a:t> </a:t>
              </a:r>
              <a:r>
                <a:rPr sz="1600" spc="65" dirty="0">
                  <a:latin typeface="Arial" panose="020B0604020202020204" pitchFamily="34" charset="0"/>
                  <a:cs typeface="Arial" panose="020B0604020202020204" pitchFamily="34" charset="0"/>
                </a:rPr>
                <a:t>acid</a:t>
              </a:r>
              <a:r>
                <a:rPr sz="1600" spc="265" dirty="0">
                  <a:latin typeface="Arial" panose="020B0604020202020204" pitchFamily="34" charset="0"/>
                  <a:cs typeface="Arial" panose="020B0604020202020204" pitchFamily="34" charset="0"/>
                </a:rPr>
                <a:t> </a:t>
              </a:r>
              <a:r>
                <a:rPr sz="1600" spc="215" dirty="0">
                  <a:latin typeface="Arial" panose="020B0604020202020204" pitchFamily="34" charset="0"/>
                  <a:cs typeface="Arial" panose="020B0604020202020204" pitchFamily="34" charset="0"/>
                </a:rPr>
                <a:t>([H</a:t>
              </a:r>
              <a:r>
                <a:rPr sz="1600" spc="322" baseline="25396" dirty="0">
                  <a:latin typeface="Arial" panose="020B0604020202020204" pitchFamily="34" charset="0"/>
                  <a:cs typeface="Arial" panose="020B0604020202020204" pitchFamily="34" charset="0"/>
                </a:rPr>
                <a:t>+</a:t>
              </a:r>
              <a:r>
                <a:rPr sz="1600" spc="215" dirty="0">
                  <a:latin typeface="Arial" panose="020B0604020202020204" pitchFamily="34" charset="0"/>
                  <a:cs typeface="Arial" panose="020B0604020202020204" pitchFamily="34" charset="0"/>
                </a:rPr>
                <a:t>]</a:t>
              </a:r>
              <a:r>
                <a:rPr lang="en-IN" sz="1600" spc="215" dirty="0">
                  <a:latin typeface="Arial" panose="020B0604020202020204" pitchFamily="34" charset="0"/>
                  <a:cs typeface="Arial" panose="020B0604020202020204" pitchFamily="34" charset="0"/>
                </a:rPr>
                <a:t> </a:t>
              </a:r>
              <a:r>
                <a:rPr lang="en-IN" sz="1600" spc="595" dirty="0">
                  <a:latin typeface="Arial" panose="020B0604020202020204" pitchFamily="34" charset="0"/>
                  <a:cs typeface="Arial" panose="020B0604020202020204" pitchFamily="34" charset="0"/>
                </a:rPr>
                <a:t>=</a:t>
              </a:r>
              <a:r>
                <a:rPr lang="en-IN" sz="1600" spc="220" dirty="0">
                  <a:latin typeface="Arial" panose="020B0604020202020204" pitchFamily="34" charset="0"/>
                  <a:cs typeface="Arial" panose="020B0604020202020204" pitchFamily="34" charset="0"/>
                </a:rPr>
                <a:t> </a:t>
              </a:r>
              <a:r>
                <a:rPr sz="1600" spc="105" dirty="0">
                  <a:latin typeface="Arial" panose="020B0604020202020204" pitchFamily="34" charset="0"/>
                  <a:cs typeface="Arial" panose="020B0604020202020204" pitchFamily="34" charset="0"/>
                </a:rPr>
                <a:t>1</a:t>
              </a:r>
              <a:r>
                <a:rPr sz="1600" spc="225"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M,</a:t>
              </a:r>
              <a:r>
                <a:rPr sz="1600" spc="210" dirty="0">
                  <a:latin typeface="Arial" panose="020B0604020202020204" pitchFamily="34" charset="0"/>
                  <a:cs typeface="Arial" panose="020B0604020202020204" pitchFamily="34" charset="0"/>
                </a:rPr>
                <a:t> </a:t>
              </a:r>
              <a:r>
                <a:rPr sz="1600" spc="95" dirty="0">
                  <a:latin typeface="Arial" panose="020B0604020202020204" pitchFamily="34" charset="0"/>
                  <a:cs typeface="Arial" panose="020B0604020202020204" pitchFamily="34" charset="0"/>
                </a:rPr>
                <a:t>pH</a:t>
              </a:r>
              <a:r>
                <a:rPr sz="1600" spc="229" dirty="0">
                  <a:latin typeface="Arial" panose="020B0604020202020204" pitchFamily="34" charset="0"/>
                  <a:cs typeface="Arial" panose="020B0604020202020204" pitchFamily="34" charset="0"/>
                </a:rPr>
                <a:t> </a:t>
              </a:r>
              <a:r>
                <a:rPr sz="1600" spc="160" dirty="0">
                  <a:latin typeface="Arial" panose="020B0604020202020204" pitchFamily="34" charset="0"/>
                  <a:cs typeface="Arial" panose="020B0604020202020204" pitchFamily="34" charset="0"/>
                </a:rPr>
                <a:t>0)</a:t>
              </a:r>
              <a:r>
                <a:rPr sz="1600" spc="21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or</a:t>
              </a:r>
              <a:r>
                <a:rPr sz="1600" spc="215" dirty="0">
                  <a:latin typeface="Arial" panose="020B0604020202020204" pitchFamily="34" charset="0"/>
                  <a:cs typeface="Arial" panose="020B0604020202020204" pitchFamily="34" charset="0"/>
                </a:rPr>
                <a:t> </a:t>
              </a:r>
              <a:r>
                <a:rPr sz="1600" spc="75" dirty="0">
                  <a:latin typeface="Arial" panose="020B0604020202020204" pitchFamily="34" charset="0"/>
                  <a:cs typeface="Arial" panose="020B0604020202020204" pitchFamily="34" charset="0"/>
                </a:rPr>
                <a:t>strong</a:t>
              </a:r>
              <a:r>
                <a:rPr sz="1600" spc="180" dirty="0">
                  <a:latin typeface="Arial" panose="020B0604020202020204" pitchFamily="34" charset="0"/>
                  <a:cs typeface="Arial" panose="020B0604020202020204" pitchFamily="34" charset="0"/>
                </a:rPr>
                <a:t> </a:t>
              </a:r>
              <a:r>
                <a:rPr sz="1600" spc="100" dirty="0">
                  <a:latin typeface="Arial" panose="020B0604020202020204" pitchFamily="34" charset="0"/>
                  <a:cs typeface="Arial" panose="020B0604020202020204" pitchFamily="34" charset="0"/>
                </a:rPr>
                <a:t>base</a:t>
              </a:r>
              <a:r>
                <a:rPr sz="1600" spc="200" dirty="0">
                  <a:latin typeface="Arial" panose="020B0604020202020204" pitchFamily="34" charset="0"/>
                  <a:cs typeface="Arial" panose="020B0604020202020204" pitchFamily="34" charset="0"/>
                </a:rPr>
                <a:t> </a:t>
              </a:r>
              <a:r>
                <a:rPr sz="1600" spc="150" dirty="0">
                  <a:latin typeface="Arial" panose="020B0604020202020204" pitchFamily="34" charset="0"/>
                  <a:cs typeface="Arial" panose="020B0604020202020204" pitchFamily="34" charset="0"/>
                </a:rPr>
                <a:t>([OH</a:t>
              </a:r>
              <a:r>
                <a:rPr sz="1600" spc="225" baseline="25396" dirty="0">
                  <a:latin typeface="Arial" panose="020B0604020202020204" pitchFamily="34" charset="0"/>
                  <a:cs typeface="Arial" panose="020B0604020202020204" pitchFamily="34" charset="0"/>
                </a:rPr>
                <a:t>-</a:t>
              </a:r>
              <a:r>
                <a:rPr sz="1600" spc="195" dirty="0">
                  <a:latin typeface="Arial" panose="020B0604020202020204" pitchFamily="34" charset="0"/>
                  <a:cs typeface="Arial" panose="020B0604020202020204" pitchFamily="34" charset="0"/>
                </a:rPr>
                <a:t>]</a:t>
              </a:r>
              <a:r>
                <a:rPr sz="1600" spc="235" dirty="0">
                  <a:latin typeface="Arial" panose="020B0604020202020204" pitchFamily="34" charset="0"/>
                  <a:cs typeface="Arial" panose="020B0604020202020204" pitchFamily="34" charset="0"/>
                </a:rPr>
                <a:t> </a:t>
              </a:r>
              <a:r>
                <a:rPr sz="1600" spc="595" dirty="0">
                  <a:latin typeface="Arial" panose="020B0604020202020204" pitchFamily="34" charset="0"/>
                  <a:cs typeface="Arial" panose="020B0604020202020204" pitchFamily="34" charset="0"/>
                </a:rPr>
                <a:t>=</a:t>
              </a:r>
              <a:r>
                <a:rPr sz="1600" spc="220" dirty="0">
                  <a:latin typeface="Arial" panose="020B0604020202020204" pitchFamily="34" charset="0"/>
                  <a:cs typeface="Arial" panose="020B0604020202020204" pitchFamily="34" charset="0"/>
                </a:rPr>
                <a:t> </a:t>
              </a:r>
              <a:r>
                <a:rPr sz="1600" spc="105" dirty="0">
                  <a:latin typeface="Arial" panose="020B0604020202020204" pitchFamily="34" charset="0"/>
                  <a:cs typeface="Arial" panose="020B0604020202020204" pitchFamily="34" charset="0"/>
                </a:rPr>
                <a:t>1</a:t>
              </a:r>
              <a:r>
                <a:rPr sz="1600" spc="225"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M,</a:t>
              </a:r>
              <a:r>
                <a:rPr sz="1600" spc="235" dirty="0">
                  <a:latin typeface="Arial" panose="020B0604020202020204" pitchFamily="34" charset="0"/>
                  <a:cs typeface="Arial" panose="020B0604020202020204" pitchFamily="34" charset="0"/>
                </a:rPr>
                <a:t> </a:t>
              </a:r>
              <a:r>
                <a:rPr sz="1600" spc="95" dirty="0">
                  <a:latin typeface="Arial" panose="020B0604020202020204" pitchFamily="34" charset="0"/>
                  <a:cs typeface="Arial" panose="020B0604020202020204" pitchFamily="34" charset="0"/>
                </a:rPr>
                <a:t>pH</a:t>
              </a:r>
              <a:r>
                <a:rPr sz="1600" spc="200" dirty="0">
                  <a:latin typeface="Arial" panose="020B0604020202020204" pitchFamily="34" charset="0"/>
                  <a:cs typeface="Arial" panose="020B0604020202020204" pitchFamily="34" charset="0"/>
                </a:rPr>
                <a:t> </a:t>
              </a:r>
              <a:r>
                <a:rPr sz="1600" spc="114" dirty="0">
                  <a:latin typeface="Arial" panose="020B0604020202020204" pitchFamily="34" charset="0"/>
                  <a:cs typeface="Arial" panose="020B0604020202020204" pitchFamily="34" charset="0"/>
                </a:rPr>
                <a:t>14).</a:t>
              </a:r>
              <a:endParaRPr sz="1600" dirty="0">
                <a:latin typeface="Arial" panose="020B0604020202020204" pitchFamily="34" charset="0"/>
                <a:cs typeface="Arial" panose="020B0604020202020204" pitchFamily="34" charset="0"/>
              </a:endParaRPr>
            </a:p>
            <a:p>
              <a:pPr marL="428625" marR="504825" indent="-378460" algn="just">
                <a:lnSpc>
                  <a:spcPct val="100000"/>
                </a:lnSpc>
                <a:buChar char="•"/>
                <a:tabLst>
                  <a:tab pos="428625" algn="l"/>
                </a:tabLst>
              </a:pPr>
              <a:r>
                <a:rPr sz="1600" spc="135" dirty="0">
                  <a:latin typeface="Arial" panose="020B0604020202020204" pitchFamily="34" charset="0"/>
                  <a:cs typeface="Arial" panose="020B0604020202020204" pitchFamily="34" charset="0"/>
                </a:rPr>
                <a:t>The</a:t>
              </a:r>
              <a:r>
                <a:rPr sz="1600" spc="254" dirty="0">
                  <a:latin typeface="Arial" panose="020B0604020202020204" pitchFamily="34" charset="0"/>
                  <a:cs typeface="Arial" panose="020B0604020202020204" pitchFamily="34" charset="0"/>
                </a:rPr>
                <a:t> </a:t>
              </a:r>
              <a:r>
                <a:rPr sz="1600" spc="45" dirty="0">
                  <a:latin typeface="Arial" panose="020B0604020202020204" pitchFamily="34" charset="0"/>
                  <a:cs typeface="Arial" panose="020B0604020202020204" pitchFamily="34" charset="0"/>
                </a:rPr>
                <a:t>oxidation</a:t>
              </a:r>
              <a:r>
                <a:rPr sz="1600" spc="220" dirty="0">
                  <a:latin typeface="Arial" panose="020B0604020202020204" pitchFamily="34" charset="0"/>
                  <a:cs typeface="Arial" panose="020B0604020202020204" pitchFamily="34" charset="0"/>
                </a:rPr>
                <a:t> </a:t>
              </a:r>
              <a:r>
                <a:rPr sz="1600" spc="75" dirty="0">
                  <a:latin typeface="Arial" panose="020B0604020202020204" pitchFamily="34" charset="0"/>
                  <a:cs typeface="Arial" panose="020B0604020202020204" pitchFamily="34" charset="0"/>
                </a:rPr>
                <a:t>states</a:t>
              </a:r>
              <a:r>
                <a:rPr sz="1600" spc="225"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of</a:t>
              </a:r>
              <a:r>
                <a:rPr sz="1600" spc="250" dirty="0">
                  <a:latin typeface="Arial" panose="020B0604020202020204" pitchFamily="34" charset="0"/>
                  <a:cs typeface="Arial" panose="020B0604020202020204" pitchFamily="34" charset="0"/>
                </a:rPr>
                <a:t> </a:t>
              </a:r>
              <a:r>
                <a:rPr sz="1600" spc="85" dirty="0">
                  <a:latin typeface="Arial" panose="020B0604020202020204" pitchFamily="34" charset="0"/>
                  <a:cs typeface="Arial" panose="020B0604020202020204" pitchFamily="34" charset="0"/>
                </a:rPr>
                <a:t>successive</a:t>
              </a:r>
              <a:r>
                <a:rPr sz="1600" spc="275" dirty="0">
                  <a:latin typeface="Arial" panose="020B0604020202020204" pitchFamily="34" charset="0"/>
                  <a:cs typeface="Arial" panose="020B0604020202020204" pitchFamily="34" charset="0"/>
                </a:rPr>
                <a:t> </a:t>
              </a:r>
              <a:r>
                <a:rPr sz="1600" spc="90" dirty="0">
                  <a:latin typeface="Arial" panose="020B0604020202020204" pitchFamily="34" charset="0"/>
                  <a:cs typeface="Arial" panose="020B0604020202020204" pitchFamily="34" charset="0"/>
                </a:rPr>
                <a:t>substances</a:t>
              </a:r>
              <a:r>
                <a:rPr sz="1600" spc="254"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in</a:t>
              </a:r>
              <a:r>
                <a:rPr sz="1600" spc="250" dirty="0">
                  <a:latin typeface="Arial" panose="020B0604020202020204" pitchFamily="34" charset="0"/>
                  <a:cs typeface="Arial" panose="020B0604020202020204" pitchFamily="34" charset="0"/>
                </a:rPr>
                <a:t> </a:t>
              </a:r>
              <a:r>
                <a:rPr sz="1600" spc="110" dirty="0">
                  <a:latin typeface="Arial" panose="020B0604020202020204" pitchFamily="34" charset="0"/>
                  <a:cs typeface="Arial" panose="020B0604020202020204" pitchFamily="34" charset="0"/>
                </a:rPr>
                <a:t>a</a:t>
              </a:r>
              <a:r>
                <a:rPr sz="1600" spc="254" dirty="0">
                  <a:latin typeface="Arial" panose="020B0604020202020204" pitchFamily="34" charset="0"/>
                  <a:cs typeface="Arial" panose="020B0604020202020204" pitchFamily="34" charset="0"/>
                </a:rPr>
                <a:t> </a:t>
              </a:r>
              <a:r>
                <a:rPr sz="1600" spc="55" dirty="0">
                  <a:latin typeface="Arial" panose="020B0604020202020204" pitchFamily="34" charset="0"/>
                  <a:cs typeface="Arial" panose="020B0604020202020204" pitchFamily="34" charset="0"/>
                </a:rPr>
                <a:t>Latimer </a:t>
              </a:r>
              <a:r>
                <a:rPr sz="1600" spc="80" dirty="0">
                  <a:latin typeface="Arial" panose="020B0604020202020204" pitchFamily="34" charset="0"/>
                  <a:cs typeface="Arial" panose="020B0604020202020204" pitchFamily="34" charset="0"/>
                </a:rPr>
                <a:t>diagram</a:t>
              </a:r>
              <a:r>
                <a:rPr sz="1600" spc="215" dirty="0">
                  <a:latin typeface="Arial" panose="020B0604020202020204" pitchFamily="34" charset="0"/>
                  <a:cs typeface="Arial" panose="020B0604020202020204" pitchFamily="34" charset="0"/>
                </a:rPr>
                <a:t> </a:t>
              </a:r>
              <a:r>
                <a:rPr sz="1600" spc="95" dirty="0">
                  <a:latin typeface="Arial" panose="020B0604020202020204" pitchFamily="34" charset="0"/>
                  <a:cs typeface="Arial" panose="020B0604020202020204" pitchFamily="34" charset="0"/>
                </a:rPr>
                <a:t>can</a:t>
              </a:r>
              <a:r>
                <a:rPr sz="1600" spc="26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differ</a:t>
              </a:r>
              <a:r>
                <a:rPr sz="1600" spc="275" dirty="0">
                  <a:latin typeface="Arial" panose="020B0604020202020204" pitchFamily="34" charset="0"/>
                  <a:cs typeface="Arial" panose="020B0604020202020204" pitchFamily="34" charset="0"/>
                </a:rPr>
                <a:t> </a:t>
              </a:r>
              <a:r>
                <a:rPr sz="1600" spc="85" dirty="0">
                  <a:latin typeface="Arial" panose="020B0604020202020204" pitchFamily="34" charset="0"/>
                  <a:cs typeface="Arial" panose="020B0604020202020204" pitchFamily="34" charset="0"/>
                </a:rPr>
                <a:t>by</a:t>
              </a:r>
              <a:r>
                <a:rPr sz="1600" spc="260" dirty="0">
                  <a:latin typeface="Arial" panose="020B0604020202020204" pitchFamily="34" charset="0"/>
                  <a:cs typeface="Arial" panose="020B0604020202020204" pitchFamily="34" charset="0"/>
                </a:rPr>
                <a:t> </a:t>
              </a:r>
              <a:r>
                <a:rPr sz="1600" spc="60" dirty="0">
                  <a:latin typeface="Arial" panose="020B0604020202020204" pitchFamily="34" charset="0"/>
                  <a:cs typeface="Arial" panose="020B0604020202020204" pitchFamily="34" charset="0"/>
                </a:rPr>
                <a:t>one</a:t>
              </a:r>
              <a:r>
                <a:rPr sz="1600" spc="235"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or</a:t>
              </a:r>
              <a:r>
                <a:rPr sz="1600" spc="250" dirty="0">
                  <a:latin typeface="Arial" panose="020B0604020202020204" pitchFamily="34" charset="0"/>
                  <a:cs typeface="Arial" panose="020B0604020202020204" pitchFamily="34" charset="0"/>
                </a:rPr>
                <a:t> </a:t>
              </a:r>
              <a:r>
                <a:rPr sz="1600" spc="55" dirty="0">
                  <a:latin typeface="Arial" panose="020B0604020202020204" pitchFamily="34" charset="0"/>
                  <a:cs typeface="Arial" panose="020B0604020202020204" pitchFamily="34" charset="0"/>
                </a:rPr>
                <a:t>more</a:t>
              </a:r>
              <a:r>
                <a:rPr sz="1600" spc="240" dirty="0">
                  <a:latin typeface="Arial" panose="020B0604020202020204" pitchFamily="34" charset="0"/>
                  <a:cs typeface="Arial" panose="020B0604020202020204" pitchFamily="34" charset="0"/>
                </a:rPr>
                <a:t> </a:t>
              </a:r>
              <a:r>
                <a:rPr sz="1600" spc="45" dirty="0">
                  <a:latin typeface="Arial" panose="020B0604020202020204" pitchFamily="34" charset="0"/>
                  <a:cs typeface="Arial" panose="020B0604020202020204" pitchFamily="34" charset="0"/>
                </a:rPr>
                <a:t>electrons.</a:t>
              </a:r>
              <a:endParaRPr lang="en-US" sz="1600" spc="45" dirty="0">
                <a:latin typeface="Arial" panose="020B0604020202020204" pitchFamily="34" charset="0"/>
                <a:cs typeface="Arial" panose="020B0604020202020204" pitchFamily="34" charset="0"/>
              </a:endParaRPr>
            </a:p>
            <a:p>
              <a:pPr marL="50165" marR="504825" algn="just">
                <a:lnSpc>
                  <a:spcPct val="100000"/>
                </a:lnSpc>
                <a:tabLst>
                  <a:tab pos="428625" algn="l"/>
                </a:tabLst>
              </a:pPr>
              <a:endParaRPr sz="1600" dirty="0">
                <a:latin typeface="Arial" panose="020B0604020202020204" pitchFamily="34" charset="0"/>
                <a:cs typeface="Arial" panose="020B0604020202020204" pitchFamily="34" charset="0"/>
              </a:endParaRPr>
            </a:p>
            <a:p>
              <a:pPr marL="428625" marR="650875" indent="-378460" algn="just">
                <a:spcBef>
                  <a:spcPts val="145"/>
                </a:spcBef>
                <a:buChar char="•"/>
                <a:tabLst>
                  <a:tab pos="428625" algn="l"/>
                </a:tabLst>
              </a:pPr>
              <a:r>
                <a:rPr sz="1600" spc="100" dirty="0">
                  <a:latin typeface="Arial" panose="020B0604020202020204" pitchFamily="34" charset="0"/>
                  <a:cs typeface="Arial" panose="020B0604020202020204" pitchFamily="34" charset="0"/>
                </a:rPr>
                <a:t>Assign</a:t>
              </a:r>
              <a:r>
                <a:rPr sz="1600" spc="22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the</a:t>
              </a:r>
              <a:r>
                <a:rPr sz="1600" spc="265" dirty="0">
                  <a:latin typeface="Arial" panose="020B0604020202020204" pitchFamily="34" charset="0"/>
                  <a:cs typeface="Arial" panose="020B0604020202020204" pitchFamily="34" charset="0"/>
                </a:rPr>
                <a:t> </a:t>
              </a:r>
              <a:r>
                <a:rPr sz="1600" spc="100" dirty="0">
                  <a:latin typeface="Arial" panose="020B0604020202020204" pitchFamily="34" charset="0"/>
                  <a:cs typeface="Arial" panose="020B0604020202020204" pitchFamily="34" charset="0"/>
                </a:rPr>
                <a:t>oxygen</a:t>
              </a:r>
              <a:r>
                <a:rPr sz="1600" spc="229" dirty="0">
                  <a:latin typeface="Arial" panose="020B0604020202020204" pitchFamily="34" charset="0"/>
                  <a:cs typeface="Arial" panose="020B0604020202020204" pitchFamily="34" charset="0"/>
                </a:rPr>
                <a:t> </a:t>
              </a:r>
              <a:r>
                <a:rPr sz="1600" spc="75" dirty="0">
                  <a:latin typeface="Arial" panose="020B0604020202020204" pitchFamily="34" charset="0"/>
                  <a:cs typeface="Arial" panose="020B0604020202020204" pitchFamily="34" charset="0"/>
                </a:rPr>
                <a:t>atoms</a:t>
              </a:r>
              <a:r>
                <a:rPr sz="1600" spc="240" dirty="0">
                  <a:latin typeface="Arial" panose="020B0604020202020204" pitchFamily="34" charset="0"/>
                  <a:cs typeface="Arial" panose="020B0604020202020204" pitchFamily="34" charset="0"/>
                </a:rPr>
                <a:t> </a:t>
              </a:r>
              <a:r>
                <a:rPr sz="1600" spc="100" dirty="0">
                  <a:latin typeface="Arial" panose="020B0604020202020204" pitchFamily="34" charset="0"/>
                  <a:cs typeface="Arial" panose="020B0604020202020204" pitchFamily="34" charset="0"/>
                </a:rPr>
                <a:t>an</a:t>
              </a:r>
              <a:r>
                <a:rPr sz="1600" spc="229" dirty="0">
                  <a:latin typeface="Arial" panose="020B0604020202020204" pitchFamily="34" charset="0"/>
                  <a:cs typeface="Arial" panose="020B0604020202020204" pitchFamily="34" charset="0"/>
                </a:rPr>
                <a:t> </a:t>
              </a:r>
              <a:r>
                <a:rPr sz="1600" spc="45" dirty="0">
                  <a:latin typeface="Arial" panose="020B0604020202020204" pitchFamily="34" charset="0"/>
                  <a:cs typeface="Arial" panose="020B0604020202020204" pitchFamily="34" charset="0"/>
                </a:rPr>
                <a:t>oxidation</a:t>
              </a:r>
              <a:r>
                <a:rPr sz="1600" spc="235" dirty="0">
                  <a:latin typeface="Arial" panose="020B0604020202020204" pitchFamily="34" charset="0"/>
                  <a:cs typeface="Arial" panose="020B0604020202020204" pitchFamily="34" charset="0"/>
                </a:rPr>
                <a:t> </a:t>
              </a:r>
              <a:r>
                <a:rPr sz="1600" spc="60" dirty="0">
                  <a:latin typeface="Arial" panose="020B0604020202020204" pitchFamily="34" charset="0"/>
                  <a:cs typeface="Arial" panose="020B0604020202020204" pitchFamily="34" charset="0"/>
                </a:rPr>
                <a:t>state</a:t>
              </a:r>
              <a:r>
                <a:rPr sz="1600" spc="235"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of</a:t>
              </a:r>
              <a:r>
                <a:rPr sz="1600" spc="235" dirty="0">
                  <a:latin typeface="Arial" panose="020B0604020202020204" pitchFamily="34" charset="0"/>
                  <a:cs typeface="Arial" panose="020B0604020202020204" pitchFamily="34" charset="0"/>
                </a:rPr>
                <a:t> </a:t>
              </a:r>
              <a:r>
                <a:rPr sz="1600" spc="135" dirty="0">
                  <a:latin typeface="Arial" panose="020B0604020202020204" pitchFamily="34" charset="0"/>
                  <a:cs typeface="Arial" panose="020B0604020202020204" pitchFamily="34" charset="0"/>
                </a:rPr>
                <a:t>-</a:t>
              </a:r>
              <a:r>
                <a:rPr sz="1600" spc="105" dirty="0">
                  <a:latin typeface="Arial" panose="020B0604020202020204" pitchFamily="34" charset="0"/>
                  <a:cs typeface="Arial" panose="020B0604020202020204" pitchFamily="34" charset="0"/>
                </a:rPr>
                <a:t>2</a:t>
              </a:r>
              <a:r>
                <a:rPr sz="1600" spc="260" dirty="0">
                  <a:latin typeface="Arial" panose="020B0604020202020204" pitchFamily="34" charset="0"/>
                  <a:cs typeface="Arial" panose="020B0604020202020204" pitchFamily="34" charset="0"/>
                </a:rPr>
                <a:t> </a:t>
              </a:r>
              <a:r>
                <a:rPr sz="1600" spc="80" dirty="0">
                  <a:latin typeface="Arial" panose="020B0604020202020204" pitchFamily="34" charset="0"/>
                  <a:cs typeface="Arial" panose="020B0604020202020204" pitchFamily="34" charset="0"/>
                </a:rPr>
                <a:t>and</a:t>
              </a:r>
              <a:r>
                <a:rPr sz="1600" spc="275" dirty="0">
                  <a:latin typeface="Arial" panose="020B0604020202020204" pitchFamily="34" charset="0"/>
                  <a:cs typeface="Arial" panose="020B0604020202020204" pitchFamily="34" charset="0"/>
                </a:rPr>
                <a:t> </a:t>
              </a:r>
              <a:r>
                <a:rPr sz="1600" spc="-25" dirty="0">
                  <a:latin typeface="Arial" panose="020B0604020202020204" pitchFamily="34" charset="0"/>
                  <a:cs typeface="Arial" panose="020B0604020202020204" pitchFamily="34" charset="0"/>
                </a:rPr>
                <a:t>the </a:t>
              </a:r>
              <a:r>
                <a:rPr sz="1600" spc="75" dirty="0">
                  <a:latin typeface="Arial" panose="020B0604020202020204" pitchFamily="34" charset="0"/>
                  <a:cs typeface="Arial" panose="020B0604020202020204" pitchFamily="34" charset="0"/>
                </a:rPr>
                <a:t>hydrogen</a:t>
              </a:r>
              <a:r>
                <a:rPr sz="1600" spc="225" dirty="0">
                  <a:latin typeface="Arial" panose="020B0604020202020204" pitchFamily="34" charset="0"/>
                  <a:cs typeface="Arial" panose="020B0604020202020204" pitchFamily="34" charset="0"/>
                </a:rPr>
                <a:t> </a:t>
              </a:r>
              <a:r>
                <a:rPr sz="1600" spc="75" dirty="0">
                  <a:latin typeface="Arial" panose="020B0604020202020204" pitchFamily="34" charset="0"/>
                  <a:cs typeface="Arial" panose="020B0604020202020204" pitchFamily="34" charset="0"/>
                </a:rPr>
                <a:t>atoms</a:t>
              </a:r>
              <a:r>
                <a:rPr sz="1600" spc="229" dirty="0">
                  <a:latin typeface="Arial" panose="020B0604020202020204" pitchFamily="34" charset="0"/>
                  <a:cs typeface="Arial" panose="020B0604020202020204" pitchFamily="34" charset="0"/>
                </a:rPr>
                <a:t> </a:t>
              </a:r>
              <a:r>
                <a:rPr sz="1600" spc="100" dirty="0">
                  <a:latin typeface="Arial" panose="020B0604020202020204" pitchFamily="34" charset="0"/>
                  <a:cs typeface="Arial" panose="020B0604020202020204" pitchFamily="34" charset="0"/>
                </a:rPr>
                <a:t>an</a:t>
              </a:r>
              <a:r>
                <a:rPr sz="1600" spc="225" dirty="0">
                  <a:latin typeface="Arial" panose="020B0604020202020204" pitchFamily="34" charset="0"/>
                  <a:cs typeface="Arial" panose="020B0604020202020204" pitchFamily="34" charset="0"/>
                </a:rPr>
                <a:t> </a:t>
              </a:r>
              <a:r>
                <a:rPr sz="1600" spc="45" dirty="0">
                  <a:latin typeface="Arial" panose="020B0604020202020204" pitchFamily="34" charset="0"/>
                  <a:cs typeface="Arial" panose="020B0604020202020204" pitchFamily="34" charset="0"/>
                </a:rPr>
                <a:t>oxidation</a:t>
              </a:r>
              <a:r>
                <a:rPr sz="1600" spc="220" dirty="0">
                  <a:latin typeface="Arial" panose="020B0604020202020204" pitchFamily="34" charset="0"/>
                  <a:cs typeface="Arial" panose="020B0604020202020204" pitchFamily="34" charset="0"/>
                </a:rPr>
                <a:t> </a:t>
              </a:r>
              <a:r>
                <a:rPr sz="1600" spc="60" dirty="0">
                  <a:latin typeface="Arial" panose="020B0604020202020204" pitchFamily="34" charset="0"/>
                  <a:cs typeface="Arial" panose="020B0604020202020204" pitchFamily="34" charset="0"/>
                </a:rPr>
                <a:t>state</a:t>
              </a:r>
              <a:r>
                <a:rPr sz="1600" spc="22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of</a:t>
              </a:r>
              <a:r>
                <a:rPr sz="1600" spc="225" dirty="0">
                  <a:latin typeface="Arial" panose="020B0604020202020204" pitchFamily="34" charset="0"/>
                  <a:cs typeface="Arial" panose="020B0604020202020204" pitchFamily="34" charset="0"/>
                </a:rPr>
                <a:t> </a:t>
              </a:r>
              <a:r>
                <a:rPr sz="1600" spc="250" dirty="0">
                  <a:latin typeface="Arial" panose="020B0604020202020204" pitchFamily="34" charset="0"/>
                  <a:cs typeface="Arial" panose="020B0604020202020204" pitchFamily="34" charset="0"/>
                </a:rPr>
                <a:t>+1.</a:t>
              </a:r>
              <a:endParaRPr sz="1600" dirty="0">
                <a:latin typeface="Arial" panose="020B0604020202020204" pitchFamily="34" charset="0"/>
                <a:cs typeface="Arial" panose="020B0604020202020204" pitchFamily="34" charset="0"/>
              </a:endParaRPr>
            </a:p>
          </p:txBody>
        </p:sp>
        <p:sp>
          <p:nvSpPr>
            <p:cNvPr id="9" name="object 10">
              <a:extLst>
                <a:ext uri="{FF2B5EF4-FFF2-40B4-BE49-F238E27FC236}">
                  <a16:creationId xmlns:a16="http://schemas.microsoft.com/office/drawing/2014/main" id="{EEA4D10F-7B25-9C18-CF5E-B37E4F8C684F}"/>
                </a:ext>
              </a:extLst>
            </p:cNvPr>
            <p:cNvSpPr txBox="1"/>
            <p:nvPr/>
          </p:nvSpPr>
          <p:spPr>
            <a:xfrm>
              <a:off x="1028991" y="1238939"/>
              <a:ext cx="9545156" cy="764312"/>
            </a:xfrm>
            <a:prstGeom prst="rect">
              <a:avLst/>
            </a:prstGeom>
          </p:spPr>
          <p:txBody>
            <a:bodyPr vert="horz" wrap="square" lIns="0" tIns="12700" rIns="0" bIns="0" rtlCol="0">
              <a:spAutoFit/>
            </a:bodyPr>
            <a:lstStyle/>
            <a:p>
              <a:pPr marL="38100" algn="just">
                <a:spcBef>
                  <a:spcPts val="100"/>
                </a:spcBef>
              </a:pPr>
              <a:r>
                <a:rPr sz="1600" spc="-140" dirty="0">
                  <a:latin typeface="Arial" panose="020B0604020202020204" pitchFamily="34" charset="0"/>
                  <a:cs typeface="Arial" panose="020B0604020202020204" pitchFamily="34" charset="0"/>
                </a:rPr>
                <a:t>•</a:t>
              </a:r>
              <a:r>
                <a:rPr lang="en-IN" sz="1600" spc="-140" dirty="0">
                  <a:latin typeface="Arial" panose="020B0604020202020204" pitchFamily="34" charset="0"/>
                  <a:cs typeface="Arial" panose="020B0604020202020204" pitchFamily="34" charset="0"/>
                </a:rPr>
                <a:t>    Elec</a:t>
              </a:r>
              <a:r>
                <a:rPr sz="1600" spc="20" dirty="0" err="1">
                  <a:latin typeface="Arial" panose="020B0604020202020204" pitchFamily="34" charset="0"/>
                  <a:cs typeface="Arial" panose="020B0604020202020204" pitchFamily="34" charset="0"/>
                </a:rPr>
                <a:t>t</a:t>
              </a:r>
              <a:r>
                <a:rPr sz="1600" spc="35" dirty="0" err="1">
                  <a:latin typeface="Arial" panose="020B0604020202020204" pitchFamily="34" charset="0"/>
                  <a:cs typeface="Arial" panose="020B0604020202020204" pitchFamily="34" charset="0"/>
                </a:rPr>
                <a:t>r</a:t>
              </a:r>
              <a:r>
                <a:rPr sz="1600" spc="30" dirty="0" err="1">
                  <a:latin typeface="Arial" panose="020B0604020202020204" pitchFamily="34" charset="0"/>
                  <a:cs typeface="Arial" panose="020B0604020202020204" pitchFamily="34" charset="0"/>
                </a:rPr>
                <a:t>o</a:t>
              </a:r>
              <a:r>
                <a:rPr sz="1600" spc="60" dirty="0" err="1">
                  <a:latin typeface="Arial" panose="020B0604020202020204" pitchFamily="34" charset="0"/>
                  <a:cs typeface="Arial" panose="020B0604020202020204" pitchFamily="34" charset="0"/>
                </a:rPr>
                <a:t>c</a:t>
              </a:r>
              <a:r>
                <a:rPr sz="1600" spc="15" dirty="0" err="1">
                  <a:latin typeface="Arial" panose="020B0604020202020204" pitchFamily="34" charset="0"/>
                  <a:cs typeface="Arial" panose="020B0604020202020204" pitchFamily="34" charset="0"/>
                </a:rPr>
                <a:t>h</a:t>
              </a:r>
              <a:r>
                <a:rPr sz="1600" spc="45" dirty="0" err="1">
                  <a:latin typeface="Arial" panose="020B0604020202020204" pitchFamily="34" charset="0"/>
                  <a:cs typeface="Arial" panose="020B0604020202020204" pitchFamily="34" charset="0"/>
                </a:rPr>
                <a:t>e</a:t>
              </a:r>
              <a:r>
                <a:rPr sz="1600" spc="40" dirty="0" err="1">
                  <a:latin typeface="Arial" panose="020B0604020202020204" pitchFamily="34" charset="0"/>
                  <a:cs typeface="Arial" panose="020B0604020202020204" pitchFamily="34" charset="0"/>
                </a:rPr>
                <a:t>mi</a:t>
              </a:r>
              <a:r>
                <a:rPr sz="1600" spc="35" dirty="0" err="1">
                  <a:latin typeface="Arial" panose="020B0604020202020204" pitchFamily="34" charset="0"/>
                  <a:cs typeface="Arial" panose="020B0604020202020204" pitchFamily="34" charset="0"/>
                </a:rPr>
                <a:t>c</a:t>
              </a:r>
              <a:r>
                <a:rPr sz="1600" spc="50" dirty="0" err="1">
                  <a:latin typeface="Arial" panose="020B0604020202020204" pitchFamily="34" charset="0"/>
                  <a:cs typeface="Arial" panose="020B0604020202020204" pitchFamily="34" charset="0"/>
                </a:rPr>
                <a:t>a</a:t>
              </a:r>
              <a:r>
                <a:rPr sz="1600" spc="40" dirty="0" err="1">
                  <a:latin typeface="Arial" panose="020B0604020202020204" pitchFamily="34" charset="0"/>
                  <a:cs typeface="Arial" panose="020B0604020202020204" pitchFamily="34" charset="0"/>
                </a:rPr>
                <a:t>l</a:t>
              </a:r>
              <a:r>
                <a:rPr sz="1600" spc="275"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potential</a:t>
              </a:r>
              <a:r>
                <a:rPr sz="1600" spc="275" dirty="0">
                  <a:latin typeface="Arial" panose="020B0604020202020204" pitchFamily="34" charset="0"/>
                  <a:cs typeface="Arial" panose="020B0604020202020204" pitchFamily="34" charset="0"/>
                </a:rPr>
                <a:t> </a:t>
              </a:r>
              <a:r>
                <a:rPr sz="1600" spc="75" dirty="0">
                  <a:latin typeface="Arial" panose="020B0604020202020204" pitchFamily="34" charset="0"/>
                  <a:cs typeface="Arial" panose="020B0604020202020204" pitchFamily="34" charset="0"/>
                </a:rPr>
                <a:t>values</a:t>
              </a:r>
              <a:r>
                <a:rPr sz="1600" spc="310" dirty="0">
                  <a:latin typeface="Arial" panose="020B0604020202020204" pitchFamily="34" charset="0"/>
                  <a:cs typeface="Arial" panose="020B0604020202020204" pitchFamily="34" charset="0"/>
                </a:rPr>
                <a:t> </a:t>
              </a:r>
              <a:r>
                <a:rPr sz="1600" spc="65" dirty="0">
                  <a:latin typeface="Arial" panose="020B0604020202020204" pitchFamily="34" charset="0"/>
                  <a:cs typeface="Arial" panose="020B0604020202020204" pitchFamily="34" charset="0"/>
                </a:rPr>
                <a:t>are</a:t>
              </a:r>
              <a:r>
                <a:rPr sz="1600" spc="28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written</a:t>
              </a:r>
              <a:r>
                <a:rPr sz="1600" spc="305"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for</a:t>
              </a:r>
              <a:r>
                <a:rPr sz="1600" spc="295" dirty="0">
                  <a:latin typeface="Arial" panose="020B0604020202020204" pitchFamily="34" charset="0"/>
                  <a:cs typeface="Arial" panose="020B0604020202020204" pitchFamily="34" charset="0"/>
                </a:rPr>
                <a:t> </a:t>
              </a:r>
              <a:r>
                <a:rPr sz="1600" spc="75" dirty="0">
                  <a:latin typeface="Arial" panose="020B0604020202020204" pitchFamily="34" charset="0"/>
                  <a:cs typeface="Arial" panose="020B0604020202020204" pitchFamily="34" charset="0"/>
                </a:rPr>
                <a:t>successive</a:t>
              </a:r>
              <a:r>
                <a:rPr lang="en-US" sz="1600" spc="75" dirty="0">
                  <a:latin typeface="Arial" panose="020B0604020202020204" pitchFamily="34" charset="0"/>
                  <a:cs typeface="Arial" panose="020B0604020202020204" pitchFamily="34" charset="0"/>
                </a:rPr>
                <a:t> </a:t>
              </a:r>
              <a:r>
                <a:rPr lang="en-US" sz="1600" spc="60" dirty="0">
                  <a:latin typeface="Arial" panose="020B0604020202020204" pitchFamily="34" charset="0"/>
                  <a:cs typeface="Arial" panose="020B0604020202020204" pitchFamily="34" charset="0"/>
                </a:rPr>
                <a:t>redox</a:t>
              </a:r>
              <a:r>
                <a:rPr lang="en-US" sz="1600" spc="260" dirty="0">
                  <a:latin typeface="Arial" panose="020B0604020202020204" pitchFamily="34" charset="0"/>
                  <a:cs typeface="Arial" panose="020B0604020202020204" pitchFamily="34" charset="0"/>
                </a:rPr>
                <a:t> </a:t>
              </a:r>
              <a:r>
                <a:rPr lang="en-US" sz="1600" spc="55" dirty="0">
                  <a:latin typeface="Arial" panose="020B0604020202020204" pitchFamily="34" charset="0"/>
                  <a:cs typeface="Arial" panose="020B0604020202020204" pitchFamily="34" charset="0"/>
                </a:rPr>
                <a:t>reactions</a:t>
              </a:r>
              <a:r>
                <a:rPr lang="en-US" sz="1600" spc="260" dirty="0">
                  <a:latin typeface="Arial" panose="020B0604020202020204" pitchFamily="34" charset="0"/>
                  <a:cs typeface="Arial" panose="020B0604020202020204" pitchFamily="34" charset="0"/>
                </a:rPr>
                <a:t> </a:t>
              </a:r>
              <a:r>
                <a:rPr lang="en-US" sz="1600" spc="70" dirty="0">
                  <a:latin typeface="Arial" panose="020B0604020202020204" pitchFamily="34" charset="0"/>
                  <a:cs typeface="Arial" panose="020B0604020202020204" pitchFamily="34" charset="0"/>
                </a:rPr>
                <a:t>(from</a:t>
              </a:r>
              <a:r>
                <a:rPr lang="en-US" sz="1600" spc="275" dirty="0">
                  <a:latin typeface="Arial" panose="020B0604020202020204" pitchFamily="34" charset="0"/>
                  <a:cs typeface="Arial" panose="020B0604020202020204" pitchFamily="34" charset="0"/>
                </a:rPr>
                <a:t> </a:t>
              </a:r>
              <a:r>
                <a:rPr lang="en-US" sz="1600" spc="75" dirty="0">
                  <a:latin typeface="Arial" panose="020B0604020202020204" pitchFamily="34" charset="0"/>
                  <a:cs typeface="Arial" panose="020B0604020202020204" pitchFamily="34" charset="0"/>
                </a:rPr>
                <a:t>highest</a:t>
              </a:r>
              <a:r>
                <a:rPr lang="en-US" sz="1600" spc="265"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to</a:t>
              </a:r>
              <a:r>
                <a:rPr lang="en-US" sz="1600" spc="270"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lowest</a:t>
              </a:r>
              <a:r>
                <a:rPr lang="en-US" sz="1600" spc="265" dirty="0">
                  <a:latin typeface="Arial" panose="020B0604020202020204" pitchFamily="34" charset="0"/>
                  <a:cs typeface="Arial" panose="020B0604020202020204" pitchFamily="34" charset="0"/>
                </a:rPr>
                <a:t> </a:t>
              </a:r>
              <a:r>
                <a:rPr lang="en-US" sz="1600" spc="45" dirty="0">
                  <a:latin typeface="Arial" panose="020B0604020202020204" pitchFamily="34" charset="0"/>
                  <a:cs typeface="Arial" panose="020B0604020202020204" pitchFamily="34" charset="0"/>
                </a:rPr>
                <a:t>oxidation</a:t>
              </a:r>
              <a:r>
                <a:rPr lang="en-US" sz="1600" spc="225" dirty="0">
                  <a:latin typeface="Arial" panose="020B0604020202020204" pitchFamily="34" charset="0"/>
                  <a:cs typeface="Arial" panose="020B0604020202020204" pitchFamily="34" charset="0"/>
                </a:rPr>
                <a:t> </a:t>
              </a:r>
              <a:r>
                <a:rPr lang="en-US" sz="1600" spc="85" dirty="0">
                  <a:latin typeface="Arial" panose="020B0604020202020204" pitchFamily="34" charset="0"/>
                  <a:cs typeface="Arial" panose="020B0604020202020204" pitchFamily="34" charset="0"/>
                </a:rPr>
                <a:t>state),</a:t>
              </a:r>
              <a:endParaRPr lang="en-US" sz="1600" dirty="0">
                <a:latin typeface="Arial" panose="020B0604020202020204" pitchFamily="34" charset="0"/>
                <a:cs typeface="Arial" panose="020B0604020202020204" pitchFamily="34" charset="0"/>
              </a:endParaRPr>
            </a:p>
            <a:p>
              <a:pPr marL="38100" algn="just">
                <a:lnSpc>
                  <a:spcPct val="100000"/>
                </a:lnSpc>
                <a:spcBef>
                  <a:spcPts val="100"/>
                </a:spcBef>
              </a:pPr>
              <a:endParaRPr sz="1600" dirty="0">
                <a:latin typeface="Arial" panose="020B0604020202020204" pitchFamily="34" charset="0"/>
                <a:cs typeface="Arial" panose="020B0604020202020204" pitchFamily="34" charset="0"/>
              </a:endParaRPr>
            </a:p>
          </p:txBody>
        </p:sp>
      </p:grpSp>
      <p:pic>
        <p:nvPicPr>
          <p:cNvPr id="5" name="Picture 4">
            <a:extLst>
              <a:ext uri="{FF2B5EF4-FFF2-40B4-BE49-F238E27FC236}">
                <a16:creationId xmlns:a16="http://schemas.microsoft.com/office/drawing/2014/main" id="{EF3C39FC-1B6E-35BB-189D-B05292916F6C}"/>
              </a:ext>
            </a:extLst>
          </p:cNvPr>
          <p:cNvPicPr>
            <a:picLocks noChangeAspect="1"/>
          </p:cNvPicPr>
          <p:nvPr/>
        </p:nvPicPr>
        <p:blipFill>
          <a:blip r:embed="rId2"/>
          <a:stretch>
            <a:fillRect/>
          </a:stretch>
        </p:blipFill>
        <p:spPr>
          <a:xfrm>
            <a:off x="597968" y="4395740"/>
            <a:ext cx="10723175" cy="1485741"/>
          </a:xfrm>
          <a:prstGeom prst="rect">
            <a:avLst/>
          </a:prstGeom>
        </p:spPr>
      </p:pic>
    </p:spTree>
    <p:extLst>
      <p:ext uri="{BB962C8B-B14F-4D97-AF65-F5344CB8AC3E}">
        <p14:creationId xmlns:p14="http://schemas.microsoft.com/office/powerpoint/2010/main" val="2104536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3BF98F9-1483-6226-B49C-E6670AB4475E}"/>
              </a:ext>
            </a:extLst>
          </p:cNvPr>
          <p:cNvPicPr>
            <a:picLocks noChangeAspect="1"/>
          </p:cNvPicPr>
          <p:nvPr/>
        </p:nvPicPr>
        <p:blipFill>
          <a:blip r:embed="rId2"/>
          <a:stretch>
            <a:fillRect/>
          </a:stretch>
        </p:blipFill>
        <p:spPr>
          <a:xfrm>
            <a:off x="932113" y="1246751"/>
            <a:ext cx="2481558" cy="484207"/>
          </a:xfrm>
          <a:prstGeom prst="rect">
            <a:avLst/>
          </a:prstGeom>
        </p:spPr>
      </p:pic>
      <p:sp>
        <p:nvSpPr>
          <p:cNvPr id="6" name="TextBox 5">
            <a:extLst>
              <a:ext uri="{FF2B5EF4-FFF2-40B4-BE49-F238E27FC236}">
                <a16:creationId xmlns:a16="http://schemas.microsoft.com/office/drawing/2014/main" id="{720D5A8D-D7E7-4387-7449-823587271E0F}"/>
              </a:ext>
            </a:extLst>
          </p:cNvPr>
          <p:cNvSpPr txBox="1"/>
          <p:nvPr/>
        </p:nvSpPr>
        <p:spPr>
          <a:xfrm>
            <a:off x="531369" y="419801"/>
            <a:ext cx="10859148" cy="646331"/>
          </a:xfrm>
          <a:prstGeom prst="rect">
            <a:avLst/>
          </a:prstGeom>
          <a:noFill/>
        </p:spPr>
        <p:txBody>
          <a:bodyPr wrap="square" rtlCol="0">
            <a:spAutoFit/>
          </a:bodyPr>
          <a:lstStyle/>
          <a:p>
            <a:pPr algn="just"/>
            <a:r>
              <a:rPr lang="en-US" sz="1800" b="0" i="0" u="none" strike="noStrike" baseline="0" dirty="0">
                <a:latin typeface="Arial" panose="020B0604020202020204" pitchFamily="34" charset="0"/>
                <a:cs typeface="Arial" panose="020B0604020202020204" pitchFamily="34" charset="0"/>
              </a:rPr>
              <a:t>Conversion of a Latimer diagram to a half-reaction often involves balancing elements by including the predominant species present in acidic aqueous solution (H and H</a:t>
            </a:r>
            <a:r>
              <a:rPr lang="en-US" sz="1800" b="0" i="0" u="none" strike="noStrike" baseline="-25000" dirty="0">
                <a:latin typeface="Arial" panose="020B0604020202020204" pitchFamily="34" charset="0"/>
                <a:cs typeface="Arial" panose="020B0604020202020204" pitchFamily="34" charset="0"/>
              </a:rPr>
              <a:t>2</a:t>
            </a:r>
            <a:r>
              <a:rPr lang="en-US" sz="1800" b="0" i="0" u="none" strike="noStrike" baseline="0" dirty="0">
                <a:latin typeface="Arial" panose="020B0604020202020204" pitchFamily="34" charset="0"/>
                <a:cs typeface="Arial" panose="020B0604020202020204" pitchFamily="34" charset="0"/>
              </a:rPr>
              <a:t>O)</a:t>
            </a:r>
            <a:endParaRPr lang="en-IN"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9F467F26-4512-51FF-8661-020EF213A1DC}"/>
              </a:ext>
            </a:extLst>
          </p:cNvPr>
          <p:cNvPicPr>
            <a:picLocks noChangeAspect="1"/>
          </p:cNvPicPr>
          <p:nvPr/>
        </p:nvPicPr>
        <p:blipFill>
          <a:blip r:embed="rId3"/>
          <a:stretch>
            <a:fillRect/>
          </a:stretch>
        </p:blipFill>
        <p:spPr>
          <a:xfrm>
            <a:off x="676513" y="1887800"/>
            <a:ext cx="8844859" cy="484208"/>
          </a:xfrm>
          <a:prstGeom prst="rect">
            <a:avLst/>
          </a:prstGeom>
        </p:spPr>
      </p:pic>
      <p:pic>
        <p:nvPicPr>
          <p:cNvPr id="10" name="Picture 9">
            <a:extLst>
              <a:ext uri="{FF2B5EF4-FFF2-40B4-BE49-F238E27FC236}">
                <a16:creationId xmlns:a16="http://schemas.microsoft.com/office/drawing/2014/main" id="{9C2BDF4C-8A00-9293-FDD0-F9A84025D081}"/>
              </a:ext>
            </a:extLst>
          </p:cNvPr>
          <p:cNvPicPr>
            <a:picLocks noChangeAspect="1"/>
          </p:cNvPicPr>
          <p:nvPr/>
        </p:nvPicPr>
        <p:blipFill>
          <a:blip r:embed="rId4"/>
          <a:stretch>
            <a:fillRect/>
          </a:stretch>
        </p:blipFill>
        <p:spPr>
          <a:xfrm>
            <a:off x="752551" y="2709468"/>
            <a:ext cx="2840682" cy="484208"/>
          </a:xfrm>
          <a:prstGeom prst="rect">
            <a:avLst/>
          </a:prstGeom>
        </p:spPr>
      </p:pic>
      <p:pic>
        <p:nvPicPr>
          <p:cNvPr id="12" name="Picture 11">
            <a:extLst>
              <a:ext uri="{FF2B5EF4-FFF2-40B4-BE49-F238E27FC236}">
                <a16:creationId xmlns:a16="http://schemas.microsoft.com/office/drawing/2014/main" id="{10A15DA6-6C0F-EAD8-1037-5B4913DD5E70}"/>
              </a:ext>
            </a:extLst>
          </p:cNvPr>
          <p:cNvPicPr>
            <a:picLocks noChangeAspect="1"/>
          </p:cNvPicPr>
          <p:nvPr/>
        </p:nvPicPr>
        <p:blipFill>
          <a:blip r:embed="rId5"/>
          <a:stretch>
            <a:fillRect/>
          </a:stretch>
        </p:blipFill>
        <p:spPr>
          <a:xfrm>
            <a:off x="760687" y="3422221"/>
            <a:ext cx="8760685" cy="470480"/>
          </a:xfrm>
          <a:prstGeom prst="rect">
            <a:avLst/>
          </a:prstGeom>
        </p:spPr>
      </p:pic>
      <p:pic>
        <p:nvPicPr>
          <p:cNvPr id="14" name="Picture 13">
            <a:extLst>
              <a:ext uri="{FF2B5EF4-FFF2-40B4-BE49-F238E27FC236}">
                <a16:creationId xmlns:a16="http://schemas.microsoft.com/office/drawing/2014/main" id="{D28CE47C-F34B-7B7C-1CF8-0CEA3A1515D0}"/>
              </a:ext>
            </a:extLst>
          </p:cNvPr>
          <p:cNvPicPr>
            <a:picLocks noChangeAspect="1"/>
          </p:cNvPicPr>
          <p:nvPr/>
        </p:nvPicPr>
        <p:blipFill>
          <a:blip r:embed="rId6"/>
          <a:stretch>
            <a:fillRect/>
          </a:stretch>
        </p:blipFill>
        <p:spPr>
          <a:xfrm>
            <a:off x="527794" y="4665416"/>
            <a:ext cx="10401463" cy="800112"/>
          </a:xfrm>
          <a:prstGeom prst="rect">
            <a:avLst/>
          </a:prstGeom>
        </p:spPr>
      </p:pic>
      <p:sp>
        <p:nvSpPr>
          <p:cNvPr id="15" name="TextBox 14">
            <a:extLst>
              <a:ext uri="{FF2B5EF4-FFF2-40B4-BE49-F238E27FC236}">
                <a16:creationId xmlns:a16="http://schemas.microsoft.com/office/drawing/2014/main" id="{52EE8ABB-CBCD-C4FA-F07F-858F08071E91}"/>
              </a:ext>
            </a:extLst>
          </p:cNvPr>
          <p:cNvSpPr txBox="1"/>
          <p:nvPr/>
        </p:nvSpPr>
        <p:spPr>
          <a:xfrm>
            <a:off x="677537" y="4094392"/>
            <a:ext cx="2999539"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In basic medium at pH = 14</a:t>
            </a:r>
            <a:endParaRPr lang="en-IN"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9C2F135D-94EB-C05F-C5B1-F542B680F382}"/>
              </a:ext>
            </a:extLst>
          </p:cNvPr>
          <p:cNvSpPr txBox="1"/>
          <p:nvPr/>
        </p:nvSpPr>
        <p:spPr>
          <a:xfrm>
            <a:off x="527794" y="5667220"/>
            <a:ext cx="9148658"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The E value for Cl</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/Cl</a:t>
            </a:r>
            <a:r>
              <a:rPr lang="en-US" baseline="300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is same in both acidic and alkaline as no proton transfer involved </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733259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9C4623-FCDF-3BDD-DD76-CBCEBB34EA91}"/>
              </a:ext>
            </a:extLst>
          </p:cNvPr>
          <p:cNvSpPr txBox="1"/>
          <p:nvPr/>
        </p:nvSpPr>
        <p:spPr>
          <a:xfrm>
            <a:off x="546847" y="882134"/>
            <a:ext cx="9443675"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To calculate E for nonadjacent couple or not listed in the Latimer diagram. Use </a:t>
            </a:r>
            <a:r>
              <a:rPr lang="en-US" dirty="0">
                <a:latin typeface="Arial" panose="020B0604020202020204" pitchFamily="34" charset="0"/>
                <a:cs typeface="Arial" panose="020B0604020202020204" pitchFamily="34" charset="0"/>
                <a:sym typeface="Symbol" panose="05050102010706020507" pitchFamily="18" charset="2"/>
              </a:rPr>
              <a:t></a:t>
            </a:r>
            <a:r>
              <a:rPr lang="en-US" dirty="0">
                <a:latin typeface="Arial" panose="020B0604020202020204" pitchFamily="34" charset="0"/>
                <a:cs typeface="Arial" panose="020B0604020202020204" pitchFamily="34" charset="0"/>
              </a:rPr>
              <a:t>G = -</a:t>
            </a:r>
            <a:r>
              <a:rPr lang="en-US" dirty="0" err="1">
                <a:latin typeface="Arial" panose="020B0604020202020204" pitchFamily="34" charset="0"/>
                <a:cs typeface="Arial" panose="020B0604020202020204" pitchFamily="34" charset="0"/>
              </a:rPr>
              <a:t>nFE</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3303C293-F198-5AE9-2EDF-658251A0B26C}"/>
              </a:ext>
            </a:extLst>
          </p:cNvPr>
          <p:cNvPicPr>
            <a:picLocks noChangeAspect="1"/>
          </p:cNvPicPr>
          <p:nvPr/>
        </p:nvPicPr>
        <p:blipFill>
          <a:blip r:embed="rId2"/>
          <a:stretch>
            <a:fillRect/>
          </a:stretch>
        </p:blipFill>
        <p:spPr>
          <a:xfrm>
            <a:off x="716325" y="1488662"/>
            <a:ext cx="4921892" cy="569095"/>
          </a:xfrm>
          <a:prstGeom prst="rect">
            <a:avLst/>
          </a:prstGeom>
        </p:spPr>
      </p:pic>
      <p:pic>
        <p:nvPicPr>
          <p:cNvPr id="6" name="Picture 5">
            <a:extLst>
              <a:ext uri="{FF2B5EF4-FFF2-40B4-BE49-F238E27FC236}">
                <a16:creationId xmlns:a16="http://schemas.microsoft.com/office/drawing/2014/main" id="{E4303769-64D0-6871-95DB-8C76E9ADE6B3}"/>
              </a:ext>
            </a:extLst>
          </p:cNvPr>
          <p:cNvPicPr>
            <a:picLocks noChangeAspect="1"/>
          </p:cNvPicPr>
          <p:nvPr/>
        </p:nvPicPr>
        <p:blipFill>
          <a:blip r:embed="rId3"/>
          <a:stretch>
            <a:fillRect/>
          </a:stretch>
        </p:blipFill>
        <p:spPr>
          <a:xfrm>
            <a:off x="716325" y="3442566"/>
            <a:ext cx="5689109" cy="533354"/>
          </a:xfrm>
          <a:prstGeom prst="rect">
            <a:avLst/>
          </a:prstGeom>
        </p:spPr>
      </p:pic>
      <p:sp>
        <p:nvSpPr>
          <p:cNvPr id="7" name="TextBox 6">
            <a:extLst>
              <a:ext uri="{FF2B5EF4-FFF2-40B4-BE49-F238E27FC236}">
                <a16:creationId xmlns:a16="http://schemas.microsoft.com/office/drawing/2014/main" id="{6CAB2318-6EE3-EA15-3D94-0C2FAC8783A7}"/>
              </a:ext>
            </a:extLst>
          </p:cNvPr>
          <p:cNvSpPr txBox="1"/>
          <p:nvPr/>
        </p:nvSpPr>
        <p:spPr>
          <a:xfrm>
            <a:off x="438876" y="2421083"/>
            <a:ext cx="10398681" cy="646331"/>
          </a:xfrm>
          <a:prstGeom prst="rect">
            <a:avLst/>
          </a:prstGeom>
          <a:noFill/>
        </p:spPr>
        <p:txBody>
          <a:bodyPr wrap="none" rtlCol="0">
            <a:spAutoFit/>
          </a:bodyPr>
          <a:lstStyle/>
          <a:p>
            <a:r>
              <a:rPr lang="en-US" dirty="0"/>
              <a:t>To find the std potential for the composite process, convert the corresponding individual </a:t>
            </a:r>
            <a:r>
              <a:rPr lang="en-US" dirty="0" err="1"/>
              <a:t>E</a:t>
            </a:r>
            <a:r>
              <a:rPr lang="en-US" baseline="30000" dirty="0" err="1"/>
              <a:t>o</a:t>
            </a:r>
            <a:r>
              <a:rPr lang="en-US" dirty="0"/>
              <a:t> values to  </a:t>
            </a:r>
            <a:r>
              <a:rPr lang="en-US" dirty="0">
                <a:latin typeface="Arial" panose="020B0604020202020204" pitchFamily="34" charset="0"/>
                <a:cs typeface="Arial" panose="020B0604020202020204" pitchFamily="34" charset="0"/>
                <a:sym typeface="Symbol" panose="05050102010706020507" pitchFamily="18" charset="2"/>
              </a:rPr>
              <a:t></a:t>
            </a:r>
            <a:r>
              <a:rPr lang="en-US" dirty="0">
                <a:latin typeface="Arial" panose="020B0604020202020204" pitchFamily="34" charset="0"/>
                <a:cs typeface="Arial" panose="020B0604020202020204" pitchFamily="34" charset="0"/>
              </a:rPr>
              <a:t>G by </a:t>
            </a:r>
          </a:p>
          <a:p>
            <a:r>
              <a:rPr lang="en-US" dirty="0">
                <a:latin typeface="Arial" panose="020B0604020202020204" pitchFamily="34" charset="0"/>
                <a:cs typeface="Arial" panose="020B0604020202020204" pitchFamily="34" charset="0"/>
              </a:rPr>
              <a:t>multiplying with –</a:t>
            </a:r>
            <a:r>
              <a:rPr lang="en-US" dirty="0" err="1">
                <a:latin typeface="Arial" panose="020B0604020202020204" pitchFamily="34" charset="0"/>
                <a:cs typeface="Arial" panose="020B0604020202020204" pitchFamily="34" charset="0"/>
              </a:rPr>
              <a:t>nF</a:t>
            </a:r>
            <a:r>
              <a:rPr lang="en-US" dirty="0">
                <a:latin typeface="Arial" panose="020B0604020202020204" pitchFamily="34" charset="0"/>
                <a:cs typeface="Arial" panose="020B0604020202020204" pitchFamily="34" charset="0"/>
              </a:rPr>
              <a:t> and sum them up and convert them to </a:t>
            </a:r>
            <a:r>
              <a:rPr lang="en-US" dirty="0" err="1">
                <a:latin typeface="Arial" panose="020B0604020202020204" pitchFamily="34" charset="0"/>
                <a:cs typeface="Arial" panose="020B0604020202020204" pitchFamily="34" charset="0"/>
              </a:rPr>
              <a:t>E</a:t>
            </a:r>
            <a:r>
              <a:rPr lang="en-US" baseline="30000" dirty="0" err="1">
                <a:latin typeface="Arial" panose="020B0604020202020204" pitchFamily="34" charset="0"/>
                <a:cs typeface="Arial" panose="020B0604020202020204" pitchFamily="34" charset="0"/>
              </a:rPr>
              <a:t>o</a:t>
            </a:r>
            <a:r>
              <a:rPr lang="en-US" dirty="0">
                <a:latin typeface="Arial" panose="020B0604020202020204" pitchFamily="34" charset="0"/>
                <a:cs typeface="Arial" panose="020B0604020202020204" pitchFamily="34" charset="0"/>
              </a:rPr>
              <a:t> by dividing by –</a:t>
            </a:r>
            <a:r>
              <a:rPr lang="en-US" dirty="0" err="1">
                <a:latin typeface="Arial" panose="020B0604020202020204" pitchFamily="34" charset="0"/>
                <a:cs typeface="Arial" panose="020B0604020202020204" pitchFamily="34" charset="0"/>
              </a:rPr>
              <a:t>nF</a:t>
            </a:r>
            <a:r>
              <a:rPr lang="en-US" dirty="0">
                <a:latin typeface="Arial" panose="020B0604020202020204" pitchFamily="34" charset="0"/>
                <a:cs typeface="Arial" panose="020B0604020202020204" pitchFamily="34" charset="0"/>
              </a:rPr>
              <a:t>.</a:t>
            </a:r>
            <a:endParaRPr lang="en-IN" dirty="0"/>
          </a:p>
        </p:txBody>
      </p:sp>
      <p:pic>
        <p:nvPicPr>
          <p:cNvPr id="9" name="Picture 8">
            <a:extLst>
              <a:ext uri="{FF2B5EF4-FFF2-40B4-BE49-F238E27FC236}">
                <a16:creationId xmlns:a16="http://schemas.microsoft.com/office/drawing/2014/main" id="{DBE09042-6664-EA77-4958-56D616951D3C}"/>
              </a:ext>
            </a:extLst>
          </p:cNvPr>
          <p:cNvPicPr>
            <a:picLocks noChangeAspect="1"/>
          </p:cNvPicPr>
          <p:nvPr/>
        </p:nvPicPr>
        <p:blipFill>
          <a:blip r:embed="rId4"/>
          <a:stretch>
            <a:fillRect/>
          </a:stretch>
        </p:blipFill>
        <p:spPr>
          <a:xfrm>
            <a:off x="2517327" y="4578092"/>
            <a:ext cx="4785960" cy="1213108"/>
          </a:xfrm>
          <a:prstGeom prst="rect">
            <a:avLst/>
          </a:prstGeom>
        </p:spPr>
      </p:pic>
      <p:sp>
        <p:nvSpPr>
          <p:cNvPr id="10" name="TextBox 9">
            <a:extLst>
              <a:ext uri="{FF2B5EF4-FFF2-40B4-BE49-F238E27FC236}">
                <a16:creationId xmlns:a16="http://schemas.microsoft.com/office/drawing/2014/main" id="{AAA88AA0-FB0C-65A9-A080-42AE65B039F7}"/>
              </a:ext>
            </a:extLst>
          </p:cNvPr>
          <p:cNvSpPr txBox="1"/>
          <p:nvPr/>
        </p:nvSpPr>
        <p:spPr>
          <a:xfrm>
            <a:off x="716325" y="4079894"/>
            <a:ext cx="1486882" cy="369332"/>
          </a:xfrm>
          <a:prstGeom prst="rect">
            <a:avLst/>
          </a:prstGeom>
          <a:noFill/>
        </p:spPr>
        <p:txBody>
          <a:bodyPr wrap="none" rtlCol="0">
            <a:spAutoFit/>
          </a:bodyPr>
          <a:lstStyle/>
          <a:p>
            <a:r>
              <a:rPr lang="en-US" dirty="0"/>
              <a:t>The net result</a:t>
            </a:r>
            <a:endParaRPr lang="en-IN" dirty="0"/>
          </a:p>
        </p:txBody>
      </p:sp>
    </p:spTree>
    <p:extLst>
      <p:ext uri="{BB962C8B-B14F-4D97-AF65-F5344CB8AC3E}">
        <p14:creationId xmlns:p14="http://schemas.microsoft.com/office/powerpoint/2010/main" val="25986838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518F93-DDD0-5808-3250-26CAB09B93B1}"/>
              </a:ext>
            </a:extLst>
          </p:cNvPr>
          <p:cNvPicPr>
            <a:picLocks noChangeAspect="1"/>
          </p:cNvPicPr>
          <p:nvPr/>
        </p:nvPicPr>
        <p:blipFill>
          <a:blip r:embed="rId2"/>
          <a:stretch>
            <a:fillRect/>
          </a:stretch>
        </p:blipFill>
        <p:spPr>
          <a:xfrm>
            <a:off x="1254170" y="3895344"/>
            <a:ext cx="5506780" cy="391271"/>
          </a:xfrm>
          <a:prstGeom prst="rect">
            <a:avLst/>
          </a:prstGeom>
        </p:spPr>
      </p:pic>
      <p:pic>
        <p:nvPicPr>
          <p:cNvPr id="5" name="Picture 4">
            <a:extLst>
              <a:ext uri="{FF2B5EF4-FFF2-40B4-BE49-F238E27FC236}">
                <a16:creationId xmlns:a16="http://schemas.microsoft.com/office/drawing/2014/main" id="{8254A212-369E-DA74-D4B2-90B2B385DAA3}"/>
              </a:ext>
            </a:extLst>
          </p:cNvPr>
          <p:cNvPicPr>
            <a:picLocks noChangeAspect="1"/>
          </p:cNvPicPr>
          <p:nvPr/>
        </p:nvPicPr>
        <p:blipFill>
          <a:blip r:embed="rId3"/>
          <a:stretch>
            <a:fillRect/>
          </a:stretch>
        </p:blipFill>
        <p:spPr>
          <a:xfrm>
            <a:off x="1361710" y="4717410"/>
            <a:ext cx="4268329" cy="741030"/>
          </a:xfrm>
          <a:prstGeom prst="rect">
            <a:avLst/>
          </a:prstGeom>
        </p:spPr>
      </p:pic>
      <p:sp>
        <p:nvSpPr>
          <p:cNvPr id="6" name="TextBox 5">
            <a:extLst>
              <a:ext uri="{FF2B5EF4-FFF2-40B4-BE49-F238E27FC236}">
                <a16:creationId xmlns:a16="http://schemas.microsoft.com/office/drawing/2014/main" id="{5B4044E3-FB35-DAC1-7908-46CBE1AEBB4A}"/>
              </a:ext>
            </a:extLst>
          </p:cNvPr>
          <p:cNvSpPr txBox="1"/>
          <p:nvPr/>
        </p:nvSpPr>
        <p:spPr>
          <a:xfrm>
            <a:off x="775920" y="482890"/>
            <a:ext cx="7112845"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For example, to calculate the </a:t>
            </a:r>
            <a:r>
              <a:rPr lang="en-US" dirty="0" err="1">
                <a:latin typeface="Arial" panose="020B0604020202020204" pitchFamily="34" charset="0"/>
                <a:cs typeface="Arial" panose="020B0604020202020204" pitchFamily="34" charset="0"/>
              </a:rPr>
              <a:t>E</a:t>
            </a:r>
            <a:r>
              <a:rPr lang="en-US" baseline="30000" dirty="0" err="1">
                <a:latin typeface="Arial" panose="020B0604020202020204" pitchFamily="34" charset="0"/>
                <a:cs typeface="Arial" panose="020B0604020202020204" pitchFamily="34" charset="0"/>
              </a:rPr>
              <a:t>o</a:t>
            </a:r>
            <a:r>
              <a:rPr lang="en-US" dirty="0">
                <a:latin typeface="Arial" panose="020B0604020202020204" pitchFamily="34" charset="0"/>
                <a:cs typeface="Arial" panose="020B0604020202020204" pitchFamily="34" charset="0"/>
              </a:rPr>
              <a:t> value for ClO</a:t>
            </a:r>
            <a:r>
              <a:rPr lang="en-US" baseline="-25000" dirty="0">
                <a:latin typeface="Arial" panose="020B0604020202020204" pitchFamily="34" charset="0"/>
                <a:cs typeface="Arial" panose="020B0604020202020204" pitchFamily="34" charset="0"/>
              </a:rPr>
              <a:t>2</a:t>
            </a:r>
            <a:r>
              <a:rPr lang="en-US" baseline="300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/Cl</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in basic solution.</a:t>
            </a:r>
            <a:endParaRPr lang="en-IN" baseline="-250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D7A9B0CE-EBE2-F17C-46F2-880B24B417E5}"/>
              </a:ext>
            </a:extLst>
          </p:cNvPr>
          <p:cNvPicPr>
            <a:picLocks noChangeAspect="1"/>
          </p:cNvPicPr>
          <p:nvPr/>
        </p:nvPicPr>
        <p:blipFill>
          <a:blip r:embed="rId4"/>
          <a:stretch>
            <a:fillRect/>
          </a:stretch>
        </p:blipFill>
        <p:spPr>
          <a:xfrm>
            <a:off x="775920" y="2472613"/>
            <a:ext cx="7334410" cy="916800"/>
          </a:xfrm>
          <a:prstGeom prst="rect">
            <a:avLst/>
          </a:prstGeom>
        </p:spPr>
      </p:pic>
      <p:pic>
        <p:nvPicPr>
          <p:cNvPr id="2" name="Picture 1">
            <a:extLst>
              <a:ext uri="{FF2B5EF4-FFF2-40B4-BE49-F238E27FC236}">
                <a16:creationId xmlns:a16="http://schemas.microsoft.com/office/drawing/2014/main" id="{F1AFEBD8-9302-6609-CFA4-933DC576B3E4}"/>
              </a:ext>
            </a:extLst>
          </p:cNvPr>
          <p:cNvPicPr>
            <a:picLocks noChangeAspect="1"/>
          </p:cNvPicPr>
          <p:nvPr/>
        </p:nvPicPr>
        <p:blipFill>
          <a:blip r:embed="rId5"/>
          <a:stretch>
            <a:fillRect/>
          </a:stretch>
        </p:blipFill>
        <p:spPr>
          <a:xfrm>
            <a:off x="884595" y="1083902"/>
            <a:ext cx="8725750" cy="671211"/>
          </a:xfrm>
          <a:prstGeom prst="rect">
            <a:avLst/>
          </a:prstGeom>
        </p:spPr>
      </p:pic>
    </p:spTree>
    <p:extLst>
      <p:ext uri="{BB962C8B-B14F-4D97-AF65-F5344CB8AC3E}">
        <p14:creationId xmlns:p14="http://schemas.microsoft.com/office/powerpoint/2010/main" val="121046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0CE8114-5E81-B2DA-BAF9-5EDCA368506F}"/>
              </a:ext>
            </a:extLst>
          </p:cNvPr>
          <p:cNvGrpSpPr/>
          <p:nvPr/>
        </p:nvGrpSpPr>
        <p:grpSpPr>
          <a:xfrm>
            <a:off x="834790" y="401324"/>
            <a:ext cx="9777676" cy="1500048"/>
            <a:chOff x="979932" y="4233094"/>
            <a:chExt cx="10011790" cy="1640031"/>
          </a:xfrm>
        </p:grpSpPr>
        <p:pic>
          <p:nvPicPr>
            <p:cNvPr id="3" name="object 6">
              <a:extLst>
                <a:ext uri="{FF2B5EF4-FFF2-40B4-BE49-F238E27FC236}">
                  <a16:creationId xmlns:a16="http://schemas.microsoft.com/office/drawing/2014/main" id="{FC9B9DF4-A5ED-2FDE-2F01-0673E6BAF80C}"/>
                </a:ext>
              </a:extLst>
            </p:cNvPr>
            <p:cNvPicPr/>
            <p:nvPr/>
          </p:nvPicPr>
          <p:blipFill>
            <a:blip r:embed="rId2" cstate="print"/>
            <a:stretch>
              <a:fillRect/>
            </a:stretch>
          </p:blipFill>
          <p:spPr>
            <a:xfrm>
              <a:off x="1136014" y="4233094"/>
              <a:ext cx="9855708" cy="968172"/>
            </a:xfrm>
            <a:prstGeom prst="rect">
              <a:avLst/>
            </a:prstGeom>
          </p:spPr>
        </p:pic>
        <p:sp>
          <p:nvSpPr>
            <p:cNvPr id="4" name="TextBox 3">
              <a:extLst>
                <a:ext uri="{FF2B5EF4-FFF2-40B4-BE49-F238E27FC236}">
                  <a16:creationId xmlns:a16="http://schemas.microsoft.com/office/drawing/2014/main" id="{E887402B-82A0-4CE5-70D3-4A10F4D1E06E}"/>
                </a:ext>
              </a:extLst>
            </p:cNvPr>
            <p:cNvSpPr txBox="1"/>
            <p:nvPr/>
          </p:nvSpPr>
          <p:spPr>
            <a:xfrm>
              <a:off x="979932" y="5288350"/>
              <a:ext cx="9855708" cy="584775"/>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The</a:t>
              </a:r>
              <a:r>
                <a:rPr lang="en-US" sz="1600" b="1" spc="-35"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Latimer</a:t>
              </a:r>
              <a:r>
                <a:rPr lang="en-US" sz="1600" b="1" spc="-8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diagram</a:t>
              </a:r>
              <a:r>
                <a:rPr lang="en-US" sz="1600" b="1" spc="-85"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for</a:t>
              </a:r>
              <a:r>
                <a:rPr lang="en-US" sz="1600" b="1" spc="-6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Mn</a:t>
              </a:r>
              <a:r>
                <a:rPr lang="en-US" sz="1600" b="1" spc="-50" dirty="0">
                  <a:latin typeface="Arial" panose="020B0604020202020204" pitchFamily="34" charset="0"/>
                  <a:cs typeface="Arial" panose="020B0604020202020204" pitchFamily="34" charset="0"/>
                </a:rPr>
                <a:t> </a:t>
              </a:r>
              <a:r>
                <a:rPr lang="en-US" sz="1600" b="1" spc="-20" dirty="0">
                  <a:latin typeface="Arial" panose="020B0604020202020204" pitchFamily="34" charset="0"/>
                  <a:cs typeface="Arial" panose="020B0604020202020204" pitchFamily="34" charset="0"/>
                </a:rPr>
                <a:t>illustrates</a:t>
              </a:r>
              <a:r>
                <a:rPr lang="en-US" sz="1600" b="1" spc="-9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its</a:t>
              </a:r>
              <a:r>
                <a:rPr lang="en-US" sz="1600" b="1" spc="-65" dirty="0">
                  <a:latin typeface="Arial" panose="020B0604020202020204" pitchFamily="34" charset="0"/>
                  <a:cs typeface="Arial" panose="020B0604020202020204" pitchFamily="34" charset="0"/>
                </a:rPr>
                <a:t> </a:t>
              </a:r>
              <a:r>
                <a:rPr lang="en-US" sz="1600" b="1" spc="-10" dirty="0">
                  <a:latin typeface="Arial" panose="020B0604020202020204" pitchFamily="34" charset="0"/>
                  <a:cs typeface="Arial" panose="020B0604020202020204" pitchFamily="34" charset="0"/>
                </a:rPr>
                <a:t>standard</a:t>
              </a:r>
              <a:r>
                <a:rPr lang="en-US" sz="1600" b="1" spc="-50" dirty="0">
                  <a:latin typeface="Arial" panose="020B0604020202020204" pitchFamily="34" charset="0"/>
                  <a:cs typeface="Arial" panose="020B0604020202020204" pitchFamily="34" charset="0"/>
                </a:rPr>
                <a:t> </a:t>
              </a:r>
              <a:r>
                <a:rPr lang="en-US" sz="1600" b="1" spc="-10" dirty="0">
                  <a:latin typeface="Arial" panose="020B0604020202020204" pitchFamily="34" charset="0"/>
                  <a:cs typeface="Arial" panose="020B0604020202020204" pitchFamily="34" charset="0"/>
                </a:rPr>
                <a:t>reduction potentials</a:t>
              </a:r>
              <a:r>
                <a:rPr lang="en-US" sz="1600" b="1" spc="-8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(in</a:t>
              </a:r>
              <a:r>
                <a:rPr lang="en-US" sz="1600" b="1" spc="-6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1</a:t>
              </a:r>
              <a:r>
                <a:rPr lang="en-US" sz="1600" b="1" spc="-4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M</a:t>
              </a:r>
              <a:r>
                <a:rPr lang="en-US" sz="1600" b="1" spc="-6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acid)</a:t>
              </a:r>
              <a:r>
                <a:rPr lang="en-US" sz="1600" b="1" spc="-55"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in</a:t>
              </a:r>
              <a:r>
                <a:rPr lang="en-US" sz="1600" b="1" spc="-35" dirty="0">
                  <a:latin typeface="Arial" panose="020B0604020202020204" pitchFamily="34" charset="0"/>
                  <a:cs typeface="Arial" panose="020B0604020202020204" pitchFamily="34" charset="0"/>
                </a:rPr>
                <a:t> </a:t>
              </a:r>
              <a:r>
                <a:rPr lang="en-US" sz="1600" b="1" spc="-10" dirty="0">
                  <a:latin typeface="Arial" panose="020B0604020202020204" pitchFamily="34" charset="0"/>
                  <a:cs typeface="Arial" panose="020B0604020202020204" pitchFamily="34" charset="0"/>
                </a:rPr>
                <a:t>oxidation</a:t>
              </a:r>
              <a:r>
                <a:rPr lang="en-US" sz="1600" b="1" spc="-60" dirty="0">
                  <a:latin typeface="Arial" panose="020B0604020202020204" pitchFamily="34" charset="0"/>
                  <a:cs typeface="Arial" panose="020B0604020202020204" pitchFamily="34" charset="0"/>
                </a:rPr>
                <a:t> </a:t>
              </a:r>
              <a:r>
                <a:rPr lang="en-US" sz="1600" b="1" spc="-10" dirty="0">
                  <a:latin typeface="Arial" panose="020B0604020202020204" pitchFamily="34" charset="0"/>
                  <a:cs typeface="Arial" panose="020B0604020202020204" pitchFamily="34" charset="0"/>
                </a:rPr>
                <a:t>states</a:t>
              </a:r>
              <a:r>
                <a:rPr lang="en-US" sz="1600" b="1" spc="-5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from</a:t>
              </a:r>
              <a:r>
                <a:rPr lang="en-US" sz="1600" b="1" spc="-45"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+7</a:t>
              </a:r>
              <a:r>
                <a:rPr lang="en-US" sz="1600" b="1" spc="-4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to</a:t>
              </a:r>
              <a:r>
                <a:rPr lang="en-US" sz="1600" b="1" spc="-70" dirty="0">
                  <a:latin typeface="Arial" panose="020B0604020202020204" pitchFamily="34" charset="0"/>
                  <a:cs typeface="Arial" panose="020B0604020202020204" pitchFamily="34" charset="0"/>
                </a:rPr>
                <a:t> </a:t>
              </a:r>
              <a:r>
                <a:rPr lang="en-US" sz="1600" b="1" spc="-25" dirty="0">
                  <a:latin typeface="Arial" panose="020B0604020202020204" pitchFamily="34" charset="0"/>
                  <a:cs typeface="Arial" panose="020B0604020202020204" pitchFamily="34" charset="0"/>
                </a:rPr>
                <a:t>0.</a:t>
              </a:r>
              <a:endParaRPr lang="en-IN" sz="1600" dirty="0"/>
            </a:p>
          </p:txBody>
        </p:sp>
      </p:grpSp>
      <p:sp>
        <p:nvSpPr>
          <p:cNvPr id="5" name="TextBox 4">
            <a:extLst>
              <a:ext uri="{FF2B5EF4-FFF2-40B4-BE49-F238E27FC236}">
                <a16:creationId xmlns:a16="http://schemas.microsoft.com/office/drawing/2014/main" id="{A70DE1E1-03B2-83C4-300E-77E29C026F33}"/>
              </a:ext>
            </a:extLst>
          </p:cNvPr>
          <p:cNvSpPr txBox="1"/>
          <p:nvPr/>
        </p:nvSpPr>
        <p:spPr>
          <a:xfrm>
            <a:off x="987222" y="2394855"/>
            <a:ext cx="7024664" cy="400110"/>
          </a:xfrm>
          <a:prstGeom prst="rect">
            <a:avLst/>
          </a:prstGeom>
          <a:noFill/>
        </p:spPr>
        <p:txBody>
          <a:bodyPr wrap="square" rtlCol="0">
            <a:spAutoFit/>
          </a:bodyPr>
          <a:lstStyle/>
          <a:p>
            <a:pPr marL="63500">
              <a:lnSpc>
                <a:spcPts val="2350"/>
              </a:lnSpc>
            </a:pPr>
            <a:r>
              <a:rPr lang="en-US" sz="2200" spc="-114" dirty="0">
                <a:latin typeface="Arial" panose="020B0604020202020204" pitchFamily="34" charset="0"/>
                <a:cs typeface="Arial" panose="020B0604020202020204" pitchFamily="34" charset="0"/>
              </a:rPr>
              <a:t>For</a:t>
            </a:r>
            <a:r>
              <a:rPr lang="en-US" sz="2200" spc="-295" dirty="0">
                <a:latin typeface="Arial" panose="020B0604020202020204" pitchFamily="34" charset="0"/>
                <a:cs typeface="Arial" panose="020B0604020202020204" pitchFamily="34" charset="0"/>
              </a:rPr>
              <a:t> </a:t>
            </a:r>
            <a:r>
              <a:rPr lang="en-US" sz="2200" spc="-229" dirty="0">
                <a:latin typeface="Arial" panose="020B0604020202020204" pitchFamily="34" charset="0"/>
                <a:cs typeface="Arial" panose="020B0604020202020204" pitchFamily="34" charset="0"/>
              </a:rPr>
              <a:t>example,</a:t>
            </a:r>
            <a:r>
              <a:rPr lang="en-US" sz="2200" spc="-325" dirty="0">
                <a:latin typeface="Arial" panose="020B0604020202020204" pitchFamily="34" charset="0"/>
                <a:cs typeface="Arial" panose="020B0604020202020204" pitchFamily="34" charset="0"/>
              </a:rPr>
              <a:t> </a:t>
            </a:r>
            <a:r>
              <a:rPr lang="en-US" sz="2200" spc="-125" dirty="0">
                <a:latin typeface="Arial" panose="020B0604020202020204" pitchFamily="34" charset="0"/>
                <a:cs typeface="Arial" panose="020B0604020202020204" pitchFamily="34" charset="0"/>
              </a:rPr>
              <a:t>for</a:t>
            </a:r>
            <a:r>
              <a:rPr lang="en-US" sz="2200" spc="-295" dirty="0">
                <a:latin typeface="Arial" panose="020B0604020202020204" pitchFamily="34" charset="0"/>
                <a:cs typeface="Arial" panose="020B0604020202020204" pitchFamily="34" charset="0"/>
              </a:rPr>
              <a:t> </a:t>
            </a:r>
            <a:r>
              <a:rPr lang="en-US" sz="2200" spc="-225" dirty="0">
                <a:latin typeface="Arial" panose="020B0604020202020204" pitchFamily="34" charset="0"/>
                <a:cs typeface="Arial" panose="020B0604020202020204" pitchFamily="34" charset="0"/>
              </a:rPr>
              <a:t>the</a:t>
            </a:r>
            <a:r>
              <a:rPr lang="en-US" sz="2200" spc="-275" dirty="0">
                <a:latin typeface="Arial" panose="020B0604020202020204" pitchFamily="34" charset="0"/>
                <a:cs typeface="Arial" panose="020B0604020202020204" pitchFamily="34" charset="0"/>
              </a:rPr>
              <a:t> </a:t>
            </a:r>
            <a:r>
              <a:rPr lang="en-US" sz="2200" spc="-175" dirty="0">
                <a:latin typeface="Arial" panose="020B0604020202020204" pitchFamily="34" charset="0"/>
                <a:cs typeface="Arial" panose="020B0604020202020204" pitchFamily="34" charset="0"/>
              </a:rPr>
              <a:t>5-</a:t>
            </a:r>
            <a:r>
              <a:rPr lang="en-US" sz="2200" spc="-180" dirty="0">
                <a:latin typeface="Arial" panose="020B0604020202020204" pitchFamily="34" charset="0"/>
                <a:cs typeface="Arial" panose="020B0604020202020204" pitchFamily="34" charset="0"/>
              </a:rPr>
              <a:t>electron</a:t>
            </a:r>
            <a:r>
              <a:rPr lang="en-US" sz="2200" spc="-310" dirty="0">
                <a:latin typeface="Arial" panose="020B0604020202020204" pitchFamily="34" charset="0"/>
                <a:cs typeface="Arial" panose="020B0604020202020204" pitchFamily="34" charset="0"/>
              </a:rPr>
              <a:t> </a:t>
            </a:r>
            <a:r>
              <a:rPr lang="en-US" sz="2200" spc="-155" dirty="0">
                <a:latin typeface="Arial" panose="020B0604020202020204" pitchFamily="34" charset="0"/>
                <a:cs typeface="Arial" panose="020B0604020202020204" pitchFamily="34" charset="0"/>
              </a:rPr>
              <a:t>reduction</a:t>
            </a:r>
            <a:r>
              <a:rPr lang="en-US" sz="2200" spc="-305" dirty="0">
                <a:latin typeface="Arial" panose="020B0604020202020204" pitchFamily="34" charset="0"/>
                <a:cs typeface="Arial" panose="020B0604020202020204" pitchFamily="34" charset="0"/>
              </a:rPr>
              <a:t> </a:t>
            </a:r>
            <a:r>
              <a:rPr lang="en-US" sz="2200" spc="-155" dirty="0">
                <a:latin typeface="Arial" panose="020B0604020202020204" pitchFamily="34" charset="0"/>
                <a:cs typeface="Arial" panose="020B0604020202020204" pitchFamily="34" charset="0"/>
              </a:rPr>
              <a:t>of</a:t>
            </a:r>
            <a:r>
              <a:rPr lang="en-US" sz="2200" spc="-295"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MnO</a:t>
            </a:r>
            <a:r>
              <a:rPr lang="en-US" sz="2200" baseline="-25000" dirty="0">
                <a:latin typeface="Arial" panose="020B0604020202020204" pitchFamily="34" charset="0"/>
                <a:cs typeface="Arial" panose="020B0604020202020204" pitchFamily="34" charset="0"/>
              </a:rPr>
              <a:t>4</a:t>
            </a:r>
            <a:r>
              <a:rPr lang="en-US" sz="2200" spc="-10" dirty="0">
                <a:latin typeface="Arial" panose="020B0604020202020204" pitchFamily="34" charset="0"/>
                <a:cs typeface="Arial" panose="020B0604020202020204" pitchFamily="34" charset="0"/>
              </a:rPr>
              <a:t> </a:t>
            </a:r>
            <a:r>
              <a:rPr lang="en-US" sz="2200" baseline="25396" dirty="0">
                <a:latin typeface="Arial" panose="020B0604020202020204" pitchFamily="34" charset="0"/>
                <a:cs typeface="Arial" panose="020B0604020202020204" pitchFamily="34" charset="0"/>
              </a:rPr>
              <a:t>–</a:t>
            </a:r>
            <a:r>
              <a:rPr lang="en-US" sz="2200" spc="22" baseline="25396" dirty="0">
                <a:latin typeface="Arial" panose="020B0604020202020204" pitchFamily="34" charset="0"/>
                <a:cs typeface="Arial" panose="020B0604020202020204" pitchFamily="34" charset="0"/>
              </a:rPr>
              <a:t> </a:t>
            </a:r>
            <a:r>
              <a:rPr lang="en-US" sz="2200" spc="-175" dirty="0">
                <a:latin typeface="Arial" panose="020B0604020202020204" pitchFamily="34" charset="0"/>
                <a:cs typeface="Arial" panose="020B0604020202020204" pitchFamily="34" charset="0"/>
              </a:rPr>
              <a:t>to </a:t>
            </a:r>
            <a:r>
              <a:rPr lang="en-US" sz="2200" spc="-270" dirty="0">
                <a:latin typeface="Arial" panose="020B0604020202020204" pitchFamily="34" charset="0"/>
                <a:cs typeface="Arial" panose="020B0604020202020204" pitchFamily="34" charset="0"/>
              </a:rPr>
              <a:t> </a:t>
            </a:r>
            <a:r>
              <a:rPr lang="en-US" sz="2200" spc="-20" dirty="0">
                <a:latin typeface="Arial" panose="020B0604020202020204" pitchFamily="34" charset="0"/>
                <a:cs typeface="Arial" panose="020B0604020202020204" pitchFamily="34" charset="0"/>
              </a:rPr>
              <a:t>Mn</a:t>
            </a:r>
            <a:r>
              <a:rPr lang="en-US" sz="2200" spc="-30" baseline="25396" dirty="0">
                <a:latin typeface="Arial" panose="020B0604020202020204" pitchFamily="34" charset="0"/>
                <a:cs typeface="Arial" panose="020B0604020202020204" pitchFamily="34" charset="0"/>
              </a:rPr>
              <a:t>2+</a:t>
            </a:r>
            <a:endParaRPr lang="en-US" sz="2200" baseline="25396"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E7588157-98B1-AF53-9098-EFE5146F786E}"/>
              </a:ext>
            </a:extLst>
          </p:cNvPr>
          <p:cNvSpPr txBox="1"/>
          <p:nvPr/>
        </p:nvSpPr>
        <p:spPr>
          <a:xfrm>
            <a:off x="1438854" y="2794965"/>
            <a:ext cx="6882186" cy="707886"/>
          </a:xfrm>
          <a:prstGeom prst="rect">
            <a:avLst/>
          </a:prstGeom>
          <a:noFill/>
        </p:spPr>
        <p:txBody>
          <a:bodyPr wrap="square">
            <a:spAutoFit/>
          </a:bodyPr>
          <a:lstStyle/>
          <a:p>
            <a:pPr>
              <a:lnSpc>
                <a:spcPct val="100000"/>
              </a:lnSpc>
              <a:spcBef>
                <a:spcPts val="455"/>
              </a:spcBef>
            </a:pPr>
            <a:endParaRPr lang="es-ES" sz="2000" dirty="0">
              <a:latin typeface="Arial" panose="020B0604020202020204" pitchFamily="34" charset="0"/>
              <a:cs typeface="Arial" panose="020B0604020202020204" pitchFamily="34" charset="0"/>
            </a:endParaRPr>
          </a:p>
          <a:p>
            <a:pPr marL="63500">
              <a:lnSpc>
                <a:spcPct val="100000"/>
              </a:lnSpc>
              <a:tabLst>
                <a:tab pos="7097395" algn="l"/>
              </a:tabLst>
            </a:pPr>
            <a:r>
              <a:rPr lang="es-ES" sz="2000" spc="-245" dirty="0" err="1">
                <a:solidFill>
                  <a:srgbClr val="0000FF"/>
                </a:solidFill>
                <a:latin typeface="Arial" panose="020B0604020202020204" pitchFamily="34" charset="0"/>
                <a:cs typeface="Arial" panose="020B0604020202020204" pitchFamily="34" charset="0"/>
              </a:rPr>
              <a:t>E</a:t>
            </a:r>
            <a:r>
              <a:rPr lang="es-ES" sz="2000" spc="-367" baseline="25396" dirty="0" err="1">
                <a:solidFill>
                  <a:srgbClr val="0000FF"/>
                </a:solidFill>
                <a:latin typeface="Arial" panose="020B0604020202020204" pitchFamily="34" charset="0"/>
                <a:cs typeface="Arial" panose="020B0604020202020204" pitchFamily="34" charset="0"/>
              </a:rPr>
              <a:t>o</a:t>
            </a:r>
            <a:r>
              <a:rPr lang="es-ES" sz="2000" spc="-367" baseline="25396" dirty="0">
                <a:solidFill>
                  <a:srgbClr val="0000FF"/>
                </a:solidFill>
                <a:latin typeface="Arial" panose="020B0604020202020204" pitchFamily="34" charset="0"/>
                <a:cs typeface="Arial" panose="020B0604020202020204" pitchFamily="34" charset="0"/>
              </a:rPr>
              <a:t>   </a:t>
            </a:r>
            <a:r>
              <a:rPr lang="es-ES" sz="2000" spc="-245" dirty="0">
                <a:solidFill>
                  <a:srgbClr val="0000FF"/>
                </a:solidFill>
                <a:latin typeface="Arial" panose="020B0604020202020204" pitchFamily="34" charset="0"/>
                <a:cs typeface="Arial" panose="020B0604020202020204" pitchFamily="34" charset="0"/>
              </a:rPr>
              <a:t>=  [   (0 . 564) + 1(0 . 274)  + 1( 4 . 27) + 1( 0 . 9 5) + 1(1.51)]  / 5</a:t>
            </a:r>
            <a:r>
              <a:rPr lang="es-ES" sz="2000" spc="320" dirty="0">
                <a:solidFill>
                  <a:srgbClr val="0000FF"/>
                </a:solidFill>
                <a:latin typeface="Arial" panose="020B0604020202020204" pitchFamily="34" charset="0"/>
                <a:cs typeface="Arial" panose="020B0604020202020204" pitchFamily="34" charset="0"/>
              </a:rPr>
              <a:t> </a:t>
            </a:r>
            <a:r>
              <a:rPr lang="es-ES" sz="2000" spc="-515" dirty="0">
                <a:solidFill>
                  <a:srgbClr val="0000FF"/>
                </a:solidFill>
                <a:latin typeface="Arial" panose="020B0604020202020204" pitchFamily="34" charset="0"/>
                <a:cs typeface="Arial" panose="020B0604020202020204" pitchFamily="34" charset="0"/>
              </a:rPr>
              <a:t>=                </a:t>
            </a:r>
            <a:r>
              <a:rPr lang="es-ES" sz="2000" spc="-65" dirty="0">
                <a:solidFill>
                  <a:srgbClr val="0000FF"/>
                </a:solidFill>
                <a:latin typeface="Arial" panose="020B0604020202020204" pitchFamily="34" charset="0"/>
                <a:cs typeface="Arial" panose="020B0604020202020204" pitchFamily="34" charset="0"/>
              </a:rPr>
              <a:t>+1.51V</a:t>
            </a:r>
            <a:endParaRPr lang="es-ES" sz="20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11CEB447-186E-993F-98C8-5D84BAEE5350}"/>
              </a:ext>
            </a:extLst>
          </p:cNvPr>
          <p:cNvSpPr txBox="1"/>
          <p:nvPr/>
        </p:nvSpPr>
        <p:spPr>
          <a:xfrm>
            <a:off x="1079500" y="3902961"/>
            <a:ext cx="6199124" cy="400110"/>
          </a:xfrm>
          <a:prstGeom prst="rect">
            <a:avLst/>
          </a:prstGeom>
          <a:noFill/>
        </p:spPr>
        <p:txBody>
          <a:bodyPr wrap="square">
            <a:spAutoFit/>
          </a:bodyPr>
          <a:lstStyle/>
          <a:p>
            <a:r>
              <a:rPr lang="en-US" sz="2000" spc="-135" dirty="0">
                <a:latin typeface="Arial" panose="020B0604020202020204" pitchFamily="34" charset="0"/>
                <a:cs typeface="Arial" panose="020B0604020202020204" pitchFamily="34" charset="0"/>
              </a:rPr>
              <a:t>for</a:t>
            </a:r>
            <a:r>
              <a:rPr lang="en-US" sz="2000" spc="-260" dirty="0">
                <a:latin typeface="Arial" panose="020B0604020202020204" pitchFamily="34" charset="0"/>
                <a:cs typeface="Arial" panose="020B0604020202020204" pitchFamily="34" charset="0"/>
              </a:rPr>
              <a:t> </a:t>
            </a:r>
            <a:r>
              <a:rPr lang="en-US" sz="2000" spc="-235" dirty="0">
                <a:latin typeface="Arial" panose="020B0604020202020204" pitchFamily="34" charset="0"/>
                <a:cs typeface="Arial" panose="020B0604020202020204" pitchFamily="34" charset="0"/>
              </a:rPr>
              <a:t>the</a:t>
            </a:r>
            <a:r>
              <a:rPr lang="en-US" sz="2000" spc="-250" dirty="0">
                <a:latin typeface="Arial" panose="020B0604020202020204" pitchFamily="34" charset="0"/>
                <a:cs typeface="Arial" panose="020B0604020202020204" pitchFamily="34" charset="0"/>
              </a:rPr>
              <a:t> </a:t>
            </a:r>
            <a:r>
              <a:rPr lang="en-US" sz="2000" spc="-200" dirty="0">
                <a:latin typeface="Arial" panose="020B0604020202020204" pitchFamily="34" charset="0"/>
                <a:cs typeface="Arial" panose="020B0604020202020204" pitchFamily="34" charset="0"/>
              </a:rPr>
              <a:t>three-</a:t>
            </a:r>
            <a:r>
              <a:rPr lang="en-US" sz="2000" spc="-180" dirty="0">
                <a:latin typeface="Arial" panose="020B0604020202020204" pitchFamily="34" charset="0"/>
                <a:cs typeface="Arial" panose="020B0604020202020204" pitchFamily="34" charset="0"/>
              </a:rPr>
              <a:t>electron</a:t>
            </a:r>
            <a:r>
              <a:rPr lang="en-US" sz="2000" spc="-305" dirty="0">
                <a:latin typeface="Arial" panose="020B0604020202020204" pitchFamily="34" charset="0"/>
                <a:cs typeface="Arial" panose="020B0604020202020204" pitchFamily="34" charset="0"/>
              </a:rPr>
              <a:t> </a:t>
            </a:r>
            <a:r>
              <a:rPr lang="en-US" sz="2000" spc="-155" dirty="0">
                <a:latin typeface="Arial" panose="020B0604020202020204" pitchFamily="34" charset="0"/>
                <a:cs typeface="Arial" panose="020B0604020202020204" pitchFamily="34" charset="0"/>
              </a:rPr>
              <a:t>reduction</a:t>
            </a:r>
            <a:r>
              <a:rPr lang="en-US" sz="2000" spc="-310" dirty="0">
                <a:latin typeface="Arial" panose="020B0604020202020204" pitchFamily="34" charset="0"/>
                <a:cs typeface="Arial" panose="020B0604020202020204" pitchFamily="34" charset="0"/>
              </a:rPr>
              <a:t> </a:t>
            </a:r>
            <a:r>
              <a:rPr lang="en-US" sz="2000" spc="-165" dirty="0">
                <a:latin typeface="Arial" panose="020B0604020202020204" pitchFamily="34" charset="0"/>
                <a:cs typeface="Arial" panose="020B0604020202020204" pitchFamily="34" charset="0"/>
              </a:rPr>
              <a:t>of</a:t>
            </a:r>
            <a:r>
              <a:rPr lang="en-US" sz="2000" spc="-290" dirty="0">
                <a:latin typeface="Arial" panose="020B0604020202020204" pitchFamily="34" charset="0"/>
                <a:cs typeface="Arial" panose="020B0604020202020204" pitchFamily="34" charset="0"/>
              </a:rPr>
              <a:t> </a:t>
            </a:r>
            <a:r>
              <a:rPr lang="en-US" sz="2000" spc="-20" dirty="0">
                <a:latin typeface="Arial" panose="020B0604020202020204" pitchFamily="34" charset="0"/>
                <a:cs typeface="Arial" panose="020B0604020202020204" pitchFamily="34" charset="0"/>
              </a:rPr>
              <a:t>MnO</a:t>
            </a:r>
            <a:r>
              <a:rPr lang="en-US" sz="2000" spc="-30" baseline="-25396" dirty="0">
                <a:latin typeface="Arial" panose="020B0604020202020204" pitchFamily="34" charset="0"/>
                <a:cs typeface="Arial" panose="020B0604020202020204" pitchFamily="34" charset="0"/>
              </a:rPr>
              <a:t>4</a:t>
            </a:r>
            <a:r>
              <a:rPr lang="en-US" sz="2000" spc="104" baseline="-25396" dirty="0">
                <a:latin typeface="Arial" panose="020B0604020202020204" pitchFamily="34" charset="0"/>
                <a:cs typeface="Arial" panose="020B0604020202020204" pitchFamily="34" charset="0"/>
              </a:rPr>
              <a:t> </a:t>
            </a:r>
            <a:r>
              <a:rPr lang="en-US" sz="2000" spc="-210" dirty="0">
                <a:latin typeface="Arial" panose="020B0604020202020204" pitchFamily="34" charset="0"/>
                <a:cs typeface="Arial" panose="020B0604020202020204" pitchFamily="34" charset="0"/>
              </a:rPr>
              <a:t>(</a:t>
            </a:r>
            <a:r>
              <a:rPr lang="en-US" sz="2000" spc="-210" dirty="0" err="1">
                <a:latin typeface="Arial" panose="020B0604020202020204" pitchFamily="34" charset="0"/>
                <a:cs typeface="Arial" panose="020B0604020202020204" pitchFamily="34" charset="0"/>
              </a:rPr>
              <a:t>aq</a:t>
            </a:r>
            <a:r>
              <a:rPr lang="en-US" sz="2000" spc="-210" dirty="0">
                <a:latin typeface="Arial" panose="020B0604020202020204" pitchFamily="34" charset="0"/>
                <a:cs typeface="Arial" panose="020B0604020202020204" pitchFamily="34" charset="0"/>
              </a:rPr>
              <a:t>) </a:t>
            </a:r>
            <a:r>
              <a:rPr lang="en-US" sz="2000" spc="-285" dirty="0">
                <a:latin typeface="Arial" panose="020B0604020202020204" pitchFamily="34" charset="0"/>
                <a:cs typeface="Arial" panose="020B0604020202020204" pitchFamily="34" charset="0"/>
              </a:rPr>
              <a:t> </a:t>
            </a:r>
            <a:r>
              <a:rPr lang="en-US" sz="2000" spc="-175" dirty="0">
                <a:latin typeface="Arial" panose="020B0604020202020204" pitchFamily="34" charset="0"/>
                <a:cs typeface="Arial" panose="020B0604020202020204" pitchFamily="34" charset="0"/>
              </a:rPr>
              <a:t>to</a:t>
            </a:r>
            <a:r>
              <a:rPr lang="en-US" sz="2000" spc="-260" dirty="0">
                <a:latin typeface="Arial" panose="020B0604020202020204" pitchFamily="34" charset="0"/>
                <a:cs typeface="Arial" panose="020B0604020202020204" pitchFamily="34" charset="0"/>
              </a:rPr>
              <a:t> </a:t>
            </a:r>
            <a:r>
              <a:rPr lang="en-US" sz="2000" spc="-65" dirty="0">
                <a:latin typeface="Arial" panose="020B0604020202020204" pitchFamily="34" charset="0"/>
                <a:cs typeface="Arial" panose="020B0604020202020204" pitchFamily="34" charset="0"/>
              </a:rPr>
              <a:t>MnO</a:t>
            </a:r>
            <a:r>
              <a:rPr lang="en-US" sz="2000" spc="-97" baseline="-25396" dirty="0">
                <a:latin typeface="Arial" panose="020B0604020202020204" pitchFamily="34" charset="0"/>
                <a:cs typeface="Arial" panose="020B0604020202020204" pitchFamily="34" charset="0"/>
              </a:rPr>
              <a:t>2</a:t>
            </a:r>
            <a:r>
              <a:rPr lang="en-US" sz="2000" spc="-65" dirty="0">
                <a:latin typeface="Arial" panose="020B0604020202020204" pitchFamily="34" charset="0"/>
                <a:cs typeface="Arial" panose="020B0604020202020204" pitchFamily="34" charset="0"/>
              </a:rPr>
              <a:t>(s),</a:t>
            </a:r>
            <a:endParaRPr lang="en-IN" sz="2000" dirty="0"/>
          </a:p>
        </p:txBody>
      </p:sp>
      <p:sp>
        <p:nvSpPr>
          <p:cNvPr id="12" name="object 8">
            <a:extLst>
              <a:ext uri="{FF2B5EF4-FFF2-40B4-BE49-F238E27FC236}">
                <a16:creationId xmlns:a16="http://schemas.microsoft.com/office/drawing/2014/main" id="{75C41DC5-9BC9-EBC6-8BA7-218966456BD6}"/>
              </a:ext>
            </a:extLst>
          </p:cNvPr>
          <p:cNvSpPr txBox="1"/>
          <p:nvPr/>
        </p:nvSpPr>
        <p:spPr>
          <a:xfrm>
            <a:off x="1631894" y="4703181"/>
            <a:ext cx="5735320" cy="320601"/>
          </a:xfrm>
          <a:prstGeom prst="rect">
            <a:avLst/>
          </a:prstGeom>
        </p:spPr>
        <p:txBody>
          <a:bodyPr vert="horz" wrap="square" lIns="0" tIns="12700" rIns="0" bIns="0" rtlCol="0">
            <a:spAutoFit/>
          </a:bodyPr>
          <a:lstStyle/>
          <a:p>
            <a:pPr marL="38100">
              <a:lnSpc>
                <a:spcPct val="100000"/>
              </a:lnSpc>
              <a:spcBef>
                <a:spcPts val="100"/>
              </a:spcBef>
            </a:pPr>
            <a:r>
              <a:rPr sz="2000" spc="-245" dirty="0" err="1">
                <a:solidFill>
                  <a:srgbClr val="0000FF"/>
                </a:solidFill>
                <a:latin typeface="Arial" panose="020B0604020202020204" pitchFamily="34" charset="0"/>
                <a:cs typeface="Arial" panose="020B0604020202020204" pitchFamily="34" charset="0"/>
              </a:rPr>
              <a:t>E</a:t>
            </a:r>
            <a:r>
              <a:rPr sz="2000" spc="-367" baseline="25396" dirty="0" err="1">
                <a:solidFill>
                  <a:srgbClr val="0000FF"/>
                </a:solidFill>
                <a:latin typeface="Arial" panose="020B0604020202020204" pitchFamily="34" charset="0"/>
                <a:cs typeface="Arial" panose="020B0604020202020204" pitchFamily="34" charset="0"/>
              </a:rPr>
              <a:t>o</a:t>
            </a:r>
            <a:r>
              <a:rPr lang="en-IN" sz="2000" spc="-367" baseline="25396" dirty="0">
                <a:solidFill>
                  <a:srgbClr val="0000FF"/>
                </a:solidFill>
                <a:latin typeface="Arial" panose="020B0604020202020204" pitchFamily="34" charset="0"/>
                <a:cs typeface="Arial" panose="020B0604020202020204" pitchFamily="34" charset="0"/>
              </a:rPr>
              <a:t>       </a:t>
            </a:r>
            <a:r>
              <a:rPr sz="2000" spc="-245" dirty="0">
                <a:solidFill>
                  <a:srgbClr val="0000FF"/>
                </a:solidFill>
                <a:latin typeface="Arial" panose="020B0604020202020204" pitchFamily="34" charset="0"/>
                <a:cs typeface="Arial" panose="020B0604020202020204" pitchFamily="34" charset="0"/>
              </a:rPr>
              <a:t>=</a:t>
            </a:r>
            <a:r>
              <a:rPr lang="en-US" sz="2000" spc="-245" dirty="0">
                <a:solidFill>
                  <a:srgbClr val="0000FF"/>
                </a:solidFill>
                <a:latin typeface="Arial" panose="020B0604020202020204" pitchFamily="34" charset="0"/>
                <a:cs typeface="Arial" panose="020B0604020202020204" pitchFamily="34" charset="0"/>
              </a:rPr>
              <a:t>   </a:t>
            </a:r>
            <a:r>
              <a:rPr sz="2000" spc="-245" dirty="0">
                <a:solidFill>
                  <a:srgbClr val="0000FF"/>
                </a:solidFill>
                <a:latin typeface="Arial" panose="020B0604020202020204" pitchFamily="34" charset="0"/>
                <a:cs typeface="Arial" panose="020B0604020202020204" pitchFamily="34" charset="0"/>
              </a:rPr>
              <a:t>[1(0.564)</a:t>
            </a:r>
            <a:r>
              <a:rPr lang="en-US" sz="2000" spc="-245" dirty="0">
                <a:solidFill>
                  <a:srgbClr val="0000FF"/>
                </a:solidFill>
                <a:latin typeface="Arial" panose="020B0604020202020204" pitchFamily="34" charset="0"/>
                <a:cs typeface="Arial" panose="020B0604020202020204" pitchFamily="34" charset="0"/>
              </a:rPr>
              <a:t>   </a:t>
            </a:r>
            <a:r>
              <a:rPr sz="2000" spc="-245" dirty="0">
                <a:solidFill>
                  <a:srgbClr val="0000FF"/>
                </a:solidFill>
                <a:latin typeface="Arial" panose="020B0604020202020204" pitchFamily="34" charset="0"/>
                <a:cs typeface="Arial" panose="020B0604020202020204" pitchFamily="34" charset="0"/>
              </a:rPr>
              <a:t>+</a:t>
            </a:r>
            <a:r>
              <a:rPr lang="en-IN" sz="2000" spc="-245" dirty="0">
                <a:solidFill>
                  <a:srgbClr val="0000FF"/>
                </a:solidFill>
                <a:latin typeface="Arial" panose="020B0604020202020204" pitchFamily="34" charset="0"/>
                <a:cs typeface="Arial" panose="020B0604020202020204" pitchFamily="34" charset="0"/>
              </a:rPr>
              <a:t>  </a:t>
            </a:r>
            <a:r>
              <a:rPr sz="2000" spc="-245" dirty="0">
                <a:solidFill>
                  <a:srgbClr val="0000FF"/>
                </a:solidFill>
                <a:latin typeface="Arial" panose="020B0604020202020204" pitchFamily="34" charset="0"/>
                <a:cs typeface="Arial" panose="020B0604020202020204" pitchFamily="34" charset="0"/>
              </a:rPr>
              <a:t>1(0.274)</a:t>
            </a:r>
            <a:r>
              <a:rPr lang="en-US" sz="2000" spc="-245" dirty="0">
                <a:solidFill>
                  <a:srgbClr val="0000FF"/>
                </a:solidFill>
                <a:latin typeface="Arial" panose="020B0604020202020204" pitchFamily="34" charset="0"/>
                <a:cs typeface="Arial" panose="020B0604020202020204" pitchFamily="34" charset="0"/>
              </a:rPr>
              <a:t>   </a:t>
            </a:r>
            <a:r>
              <a:rPr sz="2000" spc="-245" dirty="0">
                <a:solidFill>
                  <a:srgbClr val="0000FF"/>
                </a:solidFill>
                <a:latin typeface="Arial" panose="020B0604020202020204" pitchFamily="34" charset="0"/>
                <a:cs typeface="Arial" panose="020B0604020202020204" pitchFamily="34" charset="0"/>
              </a:rPr>
              <a:t>+</a:t>
            </a:r>
            <a:r>
              <a:rPr lang="en-IN" sz="2000" spc="-245" dirty="0">
                <a:solidFill>
                  <a:srgbClr val="0000FF"/>
                </a:solidFill>
                <a:latin typeface="Arial" panose="020B0604020202020204" pitchFamily="34" charset="0"/>
                <a:cs typeface="Arial" panose="020B0604020202020204" pitchFamily="34" charset="0"/>
              </a:rPr>
              <a:t>  </a:t>
            </a:r>
            <a:r>
              <a:rPr sz="2000" spc="-245" dirty="0">
                <a:solidFill>
                  <a:srgbClr val="0000FF"/>
                </a:solidFill>
                <a:latin typeface="Arial" panose="020B0604020202020204" pitchFamily="34" charset="0"/>
                <a:cs typeface="Arial" panose="020B0604020202020204" pitchFamily="34" charset="0"/>
              </a:rPr>
              <a:t>1(4.27)]</a:t>
            </a:r>
            <a:r>
              <a:rPr lang="en-US" sz="2000" spc="-245" dirty="0">
                <a:solidFill>
                  <a:srgbClr val="0000FF"/>
                </a:solidFill>
                <a:latin typeface="Arial" panose="020B0604020202020204" pitchFamily="34" charset="0"/>
                <a:cs typeface="Arial" panose="020B0604020202020204" pitchFamily="34" charset="0"/>
              </a:rPr>
              <a:t> </a:t>
            </a:r>
            <a:r>
              <a:rPr sz="2000" spc="-245" dirty="0">
                <a:solidFill>
                  <a:srgbClr val="0000FF"/>
                </a:solidFill>
                <a:latin typeface="Arial" panose="020B0604020202020204" pitchFamily="34" charset="0"/>
                <a:cs typeface="Arial" panose="020B0604020202020204" pitchFamily="34" charset="0"/>
              </a:rPr>
              <a:t>/</a:t>
            </a:r>
            <a:r>
              <a:rPr lang="en-US" sz="2000" spc="-245" dirty="0">
                <a:solidFill>
                  <a:srgbClr val="0000FF"/>
                </a:solidFill>
                <a:latin typeface="Arial" panose="020B0604020202020204" pitchFamily="34" charset="0"/>
                <a:cs typeface="Arial" panose="020B0604020202020204" pitchFamily="34" charset="0"/>
              </a:rPr>
              <a:t> </a:t>
            </a:r>
            <a:r>
              <a:rPr sz="2000" spc="-245" dirty="0">
                <a:solidFill>
                  <a:srgbClr val="0000FF"/>
                </a:solidFill>
                <a:latin typeface="Arial" panose="020B0604020202020204" pitchFamily="34" charset="0"/>
                <a:cs typeface="Arial" panose="020B0604020202020204" pitchFamily="34" charset="0"/>
              </a:rPr>
              <a:t>3</a:t>
            </a:r>
            <a:r>
              <a:rPr sz="2000" spc="-220" dirty="0">
                <a:solidFill>
                  <a:srgbClr val="0000FF"/>
                </a:solidFill>
                <a:latin typeface="Arial" panose="020B0604020202020204" pitchFamily="34" charset="0"/>
                <a:cs typeface="Arial" panose="020B0604020202020204" pitchFamily="34" charset="0"/>
              </a:rPr>
              <a:t> </a:t>
            </a:r>
            <a:r>
              <a:rPr sz="2000" spc="-465" dirty="0">
                <a:solidFill>
                  <a:srgbClr val="0000FF"/>
                </a:solidFill>
                <a:latin typeface="Arial" panose="020B0604020202020204" pitchFamily="34" charset="0"/>
                <a:cs typeface="Arial" panose="020B0604020202020204" pitchFamily="34" charset="0"/>
              </a:rPr>
              <a:t>=</a:t>
            </a:r>
            <a:r>
              <a:rPr sz="2000" spc="425" dirty="0">
                <a:solidFill>
                  <a:srgbClr val="0000FF"/>
                </a:solidFill>
                <a:latin typeface="Arial" panose="020B0604020202020204" pitchFamily="34" charset="0"/>
                <a:cs typeface="Arial" panose="020B0604020202020204" pitchFamily="34" charset="0"/>
              </a:rPr>
              <a:t> </a:t>
            </a:r>
            <a:r>
              <a:rPr sz="2000" spc="-140" dirty="0">
                <a:solidFill>
                  <a:srgbClr val="0000FF"/>
                </a:solidFill>
                <a:latin typeface="Arial" panose="020B0604020202020204" pitchFamily="34" charset="0"/>
                <a:cs typeface="Arial" panose="020B0604020202020204" pitchFamily="34" charset="0"/>
              </a:rPr>
              <a:t>+1.70V</a:t>
            </a:r>
            <a:endParaRPr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2450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FADC0BE-8B00-9FA5-4219-C51DDB160870}"/>
              </a:ext>
            </a:extLst>
          </p:cNvPr>
          <p:cNvSpPr txBox="1"/>
          <p:nvPr/>
        </p:nvSpPr>
        <p:spPr>
          <a:xfrm>
            <a:off x="1472184" y="466344"/>
            <a:ext cx="2262158" cy="369332"/>
          </a:xfrm>
          <a:prstGeom prst="rect">
            <a:avLst/>
          </a:prstGeom>
          <a:noFill/>
        </p:spPr>
        <p:txBody>
          <a:bodyPr wrap="none" rtlCol="0">
            <a:spAutoFit/>
          </a:bodyPr>
          <a:lstStyle/>
          <a:p>
            <a:r>
              <a:rPr lang="en-IN" sz="1800" b="1" i="0" u="none" strike="noStrike" baseline="0" dirty="0">
                <a:solidFill>
                  <a:srgbClr val="C00000"/>
                </a:solidFill>
                <a:latin typeface="Arial" panose="020B0604020202020204" pitchFamily="34" charset="0"/>
                <a:cs typeface="Arial" panose="020B0604020202020204" pitchFamily="34" charset="0"/>
              </a:rPr>
              <a:t>Disproportionation</a:t>
            </a:r>
            <a:endParaRPr lang="en-IN" b="1" dirty="0">
              <a:solidFill>
                <a:srgbClr val="C0000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38CE50D7-0279-BA99-5E9C-38B0B766B15A}"/>
              </a:ext>
            </a:extLst>
          </p:cNvPr>
          <p:cNvSpPr txBox="1"/>
          <p:nvPr/>
        </p:nvSpPr>
        <p:spPr>
          <a:xfrm>
            <a:off x="914400" y="923544"/>
            <a:ext cx="9820656" cy="646331"/>
          </a:xfrm>
          <a:prstGeom prst="rect">
            <a:avLst/>
          </a:prstGeom>
          <a:noFill/>
        </p:spPr>
        <p:txBody>
          <a:bodyPr wrap="square" rtlCol="0">
            <a:spAutoFit/>
          </a:bodyPr>
          <a:lstStyle/>
          <a:p>
            <a:pPr algn="just"/>
            <a:r>
              <a:rPr lang="en-US" sz="1800" b="0" i="0" u="none" strike="noStrike" baseline="0" dirty="0">
                <a:latin typeface="Arial" panose="020B0604020202020204" pitchFamily="34" charset="0"/>
                <a:cs typeface="Arial" panose="020B0604020202020204" pitchFamily="34" charset="0"/>
              </a:rPr>
              <a:t>A species has a tendency to disproportionate into its two neighbors if the potential on the right of the species in a Latimer diagram is higher than that on the left</a:t>
            </a:r>
            <a:endParaRPr lang="en-IN"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97517833-0214-F7C3-FFF7-5ECB8D49C7F1}"/>
              </a:ext>
            </a:extLst>
          </p:cNvPr>
          <p:cNvPicPr>
            <a:picLocks noChangeAspect="1"/>
          </p:cNvPicPr>
          <p:nvPr/>
        </p:nvPicPr>
        <p:blipFill>
          <a:blip r:embed="rId2"/>
          <a:stretch>
            <a:fillRect/>
          </a:stretch>
        </p:blipFill>
        <p:spPr>
          <a:xfrm>
            <a:off x="1701709" y="1852654"/>
            <a:ext cx="2635045" cy="318052"/>
          </a:xfrm>
          <a:prstGeom prst="rect">
            <a:avLst/>
          </a:prstGeom>
        </p:spPr>
      </p:pic>
      <p:pic>
        <p:nvPicPr>
          <p:cNvPr id="9" name="Picture 8">
            <a:extLst>
              <a:ext uri="{FF2B5EF4-FFF2-40B4-BE49-F238E27FC236}">
                <a16:creationId xmlns:a16="http://schemas.microsoft.com/office/drawing/2014/main" id="{151745A6-7DEE-84F0-44A7-8BBC4914D5C5}"/>
              </a:ext>
            </a:extLst>
          </p:cNvPr>
          <p:cNvPicPr>
            <a:picLocks noChangeAspect="1"/>
          </p:cNvPicPr>
          <p:nvPr/>
        </p:nvPicPr>
        <p:blipFill>
          <a:blip r:embed="rId3"/>
          <a:stretch>
            <a:fillRect/>
          </a:stretch>
        </p:blipFill>
        <p:spPr>
          <a:xfrm>
            <a:off x="1472184" y="2981209"/>
            <a:ext cx="3342968" cy="755374"/>
          </a:xfrm>
          <a:prstGeom prst="rect">
            <a:avLst/>
          </a:prstGeom>
        </p:spPr>
      </p:pic>
      <p:sp>
        <p:nvSpPr>
          <p:cNvPr id="3" name="TextBox 2">
            <a:extLst>
              <a:ext uri="{FF2B5EF4-FFF2-40B4-BE49-F238E27FC236}">
                <a16:creationId xmlns:a16="http://schemas.microsoft.com/office/drawing/2014/main" id="{17471191-D031-9172-4F54-293CD6FD9E40}"/>
              </a:ext>
            </a:extLst>
          </p:cNvPr>
          <p:cNvSpPr txBox="1"/>
          <p:nvPr/>
        </p:nvSpPr>
        <p:spPr>
          <a:xfrm>
            <a:off x="1024128" y="2441448"/>
            <a:ext cx="5605061"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K &gt; 1 for this reaction if E &gt; 0. The overall reaction is </a:t>
            </a:r>
            <a:endParaRPr lang="en-IN"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3D01F600-DBD2-1E78-F427-D4BF517CC104}"/>
              </a:ext>
            </a:extLst>
          </p:cNvPr>
          <p:cNvSpPr txBox="1"/>
          <p:nvPr/>
        </p:nvSpPr>
        <p:spPr>
          <a:xfrm>
            <a:off x="740664" y="3907012"/>
            <a:ext cx="8366760" cy="646331"/>
          </a:xfrm>
          <a:prstGeom prst="rect">
            <a:avLst/>
          </a:prstGeom>
          <a:noFill/>
        </p:spPr>
        <p:txBody>
          <a:bodyPr wrap="square" rtlCol="0">
            <a:spAutoFit/>
          </a:bodyPr>
          <a:lstStyle/>
          <a:p>
            <a:pPr algn="l"/>
            <a:r>
              <a:rPr lang="en-US" sz="1800" b="0" i="0" u="none" strike="noStrike" baseline="0" dirty="0">
                <a:latin typeface="Arial" panose="020B0604020202020204" pitchFamily="34" charset="0"/>
                <a:cs typeface="Arial" panose="020B0604020202020204" pitchFamily="34" charset="0"/>
              </a:rPr>
              <a:t>The standard potential for the overall reaction is </a:t>
            </a:r>
            <a:r>
              <a:rPr lang="en-US" sz="1800" b="0" i="1" u="none" strike="noStrike" baseline="0" dirty="0">
                <a:latin typeface="Arial" panose="020B0604020202020204" pitchFamily="34" charset="0"/>
                <a:cs typeface="Arial" panose="020B0604020202020204" pitchFamily="34" charset="0"/>
              </a:rPr>
              <a:t>E</a:t>
            </a:r>
            <a:r>
              <a:rPr lang="en-US" sz="1800" b="0" i="0" u="none" strike="noStrike" baseline="0" dirty="0">
                <a:latin typeface="Arial" panose="020B0604020202020204" pitchFamily="34" charset="0"/>
                <a:cs typeface="Arial" panose="020B0604020202020204" pitchFamily="34" charset="0"/>
              </a:rPr>
              <a:t>° = </a:t>
            </a:r>
            <a:r>
              <a:rPr lang="en-US" sz="1800" b="0" i="1" u="none" strike="noStrike" baseline="0" dirty="0">
                <a:latin typeface="Arial" panose="020B0604020202020204" pitchFamily="34" charset="0"/>
                <a:cs typeface="Arial" panose="020B0604020202020204" pitchFamily="34" charset="0"/>
              </a:rPr>
              <a:t>E</a:t>
            </a:r>
            <a:r>
              <a:rPr lang="en-US" sz="1800" b="0" i="0" u="none" strike="noStrike" baseline="0" dirty="0">
                <a:latin typeface="Arial" panose="020B0604020202020204" pitchFamily="34" charset="0"/>
                <a:cs typeface="Arial" panose="020B0604020202020204" pitchFamily="34" charset="0"/>
              </a:rPr>
              <a:t>° (R) - </a:t>
            </a:r>
            <a:r>
              <a:rPr lang="en-US" sz="1800" b="0" i="1" u="none" strike="noStrike" baseline="0" dirty="0">
                <a:latin typeface="Arial" panose="020B0604020202020204" pitchFamily="34" charset="0"/>
                <a:cs typeface="Arial" panose="020B0604020202020204" pitchFamily="34" charset="0"/>
              </a:rPr>
              <a:t>E</a:t>
            </a:r>
            <a:r>
              <a:rPr lang="en-US" sz="1800" b="0" i="0" u="none" strike="noStrike" baseline="0" dirty="0">
                <a:latin typeface="Arial" panose="020B0604020202020204" pitchFamily="34" charset="0"/>
                <a:cs typeface="Arial" panose="020B0604020202020204" pitchFamily="34" charset="0"/>
              </a:rPr>
              <a:t>° (L), which is positive </a:t>
            </a:r>
            <a:r>
              <a:rPr lang="pt-BR" sz="1800" b="0" i="0" u="none" strike="noStrike" baseline="0" dirty="0">
                <a:latin typeface="Arial" panose="020B0604020202020204" pitchFamily="34" charset="0"/>
                <a:cs typeface="Arial" panose="020B0604020202020204" pitchFamily="34" charset="0"/>
              </a:rPr>
              <a:t>if </a:t>
            </a:r>
            <a:r>
              <a:rPr lang="pt-BR" sz="1800" b="0" i="1" u="none" strike="noStrike" baseline="0" dirty="0">
                <a:latin typeface="Arial" panose="020B0604020202020204" pitchFamily="34" charset="0"/>
                <a:cs typeface="Arial" panose="020B0604020202020204" pitchFamily="34" charset="0"/>
              </a:rPr>
              <a:t>E</a:t>
            </a:r>
            <a:r>
              <a:rPr lang="pt-BR" sz="1800" b="0" i="0" u="none" strike="noStrike" baseline="0" dirty="0">
                <a:latin typeface="Arial" panose="020B0604020202020204" pitchFamily="34" charset="0"/>
                <a:cs typeface="Arial" panose="020B0604020202020204" pitchFamily="34" charset="0"/>
              </a:rPr>
              <a:t>° (R) &gt;  </a:t>
            </a:r>
            <a:r>
              <a:rPr lang="pt-BR" sz="1800" b="0" i="1" u="none" strike="noStrike" baseline="0" dirty="0">
                <a:latin typeface="Arial" panose="020B0604020202020204" pitchFamily="34" charset="0"/>
                <a:cs typeface="Arial" panose="020B0604020202020204" pitchFamily="34" charset="0"/>
              </a:rPr>
              <a:t>E</a:t>
            </a:r>
            <a:r>
              <a:rPr lang="pt-BR" sz="1800" b="0" i="0" u="none" strike="noStrike" baseline="0" dirty="0">
                <a:latin typeface="Arial" panose="020B0604020202020204" pitchFamily="34" charset="0"/>
                <a:cs typeface="Arial" panose="020B0604020202020204" pitchFamily="34" charset="0"/>
              </a:rPr>
              <a:t>° (L). </a:t>
            </a:r>
            <a:endParaRPr lang="en-IN"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E5600206-4DD3-C704-C510-A77E9DFF4555}"/>
              </a:ext>
            </a:extLst>
          </p:cNvPr>
          <p:cNvSpPr txBox="1"/>
          <p:nvPr/>
        </p:nvSpPr>
        <p:spPr>
          <a:xfrm>
            <a:off x="740664" y="4723772"/>
            <a:ext cx="7968848"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Then, the species is unstable and has a tendency to disproportionate.  </a:t>
            </a:r>
            <a:endParaRPr lang="en-IN"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66900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3">
            <a:extLst>
              <a:ext uri="{FF2B5EF4-FFF2-40B4-BE49-F238E27FC236}">
                <a16:creationId xmlns:a16="http://schemas.microsoft.com/office/drawing/2014/main" id="{237EED47-8A86-3CA8-6712-52477D98C6CD}"/>
              </a:ext>
            </a:extLst>
          </p:cNvPr>
          <p:cNvPicPr/>
          <p:nvPr/>
        </p:nvPicPr>
        <p:blipFill>
          <a:blip r:embed="rId2" cstate="print"/>
          <a:stretch>
            <a:fillRect/>
          </a:stretch>
        </p:blipFill>
        <p:spPr>
          <a:xfrm>
            <a:off x="3064763" y="681229"/>
            <a:ext cx="4351021" cy="937259"/>
          </a:xfrm>
          <a:prstGeom prst="rect">
            <a:avLst/>
          </a:prstGeom>
        </p:spPr>
      </p:pic>
      <p:pic>
        <p:nvPicPr>
          <p:cNvPr id="3" name="object 4">
            <a:extLst>
              <a:ext uri="{FF2B5EF4-FFF2-40B4-BE49-F238E27FC236}">
                <a16:creationId xmlns:a16="http://schemas.microsoft.com/office/drawing/2014/main" id="{595F3E2B-0BE5-1DB3-F9C9-1DB6BE0E728E}"/>
              </a:ext>
            </a:extLst>
          </p:cNvPr>
          <p:cNvPicPr/>
          <p:nvPr/>
        </p:nvPicPr>
        <p:blipFill>
          <a:blip r:embed="rId3" cstate="print"/>
          <a:stretch>
            <a:fillRect/>
          </a:stretch>
        </p:blipFill>
        <p:spPr>
          <a:xfrm>
            <a:off x="1478989" y="2187935"/>
            <a:ext cx="8236310" cy="2669736"/>
          </a:xfrm>
          <a:prstGeom prst="rect">
            <a:avLst/>
          </a:prstGeom>
        </p:spPr>
      </p:pic>
    </p:spTree>
    <p:extLst>
      <p:ext uri="{BB962C8B-B14F-4D97-AF65-F5344CB8AC3E}">
        <p14:creationId xmlns:p14="http://schemas.microsoft.com/office/powerpoint/2010/main" val="502783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33528</TotalTime>
  <Words>2620</Words>
  <Application>Microsoft Office PowerPoint</Application>
  <PresentationFormat>Widescreen</PresentationFormat>
  <Paragraphs>187</Paragraphs>
  <Slides>24</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24</vt:i4>
      </vt:variant>
    </vt:vector>
  </HeadingPairs>
  <TitlesOfParts>
    <vt:vector size="37" baseType="lpstr">
      <vt:lpstr>Arial</vt:lpstr>
      <vt:lpstr>ArialRoundedMTBold</vt:lpstr>
      <vt:lpstr>Calibri</vt:lpstr>
      <vt:lpstr>Calibri Light</vt:lpstr>
      <vt:lpstr>CenturySchoolbook-BoldItalic</vt:lpstr>
      <vt:lpstr>MathematicalPi-One</vt:lpstr>
      <vt:lpstr>Microsoft Sans Serif</vt:lpstr>
      <vt:lpstr>SabonLTStd-Roman</vt:lpstr>
      <vt:lpstr>Sabon-Roman</vt:lpstr>
      <vt:lpstr>Tahoma</vt:lpstr>
      <vt:lpstr>Times New Roman</vt:lpstr>
      <vt:lpstr>Trebuchet MS</vt:lpstr>
      <vt:lpstr>Office Theme</vt:lpstr>
      <vt:lpstr>PowerPoint Presentation</vt:lpstr>
      <vt:lpstr>Reference electrodes</vt:lpstr>
      <vt:lpstr>Reference electrodes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Venkataramanan Mahalingam</dc:creator>
  <cp:lastModifiedBy>Arya Basak</cp:lastModifiedBy>
  <cp:revision>157</cp:revision>
  <dcterms:created xsi:type="dcterms:W3CDTF">2025-02-04T17:22:32Z</dcterms:created>
  <dcterms:modified xsi:type="dcterms:W3CDTF">2025-04-09T10:55:12Z</dcterms:modified>
</cp:coreProperties>
</file>