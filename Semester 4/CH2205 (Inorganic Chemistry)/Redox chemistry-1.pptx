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7"/>
  </p:notesMasterIdLst>
  <p:sldIdLst>
    <p:sldId id="256" r:id="rId2"/>
    <p:sldId id="257" r:id="rId3"/>
    <p:sldId id="258" r:id="rId4"/>
    <p:sldId id="259" r:id="rId5"/>
    <p:sldId id="285" r:id="rId6"/>
    <p:sldId id="260" r:id="rId7"/>
    <p:sldId id="261" r:id="rId8"/>
    <p:sldId id="283" r:id="rId9"/>
    <p:sldId id="265" r:id="rId10"/>
    <p:sldId id="289" r:id="rId11"/>
    <p:sldId id="281" r:id="rId12"/>
    <p:sldId id="262" r:id="rId13"/>
    <p:sldId id="279" r:id="rId14"/>
    <p:sldId id="284" r:id="rId15"/>
    <p:sldId id="364" r:id="rId16"/>
    <p:sldId id="365" r:id="rId17"/>
    <p:sldId id="372" r:id="rId18"/>
    <p:sldId id="373" r:id="rId19"/>
    <p:sldId id="374" r:id="rId20"/>
    <p:sldId id="375" r:id="rId21"/>
    <p:sldId id="376" r:id="rId22"/>
    <p:sldId id="377" r:id="rId23"/>
    <p:sldId id="368" r:id="rId24"/>
    <p:sldId id="371" r:id="rId25"/>
    <p:sldId id="370" r:id="rId26"/>
  </p:sldIdLst>
  <p:sldSz cx="10799763"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autoAdjust="0"/>
  </p:normalViewPr>
  <p:slideViewPr>
    <p:cSldViewPr snapToGrid="0">
      <p:cViewPr varScale="1">
        <p:scale>
          <a:sx n="78" d="100"/>
          <a:sy n="78" d="100"/>
        </p:scale>
        <p:origin x="1219" y="6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 Basak" userId="f8b72392e668bf96" providerId="LiveId" clId="{2955D030-3CF9-4796-AE48-80BCC84CBF97}"/>
    <pc:docChg chg="modSld">
      <pc:chgData name="Arya Basak" userId="f8b72392e668bf96" providerId="LiveId" clId="{2955D030-3CF9-4796-AE48-80BCC84CBF97}" dt="2025-02-28T18:15:52.594" v="7" actId="20577"/>
      <pc:docMkLst>
        <pc:docMk/>
      </pc:docMkLst>
      <pc:sldChg chg="modSp mod">
        <pc:chgData name="Arya Basak" userId="f8b72392e668bf96" providerId="LiveId" clId="{2955D030-3CF9-4796-AE48-80BCC84CBF97}" dt="2025-02-28T15:05:47.041" v="1" actId="20577"/>
        <pc:sldMkLst>
          <pc:docMk/>
          <pc:sldMk cId="2542243697" sldId="261"/>
        </pc:sldMkLst>
        <pc:spChg chg="mod">
          <ac:chgData name="Arya Basak" userId="f8b72392e668bf96" providerId="LiveId" clId="{2955D030-3CF9-4796-AE48-80BCC84CBF97}" dt="2025-02-28T15:05:47.041" v="1" actId="20577"/>
          <ac:spMkLst>
            <pc:docMk/>
            <pc:sldMk cId="2542243697" sldId="261"/>
            <ac:spMk id="5" creationId="{A0B8A452-FA4D-CC2C-3052-10A831ECF3D2}"/>
          </ac:spMkLst>
        </pc:spChg>
      </pc:sldChg>
      <pc:sldChg chg="modSp mod">
        <pc:chgData name="Arya Basak" userId="f8b72392e668bf96" providerId="LiveId" clId="{2955D030-3CF9-4796-AE48-80BCC84CBF97}" dt="2025-02-28T15:07:04.483" v="3" actId="6549"/>
        <pc:sldMkLst>
          <pc:docMk/>
          <pc:sldMk cId="3102989080" sldId="279"/>
        </pc:sldMkLst>
        <pc:spChg chg="mod">
          <ac:chgData name="Arya Basak" userId="f8b72392e668bf96" providerId="LiveId" clId="{2955D030-3CF9-4796-AE48-80BCC84CBF97}" dt="2025-02-28T15:07:04.483" v="3" actId="6549"/>
          <ac:spMkLst>
            <pc:docMk/>
            <pc:sldMk cId="3102989080" sldId="279"/>
            <ac:spMk id="2" creationId="{409BD57E-04A3-4FBF-F1B9-5144552385F8}"/>
          </ac:spMkLst>
        </pc:spChg>
      </pc:sldChg>
      <pc:sldChg chg="modSp mod">
        <pc:chgData name="Arya Basak" userId="f8b72392e668bf96" providerId="LiveId" clId="{2955D030-3CF9-4796-AE48-80BCC84CBF97}" dt="2025-02-28T16:45:22.963" v="5" actId="20577"/>
        <pc:sldMkLst>
          <pc:docMk/>
          <pc:sldMk cId="3588170596" sldId="289"/>
        </pc:sldMkLst>
        <pc:spChg chg="mod">
          <ac:chgData name="Arya Basak" userId="f8b72392e668bf96" providerId="LiveId" clId="{2955D030-3CF9-4796-AE48-80BCC84CBF97}" dt="2025-02-28T16:45:22.963" v="5" actId="20577"/>
          <ac:spMkLst>
            <pc:docMk/>
            <pc:sldMk cId="3588170596" sldId="289"/>
            <ac:spMk id="2" creationId="{8EC7F351-4E0C-AAE9-5D0F-F250455A0BC2}"/>
          </ac:spMkLst>
        </pc:spChg>
      </pc:sldChg>
      <pc:sldChg chg="modSp mod">
        <pc:chgData name="Arya Basak" userId="f8b72392e668bf96" providerId="LiveId" clId="{2955D030-3CF9-4796-AE48-80BCC84CBF97}" dt="2025-02-28T18:15:52.594" v="7" actId="20577"/>
        <pc:sldMkLst>
          <pc:docMk/>
          <pc:sldMk cId="0" sldId="368"/>
        </pc:sldMkLst>
        <pc:spChg chg="mod">
          <ac:chgData name="Arya Basak" userId="f8b72392e668bf96" providerId="LiveId" clId="{2955D030-3CF9-4796-AE48-80BCC84CBF97}" dt="2025-02-28T18:15:52.594" v="7" actId="20577"/>
          <ac:spMkLst>
            <pc:docMk/>
            <pc:sldMk cId="0" sldId="368"/>
            <ac:spMk id="16" creationId="{FA96A246-5A23-CA00-1FC1-07C6EFDEF3F8}"/>
          </ac:spMkLst>
        </pc:spChg>
      </pc:sldChg>
      <pc:sldChg chg="modSp mod">
        <pc:chgData name="Arya Basak" userId="f8b72392e668bf96" providerId="LiveId" clId="{2955D030-3CF9-4796-AE48-80BCC84CBF97}" dt="2025-02-28T17:23:31.340" v="6" actId="20577"/>
        <pc:sldMkLst>
          <pc:docMk/>
          <pc:sldMk cId="1121906954" sldId="373"/>
        </pc:sldMkLst>
        <pc:spChg chg="mod">
          <ac:chgData name="Arya Basak" userId="f8b72392e668bf96" providerId="LiveId" clId="{2955D030-3CF9-4796-AE48-80BCC84CBF97}" dt="2025-02-28T17:23:31.340" v="6" actId="20577"/>
          <ac:spMkLst>
            <pc:docMk/>
            <pc:sldMk cId="1121906954" sldId="373"/>
            <ac:spMk id="2" creationId="{88691070-0CCB-A331-6844-3E892E78F37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DB5692-8C10-45E8-AF6B-472ECE6469CB}" type="datetimeFigureOut">
              <a:rPr lang="en-IN" smtClean="0"/>
              <a:t>28-02-2025</a:t>
            </a:fld>
            <a:endParaRPr lang="en-IN"/>
          </a:p>
        </p:txBody>
      </p:sp>
      <p:sp>
        <p:nvSpPr>
          <p:cNvPr id="4" name="Slide Image Placeholder 3"/>
          <p:cNvSpPr>
            <a:spLocks noGrp="1" noRot="1" noChangeAspect="1"/>
          </p:cNvSpPr>
          <p:nvPr>
            <p:ph type="sldImg" idx="2"/>
          </p:nvPr>
        </p:nvSpPr>
        <p:spPr>
          <a:xfrm>
            <a:off x="998538" y="1143000"/>
            <a:ext cx="48609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288E19-AF3D-41DE-96EB-C3FF93CB0552}" type="slidenum">
              <a:rPr lang="en-IN" smtClean="0"/>
              <a:t>‹#›</a:t>
            </a:fld>
            <a:endParaRPr lang="en-IN"/>
          </a:p>
        </p:txBody>
      </p:sp>
    </p:spTree>
    <p:extLst>
      <p:ext uri="{BB962C8B-B14F-4D97-AF65-F5344CB8AC3E}">
        <p14:creationId xmlns:p14="http://schemas.microsoft.com/office/powerpoint/2010/main" val="3306196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49971" y="1122363"/>
            <a:ext cx="8099822" cy="2387600"/>
          </a:xfrm>
        </p:spPr>
        <p:txBody>
          <a:bodyPr anchor="b"/>
          <a:lstStyle>
            <a:lvl1pPr algn="ctr">
              <a:defRPr sz="5315"/>
            </a:lvl1pPr>
          </a:lstStyle>
          <a:p>
            <a:r>
              <a:rPr lang="en-US"/>
              <a:t>Click to edit Master title style</a:t>
            </a:r>
            <a:endParaRPr lang="en-US" dirty="0"/>
          </a:p>
        </p:txBody>
      </p:sp>
      <p:sp>
        <p:nvSpPr>
          <p:cNvPr id="3" name="Subtitle 2"/>
          <p:cNvSpPr>
            <a:spLocks noGrp="1"/>
          </p:cNvSpPr>
          <p:nvPr>
            <p:ph type="subTitle" idx="1"/>
          </p:nvPr>
        </p:nvSpPr>
        <p:spPr>
          <a:xfrm>
            <a:off x="1349971" y="3602038"/>
            <a:ext cx="8099822" cy="1655762"/>
          </a:xfrm>
        </p:spPr>
        <p:txBody>
          <a:bodyPr/>
          <a:lstStyle>
            <a:lvl1pPr marL="0" indent="0" algn="ctr">
              <a:buNone/>
              <a:defRPr sz="2126"/>
            </a:lvl1pPr>
            <a:lvl2pPr marL="404988" indent="0" algn="ctr">
              <a:buNone/>
              <a:defRPr sz="1772"/>
            </a:lvl2pPr>
            <a:lvl3pPr marL="809976" indent="0" algn="ctr">
              <a:buNone/>
              <a:defRPr sz="1594"/>
            </a:lvl3pPr>
            <a:lvl4pPr marL="1214963" indent="0" algn="ctr">
              <a:buNone/>
              <a:defRPr sz="1417"/>
            </a:lvl4pPr>
            <a:lvl5pPr marL="1619951" indent="0" algn="ctr">
              <a:buNone/>
              <a:defRPr sz="1417"/>
            </a:lvl5pPr>
            <a:lvl6pPr marL="2024939" indent="0" algn="ctr">
              <a:buNone/>
              <a:defRPr sz="1417"/>
            </a:lvl6pPr>
            <a:lvl7pPr marL="2429927" indent="0" algn="ctr">
              <a:buNone/>
              <a:defRPr sz="1417"/>
            </a:lvl7pPr>
            <a:lvl8pPr marL="2834914" indent="0" algn="ctr">
              <a:buNone/>
              <a:defRPr sz="1417"/>
            </a:lvl8pPr>
            <a:lvl9pPr marL="3239902" indent="0" algn="ctr">
              <a:buNone/>
              <a:defRPr sz="141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DD8BDC-E60B-4851-92C1-6A5219D4805C}"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4161829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DD8BDC-E60B-4851-92C1-6A5219D4805C}"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925493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36859" y="1709739"/>
            <a:ext cx="9314796" cy="2852737"/>
          </a:xfrm>
        </p:spPr>
        <p:txBody>
          <a:bodyPr anchor="b"/>
          <a:lstStyle>
            <a:lvl1pPr>
              <a:defRPr sz="5315"/>
            </a:lvl1pPr>
          </a:lstStyle>
          <a:p>
            <a:r>
              <a:rPr lang="en-US"/>
              <a:t>Click to edit Master title style</a:t>
            </a:r>
            <a:endParaRPr lang="en-US" dirty="0"/>
          </a:p>
        </p:txBody>
      </p:sp>
      <p:sp>
        <p:nvSpPr>
          <p:cNvPr id="3" name="Text Placeholder 2"/>
          <p:cNvSpPr>
            <a:spLocks noGrp="1"/>
          </p:cNvSpPr>
          <p:nvPr>
            <p:ph type="body" idx="1"/>
          </p:nvPr>
        </p:nvSpPr>
        <p:spPr>
          <a:xfrm>
            <a:off x="736859" y="4589464"/>
            <a:ext cx="9314796" cy="1500187"/>
          </a:xfrm>
        </p:spPr>
        <p:txBody>
          <a:bodyPr/>
          <a:lstStyle>
            <a:lvl1pPr marL="0" indent="0">
              <a:buNone/>
              <a:defRPr sz="2126">
                <a:solidFill>
                  <a:schemeClr val="tx1">
                    <a:tint val="75000"/>
                  </a:schemeClr>
                </a:solidFill>
              </a:defRPr>
            </a:lvl1pPr>
            <a:lvl2pPr marL="404988" indent="0">
              <a:buNone/>
              <a:defRPr sz="1772">
                <a:solidFill>
                  <a:schemeClr val="tx1">
                    <a:tint val="75000"/>
                  </a:schemeClr>
                </a:solidFill>
              </a:defRPr>
            </a:lvl2pPr>
            <a:lvl3pPr marL="809976" indent="0">
              <a:buNone/>
              <a:defRPr sz="1594">
                <a:solidFill>
                  <a:schemeClr val="tx1">
                    <a:tint val="75000"/>
                  </a:schemeClr>
                </a:solidFill>
              </a:defRPr>
            </a:lvl3pPr>
            <a:lvl4pPr marL="1214963" indent="0">
              <a:buNone/>
              <a:defRPr sz="1417">
                <a:solidFill>
                  <a:schemeClr val="tx1">
                    <a:tint val="75000"/>
                  </a:schemeClr>
                </a:solidFill>
              </a:defRPr>
            </a:lvl4pPr>
            <a:lvl5pPr marL="1619951" indent="0">
              <a:buNone/>
              <a:defRPr sz="1417">
                <a:solidFill>
                  <a:schemeClr val="tx1">
                    <a:tint val="75000"/>
                  </a:schemeClr>
                </a:solidFill>
              </a:defRPr>
            </a:lvl5pPr>
            <a:lvl6pPr marL="2024939" indent="0">
              <a:buNone/>
              <a:defRPr sz="1417">
                <a:solidFill>
                  <a:schemeClr val="tx1">
                    <a:tint val="75000"/>
                  </a:schemeClr>
                </a:solidFill>
              </a:defRPr>
            </a:lvl6pPr>
            <a:lvl7pPr marL="2429927" indent="0">
              <a:buNone/>
              <a:defRPr sz="1417">
                <a:solidFill>
                  <a:schemeClr val="tx1">
                    <a:tint val="75000"/>
                  </a:schemeClr>
                </a:solidFill>
              </a:defRPr>
            </a:lvl7pPr>
            <a:lvl8pPr marL="2834914" indent="0">
              <a:buNone/>
              <a:defRPr sz="1417">
                <a:solidFill>
                  <a:schemeClr val="tx1">
                    <a:tint val="75000"/>
                  </a:schemeClr>
                </a:solidFill>
              </a:defRPr>
            </a:lvl8pPr>
            <a:lvl9pPr marL="3239902" indent="0">
              <a:buNone/>
              <a:defRPr sz="141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DD8BDC-E60B-4851-92C1-6A5219D4805C}"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1600514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42484" y="1825625"/>
            <a:ext cx="4589899"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67380" y="1825625"/>
            <a:ext cx="4589899"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DD8BDC-E60B-4851-92C1-6A5219D4805C}"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457438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43890" y="365126"/>
            <a:ext cx="9314796"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743891" y="1681163"/>
            <a:ext cx="4568806" cy="823912"/>
          </a:xfrm>
        </p:spPr>
        <p:txBody>
          <a:bodyPr anchor="b"/>
          <a:lstStyle>
            <a:lvl1pPr marL="0" indent="0">
              <a:buNone/>
              <a:defRPr sz="2126" b="1"/>
            </a:lvl1pPr>
            <a:lvl2pPr marL="404988" indent="0">
              <a:buNone/>
              <a:defRPr sz="1772" b="1"/>
            </a:lvl2pPr>
            <a:lvl3pPr marL="809976" indent="0">
              <a:buNone/>
              <a:defRPr sz="1594" b="1"/>
            </a:lvl3pPr>
            <a:lvl4pPr marL="1214963" indent="0">
              <a:buNone/>
              <a:defRPr sz="1417" b="1"/>
            </a:lvl4pPr>
            <a:lvl5pPr marL="1619951" indent="0">
              <a:buNone/>
              <a:defRPr sz="1417" b="1"/>
            </a:lvl5pPr>
            <a:lvl6pPr marL="2024939" indent="0">
              <a:buNone/>
              <a:defRPr sz="1417" b="1"/>
            </a:lvl6pPr>
            <a:lvl7pPr marL="2429927" indent="0">
              <a:buNone/>
              <a:defRPr sz="1417" b="1"/>
            </a:lvl7pPr>
            <a:lvl8pPr marL="2834914" indent="0">
              <a:buNone/>
              <a:defRPr sz="1417" b="1"/>
            </a:lvl8pPr>
            <a:lvl9pPr marL="3239902" indent="0">
              <a:buNone/>
              <a:defRPr sz="1417" b="1"/>
            </a:lvl9pPr>
          </a:lstStyle>
          <a:p>
            <a:pPr lvl="0"/>
            <a:r>
              <a:rPr lang="en-US"/>
              <a:t>Click to edit Master text styles</a:t>
            </a:r>
          </a:p>
        </p:txBody>
      </p:sp>
      <p:sp>
        <p:nvSpPr>
          <p:cNvPr id="4" name="Content Placeholder 3"/>
          <p:cNvSpPr>
            <a:spLocks noGrp="1"/>
          </p:cNvSpPr>
          <p:nvPr>
            <p:ph sz="half" idx="2"/>
          </p:nvPr>
        </p:nvSpPr>
        <p:spPr>
          <a:xfrm>
            <a:off x="743891" y="2505075"/>
            <a:ext cx="456880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67380" y="1681163"/>
            <a:ext cx="4591306" cy="823912"/>
          </a:xfrm>
        </p:spPr>
        <p:txBody>
          <a:bodyPr anchor="b"/>
          <a:lstStyle>
            <a:lvl1pPr marL="0" indent="0">
              <a:buNone/>
              <a:defRPr sz="2126" b="1"/>
            </a:lvl1pPr>
            <a:lvl2pPr marL="404988" indent="0">
              <a:buNone/>
              <a:defRPr sz="1772" b="1"/>
            </a:lvl2pPr>
            <a:lvl3pPr marL="809976" indent="0">
              <a:buNone/>
              <a:defRPr sz="1594" b="1"/>
            </a:lvl3pPr>
            <a:lvl4pPr marL="1214963" indent="0">
              <a:buNone/>
              <a:defRPr sz="1417" b="1"/>
            </a:lvl4pPr>
            <a:lvl5pPr marL="1619951" indent="0">
              <a:buNone/>
              <a:defRPr sz="1417" b="1"/>
            </a:lvl5pPr>
            <a:lvl6pPr marL="2024939" indent="0">
              <a:buNone/>
              <a:defRPr sz="1417" b="1"/>
            </a:lvl6pPr>
            <a:lvl7pPr marL="2429927" indent="0">
              <a:buNone/>
              <a:defRPr sz="1417" b="1"/>
            </a:lvl7pPr>
            <a:lvl8pPr marL="2834914" indent="0">
              <a:buNone/>
              <a:defRPr sz="1417" b="1"/>
            </a:lvl8pPr>
            <a:lvl9pPr marL="3239902" indent="0">
              <a:buNone/>
              <a:defRPr sz="1417" b="1"/>
            </a:lvl9pPr>
          </a:lstStyle>
          <a:p>
            <a:pPr lvl="0"/>
            <a:r>
              <a:rPr lang="en-US"/>
              <a:t>Click to edit Master text styles</a:t>
            </a:r>
          </a:p>
        </p:txBody>
      </p:sp>
      <p:sp>
        <p:nvSpPr>
          <p:cNvPr id="6" name="Content Placeholder 5"/>
          <p:cNvSpPr>
            <a:spLocks noGrp="1"/>
          </p:cNvSpPr>
          <p:nvPr>
            <p:ph sz="quarter" idx="4"/>
          </p:nvPr>
        </p:nvSpPr>
        <p:spPr>
          <a:xfrm>
            <a:off x="5467380" y="2505075"/>
            <a:ext cx="459130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DD8BDC-E60B-4851-92C1-6A5219D4805C}" type="datetimeFigureOut">
              <a:rPr lang="en-IN" smtClean="0"/>
              <a:t>28-02-2025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200501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DD8BDC-E60B-4851-92C1-6A5219D4805C}" type="datetimeFigureOut">
              <a:rPr lang="en-IN" smtClean="0"/>
              <a:t>28-02-2025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1595639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DD8BDC-E60B-4851-92C1-6A5219D4805C}" type="datetimeFigureOut">
              <a:rPr lang="en-IN" smtClean="0"/>
              <a:t>28-02-2025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907777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3891" y="457200"/>
            <a:ext cx="3483204" cy="1600200"/>
          </a:xfrm>
        </p:spPr>
        <p:txBody>
          <a:bodyPr anchor="b"/>
          <a:lstStyle>
            <a:lvl1pPr>
              <a:defRPr sz="2835"/>
            </a:lvl1pPr>
          </a:lstStyle>
          <a:p>
            <a:r>
              <a:rPr lang="en-US"/>
              <a:t>Click to edit Master title style</a:t>
            </a:r>
            <a:endParaRPr lang="en-US" dirty="0"/>
          </a:p>
        </p:txBody>
      </p:sp>
      <p:sp>
        <p:nvSpPr>
          <p:cNvPr id="3" name="Content Placeholder 2"/>
          <p:cNvSpPr>
            <a:spLocks noGrp="1"/>
          </p:cNvSpPr>
          <p:nvPr>
            <p:ph idx="1"/>
          </p:nvPr>
        </p:nvSpPr>
        <p:spPr>
          <a:xfrm>
            <a:off x="4591306" y="987426"/>
            <a:ext cx="5467380" cy="4873625"/>
          </a:xfrm>
        </p:spPr>
        <p:txBody>
          <a:bodyPr/>
          <a:lstStyle>
            <a:lvl1pPr>
              <a:defRPr sz="2835"/>
            </a:lvl1pPr>
            <a:lvl2pPr>
              <a:defRPr sz="2480"/>
            </a:lvl2pPr>
            <a:lvl3pPr>
              <a:defRPr sz="2126"/>
            </a:lvl3pPr>
            <a:lvl4pPr>
              <a:defRPr sz="1772"/>
            </a:lvl4pPr>
            <a:lvl5pPr>
              <a:defRPr sz="1772"/>
            </a:lvl5pPr>
            <a:lvl6pPr>
              <a:defRPr sz="1772"/>
            </a:lvl6pPr>
            <a:lvl7pPr>
              <a:defRPr sz="1772"/>
            </a:lvl7pPr>
            <a:lvl8pPr>
              <a:defRPr sz="1772"/>
            </a:lvl8pPr>
            <a:lvl9pPr>
              <a:defRPr sz="17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43891" y="2057400"/>
            <a:ext cx="3483204" cy="3811588"/>
          </a:xfrm>
        </p:spPr>
        <p:txBody>
          <a:bodyPr/>
          <a:lstStyle>
            <a:lvl1pPr marL="0" indent="0">
              <a:buNone/>
              <a:defRPr sz="1417"/>
            </a:lvl1pPr>
            <a:lvl2pPr marL="404988" indent="0">
              <a:buNone/>
              <a:defRPr sz="1240"/>
            </a:lvl2pPr>
            <a:lvl3pPr marL="809976" indent="0">
              <a:buNone/>
              <a:defRPr sz="1063"/>
            </a:lvl3pPr>
            <a:lvl4pPr marL="1214963" indent="0">
              <a:buNone/>
              <a:defRPr sz="886"/>
            </a:lvl4pPr>
            <a:lvl5pPr marL="1619951" indent="0">
              <a:buNone/>
              <a:defRPr sz="886"/>
            </a:lvl5pPr>
            <a:lvl6pPr marL="2024939" indent="0">
              <a:buNone/>
              <a:defRPr sz="886"/>
            </a:lvl6pPr>
            <a:lvl7pPr marL="2429927" indent="0">
              <a:buNone/>
              <a:defRPr sz="886"/>
            </a:lvl7pPr>
            <a:lvl8pPr marL="2834914" indent="0">
              <a:buNone/>
              <a:defRPr sz="886"/>
            </a:lvl8pPr>
            <a:lvl9pPr marL="3239902" indent="0">
              <a:buNone/>
              <a:defRPr sz="886"/>
            </a:lvl9pPr>
          </a:lstStyle>
          <a:p>
            <a:pPr lvl="0"/>
            <a:r>
              <a:rPr lang="en-US"/>
              <a:t>Click to edit Master text styles</a:t>
            </a:r>
          </a:p>
        </p:txBody>
      </p:sp>
      <p:sp>
        <p:nvSpPr>
          <p:cNvPr id="5" name="Date Placeholder 4"/>
          <p:cNvSpPr>
            <a:spLocks noGrp="1"/>
          </p:cNvSpPr>
          <p:nvPr>
            <p:ph type="dt" sz="half" idx="10"/>
          </p:nvPr>
        </p:nvSpPr>
        <p:spPr/>
        <p:txBody>
          <a:bodyPr/>
          <a:lstStyle/>
          <a:p>
            <a:fld id="{7DDD8BDC-E60B-4851-92C1-6A5219D4805C}"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471856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3891" y="457200"/>
            <a:ext cx="3483204" cy="1600200"/>
          </a:xfrm>
        </p:spPr>
        <p:txBody>
          <a:bodyPr anchor="b"/>
          <a:lstStyle>
            <a:lvl1pPr>
              <a:defRPr sz="2835"/>
            </a:lvl1pPr>
          </a:lstStyle>
          <a:p>
            <a:r>
              <a:rPr lang="en-US"/>
              <a:t>Click to edit Master title style</a:t>
            </a:r>
            <a:endParaRPr lang="en-US" dirty="0"/>
          </a:p>
        </p:txBody>
      </p:sp>
      <p:sp>
        <p:nvSpPr>
          <p:cNvPr id="3" name="Picture Placeholder 2"/>
          <p:cNvSpPr>
            <a:spLocks noGrp="1" noChangeAspect="1"/>
          </p:cNvSpPr>
          <p:nvPr>
            <p:ph type="pic" idx="1"/>
          </p:nvPr>
        </p:nvSpPr>
        <p:spPr>
          <a:xfrm>
            <a:off x="4591306" y="987426"/>
            <a:ext cx="5467380" cy="4873625"/>
          </a:xfrm>
        </p:spPr>
        <p:txBody>
          <a:bodyPr anchor="t"/>
          <a:lstStyle>
            <a:lvl1pPr marL="0" indent="0">
              <a:buNone/>
              <a:defRPr sz="2835"/>
            </a:lvl1pPr>
            <a:lvl2pPr marL="404988" indent="0">
              <a:buNone/>
              <a:defRPr sz="2480"/>
            </a:lvl2pPr>
            <a:lvl3pPr marL="809976" indent="0">
              <a:buNone/>
              <a:defRPr sz="2126"/>
            </a:lvl3pPr>
            <a:lvl4pPr marL="1214963" indent="0">
              <a:buNone/>
              <a:defRPr sz="1772"/>
            </a:lvl4pPr>
            <a:lvl5pPr marL="1619951" indent="0">
              <a:buNone/>
              <a:defRPr sz="1772"/>
            </a:lvl5pPr>
            <a:lvl6pPr marL="2024939" indent="0">
              <a:buNone/>
              <a:defRPr sz="1772"/>
            </a:lvl6pPr>
            <a:lvl7pPr marL="2429927" indent="0">
              <a:buNone/>
              <a:defRPr sz="1772"/>
            </a:lvl7pPr>
            <a:lvl8pPr marL="2834914" indent="0">
              <a:buNone/>
              <a:defRPr sz="1772"/>
            </a:lvl8pPr>
            <a:lvl9pPr marL="3239902" indent="0">
              <a:buNone/>
              <a:defRPr sz="1772"/>
            </a:lvl9pPr>
          </a:lstStyle>
          <a:p>
            <a:r>
              <a:rPr lang="en-US"/>
              <a:t>Click icon to add picture</a:t>
            </a:r>
            <a:endParaRPr lang="en-US" dirty="0"/>
          </a:p>
        </p:txBody>
      </p:sp>
      <p:sp>
        <p:nvSpPr>
          <p:cNvPr id="4" name="Text Placeholder 3"/>
          <p:cNvSpPr>
            <a:spLocks noGrp="1"/>
          </p:cNvSpPr>
          <p:nvPr>
            <p:ph type="body" sz="half" idx="2"/>
          </p:nvPr>
        </p:nvSpPr>
        <p:spPr>
          <a:xfrm>
            <a:off x="743891" y="2057400"/>
            <a:ext cx="3483204" cy="3811588"/>
          </a:xfrm>
        </p:spPr>
        <p:txBody>
          <a:bodyPr/>
          <a:lstStyle>
            <a:lvl1pPr marL="0" indent="0">
              <a:buNone/>
              <a:defRPr sz="1417"/>
            </a:lvl1pPr>
            <a:lvl2pPr marL="404988" indent="0">
              <a:buNone/>
              <a:defRPr sz="1240"/>
            </a:lvl2pPr>
            <a:lvl3pPr marL="809976" indent="0">
              <a:buNone/>
              <a:defRPr sz="1063"/>
            </a:lvl3pPr>
            <a:lvl4pPr marL="1214963" indent="0">
              <a:buNone/>
              <a:defRPr sz="886"/>
            </a:lvl4pPr>
            <a:lvl5pPr marL="1619951" indent="0">
              <a:buNone/>
              <a:defRPr sz="886"/>
            </a:lvl5pPr>
            <a:lvl6pPr marL="2024939" indent="0">
              <a:buNone/>
              <a:defRPr sz="886"/>
            </a:lvl6pPr>
            <a:lvl7pPr marL="2429927" indent="0">
              <a:buNone/>
              <a:defRPr sz="886"/>
            </a:lvl7pPr>
            <a:lvl8pPr marL="2834914" indent="0">
              <a:buNone/>
              <a:defRPr sz="886"/>
            </a:lvl8pPr>
            <a:lvl9pPr marL="3239902" indent="0">
              <a:buNone/>
              <a:defRPr sz="886"/>
            </a:lvl9pPr>
          </a:lstStyle>
          <a:p>
            <a:pPr lvl="0"/>
            <a:r>
              <a:rPr lang="en-US"/>
              <a:t>Click to edit Master text styles</a:t>
            </a:r>
          </a:p>
        </p:txBody>
      </p:sp>
      <p:sp>
        <p:nvSpPr>
          <p:cNvPr id="5" name="Date Placeholder 4"/>
          <p:cNvSpPr>
            <a:spLocks noGrp="1"/>
          </p:cNvSpPr>
          <p:nvPr>
            <p:ph type="dt" sz="half" idx="10"/>
          </p:nvPr>
        </p:nvSpPr>
        <p:spPr/>
        <p:txBody>
          <a:bodyPr/>
          <a:lstStyle/>
          <a:p>
            <a:fld id="{7DDD8BDC-E60B-4851-92C1-6A5219D4805C}"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1541752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DD8BDC-E60B-4851-92C1-6A5219D4805C}"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2046314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28580" y="365125"/>
            <a:ext cx="2328699"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42484" y="365125"/>
            <a:ext cx="68511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DD8BDC-E60B-4851-92C1-6A5219D4805C}"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24F4E6-C939-4530-8A10-384DA21BD6BE}" type="slidenum">
              <a:rPr lang="en-IN" smtClean="0"/>
              <a:t>‹#›</a:t>
            </a:fld>
            <a:endParaRPr lang="en-IN"/>
          </a:p>
        </p:txBody>
      </p:sp>
    </p:spTree>
    <p:extLst>
      <p:ext uri="{BB962C8B-B14F-4D97-AF65-F5344CB8AC3E}">
        <p14:creationId xmlns:p14="http://schemas.microsoft.com/office/powerpoint/2010/main" val="3250407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42484" y="365126"/>
            <a:ext cx="9314796"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42484" y="1825625"/>
            <a:ext cx="9314796"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2484" y="6356351"/>
            <a:ext cx="2429947" cy="365125"/>
          </a:xfrm>
          <a:prstGeom prst="rect">
            <a:avLst/>
          </a:prstGeom>
        </p:spPr>
        <p:txBody>
          <a:bodyPr vert="horz" lIns="91440" tIns="45720" rIns="91440" bIns="45720" rtlCol="0" anchor="ctr"/>
          <a:lstStyle>
            <a:lvl1pPr algn="l">
              <a:defRPr sz="1063">
                <a:solidFill>
                  <a:schemeClr val="tx1">
                    <a:tint val="75000"/>
                  </a:schemeClr>
                </a:solidFill>
              </a:defRPr>
            </a:lvl1pPr>
          </a:lstStyle>
          <a:p>
            <a:fld id="{7DDD8BDC-E60B-4851-92C1-6A5219D4805C}" type="datetimeFigureOut">
              <a:rPr lang="en-IN" smtClean="0"/>
              <a:t>28-02-2025</a:t>
            </a:fld>
            <a:endParaRPr lang="en-IN"/>
          </a:p>
        </p:txBody>
      </p:sp>
      <p:sp>
        <p:nvSpPr>
          <p:cNvPr id="5" name="Footer Placeholder 4"/>
          <p:cNvSpPr>
            <a:spLocks noGrp="1"/>
          </p:cNvSpPr>
          <p:nvPr>
            <p:ph type="ftr" sz="quarter" idx="3"/>
          </p:nvPr>
        </p:nvSpPr>
        <p:spPr>
          <a:xfrm>
            <a:off x="3577422" y="6356351"/>
            <a:ext cx="3644920" cy="365125"/>
          </a:xfrm>
          <a:prstGeom prst="rect">
            <a:avLst/>
          </a:prstGeom>
        </p:spPr>
        <p:txBody>
          <a:bodyPr vert="horz" lIns="91440" tIns="45720" rIns="91440" bIns="45720" rtlCol="0" anchor="ctr"/>
          <a:lstStyle>
            <a:lvl1pPr algn="ctr">
              <a:defRPr sz="1063">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7627332" y="6356351"/>
            <a:ext cx="2429947" cy="365125"/>
          </a:xfrm>
          <a:prstGeom prst="rect">
            <a:avLst/>
          </a:prstGeom>
        </p:spPr>
        <p:txBody>
          <a:bodyPr vert="horz" lIns="91440" tIns="45720" rIns="91440" bIns="45720" rtlCol="0" anchor="ctr"/>
          <a:lstStyle>
            <a:lvl1pPr algn="r">
              <a:defRPr sz="1063">
                <a:solidFill>
                  <a:schemeClr val="tx1">
                    <a:tint val="75000"/>
                  </a:schemeClr>
                </a:solidFill>
              </a:defRPr>
            </a:lvl1pPr>
          </a:lstStyle>
          <a:p>
            <a:fld id="{2924F4E6-C939-4530-8A10-384DA21BD6BE}" type="slidenum">
              <a:rPr lang="en-IN" smtClean="0"/>
              <a:t>‹#›</a:t>
            </a:fld>
            <a:endParaRPr lang="en-IN"/>
          </a:p>
        </p:txBody>
      </p:sp>
    </p:spTree>
    <p:extLst>
      <p:ext uri="{BB962C8B-B14F-4D97-AF65-F5344CB8AC3E}">
        <p14:creationId xmlns:p14="http://schemas.microsoft.com/office/powerpoint/2010/main" val="8240112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809976" rtl="0" eaLnBrk="1" latinLnBrk="0" hangingPunct="1">
        <a:lnSpc>
          <a:spcPct val="90000"/>
        </a:lnSpc>
        <a:spcBef>
          <a:spcPct val="0"/>
        </a:spcBef>
        <a:buNone/>
        <a:defRPr sz="3898" kern="1200">
          <a:solidFill>
            <a:schemeClr val="tx1"/>
          </a:solidFill>
          <a:latin typeface="+mj-lt"/>
          <a:ea typeface="+mj-ea"/>
          <a:cs typeface="+mj-cs"/>
        </a:defRPr>
      </a:lvl1pPr>
    </p:titleStyle>
    <p:bodyStyle>
      <a:lvl1pPr marL="202494" indent="-202494" algn="l" defTabSz="809976" rtl="0" eaLnBrk="1" latinLnBrk="0" hangingPunct="1">
        <a:lnSpc>
          <a:spcPct val="90000"/>
        </a:lnSpc>
        <a:spcBef>
          <a:spcPts val="886"/>
        </a:spcBef>
        <a:buFont typeface="Arial" panose="020B0604020202020204" pitchFamily="34" charset="0"/>
        <a:buChar char="•"/>
        <a:defRPr sz="2480" kern="1200">
          <a:solidFill>
            <a:schemeClr val="tx1"/>
          </a:solidFill>
          <a:latin typeface="+mn-lt"/>
          <a:ea typeface="+mn-ea"/>
          <a:cs typeface="+mn-cs"/>
        </a:defRPr>
      </a:lvl1pPr>
      <a:lvl2pPr marL="607482" indent="-202494" algn="l" defTabSz="809976" rtl="0" eaLnBrk="1" latinLnBrk="0" hangingPunct="1">
        <a:lnSpc>
          <a:spcPct val="90000"/>
        </a:lnSpc>
        <a:spcBef>
          <a:spcPts val="443"/>
        </a:spcBef>
        <a:buFont typeface="Arial" panose="020B0604020202020204" pitchFamily="34" charset="0"/>
        <a:buChar char="•"/>
        <a:defRPr sz="2126" kern="1200">
          <a:solidFill>
            <a:schemeClr val="tx1"/>
          </a:solidFill>
          <a:latin typeface="+mn-lt"/>
          <a:ea typeface="+mn-ea"/>
          <a:cs typeface="+mn-cs"/>
        </a:defRPr>
      </a:lvl2pPr>
      <a:lvl3pPr marL="1012469" indent="-202494" algn="l" defTabSz="809976" rtl="0" eaLnBrk="1" latinLnBrk="0" hangingPunct="1">
        <a:lnSpc>
          <a:spcPct val="90000"/>
        </a:lnSpc>
        <a:spcBef>
          <a:spcPts val="443"/>
        </a:spcBef>
        <a:buFont typeface="Arial" panose="020B0604020202020204" pitchFamily="34" charset="0"/>
        <a:buChar char="•"/>
        <a:defRPr sz="1772" kern="1200">
          <a:solidFill>
            <a:schemeClr val="tx1"/>
          </a:solidFill>
          <a:latin typeface="+mn-lt"/>
          <a:ea typeface="+mn-ea"/>
          <a:cs typeface="+mn-cs"/>
        </a:defRPr>
      </a:lvl3pPr>
      <a:lvl4pPr marL="1417457"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4pPr>
      <a:lvl5pPr marL="1822445"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5pPr>
      <a:lvl6pPr marL="2227433"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6pPr>
      <a:lvl7pPr marL="2632420"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7pPr>
      <a:lvl8pPr marL="3037408"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8pPr>
      <a:lvl9pPr marL="3442396"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9pPr>
    </p:bodyStyle>
    <p:otherStyle>
      <a:defPPr>
        <a:defRPr lang="en-US"/>
      </a:defPPr>
      <a:lvl1pPr marL="0" algn="l" defTabSz="809976" rtl="0" eaLnBrk="1" latinLnBrk="0" hangingPunct="1">
        <a:defRPr sz="1594" kern="1200">
          <a:solidFill>
            <a:schemeClr val="tx1"/>
          </a:solidFill>
          <a:latin typeface="+mn-lt"/>
          <a:ea typeface="+mn-ea"/>
          <a:cs typeface="+mn-cs"/>
        </a:defRPr>
      </a:lvl1pPr>
      <a:lvl2pPr marL="404988" algn="l" defTabSz="809976" rtl="0" eaLnBrk="1" latinLnBrk="0" hangingPunct="1">
        <a:defRPr sz="1594" kern="1200">
          <a:solidFill>
            <a:schemeClr val="tx1"/>
          </a:solidFill>
          <a:latin typeface="+mn-lt"/>
          <a:ea typeface="+mn-ea"/>
          <a:cs typeface="+mn-cs"/>
        </a:defRPr>
      </a:lvl2pPr>
      <a:lvl3pPr marL="809976" algn="l" defTabSz="809976" rtl="0" eaLnBrk="1" latinLnBrk="0" hangingPunct="1">
        <a:defRPr sz="1594" kern="1200">
          <a:solidFill>
            <a:schemeClr val="tx1"/>
          </a:solidFill>
          <a:latin typeface="+mn-lt"/>
          <a:ea typeface="+mn-ea"/>
          <a:cs typeface="+mn-cs"/>
        </a:defRPr>
      </a:lvl3pPr>
      <a:lvl4pPr marL="1214963" algn="l" defTabSz="809976" rtl="0" eaLnBrk="1" latinLnBrk="0" hangingPunct="1">
        <a:defRPr sz="1594" kern="1200">
          <a:solidFill>
            <a:schemeClr val="tx1"/>
          </a:solidFill>
          <a:latin typeface="+mn-lt"/>
          <a:ea typeface="+mn-ea"/>
          <a:cs typeface="+mn-cs"/>
        </a:defRPr>
      </a:lvl4pPr>
      <a:lvl5pPr marL="1619951" algn="l" defTabSz="809976" rtl="0" eaLnBrk="1" latinLnBrk="0" hangingPunct="1">
        <a:defRPr sz="1594" kern="1200">
          <a:solidFill>
            <a:schemeClr val="tx1"/>
          </a:solidFill>
          <a:latin typeface="+mn-lt"/>
          <a:ea typeface="+mn-ea"/>
          <a:cs typeface="+mn-cs"/>
        </a:defRPr>
      </a:lvl5pPr>
      <a:lvl6pPr marL="2024939" algn="l" defTabSz="809976" rtl="0" eaLnBrk="1" latinLnBrk="0" hangingPunct="1">
        <a:defRPr sz="1594" kern="1200">
          <a:solidFill>
            <a:schemeClr val="tx1"/>
          </a:solidFill>
          <a:latin typeface="+mn-lt"/>
          <a:ea typeface="+mn-ea"/>
          <a:cs typeface="+mn-cs"/>
        </a:defRPr>
      </a:lvl6pPr>
      <a:lvl7pPr marL="2429927" algn="l" defTabSz="809976" rtl="0" eaLnBrk="1" latinLnBrk="0" hangingPunct="1">
        <a:defRPr sz="1594" kern="1200">
          <a:solidFill>
            <a:schemeClr val="tx1"/>
          </a:solidFill>
          <a:latin typeface="+mn-lt"/>
          <a:ea typeface="+mn-ea"/>
          <a:cs typeface="+mn-cs"/>
        </a:defRPr>
      </a:lvl7pPr>
      <a:lvl8pPr marL="2834914" algn="l" defTabSz="809976" rtl="0" eaLnBrk="1" latinLnBrk="0" hangingPunct="1">
        <a:defRPr sz="1594" kern="1200">
          <a:solidFill>
            <a:schemeClr val="tx1"/>
          </a:solidFill>
          <a:latin typeface="+mn-lt"/>
          <a:ea typeface="+mn-ea"/>
          <a:cs typeface="+mn-cs"/>
        </a:defRPr>
      </a:lvl8pPr>
      <a:lvl9pPr marL="3239902" algn="l" defTabSz="809976" rtl="0" eaLnBrk="1" latinLnBrk="0" hangingPunct="1">
        <a:defRPr sz="15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6.emf"/><Relationship Id="rId7"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7.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CBD819-D0FB-E055-3943-AC93A4A7ED49}"/>
              </a:ext>
            </a:extLst>
          </p:cNvPr>
          <p:cNvSpPr txBox="1"/>
          <p:nvPr/>
        </p:nvSpPr>
        <p:spPr>
          <a:xfrm>
            <a:off x="4538688" y="1610023"/>
            <a:ext cx="1095172" cy="369332"/>
          </a:xfrm>
          <a:prstGeom prst="rect">
            <a:avLst/>
          </a:prstGeom>
          <a:noFill/>
        </p:spPr>
        <p:txBody>
          <a:bodyPr wrap="none" rtlCol="0">
            <a:spAutoFit/>
          </a:bodyPr>
          <a:lstStyle/>
          <a:p>
            <a:r>
              <a:rPr lang="en-IN" b="1" dirty="0">
                <a:solidFill>
                  <a:srgbClr val="C00000"/>
                </a:solidFill>
                <a:latin typeface="Arial" panose="020B0604020202020204" pitchFamily="34" charset="0"/>
                <a:cs typeface="Arial" panose="020B0604020202020204" pitchFamily="34" charset="0"/>
              </a:rPr>
              <a:t>CH 2205</a:t>
            </a:r>
          </a:p>
        </p:txBody>
      </p:sp>
      <p:sp>
        <p:nvSpPr>
          <p:cNvPr id="5" name="TextBox 4">
            <a:extLst>
              <a:ext uri="{FF2B5EF4-FFF2-40B4-BE49-F238E27FC236}">
                <a16:creationId xmlns:a16="http://schemas.microsoft.com/office/drawing/2014/main" id="{AA877E43-CA1E-CCBB-8829-D72B1822B623}"/>
              </a:ext>
            </a:extLst>
          </p:cNvPr>
          <p:cNvSpPr txBox="1"/>
          <p:nvPr/>
        </p:nvSpPr>
        <p:spPr>
          <a:xfrm>
            <a:off x="3680421" y="3313025"/>
            <a:ext cx="3249672" cy="646331"/>
          </a:xfrm>
          <a:prstGeom prst="rect">
            <a:avLst/>
          </a:prstGeom>
          <a:noFill/>
        </p:spPr>
        <p:txBody>
          <a:bodyPr wrap="none" rtlCol="0">
            <a:spAutoFit/>
          </a:bodyPr>
          <a:lstStyle/>
          <a:p>
            <a:r>
              <a:rPr lang="en-IN" dirty="0">
                <a:solidFill>
                  <a:srgbClr val="00B050"/>
                </a:solidFill>
                <a:latin typeface="Arial" panose="020B0604020202020204" pitchFamily="34" charset="0"/>
                <a:cs typeface="Arial" panose="020B0604020202020204" pitchFamily="34" charset="0"/>
              </a:rPr>
              <a:t>Venkataramanan Mahalingam</a:t>
            </a:r>
          </a:p>
          <a:p>
            <a:r>
              <a:rPr lang="en-IN" dirty="0">
                <a:solidFill>
                  <a:srgbClr val="00B050"/>
                </a:solidFill>
                <a:latin typeface="Arial" panose="020B0604020202020204" pitchFamily="34" charset="0"/>
                <a:cs typeface="Arial" panose="020B0604020202020204" pitchFamily="34" charset="0"/>
              </a:rPr>
              <a:t>     mvenkat@iiserkol.ac.in</a:t>
            </a:r>
          </a:p>
        </p:txBody>
      </p:sp>
      <p:sp>
        <p:nvSpPr>
          <p:cNvPr id="6" name="TextBox 5">
            <a:extLst>
              <a:ext uri="{FF2B5EF4-FFF2-40B4-BE49-F238E27FC236}">
                <a16:creationId xmlns:a16="http://schemas.microsoft.com/office/drawing/2014/main" id="{4F93EF33-7811-20D5-6F03-1AFF78416BAF}"/>
              </a:ext>
            </a:extLst>
          </p:cNvPr>
          <p:cNvSpPr txBox="1"/>
          <p:nvPr/>
        </p:nvSpPr>
        <p:spPr>
          <a:xfrm>
            <a:off x="3642013" y="2199025"/>
            <a:ext cx="3288080"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Basic Inorganic Chemistry II</a:t>
            </a:r>
          </a:p>
        </p:txBody>
      </p:sp>
    </p:spTree>
    <p:extLst>
      <p:ext uri="{BB962C8B-B14F-4D97-AF65-F5344CB8AC3E}">
        <p14:creationId xmlns:p14="http://schemas.microsoft.com/office/powerpoint/2010/main" val="3626387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8B8768-2476-2201-9E9E-E2106CAFE15E}"/>
              </a:ext>
            </a:extLst>
          </p:cNvPr>
          <p:cNvSpPr txBox="1"/>
          <p:nvPr/>
        </p:nvSpPr>
        <p:spPr>
          <a:xfrm>
            <a:off x="961600" y="1083659"/>
            <a:ext cx="8577711" cy="5081648"/>
          </a:xfrm>
          <a:prstGeom prst="rect">
            <a:avLst/>
          </a:prstGeom>
          <a:noFill/>
        </p:spPr>
        <p:txBody>
          <a:bodyPr wrap="square">
            <a:spAutoFit/>
          </a:bodyPr>
          <a:lstStyle/>
          <a:p>
            <a:pPr>
              <a:lnSpc>
                <a:spcPct val="107000"/>
              </a:lnSpc>
              <a:spcAft>
                <a:spcPts val="709"/>
              </a:spcAft>
            </a:pPr>
            <a:r>
              <a:rPr lang="en-IN" sz="1329" b="1" dirty="0">
                <a:solidFill>
                  <a:srgbClr val="000000"/>
                </a:solidFill>
                <a:latin typeface="Arial" panose="020B0604020202020204" pitchFamily="34" charset="0"/>
                <a:ea typeface="Times New Roman" panose="02020603050405020304" pitchFamily="18" charset="0"/>
                <a:cs typeface="Arial" panose="020B0604020202020204" pitchFamily="34" charset="0"/>
              </a:rPr>
              <a:t>Elements and stoichiometry:</a:t>
            </a:r>
            <a:r>
              <a:rPr lang="en-IN" sz="1329"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Individual groups, Metals, non-metals, and metalloids, Allotropes of carbon, phosphorus, and other elements, Binding Energies. </a:t>
            </a:r>
            <a:r>
              <a:rPr lang="en-IN" sz="1329" dirty="0">
                <a:solidFill>
                  <a:srgbClr val="000000"/>
                </a:solidFill>
                <a:latin typeface="Arial" panose="020B0604020202020204" pitchFamily="34" charset="0"/>
                <a:ea typeface="Times New Roman" panose="02020603050405020304" pitchFamily="18" charset="0"/>
                <a:cs typeface="Arial" panose="020B0604020202020204" pitchFamily="34" charset="0"/>
              </a:rPr>
              <a:t>why stoichiometry is important (4 Lecture)</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709"/>
              </a:spcAft>
            </a:pPr>
            <a:r>
              <a:rPr lang="en-IN" sz="1329" b="1" dirty="0">
                <a:solidFill>
                  <a:srgbClr val="000000"/>
                </a:solidFill>
                <a:latin typeface="Arial" panose="020B0604020202020204" pitchFamily="34" charset="0"/>
                <a:ea typeface="Calibri" panose="020F0502020204030204" pitchFamily="34" charset="0"/>
                <a:cs typeface="Arial" panose="020B0604020202020204" pitchFamily="34" charset="0"/>
              </a:rPr>
              <a:t>Basic redox chemistry- </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recapitulation of balancing equations, oxidation number, various electrochemical cells (viz. Daniel cell, concentration cells), electrolysis cells and electroplating, Nernst Equation, reduction potential, standard electrodes (viz. silver, calomel, hydrogen), Factors affecting reduction potential, pH electrode, corrosion as redox reaction, few examples of redox processes in biological systems, Latimer diagram, Pourbaix diagram, Cyclic voltammetry basics: half-cell potential, triangular wave scan, </a:t>
            </a:r>
            <a:r>
              <a:rPr lang="en-IN" sz="1329" dirty="0" err="1">
                <a:solidFill>
                  <a:srgbClr val="000000"/>
                </a:solidFill>
                <a:latin typeface="Arial" panose="020B0604020202020204" pitchFamily="34" charset="0"/>
                <a:ea typeface="Calibri" panose="020F0502020204030204" pitchFamily="34" charset="0"/>
                <a:cs typeface="Arial" panose="020B0604020202020204" pitchFamily="34" charset="0"/>
              </a:rPr>
              <a:t>Ficks</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 law, </a:t>
            </a:r>
            <a:r>
              <a:rPr lang="en-IN" sz="1329" dirty="0" err="1">
                <a:solidFill>
                  <a:srgbClr val="000000"/>
                </a:solidFill>
                <a:latin typeface="Arial" panose="020B0604020202020204" pitchFamily="34" charset="0"/>
                <a:ea typeface="Calibri" panose="020F0502020204030204" pitchFamily="34" charset="0"/>
                <a:cs typeface="Arial" panose="020B0604020202020204" pitchFamily="34" charset="0"/>
              </a:rPr>
              <a:t>Randles-Sevick</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 equation interpretation, basic application  (8 lectures)</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709"/>
              </a:spcAft>
            </a:pPr>
            <a:r>
              <a:rPr lang="en-IN" sz="1329" b="1" dirty="0">
                <a:solidFill>
                  <a:srgbClr val="000000"/>
                </a:solidFill>
                <a:latin typeface="Arial" panose="020B0604020202020204" pitchFamily="34" charset="0"/>
                <a:ea typeface="Calibri" panose="020F0502020204030204" pitchFamily="34" charset="0"/>
                <a:cs typeface="Arial" panose="020B0604020202020204" pitchFamily="34" charset="0"/>
              </a:rPr>
              <a:t> </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709"/>
              </a:spcAft>
            </a:pPr>
            <a:r>
              <a:rPr lang="en-IN" sz="1329" b="1" dirty="0">
                <a:solidFill>
                  <a:srgbClr val="000000"/>
                </a:solidFill>
                <a:latin typeface="Arial" panose="020B0604020202020204" pitchFamily="34" charset="0"/>
                <a:ea typeface="Calibri" panose="020F0502020204030204" pitchFamily="34" charset="0"/>
                <a:cs typeface="Arial" panose="020B0604020202020204" pitchFamily="34" charset="0"/>
              </a:rPr>
              <a:t>Introduction to solids: </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Amorphous vs. crystalline solids, types of crystalline solids, Bravais lattice, crystal systems, unit cell, close packing of various types, packing density, examples of close packed structures, radius -ratio, ionic solids, Madelung constant, Born-Lande equation, basic thermodynamics of ionic crystal (viz. Born-Haber cycle), discrepancies in lattice energy, calculations of void spaces and packing parameters, point defects (Schottky and Frenkel), colour centres and their influence, metals and their packing, influence of impurities on metals, utility of alloys, Hume-</a:t>
            </a:r>
            <a:r>
              <a:rPr lang="en-IN" sz="1329" dirty="0" err="1">
                <a:solidFill>
                  <a:srgbClr val="000000"/>
                </a:solidFill>
                <a:latin typeface="Arial" panose="020B0604020202020204" pitchFamily="34" charset="0"/>
                <a:ea typeface="Calibri" panose="020F0502020204030204" pitchFamily="34" charset="0"/>
                <a:cs typeface="Arial" panose="020B0604020202020204" pitchFamily="34" charset="0"/>
              </a:rPr>
              <a:t>Rothary</a:t>
            </a: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 rules, basics of doping and conductivity, Miller Indices-concept of planes, indexing planes, symmetry and equivalent planes. (10 lectures)</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709"/>
              </a:spcAft>
            </a:pPr>
            <a:r>
              <a:rPr lang="en-IN" sz="1329" dirty="0">
                <a:solidFill>
                  <a:srgbClr val="000000"/>
                </a:solidFill>
                <a:latin typeface="Arial" panose="020B0604020202020204" pitchFamily="34" charset="0"/>
                <a:ea typeface="Calibri" panose="020F0502020204030204" pitchFamily="34" charset="0"/>
                <a:cs typeface="Arial" panose="020B0604020202020204" pitchFamily="34" charset="0"/>
              </a:rPr>
              <a:t> </a:t>
            </a:r>
            <a:r>
              <a:rPr lang="en-IN" sz="1329" b="1" dirty="0">
                <a:solidFill>
                  <a:srgbClr val="000000"/>
                </a:solidFill>
                <a:latin typeface="Arial" panose="020B0604020202020204" pitchFamily="34" charset="0"/>
                <a:ea typeface="Calibri" panose="020F0502020204030204" pitchFamily="34" charset="0"/>
                <a:cs typeface="Arial" panose="020B0604020202020204" pitchFamily="34" charset="0"/>
              </a:rPr>
              <a:t>Books for reference:</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709"/>
              </a:spcAft>
            </a:pPr>
            <a:r>
              <a:rPr lang="en-IN" sz="1329" dirty="0">
                <a:solidFill>
                  <a:srgbClr val="0000FF"/>
                </a:solidFill>
                <a:latin typeface="Arial" panose="020B0604020202020204" pitchFamily="34" charset="0"/>
                <a:ea typeface="Times New Roman" panose="02020603050405020304" pitchFamily="18" charset="0"/>
                <a:cs typeface="Arial" panose="020B0604020202020204" pitchFamily="34" charset="0"/>
              </a:rPr>
              <a:t>1. Inorganic chemistry By Catherine E </a:t>
            </a:r>
            <a:r>
              <a:rPr lang="en-IN" sz="1329" dirty="0" err="1">
                <a:solidFill>
                  <a:srgbClr val="0000FF"/>
                </a:solidFill>
                <a:latin typeface="Arial" panose="020B0604020202020204" pitchFamily="34" charset="0"/>
                <a:ea typeface="Times New Roman" panose="02020603050405020304" pitchFamily="18" charset="0"/>
                <a:cs typeface="Arial" panose="020B0604020202020204" pitchFamily="34" charset="0"/>
              </a:rPr>
              <a:t>Housecroft</a:t>
            </a:r>
            <a:r>
              <a:rPr lang="en-IN" sz="1329" dirty="0">
                <a:solidFill>
                  <a:srgbClr val="0000FF"/>
                </a:solidFill>
                <a:latin typeface="Arial" panose="020B0604020202020204" pitchFamily="34" charset="0"/>
                <a:ea typeface="Times New Roman" panose="02020603050405020304" pitchFamily="18" charset="0"/>
                <a:cs typeface="Arial" panose="020B0604020202020204" pitchFamily="34" charset="0"/>
              </a:rPr>
              <a:t> and Alan G. Sharpe</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709"/>
              </a:spcAft>
            </a:pPr>
            <a:r>
              <a:rPr lang="en-IN" sz="1329" dirty="0">
                <a:solidFill>
                  <a:srgbClr val="0000FF"/>
                </a:solidFill>
                <a:latin typeface="Arial" panose="020B0604020202020204" pitchFamily="34" charset="0"/>
                <a:ea typeface="Times New Roman" panose="02020603050405020304" pitchFamily="18" charset="0"/>
                <a:cs typeface="Arial" panose="020B0604020202020204" pitchFamily="34" charset="0"/>
              </a:rPr>
              <a:t>2. Inorganic Chemistry By </a:t>
            </a:r>
            <a:r>
              <a:rPr lang="en-IN" sz="1329" dirty="0" err="1">
                <a:solidFill>
                  <a:srgbClr val="0000FF"/>
                </a:solidFill>
                <a:latin typeface="Arial" panose="020B0604020202020204" pitchFamily="34" charset="0"/>
                <a:ea typeface="Times New Roman" panose="02020603050405020304" pitchFamily="18" charset="0"/>
                <a:cs typeface="Arial" panose="020B0604020202020204" pitchFamily="34" charset="0"/>
              </a:rPr>
              <a:t>Shrivers</a:t>
            </a:r>
            <a:r>
              <a:rPr lang="en-IN" sz="1329" dirty="0">
                <a:solidFill>
                  <a:srgbClr val="0000FF"/>
                </a:solidFill>
                <a:latin typeface="Arial" panose="020B0604020202020204" pitchFamily="34" charset="0"/>
                <a:ea typeface="Times New Roman" panose="02020603050405020304" pitchFamily="18" charset="0"/>
                <a:cs typeface="Arial" panose="020B0604020202020204" pitchFamily="34" charset="0"/>
              </a:rPr>
              <a:t> Atkins And Langford</a:t>
            </a:r>
          </a:p>
          <a:p>
            <a:pPr>
              <a:lnSpc>
                <a:spcPct val="107000"/>
              </a:lnSpc>
              <a:spcAft>
                <a:spcPts val="709"/>
              </a:spcAft>
            </a:pPr>
            <a:r>
              <a:rPr lang="en-IN" sz="1329" dirty="0">
                <a:solidFill>
                  <a:srgbClr val="0000FF"/>
                </a:solidFill>
                <a:latin typeface="Arial" panose="020B0604020202020204" pitchFamily="34" charset="0"/>
                <a:ea typeface="Calibri" panose="020F0502020204030204" pitchFamily="34" charset="0"/>
                <a:cs typeface="Arial" panose="020B0604020202020204" pitchFamily="34" charset="0"/>
              </a:rPr>
              <a:t>3. Solid State Chemistry and its applications by Anthony R West</a:t>
            </a:r>
            <a:endParaRPr lang="en-IN" sz="1329" b="1" dirty="0">
              <a:solidFill>
                <a:srgbClr val="0000FF"/>
              </a:solidFill>
              <a:latin typeface="Arial" panose="020B060402020202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1E9ADA49-339D-4945-94BC-99B79444CD2E}"/>
              </a:ext>
            </a:extLst>
          </p:cNvPr>
          <p:cNvSpPr txBox="1"/>
          <p:nvPr/>
        </p:nvSpPr>
        <p:spPr>
          <a:xfrm>
            <a:off x="4833388" y="533017"/>
            <a:ext cx="1024639" cy="337657"/>
          </a:xfrm>
          <a:prstGeom prst="rect">
            <a:avLst/>
          </a:prstGeom>
          <a:noFill/>
        </p:spPr>
        <p:txBody>
          <a:bodyPr wrap="none" rtlCol="0">
            <a:spAutoFit/>
          </a:bodyPr>
          <a:lstStyle/>
          <a:p>
            <a:r>
              <a:rPr lang="en-IN" sz="1594" b="1" dirty="0">
                <a:solidFill>
                  <a:srgbClr val="C00000"/>
                </a:solidFill>
                <a:latin typeface="Arial" panose="020B0604020202020204" pitchFamily="34" charset="0"/>
                <a:cs typeface="Arial" panose="020B0604020202020204" pitchFamily="34" charset="0"/>
              </a:rPr>
              <a:t>Syllabus</a:t>
            </a:r>
          </a:p>
        </p:txBody>
      </p:sp>
    </p:spTree>
    <p:extLst>
      <p:ext uri="{BB962C8B-B14F-4D97-AF65-F5344CB8AC3E}">
        <p14:creationId xmlns:p14="http://schemas.microsoft.com/office/powerpoint/2010/main" val="1514969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2F349B-B365-8AF8-2EA4-40C8C34B9601}"/>
              </a:ext>
            </a:extLst>
          </p:cNvPr>
          <p:cNvSpPr txBox="1"/>
          <p:nvPr/>
        </p:nvSpPr>
        <p:spPr>
          <a:xfrm>
            <a:off x="3897442" y="419725"/>
            <a:ext cx="2056973" cy="369332"/>
          </a:xfrm>
          <a:prstGeom prst="rect">
            <a:avLst/>
          </a:prstGeom>
          <a:noFill/>
        </p:spPr>
        <p:txBody>
          <a:bodyPr wrap="none" rtlCol="0">
            <a:spAutoFit/>
          </a:bodyPr>
          <a:lstStyle/>
          <a:p>
            <a:r>
              <a:rPr lang="en-US" b="1" dirty="0">
                <a:solidFill>
                  <a:srgbClr val="C00000"/>
                </a:solidFill>
                <a:latin typeface="Arial" panose="020B0604020202020204" pitchFamily="34" charset="0"/>
                <a:cs typeface="Arial" panose="020B0604020202020204" pitchFamily="34" charset="0"/>
              </a:rPr>
              <a:t>Electrochemistry</a:t>
            </a:r>
            <a:endParaRPr lang="en-IN" b="1"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14A1089-BE67-4D37-25A8-1047D617DF51}"/>
              </a:ext>
            </a:extLst>
          </p:cNvPr>
          <p:cNvSpPr txBox="1"/>
          <p:nvPr/>
        </p:nvSpPr>
        <p:spPr>
          <a:xfrm>
            <a:off x="869431" y="929390"/>
            <a:ext cx="8694294" cy="872034"/>
          </a:xfrm>
          <a:prstGeom prst="rect">
            <a:avLst/>
          </a:prstGeom>
          <a:noFill/>
        </p:spPr>
        <p:txBody>
          <a:bodyPr wrap="square" rtlCol="0">
            <a:spAutoFit/>
          </a:bodyPr>
          <a:lstStyle/>
          <a:p>
            <a:pPr marR="15370" algn="just">
              <a:lnSpc>
                <a:spcPct val="150000"/>
              </a:lnSpc>
            </a:pPr>
            <a:r>
              <a:rPr lang="en-US" sz="1800" b="1" i="0" u="none" strike="noStrike" baseline="0" dirty="0">
                <a:latin typeface="Arial" panose="020B0604020202020204" pitchFamily="34" charset="0"/>
                <a:cs typeface="Arial" panose="020B0604020202020204" pitchFamily="34" charset="0"/>
              </a:rPr>
              <a:t>Electrochemistry is defined as the branch of chemistry that examines the phenomena resulting from combined chemical and electrical effects</a:t>
            </a:r>
            <a:endParaRPr lang="en-IN"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87CF7ED-9E9C-13DF-01CB-1046DBAF7E07}"/>
              </a:ext>
            </a:extLst>
          </p:cNvPr>
          <p:cNvSpPr txBox="1"/>
          <p:nvPr/>
        </p:nvSpPr>
        <p:spPr>
          <a:xfrm>
            <a:off x="869431" y="2293495"/>
            <a:ext cx="8454453" cy="1477328"/>
          </a:xfrm>
          <a:prstGeom prst="rect">
            <a:avLst/>
          </a:prstGeom>
          <a:noFill/>
        </p:spPr>
        <p:txBody>
          <a:bodyPr wrap="square" rtlCol="0">
            <a:spAutoFit/>
          </a:bodyPr>
          <a:lstStyle/>
          <a:p>
            <a:pPr algn="l"/>
            <a:r>
              <a:rPr lang="en-US" sz="1800" b="1" i="0" u="none" strike="noStrike" baseline="0" dirty="0">
                <a:latin typeface="Arial" panose="020B0604020202020204" pitchFamily="34" charset="0"/>
                <a:cs typeface="Arial" panose="020B0604020202020204" pitchFamily="34" charset="0"/>
              </a:rPr>
              <a:t>Oxidation </a:t>
            </a:r>
            <a:r>
              <a:rPr lang="en-US" sz="1800" b="0" i="0" u="none" strike="noStrike" baseline="0" dirty="0">
                <a:latin typeface="Arial" panose="020B0604020202020204" pitchFamily="34" charset="0"/>
                <a:cs typeface="Arial" panose="020B0604020202020204" pitchFamily="34" charset="0"/>
              </a:rPr>
              <a:t>refers to gaining oxygen, losing hydrogen or losing one or more electrons.</a:t>
            </a:r>
          </a:p>
          <a:p>
            <a:pPr algn="l"/>
            <a:endParaRPr lang="en-US" sz="1800" b="0" i="0" u="none" strike="noStrike" baseline="0" dirty="0">
              <a:latin typeface="Arial" panose="020B0604020202020204" pitchFamily="34" charset="0"/>
              <a:cs typeface="Arial" panose="020B0604020202020204" pitchFamily="34" charset="0"/>
            </a:endParaRPr>
          </a:p>
          <a:p>
            <a:pPr algn="l"/>
            <a:r>
              <a:rPr lang="en-US" sz="1800" b="1" i="0" u="none" strike="noStrike" baseline="0" dirty="0">
                <a:latin typeface="Arial" panose="020B0604020202020204" pitchFamily="34" charset="0"/>
                <a:cs typeface="Arial" panose="020B0604020202020204" pitchFamily="34" charset="0"/>
              </a:rPr>
              <a:t> Reduction </a:t>
            </a:r>
            <a:r>
              <a:rPr lang="en-US" sz="1800" b="0" i="0" u="none" strike="noStrike" baseline="0" dirty="0">
                <a:latin typeface="Arial" panose="020B0604020202020204" pitchFamily="34" charset="0"/>
                <a:cs typeface="Arial" panose="020B0604020202020204" pitchFamily="34" charset="0"/>
              </a:rPr>
              <a:t>refers to losing oxygen, gaining hydrogen or gaining one or more electrons.</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443ED27-4E4A-C9CF-DB73-4F0E0E6021C1}"/>
              </a:ext>
            </a:extLst>
          </p:cNvPr>
          <p:cNvSpPr txBox="1"/>
          <p:nvPr/>
        </p:nvSpPr>
        <p:spPr>
          <a:xfrm>
            <a:off x="1334440" y="3960671"/>
            <a:ext cx="2387192" cy="400110"/>
          </a:xfrm>
          <a:prstGeom prst="rect">
            <a:avLst/>
          </a:prstGeom>
          <a:noFill/>
        </p:spPr>
        <p:txBody>
          <a:bodyPr wrap="none" rtlCol="0">
            <a:spAutoFit/>
          </a:bodyPr>
          <a:lstStyle/>
          <a:p>
            <a:r>
              <a:rPr lang="en-US" sz="2000" dirty="0">
                <a:solidFill>
                  <a:srgbClr val="C00000"/>
                </a:solidFill>
                <a:latin typeface="Arial" panose="020B0604020202020204" pitchFamily="34" charset="0"/>
                <a:cs typeface="Arial" panose="020B0604020202020204" pitchFamily="34" charset="0"/>
              </a:rPr>
              <a:t>2Mg + O</a:t>
            </a:r>
            <a:r>
              <a:rPr lang="en-US" sz="2000" baseline="-25000" dirty="0">
                <a:solidFill>
                  <a:srgbClr val="C00000"/>
                </a:solidFill>
                <a:latin typeface="Arial" panose="020B0604020202020204" pitchFamily="34" charset="0"/>
                <a:cs typeface="Arial" panose="020B0604020202020204" pitchFamily="34" charset="0"/>
              </a:rPr>
              <a:t>2  </a:t>
            </a:r>
            <a:r>
              <a:rPr lang="en-US" sz="2000" dirty="0">
                <a:solidFill>
                  <a:srgbClr val="C00000"/>
                </a:solidFill>
                <a:latin typeface="Arial" panose="020B0604020202020204" pitchFamily="34" charset="0"/>
                <a:cs typeface="Arial" panose="020B0604020202020204" pitchFamily="34" charset="0"/>
              </a:rPr>
              <a:t>→ 2MgO</a:t>
            </a:r>
            <a:endParaRPr lang="en-IN" sz="2000" dirty="0">
              <a:solidFill>
                <a:srgbClr val="C0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8B6AFA4A-7B81-B0DC-DFEB-7FFFB5C29287}"/>
              </a:ext>
            </a:extLst>
          </p:cNvPr>
          <p:cNvPicPr>
            <a:picLocks noChangeAspect="1"/>
          </p:cNvPicPr>
          <p:nvPr/>
        </p:nvPicPr>
        <p:blipFill>
          <a:blip r:embed="rId2"/>
          <a:stretch>
            <a:fillRect/>
          </a:stretch>
        </p:blipFill>
        <p:spPr>
          <a:xfrm>
            <a:off x="1114537" y="4550629"/>
            <a:ext cx="3811391" cy="1074118"/>
          </a:xfrm>
          <a:prstGeom prst="rect">
            <a:avLst/>
          </a:prstGeom>
        </p:spPr>
      </p:pic>
      <p:sp>
        <p:nvSpPr>
          <p:cNvPr id="12" name="TextBox 11">
            <a:extLst>
              <a:ext uri="{FF2B5EF4-FFF2-40B4-BE49-F238E27FC236}">
                <a16:creationId xmlns:a16="http://schemas.microsoft.com/office/drawing/2014/main" id="{EBDC36D9-5ECA-ED38-30DF-86E8E216B293}"/>
              </a:ext>
            </a:extLst>
          </p:cNvPr>
          <p:cNvSpPr txBox="1"/>
          <p:nvPr/>
        </p:nvSpPr>
        <p:spPr>
          <a:xfrm>
            <a:off x="5216578" y="4160726"/>
            <a:ext cx="5583185" cy="1323439"/>
          </a:xfrm>
          <a:prstGeom prst="rect">
            <a:avLst/>
          </a:prstGeom>
          <a:noFill/>
        </p:spPr>
        <p:txBody>
          <a:bodyPr wrap="square" rtlCol="0">
            <a:spAutoFit/>
          </a:bodyPr>
          <a:lstStyle/>
          <a:p>
            <a:pPr algn="l"/>
            <a:r>
              <a:rPr lang="en-US" sz="1600" b="0" i="0" u="none" strike="noStrike" baseline="0" dirty="0">
                <a:latin typeface="Arial" panose="020B0604020202020204" pitchFamily="34" charset="0"/>
                <a:cs typeface="Arial" panose="020B0604020202020204" pitchFamily="34" charset="0"/>
              </a:rPr>
              <a:t>An oxidation process is accompanied by an increase in the</a:t>
            </a:r>
          </a:p>
          <a:p>
            <a:pPr algn="l"/>
            <a:r>
              <a:rPr lang="en-US" sz="1600" b="0" i="0" u="none" strike="noStrike" baseline="0" dirty="0">
                <a:latin typeface="Arial" panose="020B0604020202020204" pitchFamily="34" charset="0"/>
                <a:cs typeface="Arial" panose="020B0604020202020204" pitchFamily="34" charset="0"/>
              </a:rPr>
              <a:t>oxidation state of the element involved</a:t>
            </a:r>
          </a:p>
          <a:p>
            <a:pPr algn="l"/>
            <a:endParaRPr lang="en-US" sz="1600" b="0" i="0" u="none" strike="noStrike" baseline="0" dirty="0">
              <a:latin typeface="Arial" panose="020B0604020202020204" pitchFamily="34" charset="0"/>
              <a:cs typeface="Arial" panose="020B0604020202020204" pitchFamily="34" charset="0"/>
            </a:endParaRPr>
          </a:p>
          <a:p>
            <a:pPr algn="l"/>
            <a:r>
              <a:rPr lang="en-US" sz="1600" b="0" i="0" u="none" strike="noStrike" baseline="0" dirty="0">
                <a:latin typeface="Arial" panose="020B0604020202020204" pitchFamily="34" charset="0"/>
                <a:cs typeface="Arial" panose="020B0604020202020204" pitchFamily="34" charset="0"/>
              </a:rPr>
              <a:t>A reduction process </a:t>
            </a:r>
            <a:r>
              <a:rPr lang="en-US" sz="1600" dirty="0">
                <a:latin typeface="Arial" panose="020B0604020202020204" pitchFamily="34" charset="0"/>
                <a:cs typeface="Arial" panose="020B0604020202020204" pitchFamily="34" charset="0"/>
              </a:rPr>
              <a:t>involves </a:t>
            </a:r>
            <a:r>
              <a:rPr lang="en-US" sz="1600" b="0" i="0" u="none" strike="noStrike" baseline="0" dirty="0">
                <a:latin typeface="Arial" panose="020B0604020202020204" pitchFamily="34" charset="0"/>
                <a:cs typeface="Arial" panose="020B0604020202020204" pitchFamily="34" charset="0"/>
              </a:rPr>
              <a:t>a decrease in the oxidation state</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9508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8969A2-F773-6053-FC18-7F6374D8D96D}"/>
              </a:ext>
            </a:extLst>
          </p:cNvPr>
          <p:cNvPicPr>
            <a:picLocks noChangeAspect="1"/>
          </p:cNvPicPr>
          <p:nvPr/>
        </p:nvPicPr>
        <p:blipFill>
          <a:blip r:embed="rId2"/>
          <a:stretch>
            <a:fillRect/>
          </a:stretch>
        </p:blipFill>
        <p:spPr>
          <a:xfrm>
            <a:off x="966095" y="1084675"/>
            <a:ext cx="2421682" cy="3292897"/>
          </a:xfrm>
          <a:prstGeom prst="rect">
            <a:avLst/>
          </a:prstGeom>
        </p:spPr>
      </p:pic>
      <p:sp>
        <p:nvSpPr>
          <p:cNvPr id="4" name="TextBox 3">
            <a:extLst>
              <a:ext uri="{FF2B5EF4-FFF2-40B4-BE49-F238E27FC236}">
                <a16:creationId xmlns:a16="http://schemas.microsoft.com/office/drawing/2014/main" id="{6BB3C697-0583-47EC-5A05-238212975839}"/>
              </a:ext>
            </a:extLst>
          </p:cNvPr>
          <p:cNvSpPr txBox="1"/>
          <p:nvPr/>
        </p:nvSpPr>
        <p:spPr>
          <a:xfrm>
            <a:off x="3387777" y="239843"/>
            <a:ext cx="3956532" cy="430887"/>
          </a:xfrm>
          <a:prstGeom prst="rect">
            <a:avLst/>
          </a:prstGeom>
          <a:noFill/>
        </p:spPr>
        <p:txBody>
          <a:bodyPr wrap="none" rtlCol="0">
            <a:spAutoFit/>
          </a:bodyPr>
          <a:lstStyle/>
          <a:p>
            <a:r>
              <a:rPr lang="en-US" sz="2200" b="1" dirty="0">
                <a:solidFill>
                  <a:srgbClr val="C00000"/>
                </a:solidFill>
                <a:latin typeface="Arial" panose="020B0604020202020204" pitchFamily="34" charset="0"/>
                <a:cs typeface="Arial" panose="020B0604020202020204" pitchFamily="34" charset="0"/>
              </a:rPr>
              <a:t>Origin of electrode potential</a:t>
            </a:r>
            <a:endParaRPr lang="en-IN" sz="2200" b="1" dirty="0">
              <a:solidFill>
                <a:srgbClr val="C0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3E1C96E-6DBF-FF39-89FE-5B9D108B004F}"/>
              </a:ext>
            </a:extLst>
          </p:cNvPr>
          <p:cNvSpPr txBox="1"/>
          <p:nvPr/>
        </p:nvSpPr>
        <p:spPr>
          <a:xfrm>
            <a:off x="330288" y="4377572"/>
            <a:ext cx="3402263"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Metal wire is dipped in a solution of Fe(II) and Fe(III)</a:t>
            </a:r>
            <a:endParaRPr lang="en-IN" sz="1600"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0065D8A9-6CAB-A398-6950-9C30C850B602}"/>
              </a:ext>
            </a:extLst>
          </p:cNvPr>
          <p:cNvGrpSpPr/>
          <p:nvPr/>
        </p:nvGrpSpPr>
        <p:grpSpPr>
          <a:xfrm>
            <a:off x="4395976" y="977651"/>
            <a:ext cx="4166525" cy="400110"/>
            <a:chOff x="4570761" y="1969355"/>
            <a:chExt cx="4166525" cy="400110"/>
          </a:xfrm>
        </p:grpSpPr>
        <p:sp>
          <p:nvSpPr>
            <p:cNvPr id="6" name="TextBox 5">
              <a:extLst>
                <a:ext uri="{FF2B5EF4-FFF2-40B4-BE49-F238E27FC236}">
                  <a16:creationId xmlns:a16="http://schemas.microsoft.com/office/drawing/2014/main" id="{02E902FD-D5F2-D1B6-C735-59090788D3D8}"/>
                </a:ext>
              </a:extLst>
            </p:cNvPr>
            <p:cNvSpPr txBox="1"/>
            <p:nvPr/>
          </p:nvSpPr>
          <p:spPr>
            <a:xfrm>
              <a:off x="4570761" y="1969355"/>
              <a:ext cx="4166525" cy="400110"/>
            </a:xfrm>
            <a:prstGeom prst="rect">
              <a:avLst/>
            </a:prstGeom>
            <a:noFill/>
          </p:spPr>
          <p:txBody>
            <a:bodyPr wrap="none" rtlCol="0">
              <a:spAutoFit/>
            </a:bodyPr>
            <a:lstStyle/>
            <a:p>
              <a:r>
                <a:rPr lang="pt-BR" sz="2000" b="0" i="0" u="none" strike="noStrike" baseline="0" dirty="0">
                  <a:latin typeface="Arial" panose="020B0604020202020204" pitchFamily="34" charset="0"/>
                  <a:cs typeface="Arial" panose="020B0604020202020204" pitchFamily="34" charset="0"/>
                </a:rPr>
                <a:t>Fe</a:t>
              </a:r>
              <a:r>
                <a:rPr lang="pt-BR" sz="2000" b="0" i="0" u="none" strike="noStrike" baseline="30000" dirty="0">
                  <a:latin typeface="Arial" panose="020B0604020202020204" pitchFamily="34" charset="0"/>
                  <a:cs typeface="Arial" panose="020B0604020202020204" pitchFamily="34" charset="0"/>
                </a:rPr>
                <a:t>3+</a:t>
              </a:r>
              <a:r>
                <a:rPr lang="pt-BR" sz="2000" b="0" i="0" u="none" strike="noStrike" baseline="0" dirty="0">
                  <a:latin typeface="Arial" panose="020B0604020202020204" pitchFamily="34" charset="0"/>
                  <a:cs typeface="Arial" panose="020B0604020202020204" pitchFamily="34" charset="0"/>
                </a:rPr>
                <a:t>(aq) + e-(metal)  </a:t>
              </a:r>
              <a:r>
                <a:rPr lang="pt-BR" sz="2000" b="0" i="0" u="none" strike="noStrike" baseline="0" dirty="0">
                  <a:latin typeface="Arial" panose="020B0604020202020204" pitchFamily="34" charset="0"/>
                  <a:cs typeface="Arial" panose="020B0604020202020204" pitchFamily="34" charset="0"/>
                  <a:sym typeface="Symbol" panose="05050102010706020507" pitchFamily="18" charset="2"/>
                </a:rPr>
                <a:t></a:t>
              </a:r>
              <a:r>
                <a:rPr lang="pt-BR" sz="2000" b="0" i="0" u="none" strike="noStrike" baseline="0" dirty="0">
                  <a:latin typeface="Arial" panose="020B0604020202020204" pitchFamily="34" charset="0"/>
                  <a:cs typeface="Arial" panose="020B0604020202020204" pitchFamily="34" charset="0"/>
                </a:rPr>
                <a:t>        Fe</a:t>
              </a:r>
              <a:r>
                <a:rPr lang="pt-BR" sz="2000" b="0" i="0" u="none" strike="noStrike" baseline="30000" dirty="0">
                  <a:latin typeface="Arial" panose="020B0604020202020204" pitchFamily="34" charset="0"/>
                  <a:cs typeface="Arial" panose="020B0604020202020204" pitchFamily="34" charset="0"/>
                </a:rPr>
                <a:t>2+</a:t>
              </a:r>
              <a:r>
                <a:rPr lang="pt-BR" sz="2000" b="0" i="0" u="none" strike="noStrike" baseline="0" dirty="0">
                  <a:latin typeface="Arial" panose="020B0604020202020204" pitchFamily="34" charset="0"/>
                  <a:cs typeface="Arial" panose="020B0604020202020204" pitchFamily="34" charset="0"/>
                </a:rPr>
                <a:t>(aq)</a:t>
              </a:r>
              <a:endParaRPr lang="en-IN" sz="20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4B4AFB66-DFBC-6D4C-85C9-2A6CAC49C9C5}"/>
                </a:ext>
              </a:extLst>
            </p:cNvPr>
            <p:cNvPicPr>
              <a:picLocks noChangeAspect="1"/>
            </p:cNvPicPr>
            <p:nvPr/>
          </p:nvPicPr>
          <p:blipFill>
            <a:blip r:embed="rId3"/>
            <a:stretch>
              <a:fillRect/>
            </a:stretch>
          </p:blipFill>
          <p:spPr>
            <a:xfrm>
              <a:off x="6883257" y="1969355"/>
              <a:ext cx="738664" cy="369332"/>
            </a:xfrm>
            <a:prstGeom prst="rect">
              <a:avLst/>
            </a:prstGeom>
          </p:spPr>
        </p:pic>
      </p:grpSp>
      <p:sp>
        <p:nvSpPr>
          <p:cNvPr id="10" name="TextBox 9">
            <a:extLst>
              <a:ext uri="{FF2B5EF4-FFF2-40B4-BE49-F238E27FC236}">
                <a16:creationId xmlns:a16="http://schemas.microsoft.com/office/drawing/2014/main" id="{EC9AED0F-288F-A36D-27D1-F3CEF844DB30}"/>
              </a:ext>
            </a:extLst>
          </p:cNvPr>
          <p:cNvSpPr txBox="1"/>
          <p:nvPr/>
        </p:nvSpPr>
        <p:spPr>
          <a:xfrm>
            <a:off x="4154863" y="1646988"/>
            <a:ext cx="6378892" cy="1754326"/>
          </a:xfrm>
          <a:prstGeom prst="rect">
            <a:avLst/>
          </a:prstGeom>
          <a:noFill/>
        </p:spPr>
        <p:txBody>
          <a:bodyPr wrap="square" rtlCol="0">
            <a:spAutoFit/>
          </a:bodyPr>
          <a:lstStyle/>
          <a:p>
            <a:pPr algn="just"/>
            <a:r>
              <a:rPr lang="en-IN" sz="1800" b="0" i="0" u="none" strike="noStrike" baseline="0" dirty="0">
                <a:latin typeface="Arial" panose="020B0604020202020204" pitchFamily="34" charset="0"/>
                <a:cs typeface="Arial" panose="020B0604020202020204" pitchFamily="34" charset="0"/>
              </a:rPr>
              <a:t>the forward and </a:t>
            </a:r>
            <a:r>
              <a:rPr lang="en-US" sz="1800" b="0" i="0" u="none" strike="noStrike" baseline="0" dirty="0">
                <a:latin typeface="Arial" panose="020B0604020202020204" pitchFamily="34" charset="0"/>
                <a:cs typeface="Arial" panose="020B0604020202020204" pitchFamily="34" charset="0"/>
              </a:rPr>
              <a:t>reverse processes involve the transfer of electrons between the metal and </a:t>
            </a:r>
            <a:r>
              <a:rPr lang="en-IN" sz="1800" b="0" i="0" u="none" strike="noStrike" baseline="0" dirty="0">
                <a:latin typeface="Arial" panose="020B0604020202020204" pitchFamily="34" charset="0"/>
                <a:cs typeface="Arial" panose="020B0604020202020204" pitchFamily="34" charset="0"/>
              </a:rPr>
              <a:t>the solution phases.</a:t>
            </a:r>
          </a:p>
          <a:p>
            <a:pPr algn="just"/>
            <a:endParaRPr lang="en-IN"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When equilibrium is achieved there is likely to be net electrical charge on each of these species. </a:t>
            </a:r>
          </a:p>
          <a:p>
            <a:pPr algn="just"/>
            <a:r>
              <a:rPr lang="en-IN" dirty="0">
                <a:latin typeface="Arial" panose="020B0604020202020204" pitchFamily="34" charset="0"/>
                <a:cs typeface="Arial" panose="020B0604020202020204" pitchFamily="34" charset="0"/>
              </a:rPr>
              <a:t> </a:t>
            </a:r>
          </a:p>
        </p:txBody>
      </p:sp>
      <p:sp>
        <p:nvSpPr>
          <p:cNvPr id="11" name="TextBox 10">
            <a:extLst>
              <a:ext uri="{FF2B5EF4-FFF2-40B4-BE49-F238E27FC236}">
                <a16:creationId xmlns:a16="http://schemas.microsoft.com/office/drawing/2014/main" id="{A6D541B9-33C6-19C0-4BA6-14DEC743C037}"/>
              </a:ext>
            </a:extLst>
          </p:cNvPr>
          <p:cNvSpPr txBox="1"/>
          <p:nvPr/>
        </p:nvSpPr>
        <p:spPr>
          <a:xfrm>
            <a:off x="4096775" y="3297460"/>
            <a:ext cx="6378892" cy="1569660"/>
          </a:xfrm>
          <a:prstGeom prst="rect">
            <a:avLst/>
          </a:prstGeom>
          <a:noFill/>
        </p:spPr>
        <p:txBody>
          <a:bodyPr wrap="square" rtlCol="0">
            <a:spAutoFit/>
          </a:bodyPr>
          <a:lstStyle/>
          <a:p>
            <a:pPr algn="just"/>
            <a:r>
              <a:rPr lang="en-US" sz="1600" dirty="0">
                <a:latin typeface="Arial" panose="020B0604020202020204" pitchFamily="34" charset="0"/>
                <a:cs typeface="Arial" panose="020B0604020202020204" pitchFamily="34" charset="0"/>
              </a:rPr>
              <a:t>Regardless of the direction of the reaction, it can be expected that at equilibrium there  exists a charge separation and hence a </a:t>
            </a:r>
            <a:r>
              <a:rPr lang="en-US" sz="1600" b="1" dirty="0">
                <a:latin typeface="Arial" panose="020B0604020202020204" pitchFamily="34" charset="0"/>
                <a:cs typeface="Arial" panose="020B0604020202020204" pitchFamily="34" charset="0"/>
              </a:rPr>
              <a:t>potential difference </a:t>
            </a:r>
            <a:r>
              <a:rPr lang="en-US" sz="1600" dirty="0">
                <a:latin typeface="Arial" panose="020B0604020202020204" pitchFamily="34" charset="0"/>
                <a:cs typeface="Arial" panose="020B0604020202020204" pitchFamily="34" charset="0"/>
              </a:rPr>
              <a:t>between the metal and the solution.</a:t>
            </a:r>
          </a:p>
          <a:p>
            <a:pPr algn="just"/>
            <a:endParaRPr lang="en-US" sz="1600" dirty="0">
              <a:latin typeface="Arial" panose="020B0604020202020204" pitchFamily="34" charset="0"/>
              <a:cs typeface="Arial" panose="020B0604020202020204" pitchFamily="34" charset="0"/>
            </a:endParaRPr>
          </a:p>
          <a:p>
            <a:pPr algn="just"/>
            <a:r>
              <a:rPr lang="en-US" sz="1600" dirty="0">
                <a:latin typeface="Arial" panose="020B0604020202020204" pitchFamily="34" charset="0"/>
                <a:cs typeface="Arial" panose="020B0604020202020204" pitchFamily="34" charset="0"/>
              </a:rPr>
              <a:t>i.e. </a:t>
            </a:r>
            <a:r>
              <a:rPr lang="en-US" sz="1600" b="1" dirty="0">
                <a:latin typeface="Arial" panose="020B0604020202020204" pitchFamily="34" charset="0"/>
                <a:cs typeface="Arial" panose="020B0604020202020204" pitchFamily="34" charset="0"/>
              </a:rPr>
              <a:t>an electrode potential has been established on the metal wire relative to the solution phase.</a:t>
            </a:r>
            <a:endParaRPr lang="en-IN" sz="1600"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B490303-E00B-27D8-EAB1-486976BFA8FA}"/>
              </a:ext>
            </a:extLst>
          </p:cNvPr>
          <p:cNvSpPr txBox="1"/>
          <p:nvPr/>
        </p:nvSpPr>
        <p:spPr>
          <a:xfrm>
            <a:off x="4100530" y="4986934"/>
            <a:ext cx="6487558" cy="830997"/>
          </a:xfrm>
          <a:prstGeom prst="rect">
            <a:avLst/>
          </a:prstGeom>
          <a:noFill/>
        </p:spPr>
        <p:txBody>
          <a:bodyPr wrap="square" rtlCol="0">
            <a:spAutoFit/>
          </a:bodyPr>
          <a:lstStyle/>
          <a:p>
            <a:pPr algn="just"/>
            <a:r>
              <a:rPr lang="en-US" sz="1600" dirty="0">
                <a:latin typeface="Arial" panose="020B0604020202020204" pitchFamily="34" charset="0"/>
                <a:cs typeface="Arial" panose="020B0604020202020204" pitchFamily="34" charset="0"/>
              </a:rPr>
              <a:t>The magnitude and sign of the potential difference on the platinum wire will be governed by the relative amounts of Fe</a:t>
            </a:r>
            <a:r>
              <a:rPr lang="en-US" sz="1600" baseline="300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and Fe</a:t>
            </a:r>
            <a:r>
              <a:rPr lang="en-US" sz="1600" baseline="30000" dirty="0">
                <a:latin typeface="Arial" panose="020B0604020202020204" pitchFamily="34" charset="0"/>
                <a:cs typeface="Arial" panose="020B0604020202020204" pitchFamily="34" charset="0"/>
              </a:rPr>
              <a:t>3+</a:t>
            </a:r>
            <a:r>
              <a:rPr lang="en-US" sz="1600" dirty="0">
                <a:latin typeface="Arial" panose="020B0604020202020204" pitchFamily="34" charset="0"/>
                <a:cs typeface="Arial" panose="020B0604020202020204" pitchFamily="34" charset="0"/>
              </a:rPr>
              <a:t> in the solution.</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8960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B2B887-8DAD-26FF-D722-8C754F70D5B3}"/>
              </a:ext>
            </a:extLst>
          </p:cNvPr>
          <p:cNvPicPr>
            <a:picLocks noChangeAspect="1"/>
          </p:cNvPicPr>
          <p:nvPr/>
        </p:nvPicPr>
        <p:blipFill>
          <a:blip r:embed="rId2"/>
          <a:stretch>
            <a:fillRect/>
          </a:stretch>
        </p:blipFill>
        <p:spPr>
          <a:xfrm>
            <a:off x="0" y="686445"/>
            <a:ext cx="5585367" cy="5065131"/>
          </a:xfrm>
          <a:prstGeom prst="rect">
            <a:avLst/>
          </a:prstGeom>
        </p:spPr>
      </p:pic>
      <p:sp>
        <p:nvSpPr>
          <p:cNvPr id="4" name="TextBox 3">
            <a:extLst>
              <a:ext uri="{FF2B5EF4-FFF2-40B4-BE49-F238E27FC236}">
                <a16:creationId xmlns:a16="http://schemas.microsoft.com/office/drawing/2014/main" id="{8430ED4E-DD35-1E31-A935-D8D007E21039}"/>
              </a:ext>
            </a:extLst>
          </p:cNvPr>
          <p:cNvSpPr txBox="1"/>
          <p:nvPr/>
        </p:nvSpPr>
        <p:spPr>
          <a:xfrm>
            <a:off x="2203907" y="82296"/>
            <a:ext cx="5788764" cy="369332"/>
          </a:xfrm>
          <a:prstGeom prst="rect">
            <a:avLst/>
          </a:prstGeom>
          <a:noFill/>
        </p:spPr>
        <p:txBody>
          <a:bodyPr wrap="none" rtlCol="0">
            <a:spAutoFit/>
          </a:bodyPr>
          <a:lstStyle/>
          <a:p>
            <a:r>
              <a:rPr lang="en-US" sz="1800" b="1" i="0" u="none" strike="noStrike" baseline="0" dirty="0">
                <a:solidFill>
                  <a:srgbClr val="C00000"/>
                </a:solidFill>
                <a:latin typeface="Arial" panose="020B0604020202020204" pitchFamily="34" charset="0"/>
              </a:rPr>
              <a:t>Electron transfer at the electrode/solution interface</a:t>
            </a:r>
            <a:endParaRPr lang="en-IN" dirty="0">
              <a:solidFill>
                <a:srgbClr val="C00000"/>
              </a:solidFill>
            </a:endParaRPr>
          </a:p>
        </p:txBody>
      </p:sp>
      <p:sp>
        <p:nvSpPr>
          <p:cNvPr id="5" name="TextBox 4">
            <a:extLst>
              <a:ext uri="{FF2B5EF4-FFF2-40B4-BE49-F238E27FC236}">
                <a16:creationId xmlns:a16="http://schemas.microsoft.com/office/drawing/2014/main" id="{16D30D25-CE5A-3A9F-D857-50CFF25B92FA}"/>
              </a:ext>
            </a:extLst>
          </p:cNvPr>
          <p:cNvSpPr txBox="1"/>
          <p:nvPr/>
        </p:nvSpPr>
        <p:spPr>
          <a:xfrm>
            <a:off x="5287547" y="752133"/>
            <a:ext cx="5106415" cy="2970044"/>
          </a:xfrm>
          <a:prstGeom prst="rect">
            <a:avLst/>
          </a:prstGeom>
          <a:noFill/>
        </p:spPr>
        <p:txBody>
          <a:bodyPr wrap="square" rtlCol="0">
            <a:spAutoFit/>
          </a:bodyPr>
          <a:lstStyle/>
          <a:p>
            <a:pPr algn="just"/>
            <a:r>
              <a:rPr lang="en-US" sz="1700" b="0" i="0" u="none" strike="noStrike" baseline="0" dirty="0">
                <a:latin typeface="Arial" panose="020B0604020202020204" pitchFamily="34" charset="0"/>
                <a:cs typeface="Arial" panose="020B0604020202020204" pitchFamily="34" charset="0"/>
              </a:rPr>
              <a:t>The upper part of Figure shows the position of the Fermi level relative to the ionic levels the very instant that the metal is inserted into the solution and before </a:t>
            </a:r>
            <a:r>
              <a:rPr lang="en-US" sz="1700" b="0" i="1" u="none" strike="noStrike" baseline="0" dirty="0">
                <a:latin typeface="Arial" panose="020B0604020202020204" pitchFamily="34" charset="0"/>
                <a:cs typeface="Arial" panose="020B0604020202020204" pitchFamily="34" charset="0"/>
              </a:rPr>
              <a:t>any </a:t>
            </a:r>
            <a:r>
              <a:rPr lang="en-US" sz="1700" b="0" i="0" u="none" strike="noStrike" baseline="0" dirty="0">
                <a:latin typeface="Arial" panose="020B0604020202020204" pitchFamily="34" charset="0"/>
                <a:cs typeface="Arial" panose="020B0604020202020204" pitchFamily="34" charset="0"/>
              </a:rPr>
              <a:t>transfer of electrons between the metal and the solution has occurred. </a:t>
            </a:r>
          </a:p>
          <a:p>
            <a:pPr algn="just"/>
            <a:endParaRPr lang="en-US" sz="1700" b="0" i="0" u="none" strike="noStrike" baseline="0" dirty="0">
              <a:latin typeface="Arial" panose="020B0604020202020204" pitchFamily="34" charset="0"/>
              <a:cs typeface="Arial" panose="020B0604020202020204" pitchFamily="34" charset="0"/>
            </a:endParaRPr>
          </a:p>
          <a:p>
            <a:pPr algn="just">
              <a:spcAft>
                <a:spcPts val="600"/>
              </a:spcAft>
            </a:pPr>
            <a:r>
              <a:rPr lang="en-US" sz="1700" dirty="0">
                <a:latin typeface="Arial" panose="020B0604020202020204" pitchFamily="34" charset="0"/>
                <a:cs typeface="Arial" panose="020B0604020202020204" pitchFamily="34" charset="0"/>
              </a:rPr>
              <a:t>T</a:t>
            </a:r>
            <a:r>
              <a:rPr lang="en-US" sz="1700" b="0" i="0" u="none" strike="noStrike" baseline="0" dirty="0">
                <a:latin typeface="Arial" panose="020B0604020202020204" pitchFamily="34" charset="0"/>
                <a:cs typeface="Arial" panose="020B0604020202020204" pitchFamily="34" charset="0"/>
              </a:rPr>
              <a:t>he Fermi level lies above the empty level in Fe</a:t>
            </a:r>
            <a:r>
              <a:rPr lang="en-US" sz="1700" b="0" i="0" u="none" strike="noStrike" baseline="30000" dirty="0">
                <a:latin typeface="Arial" panose="020B0604020202020204" pitchFamily="34" charset="0"/>
                <a:cs typeface="Arial" panose="020B0604020202020204" pitchFamily="34" charset="0"/>
              </a:rPr>
              <a:t>3+</a:t>
            </a:r>
            <a:r>
              <a:rPr lang="en-US" sz="1700" b="0" i="0" u="none" strike="noStrike" baseline="0" dirty="0">
                <a:latin typeface="Arial" panose="020B0604020202020204" pitchFamily="34" charset="0"/>
                <a:cs typeface="Arial" panose="020B0604020202020204" pitchFamily="34" charset="0"/>
              </a:rPr>
              <a:t> it is energetically </a:t>
            </a:r>
            <a:r>
              <a:rPr lang="en-US" sz="1700" b="0" i="0" u="none" strike="noStrike" baseline="0" dirty="0" err="1">
                <a:latin typeface="Arial" panose="020B0604020202020204" pitchFamily="34" charset="0"/>
                <a:cs typeface="Arial" panose="020B0604020202020204" pitchFamily="34" charset="0"/>
              </a:rPr>
              <a:t>favourable</a:t>
            </a:r>
            <a:r>
              <a:rPr lang="en-US" sz="1700" b="0" i="0" u="none" strike="noStrike" baseline="0" dirty="0">
                <a:latin typeface="Arial" panose="020B0604020202020204" pitchFamily="34" charset="0"/>
                <a:cs typeface="Arial" panose="020B0604020202020204" pitchFamily="34" charset="0"/>
              </a:rPr>
              <a:t> for electrons to leave the metal and enter the empty ionic level. This energy difference is the </a:t>
            </a:r>
            <a:r>
              <a:rPr lang="en-US" sz="1700" b="1" i="0" u="none" strike="noStrike" baseline="0" dirty="0">
                <a:latin typeface="Arial" panose="020B0604020202020204" pitchFamily="34" charset="0"/>
                <a:cs typeface="Arial" panose="020B0604020202020204" pitchFamily="34" charset="0"/>
              </a:rPr>
              <a:t>'driving force</a:t>
            </a:r>
            <a:r>
              <a:rPr lang="en-US" sz="1700" b="0" i="0" u="none" strike="noStrike" baseline="0" dirty="0">
                <a:latin typeface="Arial" panose="020B0604020202020204" pitchFamily="34" charset="0"/>
                <a:cs typeface="Arial" panose="020B0604020202020204" pitchFamily="34" charset="0"/>
              </a:rPr>
              <a:t>' for the electron transfer.</a:t>
            </a:r>
          </a:p>
        </p:txBody>
      </p:sp>
      <p:sp>
        <p:nvSpPr>
          <p:cNvPr id="6" name="TextBox 5">
            <a:extLst>
              <a:ext uri="{FF2B5EF4-FFF2-40B4-BE49-F238E27FC236}">
                <a16:creationId xmlns:a16="http://schemas.microsoft.com/office/drawing/2014/main" id="{8A9543D1-342D-BEAF-6CEA-C0B69A4F24B6}"/>
              </a:ext>
            </a:extLst>
          </p:cNvPr>
          <p:cNvSpPr txBox="1"/>
          <p:nvPr/>
        </p:nvSpPr>
        <p:spPr>
          <a:xfrm>
            <a:off x="5399881" y="3997250"/>
            <a:ext cx="4994081" cy="1661993"/>
          </a:xfrm>
          <a:prstGeom prst="rect">
            <a:avLst/>
          </a:prstGeom>
          <a:noFill/>
        </p:spPr>
        <p:txBody>
          <a:bodyPr wrap="square" rtlCol="0">
            <a:spAutoFit/>
          </a:bodyPr>
          <a:lstStyle/>
          <a:p>
            <a:pPr algn="just"/>
            <a:r>
              <a:rPr lang="en-US" sz="1700" b="0" i="0" u="none" strike="noStrike" baseline="0" dirty="0">
                <a:latin typeface="Arial" panose="020B0604020202020204" pitchFamily="34" charset="0"/>
                <a:cs typeface="Arial" panose="020B0604020202020204" pitchFamily="34" charset="0"/>
              </a:rPr>
              <a:t>Upon movement of electrons from the metal into the solution phase, the metal will become positively charged while the solution must become negative: </a:t>
            </a:r>
            <a:r>
              <a:rPr lang="en-US" sz="1700" b="1" u="none" strike="noStrike" baseline="0" dirty="0">
                <a:latin typeface="Arial" panose="020B0604020202020204" pitchFamily="34" charset="0"/>
                <a:cs typeface="Arial" panose="020B0604020202020204" pitchFamily="34" charset="0"/>
              </a:rPr>
              <a:t>this charge transfer is the fundamental reason for the potential difference</a:t>
            </a:r>
            <a:endParaRPr lang="en-IN" sz="17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6B855D9-52A5-0D74-1C46-90143415C387}"/>
              </a:ext>
            </a:extLst>
          </p:cNvPr>
          <p:cNvSpPr txBox="1"/>
          <p:nvPr/>
        </p:nvSpPr>
        <p:spPr>
          <a:xfrm>
            <a:off x="3483704" y="5780294"/>
            <a:ext cx="7104888" cy="830997"/>
          </a:xfrm>
          <a:prstGeom prst="rect">
            <a:avLst/>
          </a:prstGeom>
          <a:noFill/>
        </p:spPr>
        <p:txBody>
          <a:bodyPr wrap="square" rtlCol="0">
            <a:spAutoFit/>
          </a:bodyPr>
          <a:lstStyle/>
          <a:p>
            <a:pPr algn="just"/>
            <a:r>
              <a:rPr lang="en-US" sz="1600" dirty="0">
                <a:latin typeface="Arial" panose="020B0604020202020204" pitchFamily="34" charset="0"/>
                <a:cs typeface="Arial" panose="020B0604020202020204" pitchFamily="34" charset="0"/>
              </a:rPr>
              <a:t>T</a:t>
            </a:r>
            <a:r>
              <a:rPr lang="en-US" sz="1600" b="0" i="0" u="none" strike="noStrike" baseline="0" dirty="0">
                <a:latin typeface="Arial" panose="020B0604020202020204" pitchFamily="34" charset="0"/>
                <a:cs typeface="Arial" panose="020B0604020202020204" pitchFamily="34" charset="0"/>
              </a:rPr>
              <a:t>he effect of charge transfer is to move the ionic levels and the Fermi level towards each other and hence reduce the driving force for further electron transfer</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1567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BDB5EB-8102-931B-06DA-096BAF12F4F7}"/>
              </a:ext>
            </a:extLst>
          </p:cNvPr>
          <p:cNvSpPr txBox="1"/>
          <p:nvPr/>
        </p:nvSpPr>
        <p:spPr>
          <a:xfrm>
            <a:off x="726809" y="2553116"/>
            <a:ext cx="8979109" cy="1938992"/>
          </a:xfrm>
          <a:prstGeom prst="rect">
            <a:avLst/>
          </a:prstGeom>
          <a:noFill/>
        </p:spPr>
        <p:txBody>
          <a:bodyPr wrap="square">
            <a:spAutoFit/>
          </a:bodyPr>
          <a:lstStyle/>
          <a:p>
            <a:pPr marR="20150"/>
            <a:r>
              <a:rPr lang="en-US" sz="2000" b="1" dirty="0">
                <a:latin typeface="Arial" panose="020B0604020202020204" pitchFamily="34" charset="0"/>
                <a:cs typeface="Arial" panose="020B0604020202020204" pitchFamily="34" charset="0"/>
              </a:rPr>
              <a:t>Galvanic or Voltaic processes</a:t>
            </a:r>
            <a:r>
              <a:rPr lang="en-US" sz="2000" dirty="0">
                <a:latin typeface="Arial" panose="020B0604020202020204" pitchFamily="34" charset="0"/>
                <a:cs typeface="Arial" panose="020B0604020202020204" pitchFamily="34" charset="0"/>
              </a:rPr>
              <a:t>: </a:t>
            </a:r>
          </a:p>
          <a:p>
            <a:pPr marR="20150"/>
            <a:r>
              <a:rPr lang="en-US" sz="2000" dirty="0">
                <a:latin typeface="Arial" panose="020B0604020202020204" pitchFamily="34" charset="0"/>
                <a:cs typeface="Arial" panose="020B0604020202020204" pitchFamily="34" charset="0"/>
              </a:rPr>
              <a:t>Chemical reactions that result in the production of electrical energy </a:t>
            </a:r>
          </a:p>
          <a:p>
            <a:pPr marR="20150"/>
            <a:endParaRPr lang="en-IN" sz="2000" dirty="0">
              <a:latin typeface="Arial" panose="020B0604020202020204" pitchFamily="34" charset="0"/>
              <a:cs typeface="Arial" panose="020B0604020202020204" pitchFamily="34" charset="0"/>
            </a:endParaRPr>
          </a:p>
          <a:p>
            <a:pPr marR="56550" algn="l"/>
            <a:r>
              <a:rPr lang="en-IN" sz="2000" b="1" i="0" u="none" strike="noStrike" baseline="0" dirty="0">
                <a:latin typeface="Arial" panose="020B0604020202020204" pitchFamily="34" charset="0"/>
                <a:cs typeface="Arial" panose="020B0604020202020204" pitchFamily="34" charset="0"/>
              </a:rPr>
              <a:t>Electrolytic processes</a:t>
            </a:r>
            <a:r>
              <a:rPr lang="en-IN" sz="2000" b="0" i="0" u="none" strike="noStrike" baseline="0" dirty="0">
                <a:latin typeface="Arial" panose="020B0604020202020204" pitchFamily="34" charset="0"/>
                <a:cs typeface="Arial" panose="020B0604020202020204" pitchFamily="34" charset="0"/>
              </a:rPr>
              <a:t>: </a:t>
            </a:r>
          </a:p>
          <a:p>
            <a:pPr marR="16520" algn="l"/>
            <a:r>
              <a:rPr lang="en-US" sz="2000" b="0" i="0" u="none" strike="noStrike" baseline="0" dirty="0">
                <a:latin typeface="Arial" panose="020B0604020202020204" pitchFamily="34" charset="0"/>
                <a:cs typeface="Arial" panose="020B0604020202020204" pitchFamily="34" charset="0"/>
              </a:rPr>
              <a:t>Reactions in which chemical changes occur on the passage of an electrical current </a:t>
            </a:r>
          </a:p>
        </p:txBody>
      </p:sp>
      <p:sp>
        <p:nvSpPr>
          <p:cNvPr id="4" name="TextBox 3">
            <a:extLst>
              <a:ext uri="{FF2B5EF4-FFF2-40B4-BE49-F238E27FC236}">
                <a16:creationId xmlns:a16="http://schemas.microsoft.com/office/drawing/2014/main" id="{38814026-7167-C179-F1F5-99A6397CD45A}"/>
              </a:ext>
            </a:extLst>
          </p:cNvPr>
          <p:cNvSpPr txBox="1"/>
          <p:nvPr/>
        </p:nvSpPr>
        <p:spPr>
          <a:xfrm>
            <a:off x="3777521" y="149902"/>
            <a:ext cx="3103735" cy="430887"/>
          </a:xfrm>
          <a:prstGeom prst="rect">
            <a:avLst/>
          </a:prstGeom>
          <a:noFill/>
        </p:spPr>
        <p:txBody>
          <a:bodyPr wrap="none" rtlCol="0">
            <a:spAutoFit/>
          </a:bodyPr>
          <a:lstStyle/>
          <a:p>
            <a:r>
              <a:rPr lang="en-US" sz="2200" b="1" dirty="0">
                <a:solidFill>
                  <a:srgbClr val="C00000"/>
                </a:solidFill>
                <a:latin typeface="Arial" panose="020B0604020202020204" pitchFamily="34" charset="0"/>
                <a:cs typeface="Arial" panose="020B0604020202020204" pitchFamily="34" charset="0"/>
              </a:rPr>
              <a:t>Electrochemical Cells</a:t>
            </a:r>
            <a:endParaRPr lang="en-IN" sz="2200" b="1" dirty="0">
              <a:solidFill>
                <a:srgbClr val="C0000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EB8351E-F87C-DF07-E9BC-945252A5CCAE}"/>
              </a:ext>
            </a:extLst>
          </p:cNvPr>
          <p:cNvSpPr txBox="1"/>
          <p:nvPr/>
        </p:nvSpPr>
        <p:spPr>
          <a:xfrm>
            <a:off x="910326" y="580789"/>
            <a:ext cx="8979109" cy="1785104"/>
          </a:xfrm>
          <a:prstGeom prst="rect">
            <a:avLst/>
          </a:prstGeom>
          <a:noFill/>
        </p:spPr>
        <p:txBody>
          <a:bodyPr wrap="square" rtlCol="0">
            <a:spAutoFit/>
          </a:bodyPr>
          <a:lstStyle/>
          <a:p>
            <a:endParaRPr lang="en-IN" sz="2200" b="0" i="0" u="none" strike="noStrike" baseline="0" dirty="0">
              <a:solidFill>
                <a:srgbClr val="000000"/>
              </a:solidFill>
              <a:latin typeface="Arial" panose="020B0604020202020204" pitchFamily="34" charset="0"/>
            </a:endParaRPr>
          </a:p>
          <a:p>
            <a:pPr marR="7450" algn="just"/>
            <a:r>
              <a:rPr lang="en-US" sz="2200" b="0" i="0" u="none" strike="noStrike" baseline="0" dirty="0">
                <a:solidFill>
                  <a:srgbClr val="000000"/>
                </a:solidFill>
                <a:latin typeface="Arial" panose="020B0604020202020204" pitchFamily="34" charset="0"/>
              </a:rPr>
              <a:t>Electrochemical cells consist of-</a:t>
            </a:r>
          </a:p>
          <a:p>
            <a:pPr marR="7450" algn="just"/>
            <a:endParaRPr lang="en-US" sz="2200" b="0" i="0" u="none" strike="noStrike" baseline="0" dirty="0">
              <a:solidFill>
                <a:srgbClr val="000000"/>
              </a:solidFill>
              <a:latin typeface="Arial" panose="020B0604020202020204" pitchFamily="34" charset="0"/>
            </a:endParaRPr>
          </a:p>
          <a:p>
            <a:pPr marR="7450" algn="just"/>
            <a:r>
              <a:rPr lang="en-US" sz="2200" b="0" i="0" u="none" strike="noStrike" baseline="0" dirty="0">
                <a:solidFill>
                  <a:srgbClr val="000000"/>
                </a:solidFill>
                <a:latin typeface="Arial" panose="020B0604020202020204" pitchFamily="34" charset="0"/>
              </a:rPr>
              <a:t> two electronic conductors (electrodes)–</a:t>
            </a:r>
            <a:r>
              <a:rPr lang="en-US" sz="2200" b="0" i="0" u="none" strike="noStrike" baseline="0" dirty="0">
                <a:solidFill>
                  <a:srgbClr val="C00000"/>
                </a:solidFill>
                <a:latin typeface="Arial" panose="020B0604020202020204" pitchFamily="34" charset="0"/>
              </a:rPr>
              <a:t>Anode and Cathode</a:t>
            </a:r>
          </a:p>
          <a:p>
            <a:pPr marR="7450" algn="just"/>
            <a:r>
              <a:rPr lang="en-US" sz="2200" dirty="0">
                <a:latin typeface="Arial" panose="020B0604020202020204" pitchFamily="34" charset="0"/>
              </a:rPr>
              <a:t>One ionic conductor </a:t>
            </a:r>
            <a:r>
              <a:rPr lang="en-US" sz="2200" dirty="0">
                <a:solidFill>
                  <a:srgbClr val="C00000"/>
                </a:solidFill>
                <a:latin typeface="Arial" panose="020B0604020202020204" pitchFamily="34" charset="0"/>
              </a:rPr>
              <a:t>-Electrolyte</a:t>
            </a:r>
            <a:endParaRPr lang="en-IN" sz="2200" dirty="0">
              <a:solidFill>
                <a:srgbClr val="C00000"/>
              </a:solidFill>
            </a:endParaRPr>
          </a:p>
        </p:txBody>
      </p:sp>
      <p:sp>
        <p:nvSpPr>
          <p:cNvPr id="8" name="TextBox 7">
            <a:extLst>
              <a:ext uri="{FF2B5EF4-FFF2-40B4-BE49-F238E27FC236}">
                <a16:creationId xmlns:a16="http://schemas.microsoft.com/office/drawing/2014/main" id="{928C9A73-D555-A767-F04C-03D7344DBE82}"/>
              </a:ext>
            </a:extLst>
          </p:cNvPr>
          <p:cNvSpPr txBox="1"/>
          <p:nvPr/>
        </p:nvSpPr>
        <p:spPr>
          <a:xfrm>
            <a:off x="299258" y="5318344"/>
            <a:ext cx="10208847" cy="1323439"/>
          </a:xfrm>
          <a:prstGeom prst="rect">
            <a:avLst/>
          </a:prstGeom>
          <a:noFill/>
        </p:spPr>
        <p:txBody>
          <a:bodyPr wrap="square" rtlCol="0">
            <a:spAutoFit/>
          </a:bodyPr>
          <a:lstStyle/>
          <a:p>
            <a:pPr marR="15370" algn="just"/>
            <a:r>
              <a:rPr lang="en-US" sz="2000" b="1" i="0" u="none" strike="noStrike" baseline="0" dirty="0">
                <a:solidFill>
                  <a:srgbClr val="006300"/>
                </a:solidFill>
                <a:latin typeface="Arial" panose="020B0604020202020204" pitchFamily="34" charset="0"/>
                <a:cs typeface="Arial" panose="020B0604020202020204" pitchFamily="34" charset="0"/>
              </a:rPr>
              <a:t>Charge transport in the electrodes occurs via the motion of electrons (or holes)</a:t>
            </a:r>
          </a:p>
          <a:p>
            <a:pPr marR="15370" algn="just"/>
            <a:endParaRPr lang="en-US" sz="2000" b="0" i="0" u="none" strike="noStrike" baseline="0" dirty="0">
              <a:solidFill>
                <a:srgbClr val="006300"/>
              </a:solidFill>
              <a:latin typeface="Arial" panose="020B0604020202020204" pitchFamily="34" charset="0"/>
              <a:cs typeface="Arial" panose="020B0604020202020204" pitchFamily="34" charset="0"/>
            </a:endParaRPr>
          </a:p>
          <a:p>
            <a:pPr marR="17950" algn="just"/>
            <a:r>
              <a:rPr lang="en-US" sz="2000" b="1" i="0" u="none" strike="noStrike" baseline="0" dirty="0">
                <a:solidFill>
                  <a:srgbClr val="006300"/>
                </a:solidFill>
                <a:latin typeface="Arial" panose="020B0604020202020204" pitchFamily="34" charset="0"/>
                <a:cs typeface="Arial" panose="020B0604020202020204" pitchFamily="34" charset="0"/>
              </a:rPr>
              <a:t>Charge transport in the electrolyte occurs via the motion of ions (positive and negative)</a:t>
            </a:r>
            <a:endParaRPr lang="en-IN" sz="20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98696B4-255C-ECBE-FA6E-345ABE06F910}"/>
              </a:ext>
            </a:extLst>
          </p:cNvPr>
          <p:cNvSpPr txBox="1"/>
          <p:nvPr/>
        </p:nvSpPr>
        <p:spPr>
          <a:xfrm>
            <a:off x="565552" y="4679331"/>
            <a:ext cx="3342582" cy="430887"/>
          </a:xfrm>
          <a:prstGeom prst="rect">
            <a:avLst/>
          </a:prstGeom>
          <a:noFill/>
        </p:spPr>
        <p:txBody>
          <a:bodyPr wrap="none" rtlCol="0">
            <a:spAutoFit/>
          </a:bodyPr>
          <a:lstStyle/>
          <a:p>
            <a:r>
              <a:rPr lang="en-US" sz="2200" dirty="0">
                <a:solidFill>
                  <a:srgbClr val="C00000"/>
                </a:solidFill>
                <a:latin typeface="Arial" panose="020B0604020202020204" pitchFamily="34" charset="0"/>
                <a:cs typeface="Arial" panose="020B0604020202020204" pitchFamily="34" charset="0"/>
              </a:rPr>
              <a:t>Mode of charge transport</a:t>
            </a:r>
            <a:endParaRPr lang="en-IN" sz="22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254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3E5919-4660-1220-8E03-74AFF367FF4B}"/>
              </a:ext>
            </a:extLst>
          </p:cNvPr>
          <p:cNvPicPr>
            <a:picLocks noChangeAspect="1"/>
          </p:cNvPicPr>
          <p:nvPr/>
        </p:nvPicPr>
        <p:blipFill>
          <a:blip r:embed="rId2"/>
          <a:stretch>
            <a:fillRect/>
          </a:stretch>
        </p:blipFill>
        <p:spPr>
          <a:xfrm>
            <a:off x="1" y="688297"/>
            <a:ext cx="5944000" cy="3481367"/>
          </a:xfrm>
          <a:prstGeom prst="rect">
            <a:avLst/>
          </a:prstGeom>
        </p:spPr>
      </p:pic>
      <p:sp>
        <p:nvSpPr>
          <p:cNvPr id="4" name="TextBox 3">
            <a:extLst>
              <a:ext uri="{FF2B5EF4-FFF2-40B4-BE49-F238E27FC236}">
                <a16:creationId xmlns:a16="http://schemas.microsoft.com/office/drawing/2014/main" id="{C91AFDCA-1592-CDB6-9F24-3E89663347DE}"/>
              </a:ext>
            </a:extLst>
          </p:cNvPr>
          <p:cNvSpPr txBox="1"/>
          <p:nvPr/>
        </p:nvSpPr>
        <p:spPr>
          <a:xfrm>
            <a:off x="288132" y="4320712"/>
            <a:ext cx="3771804" cy="1714508"/>
          </a:xfrm>
          <a:prstGeom prst="rect">
            <a:avLst/>
          </a:prstGeom>
          <a:noFill/>
        </p:spPr>
        <p:txBody>
          <a:bodyPr wrap="square">
            <a:spAutoFit/>
          </a:bodyPr>
          <a:lstStyle/>
          <a:p>
            <a:endParaRPr lang="en-IN" sz="2000" b="0" i="0" u="none" strike="noStrike" baseline="0" dirty="0">
              <a:solidFill>
                <a:srgbClr val="000000"/>
              </a:solidFill>
              <a:latin typeface="Arial" panose="020B0604020202020204" pitchFamily="34" charset="0"/>
            </a:endParaRPr>
          </a:p>
          <a:p>
            <a:pPr marR="40570" algn="ctr"/>
            <a:r>
              <a:rPr lang="pl-PL" sz="2000" b="1" i="0" u="none" strike="noStrike" baseline="0" dirty="0">
                <a:solidFill>
                  <a:srgbClr val="000000"/>
                </a:solidFill>
                <a:latin typeface="Arial" panose="020B0604020202020204" pitchFamily="34" charset="0"/>
              </a:rPr>
              <a:t>Cu(s) + Zn</a:t>
            </a:r>
            <a:r>
              <a:rPr lang="pl-PL" sz="2000" b="1" i="0" u="none" strike="noStrike" baseline="30000" dirty="0">
                <a:solidFill>
                  <a:srgbClr val="000000"/>
                </a:solidFill>
                <a:latin typeface="Arial" panose="020B0604020202020204" pitchFamily="34" charset="0"/>
              </a:rPr>
              <a:t>+2</a:t>
            </a:r>
            <a:r>
              <a:rPr lang="pl-PL" sz="2000" b="1" i="0" u="none" strike="noStrike" baseline="0" dirty="0">
                <a:solidFill>
                  <a:srgbClr val="000000"/>
                </a:solidFill>
                <a:latin typeface="Arial" panose="020B0604020202020204" pitchFamily="34" charset="0"/>
              </a:rPr>
              <a:t>↔Cu</a:t>
            </a:r>
            <a:r>
              <a:rPr lang="pl-PL" sz="2000" b="1" i="0" u="none" strike="noStrike" baseline="30000" dirty="0">
                <a:solidFill>
                  <a:srgbClr val="000000"/>
                </a:solidFill>
                <a:latin typeface="Arial" panose="020B0604020202020204" pitchFamily="34" charset="0"/>
              </a:rPr>
              <a:t>+2</a:t>
            </a:r>
            <a:r>
              <a:rPr lang="en-IN" sz="2000" b="1" i="0" u="none" strike="noStrike" baseline="30000" dirty="0">
                <a:solidFill>
                  <a:srgbClr val="000000"/>
                </a:solidFill>
                <a:latin typeface="Arial" panose="020B0604020202020204" pitchFamily="34" charset="0"/>
              </a:rPr>
              <a:t> </a:t>
            </a:r>
            <a:r>
              <a:rPr lang="pl-PL" sz="2000" b="1" i="0" u="none" strike="noStrike" baseline="0" dirty="0">
                <a:solidFill>
                  <a:srgbClr val="000000"/>
                </a:solidFill>
                <a:latin typeface="Arial" panose="020B0604020202020204" pitchFamily="34" charset="0"/>
              </a:rPr>
              <a:t>+ Zn(s)</a:t>
            </a:r>
            <a:endParaRPr lang="en-US" sz="2000" b="1" i="0" u="none" strike="noStrike" baseline="0" dirty="0">
              <a:solidFill>
                <a:srgbClr val="000000"/>
              </a:solidFill>
              <a:latin typeface="Arial" panose="020B0604020202020204" pitchFamily="34" charset="0"/>
            </a:endParaRPr>
          </a:p>
          <a:p>
            <a:pPr marR="40570" algn="ctr"/>
            <a:endParaRPr lang="pl-PL" sz="2000" b="0" i="0" u="none" strike="noStrike" baseline="0" dirty="0">
              <a:solidFill>
                <a:srgbClr val="000000"/>
              </a:solidFill>
              <a:latin typeface="Arial" panose="020B0604020202020204" pitchFamily="34" charset="0"/>
            </a:endParaRPr>
          </a:p>
          <a:p>
            <a:pPr marR="38970" algn="ctr">
              <a:lnSpc>
                <a:spcPct val="150000"/>
              </a:lnSpc>
            </a:pPr>
            <a:r>
              <a:rPr lang="en-IN" sz="1600" b="0" i="0" u="none" strike="noStrike" baseline="0" dirty="0">
                <a:solidFill>
                  <a:srgbClr val="000000"/>
                </a:solidFill>
                <a:latin typeface="Arial" panose="020B0604020202020204" pitchFamily="34" charset="0"/>
              </a:rPr>
              <a:t>Cu(s) ↔Cu</a:t>
            </a:r>
            <a:r>
              <a:rPr lang="en-IN" sz="1600" b="0" i="0" u="none" strike="noStrike" baseline="30000" dirty="0">
                <a:solidFill>
                  <a:srgbClr val="000000"/>
                </a:solidFill>
                <a:latin typeface="Arial" panose="020B0604020202020204" pitchFamily="34" charset="0"/>
              </a:rPr>
              <a:t>+2</a:t>
            </a:r>
            <a:r>
              <a:rPr lang="en-IN" sz="1600" b="0" i="0" u="none" strike="noStrike" baseline="0" dirty="0">
                <a:solidFill>
                  <a:srgbClr val="000000"/>
                </a:solidFill>
                <a:latin typeface="Arial" panose="020B0604020202020204" pitchFamily="34" charset="0"/>
              </a:rPr>
              <a:t>+ 2e</a:t>
            </a:r>
            <a:r>
              <a:rPr lang="en-IN" sz="1600" b="0" i="0" u="none" strike="noStrike" baseline="30000" dirty="0">
                <a:solidFill>
                  <a:srgbClr val="000000"/>
                </a:solidFill>
                <a:latin typeface="Arial" panose="020B0604020202020204" pitchFamily="34" charset="0"/>
              </a:rPr>
              <a:t>-</a:t>
            </a:r>
            <a:r>
              <a:rPr lang="en-IN" sz="1600" b="0" i="0" u="none" strike="noStrike" baseline="0" dirty="0">
                <a:solidFill>
                  <a:srgbClr val="000000"/>
                </a:solidFill>
                <a:latin typeface="Arial" panose="020B0604020202020204" pitchFamily="34" charset="0"/>
              </a:rPr>
              <a:t>      (oxidation)</a:t>
            </a:r>
          </a:p>
          <a:p>
            <a:pPr marR="38820" algn="ctr">
              <a:lnSpc>
                <a:spcPct val="150000"/>
              </a:lnSpc>
            </a:pPr>
            <a:r>
              <a:rPr lang="en-US" sz="1600" b="0" i="0" u="none" strike="noStrike" baseline="0" dirty="0">
                <a:solidFill>
                  <a:srgbClr val="000000"/>
                </a:solidFill>
                <a:latin typeface="Arial" panose="020B0604020202020204" pitchFamily="34" charset="0"/>
              </a:rPr>
              <a:t>Zn</a:t>
            </a:r>
            <a:r>
              <a:rPr lang="en-US" sz="1600" b="0" i="0" u="none" strike="noStrike" baseline="30000" dirty="0">
                <a:solidFill>
                  <a:srgbClr val="000000"/>
                </a:solidFill>
                <a:latin typeface="Arial" panose="020B0604020202020204" pitchFamily="34" charset="0"/>
              </a:rPr>
              <a:t>+2</a:t>
            </a:r>
            <a:r>
              <a:rPr lang="en-US" sz="1600" b="0" i="0" u="none" strike="noStrike" baseline="0" dirty="0">
                <a:solidFill>
                  <a:srgbClr val="000000"/>
                </a:solidFill>
                <a:latin typeface="Arial" panose="020B0604020202020204" pitchFamily="34" charset="0"/>
              </a:rPr>
              <a:t>+ 2e</a:t>
            </a:r>
            <a:r>
              <a:rPr lang="en-US" sz="1600" b="0" i="0" u="none" strike="noStrike" baseline="30000" dirty="0">
                <a:solidFill>
                  <a:srgbClr val="000000"/>
                </a:solidFill>
                <a:latin typeface="Arial" panose="020B0604020202020204" pitchFamily="34" charset="0"/>
              </a:rPr>
              <a:t>-</a:t>
            </a:r>
            <a:r>
              <a:rPr lang="en-US" sz="1600" b="0" i="0" u="none" strike="noStrike" baseline="0" dirty="0">
                <a:solidFill>
                  <a:srgbClr val="000000"/>
                </a:solidFill>
                <a:latin typeface="Arial" panose="020B0604020202020204" pitchFamily="34" charset="0"/>
              </a:rPr>
              <a:t>↔Zn(s)       (reduction)</a:t>
            </a:r>
            <a:endParaRPr lang="en-IN" sz="1600" dirty="0"/>
          </a:p>
        </p:txBody>
      </p:sp>
      <p:sp>
        <p:nvSpPr>
          <p:cNvPr id="5" name="TextBox 4">
            <a:extLst>
              <a:ext uri="{FF2B5EF4-FFF2-40B4-BE49-F238E27FC236}">
                <a16:creationId xmlns:a16="http://schemas.microsoft.com/office/drawing/2014/main" id="{A0B8A452-FA4D-CC2C-3052-10A831ECF3D2}"/>
              </a:ext>
            </a:extLst>
          </p:cNvPr>
          <p:cNvSpPr txBox="1"/>
          <p:nvPr/>
        </p:nvSpPr>
        <p:spPr>
          <a:xfrm>
            <a:off x="3556376" y="29545"/>
            <a:ext cx="3478837" cy="430887"/>
          </a:xfrm>
          <a:prstGeom prst="rect">
            <a:avLst/>
          </a:prstGeom>
          <a:noFill/>
        </p:spPr>
        <p:txBody>
          <a:bodyPr wrap="none" rtlCol="0">
            <a:spAutoFit/>
          </a:bodyPr>
          <a:lstStyle/>
          <a:p>
            <a:r>
              <a:rPr lang="en-US" sz="2200" dirty="0">
                <a:solidFill>
                  <a:srgbClr val="C00000"/>
                </a:solidFill>
                <a:latin typeface="Arial" panose="020B0604020202020204" pitchFamily="34" charset="0"/>
                <a:cs typeface="Arial" panose="020B0604020202020204" pitchFamily="34" charset="0"/>
              </a:rPr>
              <a:t>Danial Cell (Galvanic cell)</a:t>
            </a:r>
            <a:endParaRPr lang="en-IN" sz="2200" dirty="0">
              <a:solidFill>
                <a:srgbClr val="C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099D378-DC3D-AD75-BFE7-60868162BDF9}"/>
              </a:ext>
            </a:extLst>
          </p:cNvPr>
          <p:cNvSpPr txBox="1"/>
          <p:nvPr/>
        </p:nvSpPr>
        <p:spPr>
          <a:xfrm>
            <a:off x="5708841" y="774177"/>
            <a:ext cx="4862322" cy="1200329"/>
          </a:xfrm>
          <a:prstGeom prst="rect">
            <a:avLst/>
          </a:prstGeom>
          <a:noFill/>
        </p:spPr>
        <p:txBody>
          <a:bodyPr wrap="square">
            <a:spAutoFit/>
          </a:bodyPr>
          <a:lstStyle/>
          <a:p>
            <a:pPr lvl="1" eaLnBrk="1" hangingPunct="1">
              <a:buSzPct val="60000"/>
              <a:buFont typeface="Wingdings" panose="05000000000000000000" pitchFamily="2" charset="2"/>
              <a:buNone/>
            </a:pPr>
            <a:r>
              <a:rPr lang="en-US" altLang="en-US" sz="1600" b="0" dirty="0">
                <a:solidFill>
                  <a:srgbClr val="CC3300"/>
                </a:solidFill>
                <a:latin typeface="Arial" panose="020B0604020202020204" pitchFamily="34" charset="0"/>
                <a:cs typeface="Arial" panose="020B0604020202020204" pitchFamily="34" charset="0"/>
              </a:rPr>
              <a:t>Salt Bridge</a:t>
            </a:r>
            <a:endParaRPr lang="en-US" altLang="en-US" sz="1600" i="1" u="sng" dirty="0">
              <a:solidFill>
                <a:srgbClr val="CC3300"/>
              </a:solidFill>
              <a:latin typeface="Arial" panose="020B0604020202020204" pitchFamily="34" charset="0"/>
              <a:cs typeface="Arial" panose="020B0604020202020204" pitchFamily="34" charset="0"/>
            </a:endParaRPr>
          </a:p>
          <a:p>
            <a:pPr lvl="1" eaLnBrk="1" hangingPunct="1">
              <a:lnSpc>
                <a:spcPct val="150000"/>
              </a:lnSpc>
              <a:buSzPct val="60000"/>
              <a:buFont typeface="Wingdings" panose="05000000000000000000" pitchFamily="2" charset="2"/>
              <a:buNone/>
            </a:pPr>
            <a:r>
              <a:rPr lang="en-US" altLang="en-US" sz="1600" b="0" dirty="0">
                <a:latin typeface="Arial" panose="020B0604020202020204" pitchFamily="34" charset="0"/>
                <a:cs typeface="Arial" panose="020B0604020202020204" pitchFamily="34" charset="0"/>
              </a:rPr>
              <a:t>Connects &amp; separates two half-cell reactions</a:t>
            </a:r>
          </a:p>
          <a:p>
            <a:pPr lvl="1" eaLnBrk="1" hangingPunct="1">
              <a:buSzPct val="60000"/>
              <a:buFont typeface="Wingdings" panose="05000000000000000000" pitchFamily="2" charset="2"/>
              <a:buNone/>
            </a:pPr>
            <a:r>
              <a:rPr lang="en-US" altLang="en-US" sz="1600" b="0" dirty="0">
                <a:latin typeface="Arial" panose="020B0604020202020204" pitchFamily="34" charset="0"/>
                <a:cs typeface="Arial" panose="020B0604020202020204" pitchFamily="34" charset="0"/>
              </a:rPr>
              <a:t>Prevents charge build-up and allows counter-ion migration </a:t>
            </a:r>
          </a:p>
        </p:txBody>
      </p:sp>
      <p:sp>
        <p:nvSpPr>
          <p:cNvPr id="2" name="TextBox 1">
            <a:extLst>
              <a:ext uri="{FF2B5EF4-FFF2-40B4-BE49-F238E27FC236}">
                <a16:creationId xmlns:a16="http://schemas.microsoft.com/office/drawing/2014/main" id="{C0F8FBB1-4E4B-87EC-5D5B-324D94CE2E10}"/>
              </a:ext>
            </a:extLst>
          </p:cNvPr>
          <p:cNvSpPr txBox="1"/>
          <p:nvPr/>
        </p:nvSpPr>
        <p:spPr>
          <a:xfrm>
            <a:off x="6154462" y="2679192"/>
            <a:ext cx="4206240" cy="830997"/>
          </a:xfrm>
          <a:prstGeom prst="rect">
            <a:avLst/>
          </a:prstGeom>
          <a:noFill/>
        </p:spPr>
        <p:txBody>
          <a:bodyPr wrap="square" rtlCol="0">
            <a:spAutoFit/>
          </a:bodyPr>
          <a:lstStyle/>
          <a:p>
            <a:pPr algn="l"/>
            <a:r>
              <a:rPr lang="en-US" sz="1600" b="0" i="0" u="none" strike="noStrike" baseline="0" dirty="0">
                <a:latin typeface="Arial" panose="020B0604020202020204" pitchFamily="34" charset="0"/>
                <a:cs typeface="Arial" panose="020B0604020202020204" pitchFamily="34" charset="0"/>
              </a:rPr>
              <a:t>The potential difference, </a:t>
            </a:r>
            <a:r>
              <a:rPr lang="en-US" sz="1600" b="0" i="0" u="none" strike="noStrike" baseline="0" dirty="0" err="1">
                <a:latin typeface="Arial" panose="020B0604020202020204" pitchFamily="34" charset="0"/>
                <a:cs typeface="Arial" panose="020B0604020202020204" pitchFamily="34" charset="0"/>
              </a:rPr>
              <a:t>E</a:t>
            </a:r>
            <a:r>
              <a:rPr lang="en-US" sz="1600" b="0" i="0" u="none" strike="noStrike" baseline="-25000" dirty="0" err="1">
                <a:latin typeface="Arial" panose="020B0604020202020204" pitchFamily="34" charset="0"/>
                <a:cs typeface="Arial" panose="020B0604020202020204" pitchFamily="34" charset="0"/>
              </a:rPr>
              <a:t>cell</a:t>
            </a:r>
            <a:r>
              <a:rPr lang="en-US" sz="1600" b="0" i="0" u="none" strike="noStrike" baseline="0" dirty="0">
                <a:latin typeface="Arial" panose="020B0604020202020204" pitchFamily="34" charset="0"/>
                <a:cs typeface="Arial" panose="020B0604020202020204" pitchFamily="34" charset="0"/>
              </a:rPr>
              <a:t>, between the two half cells can be measured (in volts, V) on a voltmeter in the </a:t>
            </a:r>
            <a:r>
              <a:rPr lang="en-IN" sz="1600" b="0" i="0" u="none" strike="noStrike" baseline="0" dirty="0">
                <a:latin typeface="Arial" panose="020B0604020202020204" pitchFamily="34" charset="0"/>
                <a:cs typeface="Arial" panose="020B0604020202020204" pitchFamily="34" charset="0"/>
              </a:rPr>
              <a:t>circuit</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224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7E914A9-539F-4001-F69D-9AEA44175176}"/>
              </a:ext>
            </a:extLst>
          </p:cNvPr>
          <p:cNvSpPr>
            <a:spLocks noGrp="1" noChangeArrowheads="1"/>
          </p:cNvSpPr>
          <p:nvPr>
            <p:ph type="title"/>
          </p:nvPr>
        </p:nvSpPr>
        <p:spPr>
          <a:xfrm>
            <a:off x="827881" y="33338"/>
            <a:ext cx="7772400" cy="442912"/>
          </a:xfrm>
        </p:spPr>
        <p:txBody>
          <a:bodyPr/>
          <a:lstStyle/>
          <a:p>
            <a:pPr algn="just" eaLnBrk="1" hangingPunct="1">
              <a:defRPr/>
            </a:pPr>
            <a:r>
              <a:rPr lang="en-IE" sz="1800">
                <a:latin typeface="Arial" panose="020B0604020202020204" pitchFamily="34" charset="0"/>
                <a:cs typeface="Arial" panose="020B0604020202020204" pitchFamily="34" charset="0"/>
              </a:rPr>
              <a:t>For the example above, the reactions occuring are:</a:t>
            </a:r>
          </a:p>
        </p:txBody>
      </p:sp>
      <p:sp>
        <p:nvSpPr>
          <p:cNvPr id="6147" name="Rectangle 3">
            <a:extLst>
              <a:ext uri="{FF2B5EF4-FFF2-40B4-BE49-F238E27FC236}">
                <a16:creationId xmlns:a16="http://schemas.microsoft.com/office/drawing/2014/main" id="{A39AB242-212C-BA77-BBDF-8F4B4207B2EF}"/>
              </a:ext>
            </a:extLst>
          </p:cNvPr>
          <p:cNvSpPr>
            <a:spLocks noGrp="1" noChangeArrowheads="1"/>
          </p:cNvSpPr>
          <p:nvPr>
            <p:ph type="body" idx="1"/>
          </p:nvPr>
        </p:nvSpPr>
        <p:spPr>
          <a:xfrm>
            <a:off x="1007269" y="549275"/>
            <a:ext cx="3708400" cy="431800"/>
          </a:xfrm>
        </p:spPr>
        <p:txBody>
          <a:bodyPr/>
          <a:lstStyle/>
          <a:p>
            <a:pPr eaLnBrk="1" hangingPunct="1">
              <a:lnSpc>
                <a:spcPct val="80000"/>
              </a:lnSpc>
              <a:buFontTx/>
              <a:buNone/>
              <a:defRPr/>
            </a:pPr>
            <a:r>
              <a:rPr lang="en-IE" sz="1800" dirty="0">
                <a:latin typeface="Arial" panose="020B0604020202020204" pitchFamily="34" charset="0"/>
                <a:cs typeface="Arial" panose="020B0604020202020204" pitchFamily="34" charset="0"/>
              </a:rPr>
              <a:t>Anode: Zn</a:t>
            </a:r>
            <a:r>
              <a:rPr lang="en-IE" sz="1800" baseline="-25000" dirty="0">
                <a:latin typeface="Arial" panose="020B0604020202020204" pitchFamily="34" charset="0"/>
                <a:cs typeface="Arial" panose="020B0604020202020204" pitchFamily="34" charset="0"/>
              </a:rPr>
              <a:t>(s)</a:t>
            </a:r>
            <a:r>
              <a:rPr lang="en-IE" sz="1800" dirty="0">
                <a:latin typeface="Arial" panose="020B0604020202020204" pitchFamily="34" charset="0"/>
                <a:cs typeface="Arial" panose="020B0604020202020204" pitchFamily="34" charset="0"/>
              </a:rPr>
              <a:t> </a:t>
            </a:r>
            <a:r>
              <a:rPr lang="en-IE" sz="1800" dirty="0">
                <a:latin typeface="Arial" panose="020B0604020202020204" pitchFamily="34" charset="0"/>
                <a:cs typeface="Arial" panose="020B0604020202020204" pitchFamily="34" charset="0"/>
                <a:sym typeface="Wingdings" charset="0"/>
              </a:rPr>
              <a:t> Zn</a:t>
            </a:r>
            <a:r>
              <a:rPr lang="en-IE" sz="1800" baseline="30000" dirty="0">
                <a:latin typeface="Arial" panose="020B0604020202020204" pitchFamily="34" charset="0"/>
                <a:cs typeface="Arial" panose="020B0604020202020204" pitchFamily="34" charset="0"/>
                <a:sym typeface="Wingdings" charset="0"/>
              </a:rPr>
              <a:t>2+</a:t>
            </a:r>
            <a:r>
              <a:rPr lang="en-IE" sz="1800" baseline="-25000" dirty="0">
                <a:latin typeface="Arial" panose="020B0604020202020204" pitchFamily="34" charset="0"/>
                <a:cs typeface="Arial" panose="020B0604020202020204" pitchFamily="34" charset="0"/>
                <a:sym typeface="Wingdings" charset="0"/>
              </a:rPr>
              <a:t>(</a:t>
            </a:r>
            <a:r>
              <a:rPr lang="en-IE" sz="1800" baseline="-25000" dirty="0" err="1">
                <a:latin typeface="Arial" panose="020B0604020202020204" pitchFamily="34" charset="0"/>
                <a:cs typeface="Arial" panose="020B0604020202020204" pitchFamily="34" charset="0"/>
                <a:sym typeface="Wingdings" charset="0"/>
              </a:rPr>
              <a:t>aq</a:t>
            </a:r>
            <a:r>
              <a:rPr lang="en-IE" sz="1800" baseline="-25000" dirty="0">
                <a:latin typeface="Arial" panose="020B0604020202020204" pitchFamily="34" charset="0"/>
                <a:cs typeface="Arial" panose="020B0604020202020204" pitchFamily="34" charset="0"/>
                <a:sym typeface="Wingdings" charset="0"/>
              </a:rPr>
              <a:t>)</a:t>
            </a:r>
            <a:r>
              <a:rPr lang="en-IE" sz="1800" dirty="0">
                <a:latin typeface="Arial" panose="020B0604020202020204" pitchFamily="34" charset="0"/>
                <a:cs typeface="Arial" panose="020B0604020202020204" pitchFamily="34" charset="0"/>
                <a:sym typeface="Wingdings" charset="0"/>
              </a:rPr>
              <a:t> + 2e</a:t>
            </a:r>
            <a:r>
              <a:rPr lang="en-IE" sz="1800" baseline="30000" dirty="0">
                <a:latin typeface="Arial" panose="020B0604020202020204" pitchFamily="34" charset="0"/>
                <a:cs typeface="Arial" panose="020B0604020202020204" pitchFamily="34" charset="0"/>
                <a:sym typeface="Wingdings" charset="0"/>
              </a:rPr>
              <a:t>-</a:t>
            </a:r>
            <a:endParaRPr lang="en-IE" sz="1800" dirty="0">
              <a:latin typeface="Arial" panose="020B0604020202020204" pitchFamily="34" charset="0"/>
              <a:cs typeface="Arial" panose="020B0604020202020204" pitchFamily="34" charset="0"/>
              <a:sym typeface="Wingdings" charset="0"/>
            </a:endParaRPr>
          </a:p>
        </p:txBody>
      </p:sp>
      <p:sp>
        <p:nvSpPr>
          <p:cNvPr id="6148" name="Text Box 4">
            <a:extLst>
              <a:ext uri="{FF2B5EF4-FFF2-40B4-BE49-F238E27FC236}">
                <a16:creationId xmlns:a16="http://schemas.microsoft.com/office/drawing/2014/main" id="{37D39C03-C6BF-68FF-D31F-C1F1A64E1CA2}"/>
              </a:ext>
            </a:extLst>
          </p:cNvPr>
          <p:cNvSpPr txBox="1">
            <a:spLocks noChangeArrowheads="1"/>
          </p:cNvSpPr>
          <p:nvPr/>
        </p:nvSpPr>
        <p:spPr bwMode="auto">
          <a:xfrm>
            <a:off x="827881" y="2205038"/>
            <a:ext cx="176202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IE" b="1" dirty="0">
                <a:solidFill>
                  <a:srgbClr val="C00000"/>
                </a:solidFill>
                <a:latin typeface="Arial" panose="020B0604020202020204" pitchFamily="34" charset="0"/>
                <a:ea typeface="ＭＳ Ｐゴシック" charset="0"/>
                <a:cs typeface="Arial" panose="020B0604020202020204" pitchFamily="34" charset="0"/>
              </a:rPr>
              <a:t>Cell potentials</a:t>
            </a:r>
          </a:p>
        </p:txBody>
      </p:sp>
      <p:sp>
        <p:nvSpPr>
          <p:cNvPr id="6149" name="Text Box 5">
            <a:extLst>
              <a:ext uri="{FF2B5EF4-FFF2-40B4-BE49-F238E27FC236}">
                <a16:creationId xmlns:a16="http://schemas.microsoft.com/office/drawing/2014/main" id="{B7B72609-79B5-584E-2632-80B9F5B588B1}"/>
              </a:ext>
            </a:extLst>
          </p:cNvPr>
          <p:cNvSpPr txBox="1">
            <a:spLocks noChangeArrowheads="1"/>
          </p:cNvSpPr>
          <p:nvPr/>
        </p:nvSpPr>
        <p:spPr bwMode="auto">
          <a:xfrm>
            <a:off x="827881" y="3680459"/>
            <a:ext cx="9144000" cy="14773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just">
              <a:defRPr/>
            </a:pPr>
            <a:r>
              <a:rPr lang="en-IE" dirty="0">
                <a:latin typeface="Arial" panose="020B0604020202020204" pitchFamily="34" charset="0"/>
                <a:ea typeface="ＭＳ Ｐゴシック" charset="0"/>
                <a:cs typeface="Arial" panose="020B0604020202020204" pitchFamily="34" charset="0"/>
              </a:rPr>
              <a:t>The electrical energy generated by the spontaneous reaction is proportional to the cell potential.  </a:t>
            </a:r>
          </a:p>
          <a:p>
            <a:pPr algn="just">
              <a:defRPr/>
            </a:pPr>
            <a:endParaRPr lang="en-IE" dirty="0">
              <a:latin typeface="Arial" panose="020B0604020202020204" pitchFamily="34" charset="0"/>
              <a:ea typeface="ＭＳ Ｐゴシック" charset="0"/>
              <a:cs typeface="Arial" panose="020B0604020202020204" pitchFamily="34" charset="0"/>
            </a:endParaRPr>
          </a:p>
          <a:p>
            <a:pPr algn="just">
              <a:defRPr/>
            </a:pPr>
            <a:r>
              <a:rPr lang="en-IE" dirty="0">
                <a:latin typeface="Arial" panose="020B0604020202020204" pitchFamily="34" charset="0"/>
                <a:ea typeface="ＭＳ Ｐゴシック" charset="0"/>
                <a:cs typeface="Arial" panose="020B0604020202020204" pitchFamily="34" charset="0"/>
              </a:rPr>
              <a:t>The standard cell potential (the cell potential measured when all the species are in their standard states) is given by:</a:t>
            </a:r>
          </a:p>
        </p:txBody>
      </p:sp>
      <p:sp>
        <p:nvSpPr>
          <p:cNvPr id="6150" name="Text Box 6">
            <a:extLst>
              <a:ext uri="{FF2B5EF4-FFF2-40B4-BE49-F238E27FC236}">
                <a16:creationId xmlns:a16="http://schemas.microsoft.com/office/drawing/2014/main" id="{4C2A552A-60E7-57BC-D401-8D4AA8F161EF}"/>
              </a:ext>
            </a:extLst>
          </p:cNvPr>
          <p:cNvSpPr txBox="1">
            <a:spLocks noChangeArrowheads="1"/>
          </p:cNvSpPr>
          <p:nvPr/>
        </p:nvSpPr>
        <p:spPr bwMode="auto">
          <a:xfrm>
            <a:off x="3523343" y="5358588"/>
            <a:ext cx="2313454"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22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2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2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2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200">
                <a:solidFill>
                  <a:schemeClr val="tx1"/>
                </a:solidFill>
                <a:latin typeface="Arial" panose="020B0604020202020204" pitchFamily="34" charset="0"/>
                <a:ea typeface="ＭＳ Ｐゴシック" panose="020B0600070205080204" pitchFamily="34" charset="-128"/>
              </a:defRPr>
            </a:lvl9pPr>
          </a:lstStyle>
          <a:p>
            <a:pPr eaLnBrk="1" hangingPunct="1"/>
            <a:r>
              <a:rPr lang="en-IE" altLang="en-US" sz="1800" dirty="0">
                <a:cs typeface="Arial" panose="020B0604020202020204" pitchFamily="34" charset="0"/>
              </a:rPr>
              <a:t>E</a:t>
            </a:r>
            <a:r>
              <a:rPr lang="en-US" altLang="en-US" sz="1800" baseline="-25000" dirty="0">
                <a:cs typeface="Arial" panose="020B0604020202020204" pitchFamily="34" charset="0"/>
              </a:rPr>
              <a:t>cell</a:t>
            </a:r>
            <a:r>
              <a:rPr lang="en-US" altLang="en-US" sz="1800" dirty="0">
                <a:cs typeface="Arial" panose="020B0604020202020204" pitchFamily="34" charset="0"/>
              </a:rPr>
              <a:t> = </a:t>
            </a:r>
            <a:r>
              <a:rPr lang="en-US" altLang="en-US" sz="1800" dirty="0" err="1">
                <a:cs typeface="Arial" panose="020B0604020202020204" pitchFamily="34" charset="0"/>
              </a:rPr>
              <a:t>E</a:t>
            </a:r>
            <a:r>
              <a:rPr lang="en-US" altLang="en-US" sz="1800" baseline="-25000" dirty="0" err="1">
                <a:cs typeface="Arial" panose="020B0604020202020204" pitchFamily="34" charset="0"/>
              </a:rPr>
              <a:t>cathode</a:t>
            </a:r>
            <a:r>
              <a:rPr lang="en-US" altLang="en-US" sz="1800" dirty="0">
                <a:cs typeface="Arial" panose="020B0604020202020204" pitchFamily="34" charset="0"/>
              </a:rPr>
              <a:t> - </a:t>
            </a:r>
            <a:r>
              <a:rPr lang="en-US" altLang="en-US" sz="1800" dirty="0" err="1">
                <a:cs typeface="Arial" panose="020B0604020202020204" pitchFamily="34" charset="0"/>
              </a:rPr>
              <a:t>E</a:t>
            </a:r>
            <a:r>
              <a:rPr lang="en-US" altLang="en-US" sz="1800" baseline="-25000" dirty="0" err="1">
                <a:cs typeface="Arial" panose="020B0604020202020204" pitchFamily="34" charset="0"/>
              </a:rPr>
              <a:t>anode</a:t>
            </a:r>
            <a:endParaRPr lang="en-US" altLang="en-US" sz="1800" dirty="0">
              <a:cs typeface="Arial" panose="020B0604020202020204" pitchFamily="34" charset="0"/>
            </a:endParaRPr>
          </a:p>
        </p:txBody>
      </p:sp>
      <p:sp>
        <p:nvSpPr>
          <p:cNvPr id="6154" name="Text Box 10">
            <a:extLst>
              <a:ext uri="{FF2B5EF4-FFF2-40B4-BE49-F238E27FC236}">
                <a16:creationId xmlns:a16="http://schemas.microsoft.com/office/drawing/2014/main" id="{3E0FDED4-BBB7-602E-DC91-DA1B23D1F82B}"/>
              </a:ext>
            </a:extLst>
          </p:cNvPr>
          <p:cNvSpPr txBox="1">
            <a:spLocks noChangeArrowheads="1"/>
          </p:cNvSpPr>
          <p:nvPr/>
        </p:nvSpPr>
        <p:spPr bwMode="auto">
          <a:xfrm>
            <a:off x="5203031" y="481013"/>
            <a:ext cx="3326552"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20000"/>
              </a:spcBef>
              <a:defRPr/>
            </a:pPr>
            <a:r>
              <a:rPr lang="en-IE">
                <a:latin typeface="Arial" panose="020B0604020202020204" pitchFamily="34" charset="0"/>
                <a:ea typeface="ＭＳ Ｐゴシック" charset="0"/>
                <a:cs typeface="Arial" panose="020B0604020202020204" pitchFamily="34" charset="0"/>
                <a:sym typeface="Wingdings" charset="0"/>
              </a:rPr>
              <a:t>Cathode: Cu</a:t>
            </a:r>
            <a:r>
              <a:rPr lang="en-IE" baseline="30000">
                <a:latin typeface="Arial" panose="020B0604020202020204" pitchFamily="34" charset="0"/>
                <a:ea typeface="ＭＳ Ｐゴシック" charset="0"/>
                <a:cs typeface="Arial" panose="020B0604020202020204" pitchFamily="34" charset="0"/>
                <a:sym typeface="Wingdings" charset="0"/>
              </a:rPr>
              <a:t>2+</a:t>
            </a:r>
            <a:r>
              <a:rPr lang="en-IE" baseline="-25000">
                <a:latin typeface="Arial" panose="020B0604020202020204" pitchFamily="34" charset="0"/>
                <a:ea typeface="ＭＳ Ｐゴシック" charset="0"/>
                <a:cs typeface="Arial" panose="020B0604020202020204" pitchFamily="34" charset="0"/>
                <a:sym typeface="Wingdings" charset="0"/>
              </a:rPr>
              <a:t>(aq)</a:t>
            </a:r>
            <a:r>
              <a:rPr lang="en-IE">
                <a:latin typeface="Arial" panose="020B0604020202020204" pitchFamily="34" charset="0"/>
                <a:ea typeface="ＭＳ Ｐゴシック" charset="0"/>
                <a:cs typeface="Arial" panose="020B0604020202020204" pitchFamily="34" charset="0"/>
                <a:sym typeface="Wingdings" charset="0"/>
              </a:rPr>
              <a:t> + 2e</a:t>
            </a:r>
            <a:r>
              <a:rPr lang="en-IE" baseline="30000">
                <a:latin typeface="Arial" panose="020B0604020202020204" pitchFamily="34" charset="0"/>
                <a:ea typeface="ＭＳ Ｐゴシック" charset="0"/>
                <a:cs typeface="Arial" panose="020B0604020202020204" pitchFamily="34" charset="0"/>
                <a:sym typeface="Wingdings" charset="0"/>
              </a:rPr>
              <a:t>-</a:t>
            </a:r>
            <a:r>
              <a:rPr lang="en-IE">
                <a:latin typeface="Arial" panose="020B0604020202020204" pitchFamily="34" charset="0"/>
                <a:ea typeface="ＭＳ Ｐゴシック" charset="0"/>
                <a:cs typeface="Arial" panose="020B0604020202020204" pitchFamily="34" charset="0"/>
                <a:sym typeface="Wingdings" charset="0"/>
              </a:rPr>
              <a:t>  Cu</a:t>
            </a:r>
            <a:r>
              <a:rPr lang="en-IE" baseline="-25000">
                <a:latin typeface="Arial" panose="020B0604020202020204" pitchFamily="34" charset="0"/>
                <a:ea typeface="ＭＳ Ｐゴシック" charset="0"/>
                <a:cs typeface="Arial" panose="020B0604020202020204" pitchFamily="34" charset="0"/>
                <a:sym typeface="Wingdings" charset="0"/>
              </a:rPr>
              <a:t>(s)</a:t>
            </a:r>
            <a:endParaRPr lang="en-IE" baseline="-25000">
              <a:latin typeface="Arial" panose="020B0604020202020204" pitchFamily="34" charset="0"/>
              <a:ea typeface="ＭＳ Ｐゴシック" charset="0"/>
              <a:cs typeface="Arial" panose="020B0604020202020204" pitchFamily="34" charset="0"/>
            </a:endParaRPr>
          </a:p>
        </p:txBody>
      </p:sp>
      <p:sp>
        <p:nvSpPr>
          <p:cNvPr id="6155" name="Text Box 11">
            <a:extLst>
              <a:ext uri="{FF2B5EF4-FFF2-40B4-BE49-F238E27FC236}">
                <a16:creationId xmlns:a16="http://schemas.microsoft.com/office/drawing/2014/main" id="{4FE0CF0E-AD53-5DA0-5459-B6DA1B8FCB04}"/>
              </a:ext>
            </a:extLst>
          </p:cNvPr>
          <p:cNvSpPr txBox="1">
            <a:spLocks noChangeArrowheads="1"/>
          </p:cNvSpPr>
          <p:nvPr/>
        </p:nvSpPr>
        <p:spPr bwMode="auto">
          <a:xfrm>
            <a:off x="1007270" y="1130300"/>
            <a:ext cx="4019049"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20000"/>
              </a:spcBef>
              <a:defRPr/>
            </a:pPr>
            <a:r>
              <a:rPr lang="en-IE">
                <a:latin typeface="Arial" panose="020B0604020202020204" pitchFamily="34" charset="0"/>
                <a:ea typeface="ＭＳ Ｐゴシック" charset="0"/>
                <a:cs typeface="Arial" panose="020B0604020202020204" pitchFamily="34" charset="0"/>
                <a:sym typeface="Wingdings" charset="0"/>
              </a:rPr>
              <a:t>The shorthand notation for this cell is:</a:t>
            </a:r>
            <a:endParaRPr lang="en-IE">
              <a:latin typeface="Arial" panose="020B0604020202020204" pitchFamily="34" charset="0"/>
              <a:ea typeface="ＭＳ Ｐゴシック" charset="0"/>
              <a:cs typeface="Arial" panose="020B0604020202020204" pitchFamily="34" charset="0"/>
            </a:endParaRPr>
          </a:p>
        </p:txBody>
      </p:sp>
      <p:sp>
        <p:nvSpPr>
          <p:cNvPr id="6156" name="Text Box 12">
            <a:extLst>
              <a:ext uri="{FF2B5EF4-FFF2-40B4-BE49-F238E27FC236}">
                <a16:creationId xmlns:a16="http://schemas.microsoft.com/office/drawing/2014/main" id="{9DEF7DE9-5AC3-E07E-2004-DB707FAAF3F8}"/>
              </a:ext>
            </a:extLst>
          </p:cNvPr>
          <p:cNvSpPr txBox="1">
            <a:spLocks noChangeArrowheads="1"/>
          </p:cNvSpPr>
          <p:nvPr/>
        </p:nvSpPr>
        <p:spPr bwMode="auto">
          <a:xfrm>
            <a:off x="3167857" y="1700213"/>
            <a:ext cx="3188693"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20000"/>
              </a:spcBef>
              <a:defRPr/>
            </a:pPr>
            <a:r>
              <a:rPr lang="en-IE">
                <a:latin typeface="Arial" panose="020B0604020202020204" pitchFamily="34" charset="0"/>
                <a:ea typeface="ＭＳ Ｐゴシック" charset="0"/>
                <a:cs typeface="Arial" panose="020B0604020202020204" pitchFamily="34" charset="0"/>
                <a:sym typeface="Wingdings" charset="0"/>
              </a:rPr>
              <a:t>Zn</a:t>
            </a:r>
            <a:r>
              <a:rPr lang="en-IE" baseline="-25000">
                <a:latin typeface="Arial" panose="020B0604020202020204" pitchFamily="34" charset="0"/>
                <a:ea typeface="ＭＳ Ｐゴシック" charset="0"/>
                <a:cs typeface="Arial" panose="020B0604020202020204" pitchFamily="34" charset="0"/>
                <a:sym typeface="Wingdings" charset="0"/>
              </a:rPr>
              <a:t>(s)</a:t>
            </a:r>
            <a:r>
              <a:rPr lang="en-IE">
                <a:latin typeface="Arial" panose="020B0604020202020204" pitchFamily="34" charset="0"/>
                <a:ea typeface="ＭＳ Ｐゴシック" charset="0"/>
                <a:cs typeface="Arial" panose="020B0604020202020204" pitchFamily="34" charset="0"/>
                <a:sym typeface="Wingdings" charset="0"/>
              </a:rPr>
              <a:t> | Zn</a:t>
            </a:r>
            <a:r>
              <a:rPr lang="en-IE" baseline="30000">
                <a:latin typeface="Arial" panose="020B0604020202020204" pitchFamily="34" charset="0"/>
                <a:ea typeface="ＭＳ Ｐゴシック" charset="0"/>
                <a:cs typeface="Arial" panose="020B0604020202020204" pitchFamily="34" charset="0"/>
                <a:sym typeface="Wingdings" charset="0"/>
              </a:rPr>
              <a:t>2+</a:t>
            </a:r>
            <a:r>
              <a:rPr lang="en-IE" baseline="-25000">
                <a:latin typeface="Arial" panose="020B0604020202020204" pitchFamily="34" charset="0"/>
                <a:ea typeface="ＭＳ Ｐゴシック" charset="0"/>
                <a:cs typeface="Arial" panose="020B0604020202020204" pitchFamily="34" charset="0"/>
                <a:sym typeface="Wingdings" charset="0"/>
              </a:rPr>
              <a:t>(aq)</a:t>
            </a:r>
            <a:r>
              <a:rPr lang="en-IE">
                <a:latin typeface="Arial" panose="020B0604020202020204" pitchFamily="34" charset="0"/>
                <a:ea typeface="ＭＳ Ｐゴシック" charset="0"/>
                <a:cs typeface="Arial" panose="020B0604020202020204" pitchFamily="34" charset="0"/>
                <a:sym typeface="Wingdings" charset="0"/>
              </a:rPr>
              <a:t> || Cu</a:t>
            </a:r>
            <a:r>
              <a:rPr lang="en-IE" baseline="30000">
                <a:latin typeface="Arial" panose="020B0604020202020204" pitchFamily="34" charset="0"/>
                <a:ea typeface="ＭＳ Ｐゴシック" charset="0"/>
                <a:cs typeface="Arial" panose="020B0604020202020204" pitchFamily="34" charset="0"/>
                <a:sym typeface="Wingdings" charset="0"/>
              </a:rPr>
              <a:t>2+</a:t>
            </a:r>
            <a:r>
              <a:rPr lang="en-IE" baseline="-25000">
                <a:latin typeface="Arial" panose="020B0604020202020204" pitchFamily="34" charset="0"/>
                <a:ea typeface="ＭＳ Ｐゴシック" charset="0"/>
                <a:cs typeface="Arial" panose="020B0604020202020204" pitchFamily="34" charset="0"/>
                <a:sym typeface="Wingdings" charset="0"/>
              </a:rPr>
              <a:t>(aq)</a:t>
            </a:r>
            <a:r>
              <a:rPr lang="en-IE">
                <a:latin typeface="Arial" panose="020B0604020202020204" pitchFamily="34" charset="0"/>
                <a:ea typeface="ＭＳ Ｐゴシック" charset="0"/>
                <a:cs typeface="Arial" panose="020B0604020202020204" pitchFamily="34" charset="0"/>
                <a:sym typeface="Wingdings" charset="0"/>
              </a:rPr>
              <a:t> | Cu</a:t>
            </a:r>
            <a:r>
              <a:rPr lang="en-IE" baseline="-25000">
                <a:latin typeface="Arial" panose="020B0604020202020204" pitchFamily="34" charset="0"/>
                <a:ea typeface="ＭＳ Ｐゴシック" charset="0"/>
                <a:cs typeface="Arial" panose="020B0604020202020204" pitchFamily="34" charset="0"/>
                <a:sym typeface="Wingdings" charset="0"/>
              </a:rPr>
              <a:t>(s)</a:t>
            </a:r>
            <a:endParaRPr lang="en-IE" baseline="-25000">
              <a:latin typeface="Arial" panose="020B0604020202020204" pitchFamily="34" charset="0"/>
              <a:ea typeface="ＭＳ Ｐゴシック" charset="0"/>
              <a:cs typeface="Arial" panose="020B0604020202020204" pitchFamily="34" charset="0"/>
            </a:endParaRPr>
          </a:p>
        </p:txBody>
      </p:sp>
      <p:sp>
        <p:nvSpPr>
          <p:cNvPr id="6160" name="Text Box 16">
            <a:extLst>
              <a:ext uri="{FF2B5EF4-FFF2-40B4-BE49-F238E27FC236}">
                <a16:creationId xmlns:a16="http://schemas.microsoft.com/office/drawing/2014/main" id="{58548D15-BC8B-FF7E-AA9D-0778D6953B46}"/>
              </a:ext>
            </a:extLst>
          </p:cNvPr>
          <p:cNvSpPr txBox="1">
            <a:spLocks noChangeArrowheads="1"/>
          </p:cNvSpPr>
          <p:nvPr/>
        </p:nvSpPr>
        <p:spPr bwMode="auto">
          <a:xfrm>
            <a:off x="827881" y="2781301"/>
            <a:ext cx="9056688"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IE">
                <a:latin typeface="Arial" panose="020B0604020202020204" pitchFamily="34" charset="0"/>
                <a:ea typeface="ＭＳ Ｐゴシック" charset="0"/>
                <a:cs typeface="Arial" panose="020B0604020202020204" pitchFamily="34" charset="0"/>
              </a:rPr>
              <a:t>The cell potential, E, is a measure of how well a cell reaction can push and pull electrons through a circuit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dissolve">
                                      <p:cBhvr>
                                        <p:cTn id="7" dur="500"/>
                                        <p:tgtEl>
                                          <p:spTgt spid="614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160"/>
                                        </p:tgtEl>
                                        <p:attrNameLst>
                                          <p:attrName>style.visibility</p:attrName>
                                        </p:attrNameLst>
                                      </p:cBhvr>
                                      <p:to>
                                        <p:strVal val="visible"/>
                                      </p:to>
                                    </p:set>
                                    <p:animEffect transition="in" filter="dissolve">
                                      <p:cBhvr>
                                        <p:cTn id="10" dur="500"/>
                                        <p:tgtEl>
                                          <p:spTgt spid="616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6149"/>
                                        </p:tgtEl>
                                        <p:attrNameLst>
                                          <p:attrName>style.visibility</p:attrName>
                                        </p:attrNameLst>
                                      </p:cBhvr>
                                      <p:to>
                                        <p:strVal val="visible"/>
                                      </p:to>
                                    </p:set>
                                    <p:animEffect transition="in" filter="dissolve">
                                      <p:cBhvr>
                                        <p:cTn id="15" dur="500"/>
                                        <p:tgtEl>
                                          <p:spTgt spid="6149"/>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150"/>
                                        </p:tgtEl>
                                        <p:attrNameLst>
                                          <p:attrName>style.visibility</p:attrName>
                                        </p:attrNameLst>
                                      </p:cBhvr>
                                      <p:to>
                                        <p:strVal val="visible"/>
                                      </p:to>
                                    </p:set>
                                    <p:animEffect transition="in" filter="dissolve">
                                      <p:cBhvr>
                                        <p:cTn id="18"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49" grpId="0"/>
      <p:bldP spid="6150" grpId="0"/>
      <p:bldP spid="616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4">
            <a:extLst>
              <a:ext uri="{FF2B5EF4-FFF2-40B4-BE49-F238E27FC236}">
                <a16:creationId xmlns:a16="http://schemas.microsoft.com/office/drawing/2014/main" id="{9636DC96-8689-59ED-47C9-487B8CE7D14F}"/>
              </a:ext>
            </a:extLst>
          </p:cNvPr>
          <p:cNvSpPr txBox="1">
            <a:spLocks noChangeArrowheads="1"/>
          </p:cNvSpPr>
          <p:nvPr/>
        </p:nvSpPr>
        <p:spPr bwMode="auto">
          <a:xfrm>
            <a:off x="827882" y="1196976"/>
            <a:ext cx="7318029"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buFontTx/>
              <a:buChar char="•"/>
              <a:defRPr/>
            </a:pPr>
            <a:r>
              <a:rPr lang="en-IE">
                <a:latin typeface="Arial" charset="0"/>
                <a:ea typeface="ＭＳ Ｐゴシック" charset="0"/>
              </a:rPr>
              <a:t> Reduction occurs at the electrode with higher potential and oxidation</a:t>
            </a:r>
          </a:p>
          <a:p>
            <a:pPr>
              <a:defRPr/>
            </a:pPr>
            <a:r>
              <a:rPr lang="en-IE">
                <a:latin typeface="Arial" charset="0"/>
                <a:ea typeface="ＭＳ Ｐゴシック" charset="0"/>
              </a:rPr>
              <a:t>  occurs at the electrode with the lower potential</a:t>
            </a:r>
          </a:p>
        </p:txBody>
      </p:sp>
      <p:sp>
        <p:nvSpPr>
          <p:cNvPr id="15365" name="Text Box 5">
            <a:extLst>
              <a:ext uri="{FF2B5EF4-FFF2-40B4-BE49-F238E27FC236}">
                <a16:creationId xmlns:a16="http://schemas.microsoft.com/office/drawing/2014/main" id="{3D785B81-3B9B-4806-D1B0-9A5902908C45}"/>
              </a:ext>
            </a:extLst>
          </p:cNvPr>
          <p:cNvSpPr txBox="1">
            <a:spLocks noChangeArrowheads="1"/>
          </p:cNvSpPr>
          <p:nvPr/>
        </p:nvSpPr>
        <p:spPr bwMode="auto">
          <a:xfrm>
            <a:off x="827881" y="2138363"/>
            <a:ext cx="920908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FontTx/>
              <a:buChar char="•"/>
              <a:defRPr/>
            </a:pPr>
            <a:r>
              <a:rPr lang="en-IE">
                <a:latin typeface="Arial" charset="0"/>
                <a:ea typeface="ＭＳ Ｐゴシック" charset="0"/>
              </a:rPr>
              <a:t> Unit of potential is the volt (V) and unit of charge is the Couloumb (C)</a:t>
            </a:r>
          </a:p>
        </p:txBody>
      </p:sp>
      <p:sp>
        <p:nvSpPr>
          <p:cNvPr id="15366" name="Text Box 6">
            <a:extLst>
              <a:ext uri="{FF2B5EF4-FFF2-40B4-BE49-F238E27FC236}">
                <a16:creationId xmlns:a16="http://schemas.microsoft.com/office/drawing/2014/main" id="{C26BC8A5-9E89-AF9D-7ABF-DB9621308054}"/>
              </a:ext>
            </a:extLst>
          </p:cNvPr>
          <p:cNvSpPr txBox="1">
            <a:spLocks noChangeArrowheads="1"/>
          </p:cNvSpPr>
          <p:nvPr/>
        </p:nvSpPr>
        <p:spPr bwMode="auto">
          <a:xfrm>
            <a:off x="2591595" y="2708275"/>
            <a:ext cx="397416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IE">
                <a:latin typeface="Arial" charset="0"/>
                <a:ea typeface="ＭＳ Ｐゴシック" charset="0"/>
              </a:rPr>
              <a:t>These are related by:		1V = 1J/C</a:t>
            </a:r>
          </a:p>
        </p:txBody>
      </p:sp>
      <p:sp>
        <p:nvSpPr>
          <p:cNvPr id="15367" name="Text Box 7">
            <a:extLst>
              <a:ext uri="{FF2B5EF4-FFF2-40B4-BE49-F238E27FC236}">
                <a16:creationId xmlns:a16="http://schemas.microsoft.com/office/drawing/2014/main" id="{4160BA37-1FDE-09C8-D86A-498CB60EEFC6}"/>
              </a:ext>
            </a:extLst>
          </p:cNvPr>
          <p:cNvSpPr txBox="1">
            <a:spLocks noChangeArrowheads="1"/>
          </p:cNvSpPr>
          <p:nvPr/>
        </p:nvSpPr>
        <p:spPr bwMode="auto">
          <a:xfrm>
            <a:off x="827881" y="3284539"/>
            <a:ext cx="7467750"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buFontTx/>
              <a:buChar char="•"/>
              <a:defRPr/>
            </a:pPr>
            <a:r>
              <a:rPr lang="en-IE" dirty="0">
                <a:latin typeface="Arial" charset="0"/>
                <a:ea typeface="ＭＳ Ｐゴシック" charset="0"/>
              </a:rPr>
              <a:t> The charge of one mole of electrons is given by the Faraday constant,</a:t>
            </a:r>
          </a:p>
          <a:p>
            <a:pPr>
              <a:defRPr/>
            </a:pPr>
            <a:r>
              <a:rPr lang="en-IE" dirty="0">
                <a:latin typeface="Arial" charset="0"/>
                <a:ea typeface="ＭＳ Ｐゴシック" charset="0"/>
              </a:rPr>
              <a:t>   F (</a:t>
            </a:r>
            <a:r>
              <a:rPr lang="en-IE" dirty="0">
                <a:solidFill>
                  <a:srgbClr val="C00000"/>
                </a:solidFill>
                <a:latin typeface="Arial" charset="0"/>
                <a:ea typeface="ＭＳ Ｐゴシック" charset="0"/>
              </a:rPr>
              <a:t>F = 96,500 C mol</a:t>
            </a:r>
            <a:r>
              <a:rPr lang="en-IE" baseline="30000" dirty="0">
                <a:solidFill>
                  <a:srgbClr val="C00000"/>
                </a:solidFill>
                <a:latin typeface="Arial" charset="0"/>
                <a:ea typeface="ＭＳ Ｐゴシック" charset="0"/>
              </a:rPr>
              <a:t>-1</a:t>
            </a:r>
            <a:r>
              <a:rPr lang="en-IE" dirty="0">
                <a:latin typeface="Arial" charset="0"/>
                <a:ea typeface="ＭＳ Ｐゴシック" charset="0"/>
              </a:rPr>
              <a:t>)</a:t>
            </a:r>
          </a:p>
        </p:txBody>
      </p:sp>
      <p:sp>
        <p:nvSpPr>
          <p:cNvPr id="15368" name="Text Box 8">
            <a:extLst>
              <a:ext uri="{FF2B5EF4-FFF2-40B4-BE49-F238E27FC236}">
                <a16:creationId xmlns:a16="http://schemas.microsoft.com/office/drawing/2014/main" id="{FBEAA419-B302-ED7C-FA5B-5B213F3DA9B6}"/>
              </a:ext>
            </a:extLst>
          </p:cNvPr>
          <p:cNvSpPr txBox="1">
            <a:spLocks noChangeArrowheads="1"/>
          </p:cNvSpPr>
          <p:nvPr/>
        </p:nvSpPr>
        <p:spPr bwMode="auto">
          <a:xfrm>
            <a:off x="827881" y="115889"/>
            <a:ext cx="9144000"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buFontTx/>
              <a:buChar char="•"/>
              <a:defRPr/>
            </a:pPr>
            <a:r>
              <a:rPr lang="en-IE">
                <a:latin typeface="Arial" charset="0"/>
                <a:ea typeface="ＭＳ Ｐゴシック" charset="0"/>
              </a:rPr>
              <a:t> The more negative the reduction potential is, the more readily the element acts as a reducing agent, i.e. is itself oxidised</a:t>
            </a:r>
          </a:p>
        </p:txBody>
      </p:sp>
      <p:sp>
        <p:nvSpPr>
          <p:cNvPr id="15370" name="Text Box 10">
            <a:extLst>
              <a:ext uri="{FF2B5EF4-FFF2-40B4-BE49-F238E27FC236}">
                <a16:creationId xmlns:a16="http://schemas.microsoft.com/office/drawing/2014/main" id="{32249F86-47D6-5FFA-2AFF-DF04FB91449C}"/>
              </a:ext>
            </a:extLst>
          </p:cNvPr>
          <p:cNvSpPr txBox="1">
            <a:spLocks noChangeArrowheads="1"/>
          </p:cNvSpPr>
          <p:nvPr/>
        </p:nvSpPr>
        <p:spPr bwMode="auto">
          <a:xfrm>
            <a:off x="1799431" y="4705351"/>
            <a:ext cx="5814412" cy="16989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22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2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2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2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200">
                <a:solidFill>
                  <a:schemeClr val="tx1"/>
                </a:solidFill>
                <a:latin typeface="Arial" panose="020B0604020202020204" pitchFamily="34" charset="0"/>
                <a:ea typeface="ＭＳ Ｐゴシック" panose="020B0600070205080204" pitchFamily="34" charset="-128"/>
              </a:defRPr>
            </a:lvl9pPr>
          </a:lstStyle>
          <a:p>
            <a:pPr eaLnBrk="1" hangingPunct="1">
              <a:spcBef>
                <a:spcPct val="10000"/>
              </a:spcBef>
            </a:pPr>
            <a:r>
              <a:rPr lang="en-IE" altLang="en-US" sz="1800" dirty="0">
                <a:cs typeface="Arial" panose="020B0604020202020204" pitchFamily="34" charset="0"/>
              </a:rPr>
              <a:t>			</a:t>
            </a:r>
            <a:r>
              <a:rPr lang="el-GR" altLang="en-US" sz="1800" b="1" dirty="0">
                <a:solidFill>
                  <a:srgbClr val="C00000"/>
                </a:solidFill>
                <a:cs typeface="Arial" panose="020B0604020202020204" pitchFamily="34" charset="0"/>
              </a:rPr>
              <a:t>Δ</a:t>
            </a:r>
            <a:r>
              <a:rPr lang="en-IE" altLang="en-US" sz="1800" b="1" dirty="0">
                <a:solidFill>
                  <a:srgbClr val="C00000"/>
                </a:solidFill>
                <a:cs typeface="Arial" panose="020B0604020202020204" pitchFamily="34" charset="0"/>
              </a:rPr>
              <a:t>G</a:t>
            </a:r>
            <a:r>
              <a:rPr lang="en-US" altLang="en-US" sz="1800" b="1" dirty="0">
                <a:solidFill>
                  <a:srgbClr val="C00000"/>
                </a:solidFill>
                <a:cs typeface="Arial" panose="020B0604020202020204" pitchFamily="34" charset="0"/>
              </a:rPr>
              <a:t>° = -n F </a:t>
            </a:r>
            <a:r>
              <a:rPr lang="en-US" altLang="en-US" sz="1800" b="1" dirty="0" err="1">
                <a:solidFill>
                  <a:srgbClr val="C00000"/>
                </a:solidFill>
                <a:cs typeface="Arial" panose="020B0604020202020204" pitchFamily="34" charset="0"/>
              </a:rPr>
              <a:t>E</a:t>
            </a:r>
            <a:r>
              <a:rPr lang="en-US" altLang="en-US" sz="1800" b="1" baseline="-25000" dirty="0" err="1">
                <a:solidFill>
                  <a:srgbClr val="C00000"/>
                </a:solidFill>
                <a:cs typeface="Arial" panose="020B0604020202020204" pitchFamily="34" charset="0"/>
              </a:rPr>
              <a:t>cell</a:t>
            </a:r>
            <a:endParaRPr lang="en-US" altLang="en-US" sz="1800" b="1" baseline="-25000" dirty="0">
              <a:solidFill>
                <a:srgbClr val="C00000"/>
              </a:solidFill>
              <a:cs typeface="Arial" panose="020B0604020202020204" pitchFamily="34" charset="0"/>
            </a:endParaRPr>
          </a:p>
          <a:p>
            <a:pPr eaLnBrk="1" hangingPunct="1">
              <a:lnSpc>
                <a:spcPct val="50000"/>
              </a:lnSpc>
              <a:spcBef>
                <a:spcPct val="10000"/>
              </a:spcBef>
            </a:pPr>
            <a:endParaRPr lang="en-US" altLang="en-US" sz="1800" baseline="-25000" dirty="0">
              <a:cs typeface="Arial" panose="020B0604020202020204" pitchFamily="34" charset="0"/>
            </a:endParaRPr>
          </a:p>
          <a:p>
            <a:pPr eaLnBrk="1" hangingPunct="1">
              <a:spcBef>
                <a:spcPct val="10000"/>
              </a:spcBef>
            </a:pPr>
            <a:r>
              <a:rPr lang="en-US" altLang="en-US" sz="1800" baseline="-25000" dirty="0">
                <a:cs typeface="Arial" panose="020B0604020202020204" pitchFamily="34" charset="0"/>
              </a:rPr>
              <a:t>	</a:t>
            </a:r>
            <a:r>
              <a:rPr lang="en-US" altLang="en-US" sz="1800" dirty="0">
                <a:cs typeface="Arial" panose="020B0604020202020204" pitchFamily="34" charset="0"/>
              </a:rPr>
              <a:t>where 	</a:t>
            </a:r>
            <a:r>
              <a:rPr lang="el-GR" altLang="en-US" sz="1800" dirty="0"/>
              <a:t>Δ</a:t>
            </a:r>
            <a:r>
              <a:rPr lang="en-IE" altLang="en-US" sz="1800" dirty="0"/>
              <a:t>G</a:t>
            </a:r>
            <a:r>
              <a:rPr lang="en-US" altLang="en-US" sz="1800" dirty="0"/>
              <a:t>° is the change in Gibbs Free Energy</a:t>
            </a:r>
          </a:p>
          <a:p>
            <a:pPr eaLnBrk="1" hangingPunct="1">
              <a:spcBef>
                <a:spcPct val="10000"/>
              </a:spcBef>
            </a:pPr>
            <a:r>
              <a:rPr lang="en-US" altLang="en-US" sz="1800" dirty="0"/>
              <a:t>		n is the number of moles of electrons</a:t>
            </a:r>
          </a:p>
          <a:p>
            <a:pPr eaLnBrk="1" hangingPunct="1">
              <a:spcBef>
                <a:spcPct val="10000"/>
              </a:spcBef>
            </a:pPr>
            <a:r>
              <a:rPr lang="en-US" altLang="en-US" sz="1800" dirty="0"/>
              <a:t>		F is Faradays constant</a:t>
            </a:r>
          </a:p>
          <a:p>
            <a:pPr eaLnBrk="1" hangingPunct="1">
              <a:spcBef>
                <a:spcPct val="10000"/>
              </a:spcBef>
            </a:pPr>
            <a:r>
              <a:rPr lang="en-US" altLang="en-US" sz="1800" dirty="0"/>
              <a:t>		</a:t>
            </a:r>
            <a:r>
              <a:rPr lang="en-US" altLang="en-US" sz="1800" dirty="0" err="1"/>
              <a:t>E</a:t>
            </a:r>
            <a:r>
              <a:rPr lang="en-US" altLang="en-US" sz="1800" dirty="0" err="1">
                <a:cs typeface="Arial" panose="020B0604020202020204" pitchFamily="34" charset="0"/>
              </a:rPr>
              <a:t>°</a:t>
            </a:r>
            <a:r>
              <a:rPr lang="en-US" altLang="en-US" sz="1800" baseline="-25000" dirty="0" err="1">
                <a:cs typeface="Arial" panose="020B0604020202020204" pitchFamily="34" charset="0"/>
              </a:rPr>
              <a:t>cell</a:t>
            </a:r>
            <a:r>
              <a:rPr lang="en-US" altLang="en-US" sz="1800" dirty="0">
                <a:cs typeface="Arial" panose="020B0604020202020204" pitchFamily="34" charset="0"/>
              </a:rPr>
              <a:t> is the standard cell potential </a:t>
            </a:r>
          </a:p>
        </p:txBody>
      </p:sp>
      <p:sp>
        <p:nvSpPr>
          <p:cNvPr id="5" name="TextBox 4">
            <a:extLst>
              <a:ext uri="{FF2B5EF4-FFF2-40B4-BE49-F238E27FC236}">
                <a16:creationId xmlns:a16="http://schemas.microsoft.com/office/drawing/2014/main" id="{ACDF8F89-EBE3-55FA-DF38-2CCCCF509091}"/>
              </a:ext>
            </a:extLst>
          </p:cNvPr>
          <p:cNvSpPr txBox="1"/>
          <p:nvPr/>
        </p:nvSpPr>
        <p:spPr>
          <a:xfrm>
            <a:off x="1057624" y="4137802"/>
            <a:ext cx="8684514" cy="584775"/>
          </a:xfrm>
          <a:prstGeom prst="rect">
            <a:avLst/>
          </a:prstGeom>
          <a:noFill/>
        </p:spPr>
        <p:txBody>
          <a:bodyPr wrap="square">
            <a:spAutoFit/>
          </a:bodyPr>
          <a:lstStyle/>
          <a:p>
            <a:pPr marR="18320" algn="just"/>
            <a:r>
              <a:rPr lang="en-US" sz="1600" b="1" i="0" u="none" strike="noStrike" baseline="0" dirty="0">
                <a:solidFill>
                  <a:srgbClr val="0000FF"/>
                </a:solidFill>
                <a:latin typeface="Arial" panose="020B0604020202020204" pitchFamily="34" charset="0"/>
                <a:cs typeface="Arial" panose="020B0604020202020204" pitchFamily="34" charset="0"/>
              </a:rPr>
              <a:t>The electrode potential for a reaction is derived directly from the free energy change for that reaction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Effect transition="in" filter="dissolve">
                                      <p:cBhvr>
                                        <p:cTn id="7" dur="500"/>
                                        <p:tgtEl>
                                          <p:spTgt spid="15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365"/>
                                        </p:tgtEl>
                                        <p:attrNameLst>
                                          <p:attrName>style.visibility</p:attrName>
                                        </p:attrNameLst>
                                      </p:cBhvr>
                                      <p:to>
                                        <p:strVal val="visible"/>
                                      </p:to>
                                    </p:set>
                                    <p:animEffect transition="in" filter="dissolve">
                                      <p:cBhvr>
                                        <p:cTn id="12" dur="500"/>
                                        <p:tgtEl>
                                          <p:spTgt spid="15365"/>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5366"/>
                                        </p:tgtEl>
                                        <p:attrNameLst>
                                          <p:attrName>style.visibility</p:attrName>
                                        </p:attrNameLst>
                                      </p:cBhvr>
                                      <p:to>
                                        <p:strVal val="visible"/>
                                      </p:to>
                                    </p:set>
                                    <p:animEffect transition="in" filter="dissolve">
                                      <p:cBhvr>
                                        <p:cTn id="15" dur="500"/>
                                        <p:tgtEl>
                                          <p:spTgt spid="1536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5367"/>
                                        </p:tgtEl>
                                        <p:attrNameLst>
                                          <p:attrName>style.visibility</p:attrName>
                                        </p:attrNameLst>
                                      </p:cBhvr>
                                      <p:to>
                                        <p:strVal val="visible"/>
                                      </p:to>
                                    </p:set>
                                    <p:animEffect transition="in" filter="dissolve">
                                      <p:cBhvr>
                                        <p:cTn id="20" dur="500"/>
                                        <p:tgtEl>
                                          <p:spTgt spid="15367"/>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5370"/>
                                        </p:tgtEl>
                                        <p:attrNameLst>
                                          <p:attrName>style.visibility</p:attrName>
                                        </p:attrNameLst>
                                      </p:cBhvr>
                                      <p:to>
                                        <p:strVal val="visible"/>
                                      </p:to>
                                    </p:set>
                                    <p:animEffect transition="in" filter="dissolve">
                                      <p:cBhvr>
                                        <p:cTn id="23" dur="500"/>
                                        <p:tgtEl>
                                          <p:spTgt spid="15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P spid="15365" grpId="0"/>
      <p:bldP spid="15366" grpId="0"/>
      <p:bldP spid="15367" grpId="0"/>
      <p:bldP spid="1537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EE2DD200-5F36-5656-F064-EF2AF46C5062}"/>
              </a:ext>
            </a:extLst>
          </p:cNvPr>
          <p:cNvSpPr>
            <a:spLocks noChangeArrowheads="1"/>
          </p:cNvSpPr>
          <p:nvPr/>
        </p:nvSpPr>
        <p:spPr bwMode="auto">
          <a:xfrm>
            <a:off x="1649413" y="1351661"/>
            <a:ext cx="9572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200">
                <a:solidFill>
                  <a:srgbClr val="CC3300"/>
                </a:solidFill>
              </a:rPr>
              <a:t>Joules</a:t>
            </a:r>
          </a:p>
        </p:txBody>
      </p:sp>
      <p:sp>
        <p:nvSpPr>
          <p:cNvPr id="6" name="AutoShape 17">
            <a:extLst>
              <a:ext uri="{FF2B5EF4-FFF2-40B4-BE49-F238E27FC236}">
                <a16:creationId xmlns:a16="http://schemas.microsoft.com/office/drawing/2014/main" id="{75B05BB6-A657-1F64-46D5-5E82BE365F73}"/>
              </a:ext>
            </a:extLst>
          </p:cNvPr>
          <p:cNvSpPr>
            <a:spLocks/>
          </p:cNvSpPr>
          <p:nvPr/>
        </p:nvSpPr>
        <p:spPr bwMode="auto">
          <a:xfrm rot="16200000">
            <a:off x="2016125" y="657924"/>
            <a:ext cx="173037" cy="1290638"/>
          </a:xfrm>
          <a:prstGeom prst="leftBrace">
            <a:avLst>
              <a:gd name="adj1" fmla="val 6215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8" name="TextBox 7">
            <a:extLst>
              <a:ext uri="{FF2B5EF4-FFF2-40B4-BE49-F238E27FC236}">
                <a16:creationId xmlns:a16="http://schemas.microsoft.com/office/drawing/2014/main" id="{B32BBF46-E619-BA91-F933-04E206C40DF9}"/>
              </a:ext>
            </a:extLst>
          </p:cNvPr>
          <p:cNvSpPr txBox="1"/>
          <p:nvPr/>
        </p:nvSpPr>
        <p:spPr>
          <a:xfrm>
            <a:off x="5352035" y="615059"/>
            <a:ext cx="5399532" cy="1107996"/>
          </a:xfrm>
          <a:prstGeom prst="rect">
            <a:avLst/>
          </a:prstGeom>
          <a:noFill/>
        </p:spPr>
        <p:txBody>
          <a:bodyPr wrap="square">
            <a:spAutoFit/>
          </a:bodyPr>
          <a:lstStyle/>
          <a:p>
            <a:pPr lvl="1" eaLnBrk="1" hangingPunct="1">
              <a:spcBef>
                <a:spcPct val="0"/>
              </a:spcBef>
              <a:buSzPct val="60000"/>
              <a:buFont typeface="Wingdings" panose="05000000000000000000" pitchFamily="2" charset="2"/>
              <a:buNone/>
            </a:pPr>
            <a:r>
              <a:rPr lang="en-US" altLang="en-US" sz="1600" b="0" dirty="0">
                <a:solidFill>
                  <a:srgbClr val="CC3300"/>
                </a:solidFill>
                <a:latin typeface="Arial" panose="020B0604020202020204" pitchFamily="34" charset="0"/>
                <a:cs typeface="Arial" panose="020B0604020202020204" pitchFamily="34" charset="0"/>
              </a:rPr>
              <a:t>Electric Potential (</a:t>
            </a:r>
            <a:r>
              <a:rPr lang="en-US" altLang="en-US" sz="1600" b="0" i="1" dirty="0">
                <a:solidFill>
                  <a:srgbClr val="CC3300"/>
                </a:solidFill>
                <a:latin typeface="Arial" panose="020B0604020202020204" pitchFamily="34" charset="0"/>
                <a:cs typeface="Arial" panose="020B0604020202020204" pitchFamily="34" charset="0"/>
              </a:rPr>
              <a:t>E</a:t>
            </a:r>
            <a:r>
              <a:rPr lang="en-US" altLang="en-US" sz="1600" b="0" dirty="0">
                <a:solidFill>
                  <a:srgbClr val="CC3300"/>
                </a:solidFill>
                <a:latin typeface="Arial" panose="020B0604020202020204" pitchFamily="34" charset="0"/>
                <a:cs typeface="Arial" panose="020B0604020202020204" pitchFamily="34" charset="0"/>
              </a:rPr>
              <a:t>)</a:t>
            </a:r>
            <a:endParaRPr lang="en-US" altLang="en-US" sz="1600" b="0" i="1" u="sng" dirty="0">
              <a:solidFill>
                <a:srgbClr val="CC3300"/>
              </a:solidFill>
              <a:latin typeface="Arial" panose="020B0604020202020204" pitchFamily="34" charset="0"/>
              <a:cs typeface="Arial" panose="020B0604020202020204" pitchFamily="34" charset="0"/>
            </a:endParaRPr>
          </a:p>
          <a:p>
            <a:pPr lvl="2" eaLnBrk="1" hangingPunct="1">
              <a:spcBef>
                <a:spcPct val="0"/>
              </a:spcBef>
              <a:buSzPct val="60000"/>
              <a:buFont typeface="Wingdings" panose="05000000000000000000" pitchFamily="2" charset="2"/>
              <a:buChar char="Ø"/>
            </a:pPr>
            <a:r>
              <a:rPr lang="en-US" altLang="en-US" sz="1600" b="0" dirty="0">
                <a:latin typeface="Arial" panose="020B0604020202020204" pitchFamily="34" charset="0"/>
                <a:cs typeface="Arial" panose="020B0604020202020204" pitchFamily="34" charset="0"/>
              </a:rPr>
              <a:t>Measured in volts (V)</a:t>
            </a:r>
          </a:p>
          <a:p>
            <a:pPr lvl="2" eaLnBrk="1" hangingPunct="1">
              <a:spcBef>
                <a:spcPct val="0"/>
              </a:spcBef>
              <a:buSzPct val="60000"/>
              <a:buFont typeface="Wingdings" panose="05000000000000000000" pitchFamily="2" charset="2"/>
              <a:buChar char="Ø"/>
            </a:pPr>
            <a:r>
              <a:rPr lang="en-US" altLang="en-US" sz="1600" b="0" dirty="0">
                <a:latin typeface="Arial" panose="020B0604020202020204" pitchFamily="34" charset="0"/>
                <a:cs typeface="Arial" panose="020B0604020202020204" pitchFamily="34" charset="0"/>
              </a:rPr>
              <a:t>Work (energy) needed when moving an electric charge from one point to another</a:t>
            </a:r>
          </a:p>
        </p:txBody>
      </p:sp>
      <p:graphicFrame>
        <p:nvGraphicFramePr>
          <p:cNvPr id="10" name="Object 7">
            <a:extLst>
              <a:ext uri="{FF2B5EF4-FFF2-40B4-BE49-F238E27FC236}">
                <a16:creationId xmlns:a16="http://schemas.microsoft.com/office/drawing/2014/main" id="{636D7915-C870-0FA3-D4F1-1C7D481CEBF0}"/>
              </a:ext>
            </a:extLst>
          </p:cNvPr>
          <p:cNvGraphicFramePr>
            <a:graphicFrameLocks noChangeAspect="1"/>
          </p:cNvGraphicFramePr>
          <p:nvPr>
            <p:extLst>
              <p:ext uri="{D42A27DB-BD31-4B8C-83A1-F6EECF244321}">
                <p14:modId xmlns:p14="http://schemas.microsoft.com/office/powerpoint/2010/main" val="2113741107"/>
              </p:ext>
            </p:extLst>
          </p:nvPr>
        </p:nvGraphicFramePr>
        <p:xfrm>
          <a:off x="1905001" y="2978529"/>
          <a:ext cx="1541462" cy="492125"/>
        </p:xfrm>
        <a:graphic>
          <a:graphicData uri="http://schemas.openxmlformats.org/presentationml/2006/ole">
            <mc:AlternateContent xmlns:mc="http://schemas.openxmlformats.org/markup-compatibility/2006">
              <mc:Choice xmlns:v="urn:schemas-microsoft-com:vml" Requires="v">
                <p:oleObj name="Equation" r:id="rId2" imgW="590630" imgH="181148" progId="Equation.3">
                  <p:embed/>
                </p:oleObj>
              </mc:Choice>
              <mc:Fallback>
                <p:oleObj name="Equation" r:id="rId2" imgW="590630" imgH="181148" progId="Equation.3">
                  <p:embed/>
                  <p:pic>
                    <p:nvPicPr>
                      <p:cNvPr id="10" name="Object 7">
                        <a:extLst>
                          <a:ext uri="{FF2B5EF4-FFF2-40B4-BE49-F238E27FC236}">
                            <a16:creationId xmlns:a16="http://schemas.microsoft.com/office/drawing/2014/main" id="{636D7915-C870-0FA3-D4F1-1C7D481CEB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2978529"/>
                        <a:ext cx="1541462" cy="49212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0">
            <a:extLst>
              <a:ext uri="{FF2B5EF4-FFF2-40B4-BE49-F238E27FC236}">
                <a16:creationId xmlns:a16="http://schemas.microsoft.com/office/drawing/2014/main" id="{40A120DF-F172-803A-40AE-940DAC61FD11}"/>
              </a:ext>
            </a:extLst>
          </p:cNvPr>
          <p:cNvGraphicFramePr>
            <a:graphicFrameLocks noChangeAspect="1"/>
          </p:cNvGraphicFramePr>
          <p:nvPr>
            <p:extLst>
              <p:ext uri="{D42A27DB-BD31-4B8C-83A1-F6EECF244321}">
                <p14:modId xmlns:p14="http://schemas.microsoft.com/office/powerpoint/2010/main" val="4065551165"/>
              </p:ext>
            </p:extLst>
          </p:nvPr>
        </p:nvGraphicFramePr>
        <p:xfrm>
          <a:off x="1477963" y="3911584"/>
          <a:ext cx="1968500" cy="460375"/>
        </p:xfrm>
        <a:graphic>
          <a:graphicData uri="http://schemas.openxmlformats.org/presentationml/2006/ole">
            <mc:AlternateContent xmlns:mc="http://schemas.openxmlformats.org/markup-compatibility/2006">
              <mc:Choice xmlns:v="urn:schemas-microsoft-com:vml" Requires="v">
                <p:oleObj name="Equation" r:id="rId4" imgW="752341" imgH="171450" progId="Equation.3">
                  <p:embed/>
                </p:oleObj>
              </mc:Choice>
              <mc:Fallback>
                <p:oleObj name="Equation" r:id="rId4" imgW="752341" imgH="171450" progId="Equation.3">
                  <p:embed/>
                  <p:pic>
                    <p:nvPicPr>
                      <p:cNvPr id="11" name="Object 10">
                        <a:extLst>
                          <a:ext uri="{FF2B5EF4-FFF2-40B4-BE49-F238E27FC236}">
                            <a16:creationId xmlns:a16="http://schemas.microsoft.com/office/drawing/2014/main" id="{40A120DF-F172-803A-40AE-940DAC61F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7963" y="3911584"/>
                        <a:ext cx="1968500" cy="4603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 name="Group 11">
            <a:extLst>
              <a:ext uri="{FF2B5EF4-FFF2-40B4-BE49-F238E27FC236}">
                <a16:creationId xmlns:a16="http://schemas.microsoft.com/office/drawing/2014/main" id="{75E71B54-4F72-5FCA-B7E3-68F02119D808}"/>
              </a:ext>
            </a:extLst>
          </p:cNvPr>
          <p:cNvGrpSpPr/>
          <p:nvPr/>
        </p:nvGrpSpPr>
        <p:grpSpPr>
          <a:xfrm>
            <a:off x="1077787" y="1848886"/>
            <a:ext cx="3856609" cy="942975"/>
            <a:chOff x="2735453" y="1433132"/>
            <a:chExt cx="3856609" cy="942975"/>
          </a:xfrm>
        </p:grpSpPr>
        <p:graphicFrame>
          <p:nvGraphicFramePr>
            <p:cNvPr id="13" name="Object 7">
              <a:extLst>
                <a:ext uri="{FF2B5EF4-FFF2-40B4-BE49-F238E27FC236}">
                  <a16:creationId xmlns:a16="http://schemas.microsoft.com/office/drawing/2014/main" id="{2F470ABE-BC1F-7266-AA13-D7D6AE542BC5}"/>
                </a:ext>
              </a:extLst>
            </p:cNvPr>
            <p:cNvGraphicFramePr>
              <a:graphicFrameLocks noChangeAspect="1"/>
            </p:cNvGraphicFramePr>
            <p:nvPr>
              <p:extLst>
                <p:ext uri="{D42A27DB-BD31-4B8C-83A1-F6EECF244321}">
                  <p14:modId xmlns:p14="http://schemas.microsoft.com/office/powerpoint/2010/main" val="396053062"/>
                </p:ext>
              </p:extLst>
            </p:nvPr>
          </p:nvGraphicFramePr>
          <p:xfrm>
            <a:off x="2735453" y="1433132"/>
            <a:ext cx="3541713" cy="525462"/>
          </p:xfrm>
          <a:graphic>
            <a:graphicData uri="http://schemas.openxmlformats.org/presentationml/2006/ole">
              <mc:AlternateContent xmlns:mc="http://schemas.openxmlformats.org/markup-compatibility/2006">
                <mc:Choice xmlns:v="urn:schemas-microsoft-com:vml" Requires="v">
                  <p:oleObj name="Equation" r:id="rId6" imgW="1362057" imgH="190500" progId="Equation.3">
                    <p:embed/>
                  </p:oleObj>
                </mc:Choice>
                <mc:Fallback>
                  <p:oleObj name="Equation" r:id="rId6" imgW="1362057" imgH="190500" progId="Equation.3">
                    <p:embed/>
                    <p:pic>
                      <p:nvPicPr>
                        <p:cNvPr id="13" name="Object 7">
                          <a:extLst>
                            <a:ext uri="{FF2B5EF4-FFF2-40B4-BE49-F238E27FC236}">
                              <a16:creationId xmlns:a16="http://schemas.microsoft.com/office/drawing/2014/main" id="{2F470ABE-BC1F-7266-AA13-D7D6AE542B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5453" y="1433132"/>
                          <a:ext cx="3541713" cy="525462"/>
                        </a:xfrm>
                        <a:prstGeom prst="rect">
                          <a:avLst/>
                        </a:prstGeom>
                        <a:solidFill>
                          <a:schemeClr val="bg1"/>
                        </a:solidFill>
                        <a:ln>
                          <a:noFill/>
                        </a:ln>
                        <a:effectLst/>
                      </p:spPr>
                    </p:pic>
                  </p:oleObj>
                </mc:Fallback>
              </mc:AlternateContent>
            </a:graphicData>
          </a:graphic>
        </p:graphicFrame>
        <p:sp>
          <p:nvSpPr>
            <p:cNvPr id="14" name="Rectangle 9">
              <a:extLst>
                <a:ext uri="{FF2B5EF4-FFF2-40B4-BE49-F238E27FC236}">
                  <a16:creationId xmlns:a16="http://schemas.microsoft.com/office/drawing/2014/main" id="{4A673AD2-0861-1E29-016F-532ACE701DD6}"/>
                </a:ext>
              </a:extLst>
            </p:cNvPr>
            <p:cNvSpPr>
              <a:spLocks noChangeArrowheads="1"/>
            </p:cNvSpPr>
            <p:nvPr/>
          </p:nvSpPr>
          <p:spPr bwMode="auto">
            <a:xfrm>
              <a:off x="3155125" y="2101469"/>
              <a:ext cx="9572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200">
                  <a:solidFill>
                    <a:srgbClr val="CC3300"/>
                  </a:solidFill>
                </a:rPr>
                <a:t>Joules</a:t>
              </a:r>
            </a:p>
          </p:txBody>
        </p:sp>
        <p:sp>
          <p:nvSpPr>
            <p:cNvPr id="15" name="Rectangle 10">
              <a:extLst>
                <a:ext uri="{FF2B5EF4-FFF2-40B4-BE49-F238E27FC236}">
                  <a16:creationId xmlns:a16="http://schemas.microsoft.com/office/drawing/2014/main" id="{FE263054-4D2F-28E2-7B07-8A0019FDB655}"/>
                </a:ext>
              </a:extLst>
            </p:cNvPr>
            <p:cNvSpPr>
              <a:spLocks noChangeArrowheads="1"/>
            </p:cNvSpPr>
            <p:nvPr/>
          </p:nvSpPr>
          <p:spPr bwMode="auto">
            <a:xfrm>
              <a:off x="4952175" y="2026857"/>
              <a:ext cx="635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200">
                  <a:solidFill>
                    <a:srgbClr val="CC3300"/>
                  </a:solidFill>
                </a:rPr>
                <a:t>Volts</a:t>
              </a:r>
            </a:p>
          </p:txBody>
        </p:sp>
        <p:sp>
          <p:nvSpPr>
            <p:cNvPr id="16" name="Rectangle 12">
              <a:extLst>
                <a:ext uri="{FF2B5EF4-FFF2-40B4-BE49-F238E27FC236}">
                  <a16:creationId xmlns:a16="http://schemas.microsoft.com/office/drawing/2014/main" id="{2634592A-D2C3-FEC9-154F-2E46B6CD7693}"/>
                </a:ext>
              </a:extLst>
            </p:cNvPr>
            <p:cNvSpPr>
              <a:spLocks noChangeArrowheads="1"/>
            </p:cNvSpPr>
            <p:nvPr/>
          </p:nvSpPr>
          <p:spPr bwMode="auto">
            <a:xfrm>
              <a:off x="5571300" y="2034794"/>
              <a:ext cx="10207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200">
                  <a:solidFill>
                    <a:srgbClr val="CC3300"/>
                  </a:solidFill>
                </a:rPr>
                <a:t>Coulombs</a:t>
              </a:r>
            </a:p>
          </p:txBody>
        </p:sp>
        <p:sp>
          <p:nvSpPr>
            <p:cNvPr id="17" name="AutoShape 17">
              <a:extLst>
                <a:ext uri="{FF2B5EF4-FFF2-40B4-BE49-F238E27FC236}">
                  <a16:creationId xmlns:a16="http://schemas.microsoft.com/office/drawing/2014/main" id="{11937C23-7582-BB6B-3B9C-716927054EF3}"/>
                </a:ext>
              </a:extLst>
            </p:cNvPr>
            <p:cNvSpPr>
              <a:spLocks/>
            </p:cNvSpPr>
            <p:nvPr/>
          </p:nvSpPr>
          <p:spPr bwMode="auto">
            <a:xfrm rot="16200000">
              <a:off x="3521837" y="1407732"/>
              <a:ext cx="173037" cy="1290638"/>
            </a:xfrm>
            <a:prstGeom prst="leftBrace">
              <a:avLst>
                <a:gd name="adj1" fmla="val 6215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sp>
        <p:nvSpPr>
          <p:cNvPr id="18" name="Rectangle 17">
            <a:extLst>
              <a:ext uri="{FF2B5EF4-FFF2-40B4-BE49-F238E27FC236}">
                <a16:creationId xmlns:a16="http://schemas.microsoft.com/office/drawing/2014/main" id="{3ECB4DAE-F75A-08D7-BD34-3A2A913C4476}"/>
              </a:ext>
            </a:extLst>
          </p:cNvPr>
          <p:cNvSpPr/>
          <p:nvPr/>
        </p:nvSpPr>
        <p:spPr>
          <a:xfrm>
            <a:off x="3349373" y="751016"/>
            <a:ext cx="1487803" cy="5522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9" name="Picture 18">
            <a:extLst>
              <a:ext uri="{FF2B5EF4-FFF2-40B4-BE49-F238E27FC236}">
                <a16:creationId xmlns:a16="http://schemas.microsoft.com/office/drawing/2014/main" id="{4716F1F7-A190-34C4-2C70-AEDAFDCA817B}"/>
              </a:ext>
            </a:extLst>
          </p:cNvPr>
          <p:cNvPicPr>
            <a:picLocks noChangeAspect="1"/>
          </p:cNvPicPr>
          <p:nvPr/>
        </p:nvPicPr>
        <p:blipFill>
          <a:blip r:embed="rId8"/>
          <a:srcRect r="39249"/>
          <a:stretch/>
        </p:blipFill>
        <p:spPr>
          <a:xfrm>
            <a:off x="1293876" y="650427"/>
            <a:ext cx="2152587" cy="527304"/>
          </a:xfrm>
          <a:prstGeom prst="rect">
            <a:avLst/>
          </a:prstGeom>
        </p:spPr>
      </p:pic>
      <p:sp>
        <p:nvSpPr>
          <p:cNvPr id="4" name="TextBox 3">
            <a:extLst>
              <a:ext uri="{FF2B5EF4-FFF2-40B4-BE49-F238E27FC236}">
                <a16:creationId xmlns:a16="http://schemas.microsoft.com/office/drawing/2014/main" id="{C90D83B4-373C-808B-C955-DB553737A8F9}"/>
              </a:ext>
            </a:extLst>
          </p:cNvPr>
          <p:cNvSpPr txBox="1"/>
          <p:nvPr/>
        </p:nvSpPr>
        <p:spPr>
          <a:xfrm>
            <a:off x="6005006" y="1911620"/>
            <a:ext cx="3815650" cy="880241"/>
          </a:xfrm>
          <a:prstGeom prst="rect">
            <a:avLst/>
          </a:prstGeom>
          <a:noFill/>
        </p:spPr>
        <p:txBody>
          <a:bodyPr wrap="square">
            <a:spAutoFit/>
          </a:bodyPr>
          <a:lstStyle/>
          <a:p>
            <a:pPr eaLnBrk="1" hangingPunct="1">
              <a:spcBef>
                <a:spcPct val="10000"/>
              </a:spcBef>
            </a:pPr>
            <a:r>
              <a:rPr lang="en-US" altLang="en-US" sz="1600" dirty="0">
                <a:latin typeface="Arial" panose="020B0604020202020204" pitchFamily="34" charset="0"/>
                <a:cs typeface="Arial" panose="020B0604020202020204" pitchFamily="34" charset="0"/>
              </a:rPr>
              <a:t>n is the number of moles of electrons</a:t>
            </a:r>
          </a:p>
          <a:p>
            <a:pPr eaLnBrk="1" hangingPunct="1">
              <a:spcBef>
                <a:spcPct val="10000"/>
              </a:spcBef>
            </a:pPr>
            <a:r>
              <a:rPr lang="en-US" altLang="en-US" sz="1600" dirty="0">
                <a:latin typeface="Arial" panose="020B0604020202020204" pitchFamily="34" charset="0"/>
                <a:cs typeface="Arial" panose="020B0604020202020204" pitchFamily="34" charset="0"/>
              </a:rPr>
              <a:t>F is Faradays constant</a:t>
            </a:r>
          </a:p>
          <a:p>
            <a:pPr eaLnBrk="1" hangingPunct="1">
              <a:spcBef>
                <a:spcPct val="10000"/>
              </a:spcBef>
            </a:pPr>
            <a:r>
              <a:rPr lang="en-US" altLang="en-US" sz="1600" dirty="0" err="1">
                <a:latin typeface="Arial" panose="020B0604020202020204" pitchFamily="34" charset="0"/>
                <a:cs typeface="Arial" panose="020B0604020202020204" pitchFamily="34" charset="0"/>
              </a:rPr>
              <a:t>E°</a:t>
            </a:r>
            <a:r>
              <a:rPr lang="en-US" altLang="en-US" sz="1600" baseline="-25000" dirty="0" err="1">
                <a:latin typeface="Arial" panose="020B0604020202020204" pitchFamily="34" charset="0"/>
                <a:cs typeface="Arial" panose="020B0604020202020204" pitchFamily="34" charset="0"/>
              </a:rPr>
              <a:t>cell</a:t>
            </a:r>
            <a:r>
              <a:rPr lang="en-US" altLang="en-US" sz="1600" dirty="0">
                <a:latin typeface="Arial" panose="020B0604020202020204" pitchFamily="34" charset="0"/>
                <a:cs typeface="Arial" panose="020B0604020202020204" pitchFamily="34" charset="0"/>
              </a:rPr>
              <a:t> is the standard cell potential </a:t>
            </a:r>
          </a:p>
        </p:txBody>
      </p:sp>
      <p:sp>
        <p:nvSpPr>
          <p:cNvPr id="2" name="TextBox 1">
            <a:extLst>
              <a:ext uri="{FF2B5EF4-FFF2-40B4-BE49-F238E27FC236}">
                <a16:creationId xmlns:a16="http://schemas.microsoft.com/office/drawing/2014/main" id="{8EC7F351-4E0C-AAE9-5D0F-F250455A0BC2}"/>
              </a:ext>
            </a:extLst>
          </p:cNvPr>
          <p:cNvSpPr txBox="1"/>
          <p:nvPr/>
        </p:nvSpPr>
        <p:spPr>
          <a:xfrm>
            <a:off x="1293876" y="5275506"/>
            <a:ext cx="3477362" cy="461665"/>
          </a:xfrm>
          <a:prstGeom prst="rect">
            <a:avLst/>
          </a:prstGeom>
          <a:noFill/>
        </p:spPr>
        <p:txBody>
          <a:bodyPr wrap="none" rtlCol="0">
            <a:spAutoFit/>
          </a:bodyPr>
          <a:lstStyle/>
          <a:p>
            <a:r>
              <a:rPr lang="en-US" sz="2400" dirty="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sz="2400" dirty="0">
                <a:solidFill>
                  <a:srgbClr val="C00000"/>
                </a:solidFill>
                <a:latin typeface="Arial" panose="020B0604020202020204" pitchFamily="34" charset="0"/>
                <a:cs typeface="Arial" panose="020B0604020202020204" pitchFamily="34" charset="0"/>
              </a:rPr>
              <a:t>G = -RT </a:t>
            </a:r>
            <a:r>
              <a:rPr lang="en-US" sz="2400" dirty="0" err="1">
                <a:solidFill>
                  <a:srgbClr val="C00000"/>
                </a:solidFill>
                <a:latin typeface="Arial" panose="020B0604020202020204" pitchFamily="34" charset="0"/>
                <a:cs typeface="Arial" panose="020B0604020202020204" pitchFamily="34" charset="0"/>
              </a:rPr>
              <a:t>lnK</a:t>
            </a:r>
            <a:r>
              <a:rPr lang="en-US" sz="2400" dirty="0">
                <a:solidFill>
                  <a:srgbClr val="C00000"/>
                </a:solidFill>
                <a:latin typeface="Arial" panose="020B0604020202020204" pitchFamily="34" charset="0"/>
                <a:cs typeface="Arial" panose="020B0604020202020204" pitchFamily="34" charset="0"/>
              </a:rPr>
              <a:t> or RT </a:t>
            </a:r>
            <a:r>
              <a:rPr lang="en-US" sz="2400" dirty="0" err="1">
                <a:solidFill>
                  <a:srgbClr val="C00000"/>
                </a:solidFill>
                <a:latin typeface="Arial" panose="020B0604020202020204" pitchFamily="34" charset="0"/>
                <a:cs typeface="Arial" panose="020B0604020202020204" pitchFamily="34" charset="0"/>
              </a:rPr>
              <a:t>lnQ</a:t>
            </a:r>
            <a:endParaRPr lang="en-IN" sz="2400" dirty="0">
              <a:solidFill>
                <a:srgbClr val="C0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E6A8468-0485-B573-B312-A84F5999340B}"/>
              </a:ext>
            </a:extLst>
          </p:cNvPr>
          <p:cNvSpPr txBox="1"/>
          <p:nvPr/>
        </p:nvSpPr>
        <p:spPr>
          <a:xfrm>
            <a:off x="515557" y="4744250"/>
            <a:ext cx="5281446" cy="369332"/>
          </a:xfrm>
          <a:prstGeom prst="rect">
            <a:avLst/>
          </a:prstGeom>
          <a:noFill/>
        </p:spPr>
        <p:txBody>
          <a:bodyPr wrap="none" rtlCol="0">
            <a:spAutoFit/>
          </a:bodyPr>
          <a:lstStyle/>
          <a:p>
            <a:r>
              <a:rPr lang="en-IN" dirty="0"/>
              <a:t>Relation between </a:t>
            </a:r>
            <a:r>
              <a:rPr lang="en-IN" dirty="0">
                <a:sym typeface="Symbol" panose="05050102010706020507" pitchFamily="18" charset="2"/>
              </a:rPr>
              <a:t>G and rate constant of a reaction K</a:t>
            </a:r>
            <a:endParaRPr lang="en-IN" dirty="0"/>
          </a:p>
        </p:txBody>
      </p:sp>
    </p:spTree>
    <p:extLst>
      <p:ext uri="{BB962C8B-B14F-4D97-AF65-F5344CB8AC3E}">
        <p14:creationId xmlns:p14="http://schemas.microsoft.com/office/powerpoint/2010/main" val="358817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045FD5-76AC-568D-3DF7-00F9C5BCB07C}"/>
              </a:ext>
            </a:extLst>
          </p:cNvPr>
          <p:cNvSpPr txBox="1"/>
          <p:nvPr/>
        </p:nvSpPr>
        <p:spPr>
          <a:xfrm>
            <a:off x="670880" y="143645"/>
            <a:ext cx="8381680" cy="3416320"/>
          </a:xfrm>
          <a:prstGeom prst="rect">
            <a:avLst/>
          </a:prstGeom>
          <a:noFill/>
        </p:spPr>
        <p:txBody>
          <a:bodyPr wrap="square">
            <a:spAutoFit/>
          </a:bodyPr>
          <a:lstStyle/>
          <a:p>
            <a:pPr algn="just"/>
            <a:endParaRPr lang="en-IN" b="0" i="0" u="none" strike="noStrike" baseline="0" dirty="0">
              <a:solidFill>
                <a:srgbClr val="000000"/>
              </a:solidFill>
              <a:latin typeface="Arial" panose="020B0604020202020204" pitchFamily="34" charset="0"/>
              <a:cs typeface="Arial" panose="020B0604020202020204" pitchFamily="34" charset="0"/>
            </a:endParaRPr>
          </a:p>
          <a:p>
            <a:pPr algn="just"/>
            <a:endParaRPr lang="en-IN" b="0" i="0" u="none" strike="noStrike" baseline="0" dirty="0">
              <a:latin typeface="Arial" panose="020B0604020202020204" pitchFamily="34" charset="0"/>
              <a:cs typeface="Arial" panose="020B0604020202020204" pitchFamily="34" charset="0"/>
            </a:endParaRPr>
          </a:p>
          <a:p>
            <a:pPr marR="48670" algn="just"/>
            <a:r>
              <a:rPr lang="en-US" b="0" i="0" u="none" strike="noStrike" baseline="0" dirty="0">
                <a:solidFill>
                  <a:srgbClr val="0000FF"/>
                </a:solidFill>
                <a:latin typeface="Arial" panose="020B0604020202020204" pitchFamily="34" charset="0"/>
                <a:cs typeface="Arial" panose="020B0604020202020204" pitchFamily="34" charset="0"/>
              </a:rPr>
              <a:t>•For a set of 2 competing reactions:</a:t>
            </a:r>
          </a:p>
          <a:p>
            <a:pPr marR="48670" algn="just"/>
            <a:endParaRPr lang="en-US" b="0" i="0" u="none" strike="noStrike" baseline="0" dirty="0">
              <a:solidFill>
                <a:srgbClr val="0000FF"/>
              </a:solidFill>
              <a:latin typeface="Arial" panose="020B0604020202020204" pitchFamily="34" charset="0"/>
              <a:cs typeface="Arial" panose="020B0604020202020204" pitchFamily="34" charset="0"/>
            </a:endParaRPr>
          </a:p>
          <a:p>
            <a:pPr marR="15370" algn="just"/>
            <a:r>
              <a:rPr lang="en-US" b="1" i="0" u="none" strike="noStrike" baseline="0" dirty="0">
                <a:solidFill>
                  <a:srgbClr val="006300"/>
                </a:solidFill>
                <a:latin typeface="Arial" panose="020B0604020202020204" pitchFamily="34" charset="0"/>
                <a:cs typeface="Arial" panose="020B0604020202020204" pitchFamily="34" charset="0"/>
              </a:rPr>
              <a:t>The reaction with the lower standard reduction potential gets oxidized -the other reaction proceeds as a reduction</a:t>
            </a:r>
          </a:p>
          <a:p>
            <a:pPr marR="15370" algn="just"/>
            <a:endParaRPr lang="en-US" b="0" i="0" u="none" strike="noStrike" baseline="0" dirty="0">
              <a:solidFill>
                <a:srgbClr val="006300"/>
              </a:solidFill>
              <a:latin typeface="Arial" panose="020B0604020202020204" pitchFamily="34" charset="0"/>
              <a:cs typeface="Arial" panose="020B0604020202020204" pitchFamily="34" charset="0"/>
            </a:endParaRPr>
          </a:p>
          <a:p>
            <a:pPr marR="20850" lvl="1" algn="just"/>
            <a:r>
              <a:rPr lang="it-IT" b="1" i="0" u="none" strike="noStrike" baseline="0" dirty="0">
                <a:solidFill>
                  <a:srgbClr val="FF3100"/>
                </a:solidFill>
                <a:latin typeface="Arial" panose="020B0604020202020204" pitchFamily="34" charset="0"/>
                <a:cs typeface="Arial" panose="020B0604020202020204" pitchFamily="34" charset="0"/>
              </a:rPr>
              <a:t>Zn = Zn</a:t>
            </a:r>
            <a:r>
              <a:rPr lang="it-IT" b="1" i="0" u="none" strike="noStrike" baseline="30000" dirty="0">
                <a:solidFill>
                  <a:srgbClr val="FF3100"/>
                </a:solidFill>
                <a:latin typeface="Arial" panose="020B0604020202020204" pitchFamily="34" charset="0"/>
                <a:cs typeface="Arial" panose="020B0604020202020204" pitchFamily="34" charset="0"/>
              </a:rPr>
              <a:t>2+</a:t>
            </a:r>
            <a:r>
              <a:rPr lang="it-IT" b="1" i="0" u="none" strike="noStrike" baseline="0" dirty="0">
                <a:solidFill>
                  <a:srgbClr val="FF3100"/>
                </a:solidFill>
                <a:latin typeface="Arial" panose="020B0604020202020204" pitchFamily="34" charset="0"/>
                <a:cs typeface="Arial" panose="020B0604020202020204" pitchFamily="34" charset="0"/>
              </a:rPr>
              <a:t> + 2e</a:t>
            </a:r>
            <a:r>
              <a:rPr lang="it-IT" b="1" i="0" u="none" strike="noStrike" baseline="30000" dirty="0">
                <a:solidFill>
                  <a:srgbClr val="FF3100"/>
                </a:solidFill>
                <a:latin typeface="Arial" panose="020B0604020202020204" pitchFamily="34" charset="0"/>
                <a:cs typeface="Arial" panose="020B0604020202020204" pitchFamily="34" charset="0"/>
              </a:rPr>
              <a:t>-</a:t>
            </a:r>
            <a:r>
              <a:rPr lang="it-IT" b="1" i="0" u="none" strike="noStrike" baseline="0" dirty="0">
                <a:solidFill>
                  <a:srgbClr val="FF3100"/>
                </a:solidFill>
                <a:latin typeface="Arial" panose="020B0604020202020204" pitchFamily="34" charset="0"/>
                <a:cs typeface="Arial" panose="020B0604020202020204" pitchFamily="34" charset="0"/>
              </a:rPr>
              <a:t> </a:t>
            </a:r>
            <a:r>
              <a:rPr lang="it-IT" b="1" dirty="0">
                <a:solidFill>
                  <a:srgbClr val="FF3100"/>
                </a:solidFill>
                <a:latin typeface="Arial" panose="020B0604020202020204" pitchFamily="34" charset="0"/>
                <a:cs typeface="Arial" panose="020B0604020202020204" pitchFamily="34" charset="0"/>
              </a:rPr>
              <a:t>, </a:t>
            </a:r>
            <a:r>
              <a:rPr lang="it-IT" b="1" i="0" u="none" strike="noStrike" baseline="0" dirty="0">
                <a:solidFill>
                  <a:srgbClr val="FF3100"/>
                </a:solidFill>
                <a:latin typeface="Arial" panose="020B0604020202020204" pitchFamily="34" charset="0"/>
                <a:cs typeface="Arial" panose="020B0604020202020204" pitchFamily="34" charset="0"/>
              </a:rPr>
              <a:t>E°</a:t>
            </a:r>
            <a:r>
              <a:rPr lang="it-IT" b="1" i="0" u="none" strike="noStrike" baseline="-25000" dirty="0">
                <a:solidFill>
                  <a:srgbClr val="FF3100"/>
                </a:solidFill>
                <a:latin typeface="Arial" panose="020B0604020202020204" pitchFamily="34" charset="0"/>
                <a:cs typeface="Arial" panose="020B0604020202020204" pitchFamily="34" charset="0"/>
              </a:rPr>
              <a:t>red</a:t>
            </a:r>
            <a:r>
              <a:rPr lang="it-IT" b="1" i="0" u="none" strike="noStrike" baseline="0" dirty="0">
                <a:solidFill>
                  <a:srgbClr val="FF3100"/>
                </a:solidFill>
                <a:latin typeface="Arial" panose="020B0604020202020204" pitchFamily="34" charset="0"/>
                <a:cs typeface="Arial" panose="020B0604020202020204" pitchFamily="34" charset="0"/>
              </a:rPr>
              <a:t>= -0.7618 V</a:t>
            </a:r>
            <a:endParaRPr lang="it-IT" b="1" dirty="0">
              <a:solidFill>
                <a:srgbClr val="FF3100"/>
              </a:solidFill>
              <a:latin typeface="Arial" panose="020B0604020202020204" pitchFamily="34" charset="0"/>
              <a:cs typeface="Arial" panose="020B0604020202020204" pitchFamily="34" charset="0"/>
            </a:endParaRPr>
          </a:p>
          <a:p>
            <a:pPr marR="20850" lvl="1" algn="just"/>
            <a:endParaRPr lang="it-IT" b="1" i="0" u="none" strike="noStrike" baseline="0" dirty="0">
              <a:solidFill>
                <a:srgbClr val="FF3100"/>
              </a:solidFill>
              <a:latin typeface="Arial" panose="020B0604020202020204" pitchFamily="34" charset="0"/>
              <a:cs typeface="Arial" panose="020B0604020202020204" pitchFamily="34" charset="0"/>
            </a:endParaRPr>
          </a:p>
          <a:p>
            <a:pPr marR="20850" lvl="1" algn="just"/>
            <a:r>
              <a:rPr lang="pt-BR" b="1" i="0" u="none" strike="noStrike" baseline="0" dirty="0">
                <a:solidFill>
                  <a:srgbClr val="FF3100"/>
                </a:solidFill>
                <a:latin typeface="Arial" panose="020B0604020202020204" pitchFamily="34" charset="0"/>
                <a:cs typeface="Arial" panose="020B0604020202020204" pitchFamily="34" charset="0"/>
              </a:rPr>
              <a:t>Cu</a:t>
            </a:r>
            <a:r>
              <a:rPr lang="pt-BR" b="1" i="0" u="none" strike="noStrike" baseline="30000" dirty="0">
                <a:solidFill>
                  <a:srgbClr val="FF3100"/>
                </a:solidFill>
                <a:latin typeface="Arial" panose="020B0604020202020204" pitchFamily="34" charset="0"/>
                <a:cs typeface="Arial" panose="020B0604020202020204" pitchFamily="34" charset="0"/>
              </a:rPr>
              <a:t>2+ </a:t>
            </a:r>
            <a:r>
              <a:rPr lang="pt-BR" b="1" i="0" u="none" strike="noStrike" baseline="0" dirty="0">
                <a:solidFill>
                  <a:srgbClr val="FF3100"/>
                </a:solidFill>
                <a:latin typeface="Arial" panose="020B0604020202020204" pitchFamily="34" charset="0"/>
                <a:cs typeface="Arial" panose="020B0604020202020204" pitchFamily="34" charset="0"/>
              </a:rPr>
              <a:t>+ 2e</a:t>
            </a:r>
            <a:r>
              <a:rPr lang="pt-BR" b="1" i="0" u="none" strike="noStrike" baseline="30000" dirty="0">
                <a:solidFill>
                  <a:srgbClr val="FF3100"/>
                </a:solidFill>
                <a:latin typeface="Arial" panose="020B0604020202020204" pitchFamily="34" charset="0"/>
                <a:cs typeface="Arial" panose="020B0604020202020204" pitchFamily="34" charset="0"/>
              </a:rPr>
              <a:t>-</a:t>
            </a:r>
            <a:r>
              <a:rPr lang="pt-BR" b="1" i="0" u="none" strike="noStrike" baseline="0" dirty="0">
                <a:solidFill>
                  <a:srgbClr val="FF3100"/>
                </a:solidFill>
                <a:latin typeface="Arial" panose="020B0604020202020204" pitchFamily="34" charset="0"/>
                <a:cs typeface="Arial" panose="020B0604020202020204" pitchFamily="34" charset="0"/>
              </a:rPr>
              <a:t> = Cu,  E°</a:t>
            </a:r>
            <a:r>
              <a:rPr lang="pt-BR" b="1" i="0" u="none" strike="noStrike" baseline="-25000" dirty="0">
                <a:solidFill>
                  <a:srgbClr val="FF3100"/>
                </a:solidFill>
                <a:latin typeface="Arial" panose="020B0604020202020204" pitchFamily="34" charset="0"/>
                <a:cs typeface="Arial" panose="020B0604020202020204" pitchFamily="34" charset="0"/>
              </a:rPr>
              <a:t>red</a:t>
            </a:r>
            <a:r>
              <a:rPr lang="pt-BR" b="1" i="0" u="none" strike="noStrike" baseline="0" dirty="0">
                <a:solidFill>
                  <a:srgbClr val="FF3100"/>
                </a:solidFill>
                <a:latin typeface="Arial" panose="020B0604020202020204" pitchFamily="34" charset="0"/>
                <a:cs typeface="Arial" panose="020B0604020202020204" pitchFamily="34" charset="0"/>
              </a:rPr>
              <a:t>= 0.341 V</a:t>
            </a:r>
          </a:p>
          <a:p>
            <a:pPr marR="23420" lvl="2" algn="just"/>
            <a:endParaRPr lang="pt-BR" b="0" i="0" u="none" strike="noStrike" baseline="0" dirty="0">
              <a:solidFill>
                <a:srgbClr val="FF3100"/>
              </a:solidFill>
              <a:latin typeface="Arial" panose="020B0604020202020204" pitchFamily="34" charset="0"/>
              <a:cs typeface="Arial" panose="020B0604020202020204" pitchFamily="34" charset="0"/>
            </a:endParaRPr>
          </a:p>
          <a:p>
            <a:pPr marR="13350" algn="just"/>
            <a:r>
              <a:rPr lang="en-US" b="1" i="0" u="none" strike="noStrike" baseline="0" dirty="0">
                <a:solidFill>
                  <a:srgbClr val="000000"/>
                </a:solidFill>
                <a:latin typeface="Arial" panose="020B0604020202020204" pitchFamily="34" charset="0"/>
                <a:cs typeface="Arial" panose="020B0604020202020204" pitchFamily="34" charset="0"/>
              </a:rPr>
              <a:t>Thus, in the above example, Zn is oxidized, and Cu is reduced</a:t>
            </a:r>
            <a:endParaRPr lang="en-IN"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BB2B73D-F094-6174-5C9B-02327066FFBA}"/>
              </a:ext>
            </a:extLst>
          </p:cNvPr>
          <p:cNvSpPr txBox="1"/>
          <p:nvPr/>
        </p:nvSpPr>
        <p:spPr>
          <a:xfrm>
            <a:off x="878975" y="3738745"/>
            <a:ext cx="9041812" cy="2769989"/>
          </a:xfrm>
          <a:prstGeom prst="rect">
            <a:avLst/>
          </a:prstGeom>
          <a:noFill/>
        </p:spPr>
        <p:txBody>
          <a:bodyPr wrap="square">
            <a:spAutoFit/>
          </a:bodyPr>
          <a:lstStyle/>
          <a:p>
            <a:pPr marR="49720" algn="just"/>
            <a:r>
              <a:rPr lang="el-GR" b="1" i="0" u="none" strike="noStrike" baseline="0" dirty="0">
                <a:solidFill>
                  <a:srgbClr val="FF3100"/>
                </a:solidFill>
                <a:latin typeface="Arial" panose="020B0604020202020204" pitchFamily="34" charset="0"/>
                <a:cs typeface="Arial" panose="020B0604020202020204" pitchFamily="34" charset="0"/>
              </a:rPr>
              <a:t>Δ</a:t>
            </a:r>
            <a:r>
              <a:rPr lang="en-IN" b="1" dirty="0" err="1">
                <a:solidFill>
                  <a:srgbClr val="FF3100"/>
                </a:solidFill>
                <a:latin typeface="Arial" panose="020B0604020202020204" pitchFamily="34" charset="0"/>
                <a:cs typeface="Arial" panose="020B0604020202020204" pitchFamily="34" charset="0"/>
              </a:rPr>
              <a:t>G</a:t>
            </a:r>
            <a:r>
              <a:rPr lang="en-IN" b="1" i="0" u="none" strike="noStrike" baseline="-25000" dirty="0" err="1">
                <a:solidFill>
                  <a:srgbClr val="FF3100"/>
                </a:solidFill>
                <a:latin typeface="Arial" panose="020B0604020202020204" pitchFamily="34" charset="0"/>
                <a:cs typeface="Arial" panose="020B0604020202020204" pitchFamily="34" charset="0"/>
              </a:rPr>
              <a:t>cell</a:t>
            </a:r>
            <a:r>
              <a:rPr lang="en-IN" b="1" i="0" u="none" strike="noStrike" baseline="0" dirty="0">
                <a:solidFill>
                  <a:srgbClr val="FF3100"/>
                </a:solidFill>
                <a:latin typeface="Arial" panose="020B0604020202020204" pitchFamily="34" charset="0"/>
                <a:cs typeface="Arial" panose="020B0604020202020204" pitchFamily="34" charset="0"/>
              </a:rPr>
              <a:t> = -</a:t>
            </a:r>
            <a:r>
              <a:rPr lang="en-IN" b="1" dirty="0" err="1">
                <a:solidFill>
                  <a:srgbClr val="FF3100"/>
                </a:solidFill>
                <a:latin typeface="Arial" panose="020B0604020202020204" pitchFamily="34" charset="0"/>
                <a:cs typeface="Arial" panose="020B0604020202020204" pitchFamily="34" charset="0"/>
              </a:rPr>
              <a:t>n</a:t>
            </a:r>
            <a:r>
              <a:rPr lang="en-IN" b="1" i="0" u="none" strike="noStrike" baseline="0" dirty="0" err="1">
                <a:solidFill>
                  <a:srgbClr val="FF3100"/>
                </a:solidFill>
                <a:latin typeface="Arial" panose="020B0604020202020204" pitchFamily="34" charset="0"/>
                <a:cs typeface="Arial" panose="020B0604020202020204" pitchFamily="34" charset="0"/>
              </a:rPr>
              <a:t>FE</a:t>
            </a:r>
            <a:r>
              <a:rPr lang="en-IN" b="1" i="0" u="none" strike="noStrike" baseline="-25000" dirty="0" err="1">
                <a:solidFill>
                  <a:srgbClr val="FF3100"/>
                </a:solidFill>
                <a:latin typeface="Arial" panose="020B0604020202020204" pitchFamily="34" charset="0"/>
                <a:cs typeface="Arial" panose="020B0604020202020204" pitchFamily="34" charset="0"/>
              </a:rPr>
              <a:t>cell</a:t>
            </a:r>
            <a:endParaRPr lang="en-IN" b="1" i="0" u="none" strike="noStrike" baseline="-25000" dirty="0">
              <a:solidFill>
                <a:srgbClr val="FF3100"/>
              </a:solidFill>
              <a:latin typeface="Arial" panose="020B0604020202020204" pitchFamily="34" charset="0"/>
              <a:cs typeface="Arial" panose="020B0604020202020204" pitchFamily="34" charset="0"/>
            </a:endParaRPr>
          </a:p>
          <a:p>
            <a:pPr marR="49720" algn="just"/>
            <a:endParaRPr lang="en-IN" b="0" i="0" u="none" strike="noStrike" baseline="0" dirty="0">
              <a:solidFill>
                <a:srgbClr val="FF3100"/>
              </a:solidFill>
              <a:latin typeface="Arial" panose="020B0604020202020204" pitchFamily="34" charset="0"/>
              <a:cs typeface="Arial" panose="020B0604020202020204" pitchFamily="34" charset="0"/>
            </a:endParaRPr>
          </a:p>
          <a:p>
            <a:pPr marR="73250" algn="just"/>
            <a:r>
              <a:rPr lang="en-IN" b="1" i="0" u="none" strike="noStrike" baseline="0" dirty="0" err="1">
                <a:solidFill>
                  <a:srgbClr val="FF3100"/>
                </a:solidFill>
                <a:latin typeface="Arial" panose="020B0604020202020204" pitchFamily="34" charset="0"/>
                <a:cs typeface="Arial" panose="020B0604020202020204" pitchFamily="34" charset="0"/>
              </a:rPr>
              <a:t>E</a:t>
            </a:r>
            <a:r>
              <a:rPr lang="en-IN" b="1" i="0" u="none" strike="noStrike" baseline="-25000" dirty="0" err="1">
                <a:solidFill>
                  <a:srgbClr val="FF3100"/>
                </a:solidFill>
                <a:latin typeface="Arial" panose="020B0604020202020204" pitchFamily="34" charset="0"/>
                <a:cs typeface="Arial" panose="020B0604020202020204" pitchFamily="34" charset="0"/>
              </a:rPr>
              <a:t>cell</a:t>
            </a:r>
            <a:r>
              <a:rPr lang="en-IN" b="1" i="0" u="none" strike="noStrike" baseline="0" dirty="0">
                <a:solidFill>
                  <a:srgbClr val="FF3100"/>
                </a:solidFill>
                <a:latin typeface="Arial" panose="020B0604020202020204" pitchFamily="34" charset="0"/>
                <a:cs typeface="Arial" panose="020B0604020202020204" pitchFamily="34" charset="0"/>
              </a:rPr>
              <a:t> = </a:t>
            </a:r>
            <a:r>
              <a:rPr lang="en-IN" b="1" i="0" u="none" strike="noStrike" baseline="0" dirty="0" err="1">
                <a:solidFill>
                  <a:srgbClr val="FF3100"/>
                </a:solidFill>
                <a:latin typeface="Arial" panose="020B0604020202020204" pitchFamily="34" charset="0"/>
                <a:cs typeface="Arial" panose="020B0604020202020204" pitchFamily="34" charset="0"/>
              </a:rPr>
              <a:t>E</a:t>
            </a:r>
            <a:r>
              <a:rPr lang="en-IN" b="1" i="0" u="none" strike="noStrike" baseline="-25000" dirty="0" err="1">
                <a:solidFill>
                  <a:srgbClr val="FF3100"/>
                </a:solidFill>
                <a:latin typeface="Arial" panose="020B0604020202020204" pitchFamily="34" charset="0"/>
                <a:cs typeface="Arial" panose="020B0604020202020204" pitchFamily="34" charset="0"/>
              </a:rPr>
              <a:t>cathode</a:t>
            </a:r>
            <a:r>
              <a:rPr lang="en-IN" b="1" i="0" u="none" strike="noStrike" baseline="0" dirty="0">
                <a:solidFill>
                  <a:srgbClr val="FF3100"/>
                </a:solidFill>
                <a:latin typeface="Arial" panose="020B0604020202020204" pitchFamily="34" charset="0"/>
                <a:cs typeface="Arial" panose="020B0604020202020204" pitchFamily="34" charset="0"/>
              </a:rPr>
              <a:t>–E </a:t>
            </a:r>
            <a:r>
              <a:rPr lang="en-IN" b="1" i="0" u="none" strike="noStrike" baseline="-25000" dirty="0">
                <a:solidFill>
                  <a:srgbClr val="FF3100"/>
                </a:solidFill>
                <a:latin typeface="Arial" panose="020B0604020202020204" pitchFamily="34" charset="0"/>
                <a:cs typeface="Arial" panose="020B0604020202020204" pitchFamily="34" charset="0"/>
              </a:rPr>
              <a:t>anode</a:t>
            </a:r>
          </a:p>
          <a:p>
            <a:pPr marR="73250" algn="just"/>
            <a:endParaRPr lang="en-IN" b="0" i="0" u="none" strike="noStrike" baseline="-25000" dirty="0">
              <a:solidFill>
                <a:srgbClr val="FF3100"/>
              </a:solidFill>
              <a:latin typeface="Arial" panose="020B0604020202020204" pitchFamily="34" charset="0"/>
              <a:cs typeface="Arial" panose="020B0604020202020204" pitchFamily="34" charset="0"/>
            </a:endParaRPr>
          </a:p>
          <a:p>
            <a:pPr marR="13500" lvl="1" algn="just"/>
            <a:r>
              <a:rPr lang="en-US" b="1" i="0" u="none" strike="noStrike" baseline="0" dirty="0">
                <a:solidFill>
                  <a:srgbClr val="006300"/>
                </a:solidFill>
                <a:latin typeface="Arial" panose="020B0604020202020204" pitchFamily="34" charset="0"/>
                <a:cs typeface="Arial" panose="020B0604020202020204" pitchFamily="34" charset="0"/>
              </a:rPr>
              <a:t>For a feasible reaction: </a:t>
            </a:r>
            <a:r>
              <a:rPr lang="en-US" b="1" i="0" u="none" strike="noStrike" baseline="0" dirty="0" err="1">
                <a:solidFill>
                  <a:srgbClr val="006300"/>
                </a:solidFill>
                <a:latin typeface="Arial" panose="020B0604020202020204" pitchFamily="34" charset="0"/>
                <a:cs typeface="Arial" panose="020B0604020202020204" pitchFamily="34" charset="0"/>
              </a:rPr>
              <a:t>E</a:t>
            </a:r>
            <a:r>
              <a:rPr lang="en-US" b="1" i="0" u="none" strike="noStrike" baseline="-25000" dirty="0" err="1">
                <a:solidFill>
                  <a:srgbClr val="006300"/>
                </a:solidFill>
                <a:latin typeface="Arial" panose="020B0604020202020204" pitchFamily="34" charset="0"/>
                <a:cs typeface="Arial" panose="020B0604020202020204" pitchFamily="34" charset="0"/>
              </a:rPr>
              <a:t>cell</a:t>
            </a:r>
            <a:r>
              <a:rPr lang="en-US" b="1" i="0" u="none" strike="noStrike" baseline="0" dirty="0">
                <a:solidFill>
                  <a:srgbClr val="006300"/>
                </a:solidFill>
                <a:latin typeface="Arial" panose="020B0604020202020204" pitchFamily="34" charset="0"/>
                <a:cs typeface="Arial" panose="020B0604020202020204" pitchFamily="34" charset="0"/>
              </a:rPr>
              <a:t> must be positive (so that </a:t>
            </a:r>
            <a:r>
              <a:rPr lang="en-US" b="1" i="0" u="none" strike="noStrike" baseline="0" dirty="0" err="1">
                <a:solidFill>
                  <a:srgbClr val="006300"/>
                </a:solidFill>
                <a:latin typeface="Arial" panose="020B0604020202020204" pitchFamily="34" charset="0"/>
                <a:cs typeface="Arial" panose="020B0604020202020204" pitchFamily="34" charset="0"/>
              </a:rPr>
              <a:t>Δ</a:t>
            </a:r>
            <a:r>
              <a:rPr lang="en-US" b="1" dirty="0" err="1">
                <a:solidFill>
                  <a:srgbClr val="006300"/>
                </a:solidFill>
                <a:latin typeface="Arial" panose="020B0604020202020204" pitchFamily="34" charset="0"/>
                <a:cs typeface="Arial" panose="020B0604020202020204" pitchFamily="34" charset="0"/>
              </a:rPr>
              <a:t>G</a:t>
            </a:r>
            <a:r>
              <a:rPr lang="en-US" b="1" i="0" u="none" strike="noStrike" baseline="-25000" dirty="0" err="1">
                <a:solidFill>
                  <a:srgbClr val="006300"/>
                </a:solidFill>
                <a:latin typeface="Arial" panose="020B0604020202020204" pitchFamily="34" charset="0"/>
                <a:cs typeface="Arial" panose="020B0604020202020204" pitchFamily="34" charset="0"/>
              </a:rPr>
              <a:t>cell</a:t>
            </a:r>
            <a:r>
              <a:rPr lang="en-US" b="1" i="0" u="none" strike="noStrike" baseline="0" dirty="0">
                <a:solidFill>
                  <a:srgbClr val="006300"/>
                </a:solidFill>
                <a:latin typeface="Arial" panose="020B0604020202020204" pitchFamily="34" charset="0"/>
                <a:cs typeface="Arial" panose="020B0604020202020204" pitchFamily="34" charset="0"/>
              </a:rPr>
              <a:t> is negative –</a:t>
            </a:r>
            <a:endParaRPr lang="en-US" b="1" dirty="0">
              <a:solidFill>
                <a:srgbClr val="006300"/>
              </a:solidFill>
              <a:latin typeface="Arial" panose="020B0604020202020204" pitchFamily="34" charset="0"/>
              <a:cs typeface="Arial" panose="020B0604020202020204" pitchFamily="34" charset="0"/>
            </a:endParaRPr>
          </a:p>
          <a:p>
            <a:pPr marR="13500" lvl="1" algn="just"/>
            <a:endParaRPr lang="en-IN" b="1" i="0" u="none" strike="noStrike" baseline="0" dirty="0">
              <a:solidFill>
                <a:srgbClr val="FF3100"/>
              </a:solidFill>
              <a:latin typeface="Arial" panose="020B0604020202020204" pitchFamily="34" charset="0"/>
              <a:cs typeface="Arial" panose="020B0604020202020204" pitchFamily="34" charset="0"/>
            </a:endParaRPr>
          </a:p>
          <a:p>
            <a:pPr marR="13500" lvl="1" algn="just"/>
            <a:r>
              <a:rPr lang="en-IN" b="1" i="0" u="none" strike="noStrike" baseline="0" dirty="0">
                <a:solidFill>
                  <a:srgbClr val="FF3100"/>
                </a:solidFill>
                <a:latin typeface="Arial" panose="020B0604020202020204" pitchFamily="34" charset="0"/>
                <a:cs typeface="Arial" panose="020B0604020202020204" pitchFamily="34" charset="0"/>
              </a:rPr>
              <a:t>Therefore: </a:t>
            </a:r>
            <a:endParaRPr lang="en-IN" b="0" i="0" u="none" strike="noStrike" baseline="0" dirty="0">
              <a:solidFill>
                <a:srgbClr val="FF3100"/>
              </a:solidFill>
              <a:latin typeface="Arial" panose="020B0604020202020204" pitchFamily="34" charset="0"/>
              <a:cs typeface="Arial" panose="020B0604020202020204" pitchFamily="34" charset="0"/>
            </a:endParaRPr>
          </a:p>
          <a:p>
            <a:pPr marR="73320" algn="just"/>
            <a:r>
              <a:rPr lang="en-US" b="1" i="0" u="none" strike="noStrike" baseline="0" dirty="0" err="1">
                <a:solidFill>
                  <a:srgbClr val="FF3100"/>
                </a:solidFill>
                <a:latin typeface="Arial" panose="020B0604020202020204" pitchFamily="34" charset="0"/>
                <a:cs typeface="Arial" panose="020B0604020202020204" pitchFamily="34" charset="0"/>
              </a:rPr>
              <a:t>E</a:t>
            </a:r>
            <a:r>
              <a:rPr lang="en-US" b="1" i="0" u="none" strike="noStrike" baseline="-25000" dirty="0" err="1">
                <a:solidFill>
                  <a:srgbClr val="FF3100"/>
                </a:solidFill>
                <a:latin typeface="Arial" panose="020B0604020202020204" pitchFamily="34" charset="0"/>
                <a:cs typeface="Arial" panose="020B0604020202020204" pitchFamily="34" charset="0"/>
              </a:rPr>
              <a:t>cathode</a:t>
            </a:r>
            <a:r>
              <a:rPr lang="en-US" b="1" i="0" u="none" strike="noStrike" baseline="0" dirty="0">
                <a:solidFill>
                  <a:srgbClr val="FF3100"/>
                </a:solidFill>
                <a:latin typeface="Arial" panose="020B0604020202020204" pitchFamily="34" charset="0"/>
                <a:cs typeface="Arial" panose="020B0604020202020204" pitchFamily="34" charset="0"/>
              </a:rPr>
              <a:t>–E </a:t>
            </a:r>
            <a:r>
              <a:rPr lang="en-US" b="1" i="0" u="none" strike="noStrike" baseline="-25000" dirty="0">
                <a:solidFill>
                  <a:srgbClr val="FF3100"/>
                </a:solidFill>
                <a:latin typeface="Arial" panose="020B0604020202020204" pitchFamily="34" charset="0"/>
                <a:cs typeface="Arial" panose="020B0604020202020204" pitchFamily="34" charset="0"/>
              </a:rPr>
              <a:t>anode</a:t>
            </a:r>
            <a:r>
              <a:rPr lang="en-US" b="1" i="0" u="none" strike="noStrike" baseline="0" dirty="0">
                <a:solidFill>
                  <a:srgbClr val="FF3100"/>
                </a:solidFill>
                <a:latin typeface="Arial" panose="020B0604020202020204" pitchFamily="34" charset="0"/>
                <a:cs typeface="Arial" panose="020B0604020202020204" pitchFamily="34" charset="0"/>
              </a:rPr>
              <a:t> &gt; 0 </a:t>
            </a:r>
          </a:p>
          <a:p>
            <a:pPr marR="73320" algn="just"/>
            <a:r>
              <a:rPr lang="en-US" b="1" i="0" u="none" strike="noStrike" baseline="0" dirty="0">
                <a:solidFill>
                  <a:srgbClr val="FF3100"/>
                </a:solidFill>
                <a:latin typeface="Arial" panose="020B0604020202020204" pitchFamily="34" charset="0"/>
                <a:cs typeface="Arial" panose="020B0604020202020204" pitchFamily="34" charset="0"/>
              </a:rPr>
              <a:t>or </a:t>
            </a:r>
          </a:p>
          <a:p>
            <a:pPr marR="90020" algn="just"/>
            <a:r>
              <a:rPr lang="en-IN" b="1" i="0" u="none" strike="noStrike" baseline="0" dirty="0" err="1">
                <a:solidFill>
                  <a:srgbClr val="FF3100"/>
                </a:solidFill>
                <a:latin typeface="Arial" panose="020B0604020202020204" pitchFamily="34" charset="0"/>
                <a:cs typeface="Arial" panose="020B0604020202020204" pitchFamily="34" charset="0"/>
              </a:rPr>
              <a:t>E</a:t>
            </a:r>
            <a:r>
              <a:rPr lang="en-IN" b="1" i="0" u="none" strike="noStrike" baseline="-25000" dirty="0" err="1">
                <a:solidFill>
                  <a:srgbClr val="FF3100"/>
                </a:solidFill>
                <a:latin typeface="Arial" panose="020B0604020202020204" pitchFamily="34" charset="0"/>
                <a:cs typeface="Arial" panose="020B0604020202020204" pitchFamily="34" charset="0"/>
              </a:rPr>
              <a:t>cathode</a:t>
            </a:r>
            <a:r>
              <a:rPr lang="en-IN" b="1" i="0" u="none" strike="noStrike" baseline="0" dirty="0">
                <a:solidFill>
                  <a:srgbClr val="FF3100"/>
                </a:solidFill>
                <a:latin typeface="Arial" panose="020B0604020202020204" pitchFamily="34" charset="0"/>
                <a:cs typeface="Arial" panose="020B0604020202020204" pitchFamily="34" charset="0"/>
              </a:rPr>
              <a:t>&gt; E </a:t>
            </a:r>
            <a:r>
              <a:rPr lang="en-IN" b="1" i="0" u="none" strike="noStrike" baseline="-25000" dirty="0">
                <a:solidFill>
                  <a:srgbClr val="FF3100"/>
                </a:solidFill>
                <a:latin typeface="Arial" panose="020B0604020202020204" pitchFamily="34" charset="0"/>
                <a:cs typeface="Arial" panose="020B0604020202020204" pitchFamily="34" charset="0"/>
              </a:rPr>
              <a:t>anode</a:t>
            </a:r>
            <a:endParaRPr lang="en-IN" baseline="-25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302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A8E68B-36A3-6FD1-EF8E-B08C6BB1ABDE}"/>
              </a:ext>
            </a:extLst>
          </p:cNvPr>
          <p:cNvSpPr txBox="1"/>
          <p:nvPr/>
        </p:nvSpPr>
        <p:spPr>
          <a:xfrm>
            <a:off x="942983" y="366413"/>
            <a:ext cx="8913796" cy="2862322"/>
          </a:xfrm>
          <a:prstGeom prst="rect">
            <a:avLst/>
          </a:prstGeom>
          <a:noFill/>
        </p:spPr>
        <p:txBody>
          <a:bodyPr wrap="square">
            <a:spAutoFit/>
          </a:bodyPr>
          <a:lstStyle/>
          <a:p>
            <a:pPr algn="just"/>
            <a:endParaRPr lang="en-IN" b="0" i="0" u="none" strike="noStrike" baseline="0" dirty="0">
              <a:solidFill>
                <a:srgbClr val="000000"/>
              </a:solidFill>
              <a:latin typeface="Arial" panose="020B0604020202020204" pitchFamily="34" charset="0"/>
              <a:cs typeface="Arial" panose="020B0604020202020204" pitchFamily="34" charset="0"/>
            </a:endParaRPr>
          </a:p>
          <a:p>
            <a:pPr marR="19470" algn="just"/>
            <a:r>
              <a:rPr lang="en-US" b="0" i="0" u="none" strike="noStrike" baseline="0" dirty="0">
                <a:solidFill>
                  <a:srgbClr val="0000FF"/>
                </a:solidFill>
                <a:latin typeface="Arial" panose="020B0604020202020204" pitchFamily="34" charset="0"/>
                <a:cs typeface="Arial" panose="020B0604020202020204" pitchFamily="34" charset="0"/>
              </a:rPr>
              <a:t>Since oxidation occurs at the anode –the species with the lower reduction potential will get oxidized </a:t>
            </a:r>
          </a:p>
          <a:p>
            <a:pPr marR="19470" algn="just"/>
            <a:endParaRPr lang="en-US" b="0" i="0" u="none" strike="noStrike" baseline="0" dirty="0">
              <a:solidFill>
                <a:srgbClr val="0000FF"/>
              </a:solidFill>
              <a:latin typeface="Arial" panose="020B0604020202020204" pitchFamily="34" charset="0"/>
              <a:cs typeface="Arial" panose="020B0604020202020204" pitchFamily="34" charset="0"/>
            </a:endParaRPr>
          </a:p>
          <a:p>
            <a:pPr marR="26620" algn="just"/>
            <a:r>
              <a:rPr lang="en-US" b="0" i="0" u="none" strike="noStrike" baseline="0" dirty="0">
                <a:solidFill>
                  <a:srgbClr val="0000FF"/>
                </a:solidFill>
                <a:latin typeface="Arial" panose="020B0604020202020204" pitchFamily="34" charset="0"/>
                <a:cs typeface="Arial" panose="020B0604020202020204" pitchFamily="34" charset="0"/>
              </a:rPr>
              <a:t>•This is to ensure that </a:t>
            </a:r>
            <a:r>
              <a:rPr lang="en-US" b="1" i="0" u="none" strike="noStrike" baseline="0" dirty="0">
                <a:solidFill>
                  <a:srgbClr val="FF3100"/>
                </a:solidFill>
                <a:latin typeface="Arial" panose="020B0604020202020204" pitchFamily="34" charset="0"/>
                <a:cs typeface="Arial" panose="020B0604020202020204" pitchFamily="34" charset="0"/>
              </a:rPr>
              <a:t>ΔG </a:t>
            </a:r>
            <a:r>
              <a:rPr lang="en-US" b="1" i="0" u="none" strike="noStrike" baseline="-25000" dirty="0">
                <a:solidFill>
                  <a:srgbClr val="FF3100"/>
                </a:solidFill>
                <a:latin typeface="Arial" panose="020B0604020202020204" pitchFamily="34" charset="0"/>
                <a:cs typeface="Arial" panose="020B0604020202020204" pitchFamily="34" charset="0"/>
              </a:rPr>
              <a:t>cell</a:t>
            </a:r>
            <a:r>
              <a:rPr lang="en-US" b="1" i="0" u="none" strike="noStrike" baseline="0" dirty="0">
                <a:solidFill>
                  <a:srgbClr val="FF3100"/>
                </a:solidFill>
                <a:latin typeface="Arial" panose="020B0604020202020204" pitchFamily="34" charset="0"/>
                <a:cs typeface="Arial" panose="020B0604020202020204" pitchFamily="34" charset="0"/>
              </a:rPr>
              <a:t> is negative</a:t>
            </a:r>
          </a:p>
          <a:p>
            <a:pPr marR="26620" algn="just"/>
            <a:endParaRPr lang="en-US" b="0" i="0" u="none" strike="noStrike" baseline="0" dirty="0">
              <a:solidFill>
                <a:srgbClr val="FF3100"/>
              </a:solidFill>
              <a:latin typeface="Arial" panose="020B0604020202020204" pitchFamily="34" charset="0"/>
              <a:cs typeface="Arial" panose="020B0604020202020204" pitchFamily="34" charset="0"/>
            </a:endParaRPr>
          </a:p>
          <a:p>
            <a:pPr marR="27700" algn="just"/>
            <a:r>
              <a:rPr lang="en-US" b="0" i="0" u="none" strike="noStrike" baseline="0" dirty="0">
                <a:solidFill>
                  <a:srgbClr val="FF3100"/>
                </a:solidFill>
                <a:latin typeface="Arial" panose="020B0604020202020204" pitchFamily="34" charset="0"/>
                <a:cs typeface="Arial" panose="020B0604020202020204" pitchFamily="34" charset="0"/>
              </a:rPr>
              <a:t>•</a:t>
            </a:r>
            <a:r>
              <a:rPr lang="en-US" b="1" i="0" u="none" strike="noStrike" baseline="0" dirty="0">
                <a:latin typeface="Arial" panose="020B0604020202020204" pitchFamily="34" charset="0"/>
                <a:cs typeface="Arial" panose="020B0604020202020204" pitchFamily="34" charset="0"/>
              </a:rPr>
              <a:t>This is why Zn got oxidized (and Cu reduced) in the above example. </a:t>
            </a:r>
            <a:endParaRPr lang="en-US" b="0" i="0" u="none" strike="noStrike" baseline="0" dirty="0">
              <a:latin typeface="Arial" panose="020B0604020202020204" pitchFamily="34" charset="0"/>
              <a:cs typeface="Arial" panose="020B0604020202020204" pitchFamily="34" charset="0"/>
            </a:endParaRPr>
          </a:p>
          <a:p>
            <a:pPr marR="58800" algn="just"/>
            <a:r>
              <a:rPr lang="en-US" b="0" i="0" u="none" strike="noStrike" baseline="0" dirty="0">
                <a:latin typeface="Arial" panose="020B0604020202020204" pitchFamily="34" charset="0"/>
                <a:cs typeface="Arial" panose="020B0604020202020204" pitchFamily="34" charset="0"/>
              </a:rPr>
              <a:t>•</a:t>
            </a:r>
            <a:r>
              <a:rPr lang="en-US" b="1" i="0" u="none" strike="noStrike" baseline="0" dirty="0">
                <a:latin typeface="Arial" panose="020B0604020202020204" pitchFamily="34" charset="0"/>
                <a:cs typeface="Arial" panose="020B0604020202020204" pitchFamily="34" charset="0"/>
              </a:rPr>
              <a:t>In this case: </a:t>
            </a:r>
            <a:r>
              <a:rPr lang="en-US" b="1" i="0" u="none" strike="noStrike" baseline="0" dirty="0" err="1">
                <a:latin typeface="Arial" panose="020B0604020202020204" pitchFamily="34" charset="0"/>
                <a:cs typeface="Arial" panose="020B0604020202020204" pitchFamily="34" charset="0"/>
              </a:rPr>
              <a:t>E</a:t>
            </a:r>
            <a:r>
              <a:rPr lang="en-US" b="1" i="0" u="none" strike="noStrike" baseline="-25000" dirty="0" err="1">
                <a:latin typeface="Arial" panose="020B0604020202020204" pitchFamily="34" charset="0"/>
                <a:cs typeface="Arial" panose="020B0604020202020204" pitchFamily="34" charset="0"/>
              </a:rPr>
              <a:t>cell</a:t>
            </a:r>
            <a:r>
              <a:rPr lang="en-US" b="1" i="0" u="none" strike="noStrike" baseline="0" dirty="0">
                <a:latin typeface="Arial" panose="020B0604020202020204" pitchFamily="34" charset="0"/>
                <a:cs typeface="Arial" panose="020B0604020202020204" pitchFamily="34" charset="0"/>
              </a:rPr>
              <a:t>= 1.102. </a:t>
            </a:r>
          </a:p>
          <a:p>
            <a:pPr marR="58800" algn="just"/>
            <a:endParaRPr lang="en-US" b="0" i="0" u="none" strike="noStrike" baseline="0" dirty="0">
              <a:solidFill>
                <a:srgbClr val="FF3100"/>
              </a:solidFill>
              <a:latin typeface="Arial" panose="020B0604020202020204" pitchFamily="34" charset="0"/>
              <a:cs typeface="Arial" panose="020B0604020202020204" pitchFamily="34" charset="0"/>
            </a:endParaRPr>
          </a:p>
          <a:p>
            <a:pPr marR="17970" algn="just"/>
            <a:r>
              <a:rPr lang="en-US" b="0" i="0" u="none" strike="noStrike" baseline="0" dirty="0">
                <a:latin typeface="Arial" panose="020B0604020202020204" pitchFamily="34" charset="0"/>
                <a:cs typeface="Arial" panose="020B0604020202020204" pitchFamily="34" charset="0"/>
              </a:rPr>
              <a:t>•</a:t>
            </a:r>
            <a:r>
              <a:rPr lang="en-US" b="1" i="0" u="none" strike="noStrike" baseline="0" dirty="0">
                <a:latin typeface="Arial" panose="020B0604020202020204" pitchFamily="34" charset="0"/>
                <a:cs typeface="Arial" panose="020B0604020202020204" pitchFamily="34" charset="0"/>
              </a:rPr>
              <a:t>If the reverse were to occur, </a:t>
            </a:r>
            <a:r>
              <a:rPr lang="en-US" b="1" i="0" u="none" strike="noStrike" baseline="0" dirty="0" err="1">
                <a:latin typeface="Arial" panose="020B0604020202020204" pitchFamily="34" charset="0"/>
                <a:cs typeface="Arial" panose="020B0604020202020204" pitchFamily="34" charset="0"/>
              </a:rPr>
              <a:t>E</a:t>
            </a:r>
            <a:r>
              <a:rPr lang="en-US" b="1" i="0" u="none" strike="noStrike" baseline="-25000" dirty="0" err="1">
                <a:latin typeface="Arial" panose="020B0604020202020204" pitchFamily="34" charset="0"/>
                <a:cs typeface="Arial" panose="020B0604020202020204" pitchFamily="34" charset="0"/>
              </a:rPr>
              <a:t>cell</a:t>
            </a:r>
            <a:r>
              <a:rPr lang="en-US" b="1" i="0" u="none" strike="noStrike" baseline="0" dirty="0">
                <a:latin typeface="Arial" panose="020B0604020202020204" pitchFamily="34" charset="0"/>
                <a:cs typeface="Arial" panose="020B0604020202020204" pitchFamily="34" charset="0"/>
              </a:rPr>
              <a:t> would be: -1.102, leading to a positive </a:t>
            </a:r>
            <a:r>
              <a:rPr lang="en-US" b="1" i="0" u="none" strike="noStrike" baseline="0" dirty="0" err="1">
                <a:latin typeface="Arial" panose="020B0604020202020204" pitchFamily="34" charset="0"/>
                <a:cs typeface="Arial" panose="020B0604020202020204" pitchFamily="34" charset="0"/>
              </a:rPr>
              <a:t>ΔG</a:t>
            </a:r>
            <a:r>
              <a:rPr lang="en-US" b="1" i="0" u="none" strike="noStrike" baseline="-25000" dirty="0" err="1">
                <a:latin typeface="Arial" panose="020B0604020202020204" pitchFamily="34" charset="0"/>
                <a:cs typeface="Arial" panose="020B0604020202020204" pitchFamily="34" charset="0"/>
              </a:rPr>
              <a:t>cell</a:t>
            </a:r>
            <a:endParaRPr lang="en-IN" baseline="-25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153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7" descr="IEC-4">
            <a:extLst>
              <a:ext uri="{FF2B5EF4-FFF2-40B4-BE49-F238E27FC236}">
                <a16:creationId xmlns:a16="http://schemas.microsoft.com/office/drawing/2014/main" id="{52CFD6F3-95AE-077C-04FE-E3879A8F3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48"/>
          <a:stretch>
            <a:fillRect/>
          </a:stretch>
        </p:blipFill>
        <p:spPr bwMode="auto">
          <a:xfrm>
            <a:off x="3061169" y="555116"/>
            <a:ext cx="3219422" cy="3264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4BE3F1FA-37FA-10B2-73D1-BC08132E5197}"/>
              </a:ext>
            </a:extLst>
          </p:cNvPr>
          <p:cNvGrpSpPr/>
          <p:nvPr/>
        </p:nvGrpSpPr>
        <p:grpSpPr>
          <a:xfrm>
            <a:off x="5468563" y="2001568"/>
            <a:ext cx="3549650" cy="954088"/>
            <a:chOff x="6109495" y="4470400"/>
            <a:chExt cx="3549650" cy="954088"/>
          </a:xfrm>
        </p:grpSpPr>
        <p:sp>
          <p:nvSpPr>
            <p:cNvPr id="18437" name="Text Box 8">
              <a:extLst>
                <a:ext uri="{FF2B5EF4-FFF2-40B4-BE49-F238E27FC236}">
                  <a16:creationId xmlns:a16="http://schemas.microsoft.com/office/drawing/2014/main" id="{915FDE3D-63DD-4DA9-D679-FDFDBA95D3A2}"/>
                </a:ext>
              </a:extLst>
            </p:cNvPr>
            <p:cNvSpPr txBox="1">
              <a:spLocks noChangeArrowheads="1"/>
            </p:cNvSpPr>
            <p:nvPr/>
          </p:nvSpPr>
          <p:spPr bwMode="auto">
            <a:xfrm>
              <a:off x="7281070" y="4470400"/>
              <a:ext cx="23780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en-US" sz="1600" u="sng">
                  <a:solidFill>
                    <a:srgbClr val="CC3300"/>
                  </a:solidFill>
                </a:rPr>
                <a:t>Cathode</a:t>
              </a:r>
              <a:r>
                <a:rPr lang="en-US" altLang="en-US" sz="1600">
                  <a:solidFill>
                    <a:srgbClr val="CC3300"/>
                  </a:solidFill>
                </a:rPr>
                <a:t>: electrode where reduction takes place</a:t>
              </a:r>
            </a:p>
          </p:txBody>
        </p:sp>
        <p:sp>
          <p:nvSpPr>
            <p:cNvPr id="18438" name="Line 9">
              <a:extLst>
                <a:ext uri="{FF2B5EF4-FFF2-40B4-BE49-F238E27FC236}">
                  <a16:creationId xmlns:a16="http://schemas.microsoft.com/office/drawing/2014/main" id="{D8E795D9-F96E-B2DF-2C27-7653FA5C94EC}"/>
                </a:ext>
              </a:extLst>
            </p:cNvPr>
            <p:cNvSpPr>
              <a:spLocks noChangeShapeType="1"/>
            </p:cNvSpPr>
            <p:nvPr/>
          </p:nvSpPr>
          <p:spPr bwMode="auto">
            <a:xfrm flipH="1">
              <a:off x="6109495" y="5022850"/>
              <a:ext cx="1260475" cy="401638"/>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grpSp>
        <p:nvGrpSpPr>
          <p:cNvPr id="3" name="Group 2">
            <a:extLst>
              <a:ext uri="{FF2B5EF4-FFF2-40B4-BE49-F238E27FC236}">
                <a16:creationId xmlns:a16="http://schemas.microsoft.com/office/drawing/2014/main" id="{ACC9B9CE-E98F-4F3F-21F3-05710A7CDE99}"/>
              </a:ext>
            </a:extLst>
          </p:cNvPr>
          <p:cNvGrpSpPr/>
          <p:nvPr/>
        </p:nvGrpSpPr>
        <p:grpSpPr>
          <a:xfrm>
            <a:off x="666237" y="2000187"/>
            <a:ext cx="3063875" cy="825500"/>
            <a:chOff x="1110457" y="4551363"/>
            <a:chExt cx="3063875" cy="825500"/>
          </a:xfrm>
        </p:grpSpPr>
        <p:sp>
          <p:nvSpPr>
            <p:cNvPr id="18439" name="Text Box 10">
              <a:extLst>
                <a:ext uri="{FF2B5EF4-FFF2-40B4-BE49-F238E27FC236}">
                  <a16:creationId xmlns:a16="http://schemas.microsoft.com/office/drawing/2014/main" id="{01045400-2CC2-FF0B-A584-D980510718E0}"/>
                </a:ext>
              </a:extLst>
            </p:cNvPr>
            <p:cNvSpPr txBox="1">
              <a:spLocks noChangeArrowheads="1"/>
            </p:cNvSpPr>
            <p:nvPr/>
          </p:nvSpPr>
          <p:spPr bwMode="auto">
            <a:xfrm>
              <a:off x="1110457" y="4551363"/>
              <a:ext cx="23780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en-US" sz="1600" u="sng" dirty="0">
                  <a:solidFill>
                    <a:srgbClr val="CC3300"/>
                  </a:solidFill>
                </a:rPr>
                <a:t>Anode</a:t>
              </a:r>
              <a:r>
                <a:rPr lang="en-US" altLang="en-US" sz="1600" dirty="0">
                  <a:solidFill>
                    <a:srgbClr val="CC3300"/>
                  </a:solidFill>
                </a:rPr>
                <a:t>: electrode where oxidation takes place</a:t>
              </a:r>
            </a:p>
          </p:txBody>
        </p:sp>
        <p:sp>
          <p:nvSpPr>
            <p:cNvPr id="18440" name="Line 11">
              <a:extLst>
                <a:ext uri="{FF2B5EF4-FFF2-40B4-BE49-F238E27FC236}">
                  <a16:creationId xmlns:a16="http://schemas.microsoft.com/office/drawing/2014/main" id="{A0339837-E282-BB6E-F5B7-AB533EB8767A}"/>
                </a:ext>
              </a:extLst>
            </p:cNvPr>
            <p:cNvSpPr>
              <a:spLocks noChangeShapeType="1"/>
            </p:cNvSpPr>
            <p:nvPr/>
          </p:nvSpPr>
          <p:spPr bwMode="auto">
            <a:xfrm>
              <a:off x="3366295" y="5011739"/>
              <a:ext cx="808037" cy="238125"/>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pic>
        <p:nvPicPr>
          <p:cNvPr id="18441" name="Picture 12" descr="reaction65">
            <a:extLst>
              <a:ext uri="{FF2B5EF4-FFF2-40B4-BE49-F238E27FC236}">
                <a16:creationId xmlns:a16="http://schemas.microsoft.com/office/drawing/2014/main" id="{27D83381-F27B-439B-52BE-7C519BA6F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1321" b="64833"/>
          <a:stretch>
            <a:fillRect/>
          </a:stretch>
        </p:blipFill>
        <p:spPr bwMode="auto">
          <a:xfrm>
            <a:off x="6640138" y="2991517"/>
            <a:ext cx="309721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2" name="Picture 13" descr="reaction65">
            <a:extLst>
              <a:ext uri="{FF2B5EF4-FFF2-40B4-BE49-F238E27FC236}">
                <a16:creationId xmlns:a16="http://schemas.microsoft.com/office/drawing/2014/main" id="{5E2BDD33-DCAF-D207-3D0D-A31561A35B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2575" t="35364" r="22575" b="35364"/>
          <a:stretch>
            <a:fillRect/>
          </a:stretch>
        </p:blipFill>
        <p:spPr bwMode="auto">
          <a:xfrm>
            <a:off x="680218" y="3117929"/>
            <a:ext cx="2162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409BD57E-04A3-4FBF-F1B9-5144552385F8}"/>
              </a:ext>
            </a:extLst>
          </p:cNvPr>
          <p:cNvSpPr txBox="1"/>
          <p:nvPr/>
        </p:nvSpPr>
        <p:spPr>
          <a:xfrm>
            <a:off x="3556376" y="29545"/>
            <a:ext cx="3478837" cy="430887"/>
          </a:xfrm>
          <a:prstGeom prst="rect">
            <a:avLst/>
          </a:prstGeom>
          <a:noFill/>
        </p:spPr>
        <p:txBody>
          <a:bodyPr wrap="none" rtlCol="0">
            <a:spAutoFit/>
          </a:bodyPr>
          <a:lstStyle/>
          <a:p>
            <a:r>
              <a:rPr lang="en-US" sz="2200" dirty="0">
                <a:solidFill>
                  <a:srgbClr val="C00000"/>
                </a:solidFill>
                <a:latin typeface="Arial" panose="020B0604020202020204" pitchFamily="34" charset="0"/>
                <a:cs typeface="Arial" panose="020B0604020202020204" pitchFamily="34" charset="0"/>
              </a:rPr>
              <a:t>Danial Cell (Galvanic cell)</a:t>
            </a:r>
            <a:endParaRPr lang="en-IN" sz="2200" dirty="0">
              <a:solidFill>
                <a:srgbClr val="C0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ED58CF9-4864-2F97-172E-29EF831190EF}"/>
              </a:ext>
            </a:extLst>
          </p:cNvPr>
          <p:cNvSpPr txBox="1"/>
          <p:nvPr/>
        </p:nvSpPr>
        <p:spPr>
          <a:xfrm>
            <a:off x="666237" y="3948707"/>
            <a:ext cx="8400253" cy="584775"/>
          </a:xfrm>
          <a:prstGeom prst="rect">
            <a:avLst/>
          </a:prstGeom>
          <a:noFill/>
        </p:spPr>
        <p:txBody>
          <a:bodyPr wrap="square" rtlCol="0">
            <a:spAutoFit/>
          </a:bodyPr>
          <a:lstStyle/>
          <a:p>
            <a:pPr marR="12770" algn="just"/>
            <a:r>
              <a:rPr lang="en-US" sz="1600" b="0" i="0" u="none" strike="noStrike" baseline="0" dirty="0">
                <a:solidFill>
                  <a:srgbClr val="006300"/>
                </a:solidFill>
                <a:latin typeface="Arial" panose="020B0604020202020204" pitchFamily="34" charset="0"/>
                <a:cs typeface="Arial" panose="020B0604020202020204" pitchFamily="34" charset="0"/>
              </a:rPr>
              <a:t>At each electrode, an electrochemical reaction occurs. This reaction is called a half cell reaction (since there are two electrodes in a typical cell at which reactions occur)</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2CCF4EE-CE53-2752-483F-8966D3281CA5}"/>
              </a:ext>
            </a:extLst>
          </p:cNvPr>
          <p:cNvSpPr txBox="1"/>
          <p:nvPr/>
        </p:nvSpPr>
        <p:spPr>
          <a:xfrm>
            <a:off x="680218" y="4773220"/>
            <a:ext cx="8681488" cy="584775"/>
          </a:xfrm>
          <a:prstGeom prst="rect">
            <a:avLst/>
          </a:prstGeom>
          <a:noFill/>
        </p:spPr>
        <p:txBody>
          <a:bodyPr wrap="square" rtlCol="0">
            <a:spAutoFit/>
          </a:bodyPr>
          <a:lstStyle/>
          <a:p>
            <a:pPr marR="13850" algn="just"/>
            <a:r>
              <a:rPr lang="en-US" sz="1600" b="0" i="0" u="none" strike="noStrike" baseline="0" dirty="0">
                <a:latin typeface="Arial" panose="020B0604020202020204" pitchFamily="34" charset="0"/>
                <a:cs typeface="Arial" panose="020B0604020202020204" pitchFamily="34" charset="0"/>
              </a:rPr>
              <a:t>The overall chemical reaction of the cell is given by combining the two individual half cell reactions</a:t>
            </a:r>
            <a:endParaRPr lang="en-IN" sz="1600" dirty="0">
              <a:latin typeface="Arial" panose="020B0604020202020204" pitchFamily="34" charset="0"/>
              <a:cs typeface="Arial" panose="020B0604020202020204" pitchFamily="34" charset="0"/>
            </a:endParaRPr>
          </a:p>
        </p:txBody>
      </p:sp>
      <p:pic>
        <p:nvPicPr>
          <p:cNvPr id="7" name="Picture 7" descr="reaction65">
            <a:extLst>
              <a:ext uri="{FF2B5EF4-FFF2-40B4-BE49-F238E27FC236}">
                <a16:creationId xmlns:a16="http://schemas.microsoft.com/office/drawing/2014/main" id="{635B7907-301F-D995-F891-3A8C58B38F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4325" y="5497333"/>
            <a:ext cx="4664075"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F4753CD-4967-C69A-85E2-09FD6DC3395A}"/>
              </a:ext>
            </a:extLst>
          </p:cNvPr>
          <p:cNvSpPr txBox="1"/>
          <p:nvPr/>
        </p:nvSpPr>
        <p:spPr>
          <a:xfrm>
            <a:off x="7631944" y="5357995"/>
            <a:ext cx="2289296" cy="923330"/>
          </a:xfrm>
          <a:prstGeom prst="rect">
            <a:avLst/>
          </a:prstGeom>
          <a:noFill/>
        </p:spPr>
        <p:txBody>
          <a:bodyPr wrap="square">
            <a:spAutoFit/>
          </a:bodyPr>
          <a:lstStyle/>
          <a:p>
            <a:r>
              <a:rPr lang="it-IT" b="1" i="0" u="none" strike="noStrike" baseline="0" dirty="0">
                <a:solidFill>
                  <a:srgbClr val="FF3100"/>
                </a:solidFill>
                <a:latin typeface="Arial" panose="020B0604020202020204" pitchFamily="34" charset="0"/>
                <a:cs typeface="Arial" panose="020B0604020202020204" pitchFamily="34" charset="0"/>
              </a:rPr>
              <a:t>E° (Cd) = -0.40 V</a:t>
            </a:r>
          </a:p>
          <a:p>
            <a:r>
              <a:rPr lang="it-IT" b="1" i="0" u="none" strike="noStrike" baseline="0" dirty="0">
                <a:solidFill>
                  <a:srgbClr val="FF3100"/>
                </a:solidFill>
                <a:latin typeface="Arial" panose="020B0604020202020204" pitchFamily="34" charset="0"/>
                <a:cs typeface="Arial" panose="020B0604020202020204" pitchFamily="34" charset="0"/>
              </a:rPr>
              <a:t>E° (Ag) = +0.80 V</a:t>
            </a:r>
          </a:p>
          <a:p>
            <a:endParaRPr lang="en-IN" dirty="0"/>
          </a:p>
        </p:txBody>
      </p:sp>
    </p:spTree>
    <p:extLst>
      <p:ext uri="{BB962C8B-B14F-4D97-AF65-F5344CB8AC3E}">
        <p14:creationId xmlns:p14="http://schemas.microsoft.com/office/powerpoint/2010/main" val="3102989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4DDB3-D49F-932A-E2E4-3E7DCD6753DA}"/>
              </a:ext>
            </a:extLst>
          </p:cNvPr>
          <p:cNvPicPr>
            <a:picLocks noChangeAspect="1"/>
          </p:cNvPicPr>
          <p:nvPr/>
        </p:nvPicPr>
        <p:blipFill>
          <a:blip r:embed="rId2"/>
          <a:stretch>
            <a:fillRect/>
          </a:stretch>
        </p:blipFill>
        <p:spPr>
          <a:xfrm>
            <a:off x="2126133" y="160615"/>
            <a:ext cx="5719419" cy="6607527"/>
          </a:xfrm>
          <a:prstGeom prst="rect">
            <a:avLst/>
          </a:prstGeom>
        </p:spPr>
      </p:pic>
    </p:spTree>
    <p:extLst>
      <p:ext uri="{BB962C8B-B14F-4D97-AF65-F5344CB8AC3E}">
        <p14:creationId xmlns:p14="http://schemas.microsoft.com/office/powerpoint/2010/main" val="2060320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71389" y="134548"/>
            <a:ext cx="5666891" cy="322894"/>
          </a:xfrm>
          <a:prstGeom prst="rect">
            <a:avLst/>
          </a:prstGeom>
        </p:spPr>
        <p:txBody>
          <a:bodyPr vert="horz" wrap="square" lIns="0" tIns="14971" rIns="0" bIns="0" rtlCol="0" anchor="ctr">
            <a:spAutoFit/>
          </a:bodyPr>
          <a:lstStyle/>
          <a:p>
            <a:pPr marL="23033">
              <a:lnSpc>
                <a:spcPct val="100000"/>
              </a:lnSpc>
              <a:spcBef>
                <a:spcPts val="118"/>
              </a:spcBef>
            </a:pPr>
            <a:r>
              <a:rPr sz="2000" b="1" spc="-127" dirty="0">
                <a:solidFill>
                  <a:srgbClr val="C00000"/>
                </a:solidFill>
                <a:latin typeface="Arial" panose="020B0604020202020204" pitchFamily="34" charset="0"/>
                <a:cs typeface="Arial" panose="020B0604020202020204" pitchFamily="34" charset="0"/>
              </a:rPr>
              <a:t>How</a:t>
            </a:r>
            <a:r>
              <a:rPr sz="2000" b="1" spc="-77" dirty="0">
                <a:solidFill>
                  <a:srgbClr val="C00000"/>
                </a:solidFill>
                <a:latin typeface="Arial" panose="020B0604020202020204" pitchFamily="34" charset="0"/>
                <a:cs typeface="Arial" panose="020B0604020202020204" pitchFamily="34" charset="0"/>
              </a:rPr>
              <a:t> </a:t>
            </a:r>
            <a:r>
              <a:rPr sz="2000" b="1" spc="-50" dirty="0">
                <a:solidFill>
                  <a:srgbClr val="C00000"/>
                </a:solidFill>
                <a:latin typeface="Arial" panose="020B0604020202020204" pitchFamily="34" charset="0"/>
                <a:cs typeface="Arial" panose="020B0604020202020204" pitchFamily="34" charset="0"/>
              </a:rPr>
              <a:t>to</a:t>
            </a:r>
            <a:r>
              <a:rPr sz="2000" b="1" spc="-113" dirty="0">
                <a:solidFill>
                  <a:srgbClr val="C00000"/>
                </a:solidFill>
                <a:latin typeface="Arial" panose="020B0604020202020204" pitchFamily="34" charset="0"/>
                <a:cs typeface="Arial" panose="020B0604020202020204" pitchFamily="34" charset="0"/>
              </a:rPr>
              <a:t> </a:t>
            </a:r>
            <a:r>
              <a:rPr sz="2000" b="1" spc="-68" dirty="0">
                <a:solidFill>
                  <a:srgbClr val="C00000"/>
                </a:solidFill>
                <a:latin typeface="Arial" panose="020B0604020202020204" pitchFamily="34" charset="0"/>
                <a:cs typeface="Arial" panose="020B0604020202020204" pitchFamily="34" charset="0"/>
              </a:rPr>
              <a:t>measure</a:t>
            </a:r>
            <a:r>
              <a:rPr sz="2000" b="1" spc="-91" dirty="0">
                <a:solidFill>
                  <a:srgbClr val="C00000"/>
                </a:solidFill>
                <a:latin typeface="Arial" panose="020B0604020202020204" pitchFamily="34" charset="0"/>
                <a:cs typeface="Arial" panose="020B0604020202020204" pitchFamily="34" charset="0"/>
              </a:rPr>
              <a:t> </a:t>
            </a:r>
            <a:r>
              <a:rPr sz="2000" b="1" dirty="0">
                <a:solidFill>
                  <a:srgbClr val="C00000"/>
                </a:solidFill>
                <a:latin typeface="Arial" panose="020B0604020202020204" pitchFamily="34" charset="0"/>
                <a:cs typeface="Arial" panose="020B0604020202020204" pitchFamily="34" charset="0"/>
              </a:rPr>
              <a:t>E</a:t>
            </a:r>
            <a:r>
              <a:rPr sz="2000" b="1" baseline="24390" dirty="0">
                <a:solidFill>
                  <a:srgbClr val="C00000"/>
                </a:solidFill>
                <a:latin typeface="Arial" panose="020B0604020202020204" pitchFamily="34" charset="0"/>
                <a:cs typeface="Arial" panose="020B0604020202020204" pitchFamily="34" charset="0"/>
              </a:rPr>
              <a:t>0</a:t>
            </a:r>
            <a:r>
              <a:rPr sz="2000" b="1" spc="251" baseline="24390" dirty="0">
                <a:solidFill>
                  <a:srgbClr val="C00000"/>
                </a:solidFill>
                <a:latin typeface="Arial" panose="020B0604020202020204" pitchFamily="34" charset="0"/>
                <a:cs typeface="Arial" panose="020B0604020202020204" pitchFamily="34" charset="0"/>
              </a:rPr>
              <a:t> </a:t>
            </a:r>
            <a:r>
              <a:rPr sz="2000" b="1" spc="-68" dirty="0">
                <a:solidFill>
                  <a:srgbClr val="C00000"/>
                </a:solidFill>
                <a:latin typeface="Arial" panose="020B0604020202020204" pitchFamily="34" charset="0"/>
                <a:cs typeface="Arial" panose="020B0604020202020204" pitchFamily="34" charset="0"/>
              </a:rPr>
              <a:t>standard</a:t>
            </a:r>
            <a:r>
              <a:rPr sz="2000" b="1" spc="-50" dirty="0">
                <a:solidFill>
                  <a:srgbClr val="C00000"/>
                </a:solidFill>
                <a:latin typeface="Arial" panose="020B0604020202020204" pitchFamily="34" charset="0"/>
                <a:cs typeface="Arial" panose="020B0604020202020204" pitchFamily="34" charset="0"/>
              </a:rPr>
              <a:t> </a:t>
            </a:r>
            <a:r>
              <a:rPr sz="2000" b="1" spc="-68" dirty="0">
                <a:solidFill>
                  <a:srgbClr val="C00000"/>
                </a:solidFill>
                <a:latin typeface="Arial" panose="020B0604020202020204" pitchFamily="34" charset="0"/>
                <a:cs typeface="Arial" panose="020B0604020202020204" pitchFamily="34" charset="0"/>
              </a:rPr>
              <a:t>electrode</a:t>
            </a:r>
            <a:r>
              <a:rPr sz="2000" b="1" spc="-63" dirty="0">
                <a:solidFill>
                  <a:srgbClr val="C00000"/>
                </a:solidFill>
                <a:latin typeface="Arial" panose="020B0604020202020204" pitchFamily="34" charset="0"/>
                <a:cs typeface="Arial" panose="020B0604020202020204" pitchFamily="34" charset="0"/>
              </a:rPr>
              <a:t> </a:t>
            </a:r>
            <a:r>
              <a:rPr sz="2000" b="1" spc="-23" dirty="0">
                <a:solidFill>
                  <a:srgbClr val="C00000"/>
                </a:solidFill>
                <a:latin typeface="Arial" panose="020B0604020202020204" pitchFamily="34" charset="0"/>
                <a:cs typeface="Arial" panose="020B0604020202020204" pitchFamily="34" charset="0"/>
              </a:rPr>
              <a:t>potential?</a:t>
            </a:r>
            <a:endParaRPr sz="2000" dirty="0">
              <a:solidFill>
                <a:srgbClr val="C00000"/>
              </a:solidFill>
              <a:latin typeface="Arial" panose="020B0604020202020204" pitchFamily="34" charset="0"/>
              <a:cs typeface="Arial" panose="020B0604020202020204" pitchFamily="34" charset="0"/>
            </a:endParaRPr>
          </a:p>
        </p:txBody>
      </p:sp>
      <p:pic>
        <p:nvPicPr>
          <p:cNvPr id="3" name="object 3"/>
          <p:cNvPicPr/>
          <p:nvPr/>
        </p:nvPicPr>
        <p:blipFill>
          <a:blip r:embed="rId2" cstate="print"/>
          <a:stretch>
            <a:fillRect/>
          </a:stretch>
        </p:blipFill>
        <p:spPr>
          <a:xfrm>
            <a:off x="5704835" y="990869"/>
            <a:ext cx="3972357" cy="2819207"/>
          </a:xfrm>
          <a:prstGeom prst="rect">
            <a:avLst/>
          </a:prstGeom>
        </p:spPr>
      </p:pic>
      <p:sp>
        <p:nvSpPr>
          <p:cNvPr id="4" name="object 4"/>
          <p:cNvSpPr txBox="1"/>
          <p:nvPr/>
        </p:nvSpPr>
        <p:spPr>
          <a:xfrm>
            <a:off x="825480" y="599343"/>
            <a:ext cx="9148802" cy="5862497"/>
          </a:xfrm>
          <a:prstGeom prst="rect">
            <a:avLst/>
          </a:prstGeom>
        </p:spPr>
        <p:txBody>
          <a:bodyPr vert="horz" wrap="square" lIns="0" tIns="24760" rIns="0" bIns="0" rtlCol="0">
            <a:spAutoFit/>
          </a:bodyPr>
          <a:lstStyle/>
          <a:p>
            <a:pPr marL="387526" marR="4373914" indent="-342036" algn="just">
              <a:lnSpc>
                <a:spcPts val="2875"/>
              </a:lnSpc>
              <a:spcBef>
                <a:spcPts val="195"/>
              </a:spcBef>
              <a:buFont typeface="Calibri"/>
              <a:buChar char="➢"/>
              <a:tabLst>
                <a:tab pos="388677" algn="l"/>
              </a:tabLst>
            </a:pPr>
            <a:r>
              <a:rPr sz="1600" dirty="0">
                <a:latin typeface="Arial" panose="020B0604020202020204" pitchFamily="34" charset="0"/>
                <a:cs typeface="Arial" panose="020B0604020202020204" pitchFamily="34" charset="0"/>
              </a:rPr>
              <a:t>Suppose</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we</a:t>
            </a:r>
            <a:r>
              <a:rPr sz="1600" spc="-1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have</a:t>
            </a:r>
            <a:r>
              <a:rPr sz="1600" spc="-1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Cu</a:t>
            </a:r>
            <a:r>
              <a:rPr sz="1600" spc="-18" dirty="0">
                <a:latin typeface="Arial" panose="020B0604020202020204" pitchFamily="34" charset="0"/>
                <a:cs typeface="Arial" panose="020B0604020202020204" pitchFamily="34" charset="0"/>
              </a:rPr>
              <a:t> </a:t>
            </a:r>
            <a:r>
              <a:rPr sz="1600" spc="-23" dirty="0">
                <a:latin typeface="Arial" panose="020B0604020202020204" pitchFamily="34" charset="0"/>
                <a:cs typeface="Arial" panose="020B0604020202020204" pitchFamily="34" charset="0"/>
              </a:rPr>
              <a:t>rod </a:t>
            </a:r>
            <a:r>
              <a:rPr sz="1600" dirty="0">
                <a:latin typeface="Arial" panose="020B0604020202020204" pitchFamily="34" charset="0"/>
                <a:cs typeface="Arial" panose="020B0604020202020204" pitchFamily="34" charset="0"/>
              </a:rPr>
              <a:t>immersed</a:t>
            </a:r>
            <a:r>
              <a:rPr sz="1600" spc="-4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in</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its</a:t>
            </a:r>
            <a:r>
              <a:rPr lang="en-IN" sz="1600" dirty="0">
                <a:latin typeface="Arial" panose="020B0604020202020204" pitchFamily="34" charset="0"/>
                <a:cs typeface="Arial" panose="020B0604020202020204" pitchFamily="34" charset="0"/>
              </a:rPr>
              <a:t> </a:t>
            </a:r>
            <a:r>
              <a:rPr lang="en-IN" sz="1600" dirty="0" err="1">
                <a:latin typeface="Arial" panose="020B0604020202020204" pitchFamily="34" charset="0"/>
                <a:cs typeface="Arial" panose="020B0604020202020204" pitchFamily="34" charset="0"/>
              </a:rPr>
              <a:t>i</a:t>
            </a:r>
            <a:r>
              <a:rPr sz="1600" dirty="0" err="1">
                <a:latin typeface="Arial" panose="020B0604020202020204" pitchFamily="34" charset="0"/>
                <a:cs typeface="Arial" panose="020B0604020202020204" pitchFamily="34" charset="0"/>
              </a:rPr>
              <a:t>ons</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(half</a:t>
            </a:r>
            <a:r>
              <a:rPr sz="1600" spc="-18" dirty="0">
                <a:latin typeface="Arial" panose="020B0604020202020204" pitchFamily="34" charset="0"/>
                <a:cs typeface="Arial" panose="020B0604020202020204" pitchFamily="34" charset="0"/>
              </a:rPr>
              <a:t> </a:t>
            </a:r>
            <a:r>
              <a:rPr sz="1600" spc="-9" dirty="0">
                <a:latin typeface="Arial" panose="020B0604020202020204" pitchFamily="34" charset="0"/>
                <a:cs typeface="Arial" panose="020B0604020202020204" pitchFamily="34" charset="0"/>
              </a:rPr>
              <a:t>cells).</a:t>
            </a:r>
            <a:endParaRPr sz="1600" dirty="0">
              <a:latin typeface="Arial" panose="020B0604020202020204" pitchFamily="34" charset="0"/>
              <a:cs typeface="Arial" panose="020B0604020202020204" pitchFamily="34" charset="0"/>
            </a:endParaRPr>
          </a:p>
          <a:p>
            <a:pPr marL="387526" marR="4202320" indent="-342036" algn="just">
              <a:lnSpc>
                <a:spcPct val="99900"/>
              </a:lnSpc>
              <a:spcBef>
                <a:spcPts val="481"/>
              </a:spcBef>
              <a:buFont typeface="Calibri"/>
              <a:buChar char="➢"/>
              <a:tabLst>
                <a:tab pos="388677" algn="l"/>
              </a:tabLst>
            </a:pPr>
            <a:r>
              <a:rPr sz="1600" dirty="0">
                <a:latin typeface="Arial" panose="020B0604020202020204" pitchFamily="34" charset="0"/>
                <a:cs typeface="Arial" panose="020B0604020202020204" pitchFamily="34" charset="0"/>
              </a:rPr>
              <a:t>In</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order</a:t>
            </a:r>
            <a:r>
              <a:rPr sz="1600" spc="-32"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to</a:t>
            </a:r>
            <a:r>
              <a:rPr sz="1600" spc="-4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measure</a:t>
            </a:r>
            <a:r>
              <a:rPr sz="1600" spc="-6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potential</a:t>
            </a:r>
            <a:r>
              <a:rPr sz="1600" spc="-27" dirty="0">
                <a:latin typeface="Arial" panose="020B0604020202020204" pitchFamily="34" charset="0"/>
                <a:cs typeface="Arial" panose="020B0604020202020204" pitchFamily="34" charset="0"/>
              </a:rPr>
              <a:t> </a:t>
            </a:r>
            <a:r>
              <a:rPr sz="1600" spc="-23" dirty="0">
                <a:latin typeface="Arial" panose="020B0604020202020204" pitchFamily="34" charset="0"/>
                <a:cs typeface="Arial" panose="020B0604020202020204" pitchFamily="34" charset="0"/>
              </a:rPr>
              <a:t>of </a:t>
            </a:r>
            <a:r>
              <a:rPr sz="1600" dirty="0">
                <a:latin typeface="Arial" panose="020B0604020202020204" pitchFamily="34" charset="0"/>
                <a:cs typeface="Arial" panose="020B0604020202020204" pitchFamily="34" charset="0"/>
              </a:rPr>
              <a:t>an</a:t>
            </a:r>
            <a:r>
              <a:rPr sz="1600" spc="-32"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electrode,</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it</a:t>
            </a:r>
            <a:r>
              <a:rPr sz="1600" spc="-27"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must</a:t>
            </a:r>
            <a:r>
              <a:rPr sz="1600" spc="-23" dirty="0">
                <a:latin typeface="Arial" panose="020B0604020202020204" pitchFamily="34" charset="0"/>
                <a:cs typeface="Arial" panose="020B0604020202020204" pitchFamily="34" charset="0"/>
              </a:rPr>
              <a:t> be </a:t>
            </a:r>
            <a:r>
              <a:rPr sz="1600" dirty="0">
                <a:latin typeface="Arial" panose="020B0604020202020204" pitchFamily="34" charset="0"/>
                <a:cs typeface="Arial" panose="020B0604020202020204" pitchFamily="34" charset="0"/>
              </a:rPr>
              <a:t>connected</a:t>
            </a:r>
            <a:r>
              <a:rPr sz="1600" spc="-7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to</a:t>
            </a:r>
            <a:endParaRPr lang="en-IN" sz="1600" dirty="0">
              <a:latin typeface="Arial" panose="020B0604020202020204" pitchFamily="34" charset="0"/>
              <a:cs typeface="Arial" panose="020B0604020202020204" pitchFamily="34" charset="0"/>
            </a:endParaRPr>
          </a:p>
          <a:p>
            <a:pPr marL="45490" marR="4202320" algn="just">
              <a:lnSpc>
                <a:spcPct val="99900"/>
              </a:lnSpc>
              <a:spcBef>
                <a:spcPts val="481"/>
              </a:spcBef>
              <a:tabLst>
                <a:tab pos="388677" algn="l"/>
              </a:tabLst>
            </a:pPr>
            <a:r>
              <a:rPr lang="en-IN" sz="1600" spc="-50" dirty="0">
                <a:latin typeface="Arial" panose="020B0604020202020204" pitchFamily="34" charset="0"/>
                <a:cs typeface="Arial" panose="020B0604020202020204" pitchFamily="34" charset="0"/>
              </a:rPr>
              <a:t>     </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another</a:t>
            </a:r>
            <a:r>
              <a:rPr sz="1600" spc="-54" dirty="0">
                <a:latin typeface="Arial" panose="020B0604020202020204" pitchFamily="34" charset="0"/>
                <a:cs typeface="Arial" panose="020B0604020202020204" pitchFamily="34" charset="0"/>
              </a:rPr>
              <a:t> </a:t>
            </a:r>
            <a:r>
              <a:rPr sz="1600" spc="-9" dirty="0">
                <a:latin typeface="Arial" panose="020B0604020202020204" pitchFamily="34" charset="0"/>
                <a:cs typeface="Arial" panose="020B0604020202020204" pitchFamily="34" charset="0"/>
              </a:rPr>
              <a:t>electrode </a:t>
            </a:r>
            <a:r>
              <a:rPr sz="1600" dirty="0">
                <a:latin typeface="Arial" panose="020B0604020202020204" pitchFamily="34" charset="0"/>
                <a:cs typeface="Arial" panose="020B0604020202020204" pitchFamily="34" charset="0"/>
              </a:rPr>
              <a:t>(half</a:t>
            </a:r>
            <a:r>
              <a:rPr sz="1600" spc="-32"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cell)</a:t>
            </a:r>
            <a:r>
              <a:rPr sz="1600" spc="-23" dirty="0">
                <a:latin typeface="Arial" panose="020B0604020202020204" pitchFamily="34" charset="0"/>
                <a:cs typeface="Arial" panose="020B0604020202020204" pitchFamily="34" charset="0"/>
              </a:rPr>
              <a:t> </a:t>
            </a:r>
            <a:endParaRPr lang="en-IN" sz="1600" spc="-23" dirty="0">
              <a:latin typeface="Arial" panose="020B0604020202020204" pitchFamily="34" charset="0"/>
              <a:cs typeface="Arial" panose="020B0604020202020204" pitchFamily="34" charset="0"/>
            </a:endParaRPr>
          </a:p>
          <a:p>
            <a:pPr marL="387526" marR="4202320" indent="-342036" algn="just">
              <a:lnSpc>
                <a:spcPct val="99900"/>
              </a:lnSpc>
              <a:spcBef>
                <a:spcPts val="481"/>
              </a:spcBef>
              <a:buFont typeface="Calibri"/>
              <a:buChar char="➢"/>
              <a:tabLst>
                <a:tab pos="388677" algn="l"/>
              </a:tabLst>
            </a:pPr>
            <a:r>
              <a:rPr sz="1600" dirty="0">
                <a:solidFill>
                  <a:srgbClr val="C00000"/>
                </a:solidFill>
                <a:uFill>
                  <a:solidFill>
                    <a:srgbClr val="266066"/>
                  </a:solidFill>
                </a:uFill>
                <a:latin typeface="Arial" panose="020B0604020202020204" pitchFamily="34" charset="0"/>
                <a:cs typeface="Arial" panose="020B0604020202020204" pitchFamily="34" charset="0"/>
              </a:rPr>
              <a:t>having</a:t>
            </a:r>
            <a:r>
              <a:rPr sz="1600" spc="-14" dirty="0">
                <a:solidFill>
                  <a:srgbClr val="C00000"/>
                </a:solidFill>
                <a:uFill>
                  <a:solidFill>
                    <a:srgbClr val="266066"/>
                  </a:solidFill>
                </a:uFill>
                <a:latin typeface="Arial" panose="020B0604020202020204" pitchFamily="34" charset="0"/>
                <a:cs typeface="Arial" panose="020B0604020202020204" pitchFamily="34" charset="0"/>
              </a:rPr>
              <a:t> </a:t>
            </a:r>
            <a:r>
              <a:rPr sz="1600" dirty="0">
                <a:solidFill>
                  <a:srgbClr val="C00000"/>
                </a:solidFill>
                <a:uFill>
                  <a:solidFill>
                    <a:srgbClr val="266066"/>
                  </a:solidFill>
                </a:uFill>
                <a:latin typeface="Arial" panose="020B0604020202020204" pitchFamily="34" charset="0"/>
                <a:cs typeface="Arial" panose="020B0604020202020204" pitchFamily="34" charset="0"/>
              </a:rPr>
              <a:t>known</a:t>
            </a:r>
            <a:r>
              <a:rPr sz="1600" spc="-59" dirty="0">
                <a:solidFill>
                  <a:srgbClr val="C00000"/>
                </a:solidFill>
                <a:uFill>
                  <a:solidFill>
                    <a:srgbClr val="266066"/>
                  </a:solidFill>
                </a:uFill>
                <a:latin typeface="Arial" panose="020B0604020202020204" pitchFamily="34" charset="0"/>
                <a:cs typeface="Arial" panose="020B0604020202020204" pitchFamily="34" charset="0"/>
              </a:rPr>
              <a:t> </a:t>
            </a:r>
            <a:r>
              <a:rPr sz="1600" spc="-9" dirty="0">
                <a:solidFill>
                  <a:srgbClr val="C00000"/>
                </a:solidFill>
                <a:uFill>
                  <a:solidFill>
                    <a:srgbClr val="266066"/>
                  </a:solidFill>
                </a:uFill>
                <a:latin typeface="Arial" panose="020B0604020202020204" pitchFamily="34" charset="0"/>
                <a:cs typeface="Arial" panose="020B0604020202020204" pitchFamily="34" charset="0"/>
              </a:rPr>
              <a:t>constant</a:t>
            </a:r>
            <a:r>
              <a:rPr sz="1600" spc="-9" dirty="0">
                <a:solidFill>
                  <a:srgbClr val="C00000"/>
                </a:solidFill>
                <a:latin typeface="Arial" panose="020B0604020202020204" pitchFamily="34" charset="0"/>
                <a:cs typeface="Arial" panose="020B0604020202020204" pitchFamily="34" charset="0"/>
              </a:rPr>
              <a:t> </a:t>
            </a:r>
            <a:r>
              <a:rPr sz="1600" dirty="0">
                <a:solidFill>
                  <a:srgbClr val="C00000"/>
                </a:solidFill>
                <a:uFill>
                  <a:solidFill>
                    <a:srgbClr val="266066"/>
                  </a:solidFill>
                </a:uFill>
                <a:latin typeface="Arial" panose="020B0604020202020204" pitchFamily="34" charset="0"/>
                <a:cs typeface="Arial" panose="020B0604020202020204" pitchFamily="34" charset="0"/>
              </a:rPr>
              <a:t>potential</a:t>
            </a:r>
            <a:r>
              <a:rPr sz="1600" spc="-82" dirty="0">
                <a:solidFill>
                  <a:srgbClr val="C00000"/>
                </a:solidFill>
                <a:uFill>
                  <a:solidFill>
                    <a:srgbClr val="266066"/>
                  </a:solidFill>
                </a:uFill>
                <a:latin typeface="Arial" panose="020B0604020202020204" pitchFamily="34" charset="0"/>
                <a:cs typeface="Arial" panose="020B0604020202020204" pitchFamily="34" charset="0"/>
              </a:rPr>
              <a:t> </a:t>
            </a:r>
            <a:endParaRPr lang="en-IN" sz="1600" spc="-82" dirty="0">
              <a:solidFill>
                <a:srgbClr val="C00000"/>
              </a:solidFill>
              <a:uFill>
                <a:solidFill>
                  <a:srgbClr val="266066"/>
                </a:solidFill>
              </a:uFill>
              <a:latin typeface="Arial" panose="020B0604020202020204" pitchFamily="34" charset="0"/>
              <a:cs typeface="Arial" panose="020B0604020202020204" pitchFamily="34" charset="0"/>
            </a:endParaRPr>
          </a:p>
          <a:p>
            <a:pPr marL="387526" marR="4202320" indent="-342036" algn="just">
              <a:lnSpc>
                <a:spcPct val="99900"/>
              </a:lnSpc>
              <a:spcBef>
                <a:spcPts val="481"/>
              </a:spcBef>
              <a:buFont typeface="Calibri"/>
              <a:buChar char="➢"/>
              <a:tabLst>
                <a:tab pos="388677" algn="l"/>
              </a:tabLst>
            </a:pPr>
            <a:r>
              <a:rPr sz="1600" dirty="0">
                <a:solidFill>
                  <a:srgbClr val="C00000"/>
                </a:solidFill>
                <a:uFill>
                  <a:solidFill>
                    <a:srgbClr val="266066"/>
                  </a:solidFill>
                </a:uFill>
                <a:latin typeface="Arial" panose="020B0604020202020204" pitchFamily="34" charset="0"/>
                <a:cs typeface="Arial" panose="020B0604020202020204" pitchFamily="34" charset="0"/>
              </a:rPr>
              <a:t>called</a:t>
            </a:r>
            <a:r>
              <a:rPr sz="1600" spc="-59" dirty="0">
                <a:solidFill>
                  <a:srgbClr val="C00000"/>
                </a:solidFill>
                <a:uFill>
                  <a:solidFill>
                    <a:srgbClr val="266066"/>
                  </a:solidFill>
                </a:uFill>
                <a:latin typeface="Arial" panose="020B0604020202020204" pitchFamily="34" charset="0"/>
                <a:cs typeface="Arial" panose="020B0604020202020204" pitchFamily="34" charset="0"/>
              </a:rPr>
              <a:t> </a:t>
            </a:r>
            <a:r>
              <a:rPr sz="1600" spc="-9" dirty="0">
                <a:solidFill>
                  <a:srgbClr val="C00000"/>
                </a:solidFill>
                <a:uFill>
                  <a:solidFill>
                    <a:srgbClr val="266066"/>
                  </a:solidFill>
                </a:uFill>
                <a:latin typeface="Arial" panose="020B0604020202020204" pitchFamily="34" charset="0"/>
                <a:cs typeface="Arial" panose="020B0604020202020204" pitchFamily="34" charset="0"/>
              </a:rPr>
              <a:t>reference</a:t>
            </a:r>
            <a:r>
              <a:rPr sz="1600" spc="-9" dirty="0">
                <a:solidFill>
                  <a:srgbClr val="C00000"/>
                </a:solidFill>
                <a:latin typeface="Arial" panose="020B0604020202020204" pitchFamily="34" charset="0"/>
                <a:cs typeface="Arial" panose="020B0604020202020204" pitchFamily="34" charset="0"/>
              </a:rPr>
              <a:t> </a:t>
            </a:r>
            <a:r>
              <a:rPr sz="1600" dirty="0">
                <a:solidFill>
                  <a:srgbClr val="C00000"/>
                </a:solidFill>
                <a:uFill>
                  <a:solidFill>
                    <a:srgbClr val="266066"/>
                  </a:solidFill>
                </a:uFill>
                <a:latin typeface="Arial" panose="020B0604020202020204" pitchFamily="34" charset="0"/>
                <a:cs typeface="Arial" panose="020B0604020202020204" pitchFamily="34" charset="0"/>
              </a:rPr>
              <a:t>electrode</a:t>
            </a:r>
            <a:r>
              <a:rPr sz="1600" spc="-50" dirty="0">
                <a:solidFill>
                  <a:srgbClr val="C00000"/>
                </a:solidFill>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and</a:t>
            </a:r>
            <a:r>
              <a:rPr sz="1600" spc="-27"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we</a:t>
            </a:r>
            <a:r>
              <a:rPr sz="1600" spc="-45" dirty="0">
                <a:latin typeface="Arial" panose="020B0604020202020204" pitchFamily="34" charset="0"/>
                <a:cs typeface="Arial" panose="020B0604020202020204" pitchFamily="34" charset="0"/>
              </a:rPr>
              <a:t> </a:t>
            </a:r>
            <a:r>
              <a:rPr sz="1600" spc="-23" dirty="0">
                <a:latin typeface="Arial" panose="020B0604020202020204" pitchFamily="34" charset="0"/>
                <a:cs typeface="Arial" panose="020B0604020202020204" pitchFamily="34" charset="0"/>
              </a:rPr>
              <a:t>use</a:t>
            </a:r>
            <a:endParaRPr sz="1600" dirty="0">
              <a:latin typeface="Arial" panose="020B0604020202020204" pitchFamily="34" charset="0"/>
              <a:cs typeface="Arial" panose="020B0604020202020204" pitchFamily="34" charset="0"/>
            </a:endParaRPr>
          </a:p>
          <a:p>
            <a:pPr marL="388677" marR="4687734" indent="-343188" algn="just">
              <a:spcBef>
                <a:spcPts val="580"/>
              </a:spcBef>
            </a:pPr>
            <a:r>
              <a:rPr sz="1600" b="1" spc="-82" dirty="0">
                <a:solidFill>
                  <a:srgbClr val="FF0000"/>
                </a:solidFill>
                <a:latin typeface="Arial" panose="020B0604020202020204" pitchFamily="34" charset="0"/>
                <a:cs typeface="Arial" panose="020B0604020202020204" pitchFamily="34" charset="0"/>
              </a:rPr>
              <a:t>“</a:t>
            </a:r>
            <a:r>
              <a:rPr sz="1600" b="1" spc="-82" dirty="0">
                <a:latin typeface="Arial" panose="020B0604020202020204" pitchFamily="34" charset="0"/>
                <a:cs typeface="Arial" panose="020B0604020202020204" pitchFamily="34" charset="0"/>
              </a:rPr>
              <a:t>Normal</a:t>
            </a:r>
            <a:r>
              <a:rPr sz="1600" b="1" spc="-27" dirty="0">
                <a:latin typeface="Arial" panose="020B0604020202020204" pitchFamily="34" charset="0"/>
                <a:cs typeface="Arial" panose="020B0604020202020204" pitchFamily="34" charset="0"/>
              </a:rPr>
              <a:t> </a:t>
            </a:r>
            <a:r>
              <a:rPr sz="1600" b="1" spc="-127" dirty="0">
                <a:latin typeface="Arial" panose="020B0604020202020204" pitchFamily="34" charset="0"/>
                <a:cs typeface="Arial" panose="020B0604020202020204" pitchFamily="34" charset="0"/>
              </a:rPr>
              <a:t>(standard)</a:t>
            </a:r>
            <a:r>
              <a:rPr sz="1600" b="1" spc="-41" dirty="0">
                <a:latin typeface="Arial" panose="020B0604020202020204" pitchFamily="34" charset="0"/>
                <a:cs typeface="Arial" panose="020B0604020202020204" pitchFamily="34" charset="0"/>
              </a:rPr>
              <a:t> </a:t>
            </a:r>
            <a:r>
              <a:rPr sz="1600" b="1" spc="-54" dirty="0">
                <a:latin typeface="Arial" panose="020B0604020202020204" pitchFamily="34" charset="0"/>
                <a:cs typeface="Arial" panose="020B0604020202020204" pitchFamily="34" charset="0"/>
              </a:rPr>
              <a:t>Hydrogen </a:t>
            </a:r>
            <a:r>
              <a:rPr sz="1600" b="1" spc="-9" dirty="0">
                <a:latin typeface="Arial" panose="020B0604020202020204" pitchFamily="34" charset="0"/>
                <a:cs typeface="Arial" panose="020B0604020202020204" pitchFamily="34" charset="0"/>
              </a:rPr>
              <a:t>Electrode“.</a:t>
            </a:r>
            <a:endParaRPr sz="1600" dirty="0">
              <a:latin typeface="Arial" panose="020B0604020202020204" pitchFamily="34" charset="0"/>
              <a:cs typeface="Arial" panose="020B0604020202020204" pitchFamily="34" charset="0"/>
            </a:endParaRPr>
          </a:p>
          <a:p>
            <a:pPr marL="46065" marR="16123" algn="just">
              <a:lnSpc>
                <a:spcPct val="99800"/>
              </a:lnSpc>
              <a:spcBef>
                <a:spcPts val="1061"/>
              </a:spcBef>
            </a:pPr>
            <a:endParaRPr lang="en-IN" sz="1600" spc="-177" dirty="0">
              <a:latin typeface="Arial" panose="020B0604020202020204" pitchFamily="34" charset="0"/>
              <a:cs typeface="Arial" panose="020B0604020202020204" pitchFamily="34" charset="0"/>
            </a:endParaRPr>
          </a:p>
          <a:p>
            <a:pPr marL="46065" marR="16123" algn="just">
              <a:lnSpc>
                <a:spcPct val="99800"/>
              </a:lnSpc>
              <a:spcBef>
                <a:spcPts val="1061"/>
              </a:spcBef>
            </a:pPr>
            <a:endParaRPr lang="en-IN" spc="-177" dirty="0">
              <a:latin typeface="Arial" panose="020B0604020202020204" pitchFamily="34" charset="0"/>
              <a:cs typeface="Arial" panose="020B0604020202020204" pitchFamily="34" charset="0"/>
            </a:endParaRPr>
          </a:p>
          <a:p>
            <a:pPr marL="352976" marR="4607" indent="-342036">
              <a:lnSpc>
                <a:spcPts val="2875"/>
              </a:lnSpc>
              <a:spcBef>
                <a:spcPts val="195"/>
              </a:spcBef>
              <a:buFont typeface="Calibri"/>
              <a:buChar char="➢"/>
              <a:tabLst>
                <a:tab pos="354128" algn="l"/>
              </a:tabLst>
            </a:pPr>
            <a:r>
              <a:rPr lang="en-US" sz="1600" dirty="0">
                <a:latin typeface="Arial" panose="020B0604020202020204" pitchFamily="34" charset="0"/>
                <a:cs typeface="Arial" panose="020B0604020202020204" pitchFamily="34" charset="0"/>
              </a:rPr>
              <a:t>It</a:t>
            </a:r>
            <a:r>
              <a:rPr lang="en-US" sz="1600" spc="-27"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consists</a:t>
            </a:r>
            <a:r>
              <a:rPr lang="en-US" sz="1600" spc="-5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of</a:t>
            </a:r>
            <a:r>
              <a:rPr lang="en-US" sz="1600" spc="-23"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a:t>
            </a:r>
            <a:r>
              <a:rPr lang="en-US" sz="1600" spc="-18"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piece</a:t>
            </a:r>
            <a:r>
              <a:rPr lang="en-US" sz="1600" spc="-27"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of</a:t>
            </a:r>
            <a:r>
              <a:rPr lang="en-US" sz="1600" spc="-23"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platinium</a:t>
            </a:r>
            <a:r>
              <a:rPr lang="en-US" sz="1600" spc="9"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foil</a:t>
            </a:r>
            <a:r>
              <a:rPr lang="en-US" sz="1600" spc="-14"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coated</a:t>
            </a:r>
            <a:r>
              <a:rPr lang="en-US" sz="1600" spc="-27" dirty="0">
                <a:latin typeface="Arial" panose="020B0604020202020204" pitchFamily="34" charset="0"/>
                <a:cs typeface="Arial" panose="020B0604020202020204" pitchFamily="34" charset="0"/>
              </a:rPr>
              <a:t> </a:t>
            </a:r>
            <a:r>
              <a:rPr lang="en-US" sz="1600" spc="-9" dirty="0">
                <a:latin typeface="Arial" panose="020B0604020202020204" pitchFamily="34" charset="0"/>
                <a:cs typeface="Arial" panose="020B0604020202020204" pitchFamily="34" charset="0"/>
              </a:rPr>
              <a:t>electrolytically w</a:t>
            </a:r>
            <a:r>
              <a:rPr lang="en-US" sz="1600" dirty="0">
                <a:latin typeface="Arial" panose="020B0604020202020204" pitchFamily="34" charset="0"/>
                <a:cs typeface="Arial" panose="020B0604020202020204" pitchFamily="34" charset="0"/>
              </a:rPr>
              <a:t>ith</a:t>
            </a:r>
            <a:r>
              <a:rPr lang="en-US" sz="1600" spc="-36"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platinum</a:t>
            </a:r>
            <a:r>
              <a:rPr lang="en-US" sz="1600" spc="-18"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black</a:t>
            </a:r>
            <a:r>
              <a:rPr lang="en-US" sz="1600" spc="-36"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and</a:t>
            </a:r>
            <a:r>
              <a:rPr lang="en-US" sz="1600" spc="-5"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immersed</a:t>
            </a:r>
            <a:r>
              <a:rPr lang="en-US" sz="1600" spc="-32"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in</a:t>
            </a:r>
            <a:r>
              <a:rPr lang="en-US" sz="1600" spc="-36"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a:t>
            </a:r>
            <a:r>
              <a:rPr lang="en-US" sz="1600" spc="-14"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solution</a:t>
            </a:r>
            <a:r>
              <a:rPr lang="en-US" sz="1600" spc="-36"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of</a:t>
            </a:r>
            <a:r>
              <a:rPr lang="en-US" sz="1600" spc="-27"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HCl</a:t>
            </a:r>
            <a:r>
              <a:rPr lang="en-US" sz="1600" spc="-18" dirty="0">
                <a:latin typeface="Arial" panose="020B0604020202020204" pitchFamily="34" charset="0"/>
                <a:cs typeface="Arial" panose="020B0604020202020204" pitchFamily="34" charset="0"/>
              </a:rPr>
              <a:t> </a:t>
            </a:r>
            <a:r>
              <a:rPr lang="en-US" sz="1600" spc="-9" dirty="0">
                <a:latin typeface="Arial" panose="020B0604020202020204" pitchFamily="34" charset="0"/>
                <a:cs typeface="Arial" panose="020B0604020202020204" pitchFamily="34" charset="0"/>
              </a:rPr>
              <a:t>(1M).</a:t>
            </a:r>
            <a:endParaRPr lang="en-US" sz="1600" dirty="0">
              <a:latin typeface="Arial" panose="020B0604020202020204" pitchFamily="34" charset="0"/>
              <a:cs typeface="Arial" panose="020B0604020202020204" pitchFamily="34" charset="0"/>
            </a:endParaRPr>
          </a:p>
          <a:p>
            <a:pPr marL="353552" indent="-342036">
              <a:spcBef>
                <a:spcPts val="481"/>
              </a:spcBef>
              <a:buFont typeface="Calibri"/>
              <a:buChar char="➢"/>
              <a:tabLst>
                <a:tab pos="353552" algn="l"/>
              </a:tabLst>
            </a:pPr>
            <a:r>
              <a:rPr lang="en-US" sz="1600" dirty="0">
                <a:latin typeface="Arial" panose="020B0604020202020204" pitchFamily="34" charset="0"/>
                <a:cs typeface="Arial" panose="020B0604020202020204" pitchFamily="34" charset="0"/>
              </a:rPr>
              <a:t>Hydrogen</a:t>
            </a:r>
            <a:r>
              <a:rPr lang="en-US" sz="1600" spc="-5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gas</a:t>
            </a:r>
            <a:r>
              <a:rPr lang="en-US" sz="1600" spc="-5"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at</a:t>
            </a:r>
            <a:r>
              <a:rPr lang="en-US" sz="1600" spc="-18"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pressure</a:t>
            </a:r>
            <a:r>
              <a:rPr lang="en-US" sz="1600" spc="-5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of</a:t>
            </a:r>
            <a:r>
              <a:rPr lang="en-US" sz="1600" spc="-18"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1</a:t>
            </a:r>
            <a:r>
              <a:rPr lang="en-US" sz="1600" spc="-18"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atmosphere</a:t>
            </a:r>
            <a:r>
              <a:rPr lang="en-US" sz="1600" spc="-23"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is</a:t>
            </a:r>
            <a:r>
              <a:rPr lang="en-US" sz="1600" spc="-5" dirty="0">
                <a:latin typeface="Arial" panose="020B0604020202020204" pitchFamily="34" charset="0"/>
                <a:cs typeface="Arial" panose="020B0604020202020204" pitchFamily="34" charset="0"/>
              </a:rPr>
              <a:t> </a:t>
            </a:r>
            <a:r>
              <a:rPr lang="en-US" sz="1600" spc="-9" dirty="0">
                <a:latin typeface="Arial" panose="020B0604020202020204" pitchFamily="34" charset="0"/>
                <a:cs typeface="Arial" panose="020B0604020202020204" pitchFamily="34" charset="0"/>
              </a:rPr>
              <a:t>passed.</a:t>
            </a:r>
            <a:endParaRPr lang="en-US" sz="1600" dirty="0">
              <a:latin typeface="Arial" panose="020B0604020202020204" pitchFamily="34" charset="0"/>
              <a:cs typeface="Arial" panose="020B0604020202020204" pitchFamily="34" charset="0"/>
            </a:endParaRPr>
          </a:p>
          <a:p>
            <a:pPr marL="46065" marR="16123" algn="just">
              <a:lnSpc>
                <a:spcPct val="99800"/>
              </a:lnSpc>
              <a:spcBef>
                <a:spcPts val="1061"/>
              </a:spcBef>
            </a:pPr>
            <a:r>
              <a:rPr sz="1600" spc="-177" dirty="0">
                <a:latin typeface="Arial" panose="020B0604020202020204" pitchFamily="34" charset="0"/>
                <a:cs typeface="Arial" panose="020B0604020202020204" pitchFamily="34" charset="0"/>
              </a:rPr>
              <a:t>So</a:t>
            </a:r>
            <a:r>
              <a:rPr sz="1600" spc="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electric</a:t>
            </a:r>
            <a:r>
              <a:rPr sz="1600" spc="-27"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current</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will</a:t>
            </a:r>
            <a:r>
              <a:rPr sz="1600" spc="-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flow</a:t>
            </a:r>
            <a:r>
              <a:rPr sz="1600" spc="-1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from</a:t>
            </a:r>
            <a:r>
              <a:rPr sz="1600" spc="-3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that</a:t>
            </a:r>
            <a:r>
              <a:rPr sz="1600" spc="-27"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having</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a:t>
            </a:r>
            <a:r>
              <a:rPr sz="1600" spc="-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higher</a:t>
            </a:r>
            <a:r>
              <a:rPr sz="1600" spc="-14" dirty="0">
                <a:latin typeface="Arial" panose="020B0604020202020204" pitchFamily="34" charset="0"/>
                <a:cs typeface="Arial" panose="020B0604020202020204" pitchFamily="34" charset="0"/>
              </a:rPr>
              <a:t> </a:t>
            </a:r>
            <a:r>
              <a:rPr sz="1600" spc="-9" dirty="0">
                <a:latin typeface="Arial" panose="020B0604020202020204" pitchFamily="34" charset="0"/>
                <a:cs typeface="Arial" panose="020B0604020202020204" pitchFamily="34" charset="0"/>
              </a:rPr>
              <a:t>potential </a:t>
            </a:r>
            <a:r>
              <a:rPr sz="1600" dirty="0">
                <a:latin typeface="Arial" panose="020B0604020202020204" pitchFamily="34" charset="0"/>
                <a:cs typeface="Arial" panose="020B0604020202020204" pitchFamily="34" charset="0"/>
              </a:rPr>
              <a:t>to</a:t>
            </a:r>
            <a:r>
              <a:rPr sz="1600" spc="-32"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32"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other</a:t>
            </a:r>
            <a:r>
              <a:rPr sz="1600" spc="-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one,</a:t>
            </a:r>
            <a:r>
              <a:rPr sz="1600" spc="-27"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this</a:t>
            </a:r>
            <a:r>
              <a:rPr sz="1600" spc="-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current</a:t>
            </a:r>
            <a:r>
              <a:rPr sz="1600" spc="-4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is</a:t>
            </a:r>
            <a:r>
              <a:rPr sz="1600" spc="-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called</a:t>
            </a:r>
            <a:r>
              <a:rPr sz="1600" spc="-27"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e.m.f.</a:t>
            </a:r>
            <a:r>
              <a:rPr sz="1600" spc="-27"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Which</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is</a:t>
            </a:r>
            <a:r>
              <a:rPr sz="1600" spc="-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9" dirty="0">
                <a:latin typeface="Arial" panose="020B0604020202020204" pitchFamily="34" charset="0"/>
                <a:cs typeface="Arial" panose="020B0604020202020204" pitchFamily="34" charset="0"/>
              </a:rPr>
              <a:t> algebric </a:t>
            </a:r>
            <a:r>
              <a:rPr sz="1600" dirty="0">
                <a:latin typeface="Arial" panose="020B0604020202020204" pitchFamily="34" charset="0"/>
                <a:cs typeface="Arial" panose="020B0604020202020204" pitchFamily="34" charset="0"/>
              </a:rPr>
              <a:t>difference</a:t>
            </a:r>
            <a:r>
              <a:rPr sz="1600" spc="-5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of</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electrode</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potential</a:t>
            </a:r>
            <a:r>
              <a:rPr sz="1600" spc="-5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of</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two</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half</a:t>
            </a:r>
            <a:r>
              <a:rPr sz="1600" spc="-45" dirty="0">
                <a:latin typeface="Arial" panose="020B0604020202020204" pitchFamily="34" charset="0"/>
                <a:cs typeface="Arial" panose="020B0604020202020204" pitchFamily="34" charset="0"/>
              </a:rPr>
              <a:t> </a:t>
            </a:r>
            <a:r>
              <a:rPr sz="1600" spc="-9" dirty="0">
                <a:latin typeface="Arial" panose="020B0604020202020204" pitchFamily="34" charset="0"/>
                <a:cs typeface="Arial" panose="020B0604020202020204" pitchFamily="34" charset="0"/>
              </a:rPr>
              <a:t>cells.</a:t>
            </a:r>
            <a:endParaRPr sz="1600" dirty="0">
              <a:latin typeface="Arial" panose="020B0604020202020204" pitchFamily="34" charset="0"/>
              <a:cs typeface="Arial" panose="020B0604020202020204" pitchFamily="34" charset="0"/>
            </a:endParaRPr>
          </a:p>
          <a:p>
            <a:pPr algn="just">
              <a:spcBef>
                <a:spcPts val="163"/>
              </a:spcBef>
            </a:pPr>
            <a:endParaRPr sz="1600" dirty="0">
              <a:latin typeface="Arial" panose="020B0604020202020204" pitchFamily="34" charset="0"/>
              <a:cs typeface="Arial" panose="020B0604020202020204" pitchFamily="34" charset="0"/>
            </a:endParaRPr>
          </a:p>
          <a:p>
            <a:pPr marL="46065" marR="1336474" algn="just"/>
            <a:r>
              <a:rPr sz="1600" spc="-177" dirty="0">
                <a:latin typeface="Arial" panose="020B0604020202020204" pitchFamily="34" charset="0"/>
                <a:cs typeface="Arial" panose="020B0604020202020204" pitchFamily="34" charset="0"/>
              </a:rPr>
              <a:t>If</a:t>
            </a:r>
            <a:r>
              <a:rPr sz="1600" spc="1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7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reference</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electrode</a:t>
            </a:r>
            <a:r>
              <a:rPr sz="1600" spc="-27"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has</a:t>
            </a:r>
            <a:r>
              <a:rPr sz="1600" spc="-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potential</a:t>
            </a:r>
            <a:r>
              <a:rPr sz="1600" spc="-3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equal</a:t>
            </a:r>
            <a:r>
              <a:rPr sz="1600" spc="-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to</a:t>
            </a:r>
            <a:r>
              <a:rPr sz="1600" spc="-9" dirty="0">
                <a:latin typeface="Arial" panose="020B0604020202020204" pitchFamily="34" charset="0"/>
                <a:cs typeface="Arial" panose="020B0604020202020204" pitchFamily="34" charset="0"/>
              </a:rPr>
              <a:t> zero, </a:t>
            </a:r>
            <a:r>
              <a:rPr sz="1600" dirty="0">
                <a:latin typeface="Arial" panose="020B0604020202020204" pitchFamily="34" charset="0"/>
                <a:cs typeface="Arial" panose="020B0604020202020204" pitchFamily="34" charset="0"/>
              </a:rPr>
              <a:t>therefore,</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so</a:t>
            </a:r>
            <a:r>
              <a:rPr lang="en-IN" sz="160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e.m.f.</a:t>
            </a:r>
            <a:r>
              <a:rPr sz="1600" spc="-3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measured</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will be</a:t>
            </a:r>
            <a:r>
              <a:rPr sz="1600" spc="-3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equal</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to</a:t>
            </a:r>
            <a:r>
              <a:rPr sz="1600" spc="-59" dirty="0">
                <a:latin typeface="Arial" panose="020B0604020202020204" pitchFamily="34" charset="0"/>
                <a:cs typeface="Arial" panose="020B0604020202020204" pitchFamily="34" charset="0"/>
              </a:rPr>
              <a:t> </a:t>
            </a:r>
            <a:r>
              <a:rPr sz="1600" spc="-23" dirty="0">
                <a:latin typeface="Arial" panose="020B0604020202020204" pitchFamily="34" charset="0"/>
                <a:cs typeface="Arial" panose="020B0604020202020204" pitchFamily="34" charset="0"/>
              </a:rPr>
              <a:t>E</a:t>
            </a:r>
            <a:r>
              <a:rPr sz="1600" spc="-34" baseline="-20634" dirty="0">
                <a:latin typeface="Arial" panose="020B0604020202020204" pitchFamily="34" charset="0"/>
                <a:cs typeface="Arial" panose="020B0604020202020204" pitchFamily="34" charset="0"/>
              </a:rPr>
              <a:t>0</a:t>
            </a:r>
            <a:endParaRPr sz="1600" baseline="-20634" dirty="0">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BE33D0D6-A0A9-33E7-A855-DC62C5139206}"/>
              </a:ext>
            </a:extLst>
          </p:cNvPr>
          <p:cNvGrpSpPr/>
          <p:nvPr/>
        </p:nvGrpSpPr>
        <p:grpSpPr>
          <a:xfrm>
            <a:off x="1320160" y="3453775"/>
            <a:ext cx="2104594" cy="356301"/>
            <a:chOff x="1028635" y="3315712"/>
            <a:chExt cx="2320899" cy="392921"/>
          </a:xfrm>
        </p:grpSpPr>
        <p:sp>
          <p:nvSpPr>
            <p:cNvPr id="6" name="object 14">
              <a:extLst>
                <a:ext uri="{FF2B5EF4-FFF2-40B4-BE49-F238E27FC236}">
                  <a16:creationId xmlns:a16="http://schemas.microsoft.com/office/drawing/2014/main" id="{A16FA907-6522-FB55-D88C-1F6215D25C48}"/>
                </a:ext>
              </a:extLst>
            </p:cNvPr>
            <p:cNvSpPr txBox="1"/>
            <p:nvPr/>
          </p:nvSpPr>
          <p:spPr>
            <a:xfrm>
              <a:off x="1028635" y="3315712"/>
              <a:ext cx="355601" cy="316695"/>
            </a:xfrm>
            <a:prstGeom prst="rect">
              <a:avLst/>
            </a:prstGeom>
          </p:spPr>
          <p:txBody>
            <a:bodyPr vert="horz" wrap="square" lIns="0" tIns="14971" rIns="0" bIns="0" rtlCol="0">
              <a:spAutoFit/>
            </a:bodyPr>
            <a:lstStyle/>
            <a:p>
              <a:pPr marL="34549">
                <a:spcBef>
                  <a:spcPts val="118"/>
                </a:spcBef>
              </a:pPr>
              <a:r>
                <a:rPr sz="2652" b="1" spc="-68" baseline="-17094" dirty="0">
                  <a:solidFill>
                    <a:srgbClr val="FF0000"/>
                  </a:solidFill>
                  <a:latin typeface="Arial" panose="020B0604020202020204" pitchFamily="34" charset="0"/>
                  <a:cs typeface="Arial" panose="020B0604020202020204" pitchFamily="34" charset="0"/>
                </a:rPr>
                <a:t>H</a:t>
              </a:r>
              <a:r>
                <a:rPr sz="1179" b="1" spc="-45" dirty="0">
                  <a:solidFill>
                    <a:srgbClr val="FF0000"/>
                  </a:solidFill>
                  <a:latin typeface="Arial" panose="020B0604020202020204" pitchFamily="34" charset="0"/>
                  <a:cs typeface="Arial" panose="020B0604020202020204" pitchFamily="34" charset="0"/>
                </a:rPr>
                <a:t>+</a:t>
              </a:r>
              <a:endParaRPr sz="1179">
                <a:latin typeface="Arial" panose="020B0604020202020204" pitchFamily="34" charset="0"/>
                <a:cs typeface="Arial" panose="020B0604020202020204" pitchFamily="34" charset="0"/>
              </a:endParaRPr>
            </a:p>
          </p:txBody>
        </p:sp>
        <p:sp>
          <p:nvSpPr>
            <p:cNvPr id="7" name="object 15">
              <a:extLst>
                <a:ext uri="{FF2B5EF4-FFF2-40B4-BE49-F238E27FC236}">
                  <a16:creationId xmlns:a16="http://schemas.microsoft.com/office/drawing/2014/main" id="{AC32844F-74C2-3C99-4600-92CE5A98B070}"/>
                </a:ext>
              </a:extLst>
            </p:cNvPr>
            <p:cNvSpPr txBox="1"/>
            <p:nvPr/>
          </p:nvSpPr>
          <p:spPr>
            <a:xfrm>
              <a:off x="1438185" y="3391938"/>
              <a:ext cx="1911349" cy="316695"/>
            </a:xfrm>
            <a:prstGeom prst="rect">
              <a:avLst/>
            </a:prstGeom>
          </p:spPr>
          <p:txBody>
            <a:bodyPr vert="horz" wrap="square" lIns="0" tIns="14971" rIns="0" bIns="0" rtlCol="0">
              <a:spAutoFit/>
            </a:bodyPr>
            <a:lstStyle/>
            <a:p>
              <a:pPr marL="46065">
                <a:spcBef>
                  <a:spcPts val="118"/>
                </a:spcBef>
                <a:tabLst>
                  <a:tab pos="305759" algn="l"/>
                  <a:tab pos="1183306" algn="l"/>
                </a:tabLst>
              </a:pPr>
              <a:r>
                <a:rPr sz="1768" b="1" spc="-453" dirty="0">
                  <a:solidFill>
                    <a:srgbClr val="FF0000"/>
                  </a:solidFill>
                  <a:latin typeface="Arial" panose="020B0604020202020204" pitchFamily="34" charset="0"/>
                  <a:cs typeface="Arial" panose="020B0604020202020204" pitchFamily="34" charset="0"/>
                </a:rPr>
                <a:t>+</a:t>
              </a:r>
              <a:r>
                <a:rPr sz="1768" b="1" dirty="0">
                  <a:solidFill>
                    <a:srgbClr val="FF0000"/>
                  </a:solidFill>
                  <a:latin typeface="Arial" panose="020B0604020202020204" pitchFamily="34" charset="0"/>
                  <a:cs typeface="Arial" panose="020B0604020202020204" pitchFamily="34" charset="0"/>
                </a:rPr>
                <a:t>	</a:t>
              </a:r>
              <a:r>
                <a:rPr sz="1768" b="1" spc="-23" dirty="0">
                  <a:solidFill>
                    <a:srgbClr val="FF0000"/>
                  </a:solidFill>
                  <a:latin typeface="Arial" panose="020B0604020202020204" pitchFamily="34" charset="0"/>
                  <a:cs typeface="Arial" panose="020B0604020202020204" pitchFamily="34" charset="0"/>
                </a:rPr>
                <a:t>e</a:t>
              </a:r>
              <a:r>
                <a:rPr sz="1768" b="1" spc="-34" baseline="25641" dirty="0">
                  <a:solidFill>
                    <a:srgbClr val="FF0000"/>
                  </a:solidFill>
                  <a:latin typeface="Arial" panose="020B0604020202020204" pitchFamily="34" charset="0"/>
                  <a:cs typeface="Arial" panose="020B0604020202020204" pitchFamily="34" charset="0"/>
                </a:rPr>
                <a:t>-</a:t>
              </a:r>
              <a:r>
                <a:rPr sz="1768" b="1" baseline="25641" dirty="0">
                  <a:solidFill>
                    <a:srgbClr val="FF0000"/>
                  </a:solidFill>
                  <a:latin typeface="Arial" panose="020B0604020202020204" pitchFamily="34" charset="0"/>
                  <a:cs typeface="Arial" panose="020B0604020202020204" pitchFamily="34" charset="0"/>
                </a:rPr>
                <a:t>	</a:t>
              </a:r>
              <a:r>
                <a:rPr sz="1768" b="1" spc="-499" dirty="0">
                  <a:solidFill>
                    <a:srgbClr val="FF0000"/>
                  </a:solidFill>
                  <a:latin typeface="Arial" panose="020B0604020202020204" pitchFamily="34" charset="0"/>
                  <a:cs typeface="Arial" panose="020B0604020202020204" pitchFamily="34" charset="0"/>
                </a:rPr>
                <a:t>½</a:t>
              </a:r>
              <a:r>
                <a:rPr sz="1768" b="1" spc="-14" dirty="0">
                  <a:solidFill>
                    <a:srgbClr val="FF0000"/>
                  </a:solidFill>
                  <a:latin typeface="Arial" panose="020B0604020202020204" pitchFamily="34" charset="0"/>
                  <a:cs typeface="Arial" panose="020B0604020202020204" pitchFamily="34" charset="0"/>
                </a:rPr>
                <a:t> </a:t>
              </a:r>
              <a:r>
                <a:rPr sz="1768" b="1" spc="-23" dirty="0">
                  <a:solidFill>
                    <a:srgbClr val="FF0000"/>
                  </a:solidFill>
                  <a:latin typeface="Arial" panose="020B0604020202020204" pitchFamily="34" charset="0"/>
                  <a:cs typeface="Arial" panose="020B0604020202020204" pitchFamily="34" charset="0"/>
                </a:rPr>
                <a:t>H</a:t>
              </a:r>
              <a:r>
                <a:rPr sz="1768" b="1" spc="-34" baseline="-21367" dirty="0">
                  <a:solidFill>
                    <a:srgbClr val="FF0000"/>
                  </a:solidFill>
                  <a:latin typeface="Arial" panose="020B0604020202020204" pitchFamily="34" charset="0"/>
                  <a:cs typeface="Arial" panose="020B0604020202020204" pitchFamily="34" charset="0"/>
                </a:rPr>
                <a:t>2</a:t>
              </a:r>
              <a:endParaRPr sz="1768" baseline="-21367" dirty="0">
                <a:latin typeface="Arial" panose="020B0604020202020204" pitchFamily="34" charset="0"/>
                <a:cs typeface="Arial" panose="020B0604020202020204" pitchFamily="34" charset="0"/>
              </a:endParaRPr>
            </a:p>
          </p:txBody>
        </p:sp>
        <p:sp>
          <p:nvSpPr>
            <p:cNvPr id="8" name="object 16">
              <a:extLst>
                <a:ext uri="{FF2B5EF4-FFF2-40B4-BE49-F238E27FC236}">
                  <a16:creationId xmlns:a16="http://schemas.microsoft.com/office/drawing/2014/main" id="{62710B2F-060A-44CB-5E82-E97ED4E886C4}"/>
                </a:ext>
              </a:extLst>
            </p:cNvPr>
            <p:cNvSpPr/>
            <p:nvPr/>
          </p:nvSpPr>
          <p:spPr>
            <a:xfrm>
              <a:off x="2069579" y="3474732"/>
              <a:ext cx="421005" cy="193675"/>
            </a:xfrm>
            <a:custGeom>
              <a:avLst/>
              <a:gdLst/>
              <a:ahLst/>
              <a:cxnLst/>
              <a:rect l="l" t="t" r="r" b="b"/>
              <a:pathLst>
                <a:path w="421005" h="193675">
                  <a:moveTo>
                    <a:pt x="336804" y="132486"/>
                  </a:moveTo>
                  <a:lnTo>
                    <a:pt x="32219" y="132486"/>
                  </a:lnTo>
                  <a:lnTo>
                    <a:pt x="97536" y="94475"/>
                  </a:lnTo>
                  <a:lnTo>
                    <a:pt x="99060" y="92951"/>
                  </a:lnTo>
                  <a:lnTo>
                    <a:pt x="100584" y="89903"/>
                  </a:lnTo>
                  <a:lnTo>
                    <a:pt x="97536" y="83807"/>
                  </a:lnTo>
                  <a:lnTo>
                    <a:pt x="94488" y="83807"/>
                  </a:lnTo>
                  <a:lnTo>
                    <a:pt x="91440" y="85331"/>
                  </a:lnTo>
                  <a:lnTo>
                    <a:pt x="10617" y="132486"/>
                  </a:lnTo>
                  <a:lnTo>
                    <a:pt x="0" y="138671"/>
                  </a:lnTo>
                  <a:lnTo>
                    <a:pt x="91440" y="192011"/>
                  </a:lnTo>
                  <a:lnTo>
                    <a:pt x="94488" y="193535"/>
                  </a:lnTo>
                  <a:lnTo>
                    <a:pt x="97536" y="192011"/>
                  </a:lnTo>
                  <a:lnTo>
                    <a:pt x="99060" y="190487"/>
                  </a:lnTo>
                  <a:lnTo>
                    <a:pt x="100584" y="187439"/>
                  </a:lnTo>
                  <a:lnTo>
                    <a:pt x="99060" y="184391"/>
                  </a:lnTo>
                  <a:lnTo>
                    <a:pt x="97536" y="182867"/>
                  </a:lnTo>
                  <a:lnTo>
                    <a:pt x="29438" y="143243"/>
                  </a:lnTo>
                  <a:lnTo>
                    <a:pt x="336804" y="143243"/>
                  </a:lnTo>
                  <a:lnTo>
                    <a:pt x="336804" y="132486"/>
                  </a:lnTo>
                  <a:close/>
                </a:path>
                <a:path w="421005" h="193675">
                  <a:moveTo>
                    <a:pt x="420636" y="54864"/>
                  </a:moveTo>
                  <a:lnTo>
                    <a:pt x="410019" y="48666"/>
                  </a:lnTo>
                  <a:lnTo>
                    <a:pt x="329196" y="1524"/>
                  </a:lnTo>
                  <a:lnTo>
                    <a:pt x="326148" y="0"/>
                  </a:lnTo>
                  <a:lnTo>
                    <a:pt x="323088" y="0"/>
                  </a:lnTo>
                  <a:lnTo>
                    <a:pt x="320040" y="6096"/>
                  </a:lnTo>
                  <a:lnTo>
                    <a:pt x="320040" y="9144"/>
                  </a:lnTo>
                  <a:lnTo>
                    <a:pt x="323088" y="10668"/>
                  </a:lnTo>
                  <a:lnTo>
                    <a:pt x="388404" y="48666"/>
                  </a:lnTo>
                  <a:lnTo>
                    <a:pt x="0" y="48666"/>
                  </a:lnTo>
                  <a:lnTo>
                    <a:pt x="0" y="59436"/>
                  </a:lnTo>
                  <a:lnTo>
                    <a:pt x="391198" y="59436"/>
                  </a:lnTo>
                  <a:lnTo>
                    <a:pt x="323088" y="99060"/>
                  </a:lnTo>
                  <a:lnTo>
                    <a:pt x="320040" y="100584"/>
                  </a:lnTo>
                  <a:lnTo>
                    <a:pt x="320040" y="103632"/>
                  </a:lnTo>
                  <a:lnTo>
                    <a:pt x="321564" y="106680"/>
                  </a:lnTo>
                  <a:lnTo>
                    <a:pt x="323088" y="108204"/>
                  </a:lnTo>
                  <a:lnTo>
                    <a:pt x="326148" y="109728"/>
                  </a:lnTo>
                  <a:lnTo>
                    <a:pt x="329196" y="108204"/>
                  </a:lnTo>
                  <a:lnTo>
                    <a:pt x="412788" y="59436"/>
                  </a:lnTo>
                  <a:lnTo>
                    <a:pt x="420636" y="54864"/>
                  </a:lnTo>
                  <a:close/>
                </a:path>
              </a:pathLst>
            </a:custGeom>
            <a:solidFill>
              <a:srgbClr val="2F91B8"/>
            </a:solidFill>
          </p:spPr>
          <p:txBody>
            <a:bodyPr wrap="square" lIns="0" tIns="0" rIns="0" bIns="0" rtlCol="0"/>
            <a:lstStyle/>
            <a:p>
              <a:endParaRPr sz="1632">
                <a:latin typeface="Arial" panose="020B0604020202020204" pitchFamily="34" charset="0"/>
                <a:cs typeface="Arial" panose="020B0604020202020204" pitchFamily="34"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8618" y="236706"/>
            <a:ext cx="8446666" cy="897333"/>
          </a:xfrm>
          <a:prstGeom prst="rect">
            <a:avLst/>
          </a:prstGeom>
        </p:spPr>
        <p:txBody>
          <a:bodyPr vert="horz" wrap="square" lIns="0" tIns="65695" rIns="0" bIns="0" rtlCol="0" anchor="ctr">
            <a:spAutoFit/>
          </a:bodyPr>
          <a:lstStyle/>
          <a:p>
            <a:pPr marL="287333" marR="16123">
              <a:lnSpc>
                <a:spcPct val="100400"/>
              </a:lnSpc>
              <a:spcBef>
                <a:spcPts val="86"/>
              </a:spcBef>
            </a:pPr>
            <a:r>
              <a:rPr sz="1800" b="1" spc="-77" dirty="0">
                <a:solidFill>
                  <a:srgbClr val="FF0000"/>
                </a:solidFill>
                <a:latin typeface="Arial" panose="020B0604020202020204" pitchFamily="34" charset="0"/>
                <a:cs typeface="Arial" panose="020B0604020202020204" pitchFamily="34" charset="0"/>
              </a:rPr>
              <a:t>Standard</a:t>
            </a:r>
            <a:r>
              <a:rPr sz="1800" b="1" spc="-50" dirty="0">
                <a:solidFill>
                  <a:srgbClr val="FF0000"/>
                </a:solidFill>
                <a:latin typeface="Arial" panose="020B0604020202020204" pitchFamily="34" charset="0"/>
                <a:cs typeface="Arial" panose="020B0604020202020204" pitchFamily="34" charset="0"/>
              </a:rPr>
              <a:t> </a:t>
            </a:r>
            <a:r>
              <a:rPr sz="1800" b="1" spc="-77" dirty="0">
                <a:solidFill>
                  <a:srgbClr val="FF0000"/>
                </a:solidFill>
                <a:latin typeface="Arial" panose="020B0604020202020204" pitchFamily="34" charset="0"/>
                <a:cs typeface="Arial" panose="020B0604020202020204" pitchFamily="34" charset="0"/>
              </a:rPr>
              <a:t>electrode</a:t>
            </a:r>
            <a:r>
              <a:rPr sz="1800" b="1" spc="-63" dirty="0">
                <a:solidFill>
                  <a:srgbClr val="FF0000"/>
                </a:solidFill>
                <a:latin typeface="Arial" panose="020B0604020202020204" pitchFamily="34" charset="0"/>
                <a:cs typeface="Arial" panose="020B0604020202020204" pitchFamily="34" charset="0"/>
              </a:rPr>
              <a:t> </a:t>
            </a:r>
            <a:r>
              <a:rPr sz="1800" b="1" spc="-100" dirty="0">
                <a:solidFill>
                  <a:srgbClr val="FF0000"/>
                </a:solidFill>
                <a:latin typeface="Arial" panose="020B0604020202020204" pitchFamily="34" charset="0"/>
                <a:cs typeface="Arial" panose="020B0604020202020204" pitchFamily="34" charset="0"/>
              </a:rPr>
              <a:t>potential</a:t>
            </a:r>
            <a:r>
              <a:rPr sz="1800" b="1" spc="-45" dirty="0">
                <a:solidFill>
                  <a:srgbClr val="FF0000"/>
                </a:solidFill>
                <a:latin typeface="Arial" panose="020B0604020202020204" pitchFamily="34" charset="0"/>
                <a:cs typeface="Arial" panose="020B0604020202020204" pitchFamily="34" charset="0"/>
              </a:rPr>
              <a:t> </a:t>
            </a:r>
            <a:r>
              <a:rPr sz="1800" b="1" dirty="0">
                <a:solidFill>
                  <a:srgbClr val="FF0000"/>
                </a:solidFill>
                <a:latin typeface="Arial" panose="020B0604020202020204" pitchFamily="34" charset="0"/>
                <a:cs typeface="Arial" panose="020B0604020202020204" pitchFamily="34" charset="0"/>
              </a:rPr>
              <a:t>E</a:t>
            </a:r>
            <a:r>
              <a:rPr sz="1800" b="1" baseline="26234" dirty="0">
                <a:solidFill>
                  <a:srgbClr val="FF0000"/>
                </a:solidFill>
                <a:latin typeface="Arial" panose="020B0604020202020204" pitchFamily="34" charset="0"/>
                <a:cs typeface="Arial" panose="020B0604020202020204" pitchFamily="34" charset="0"/>
              </a:rPr>
              <a:t>0</a:t>
            </a:r>
            <a:r>
              <a:rPr sz="1800" b="1" dirty="0">
                <a:solidFill>
                  <a:srgbClr val="FF0000"/>
                </a:solidFill>
                <a:latin typeface="Arial" panose="020B0604020202020204" pitchFamily="34" charset="0"/>
                <a:cs typeface="Arial" panose="020B0604020202020204" pitchFamily="34" charset="0"/>
              </a:rPr>
              <a:t>:</a:t>
            </a:r>
            <a:r>
              <a:rPr sz="1800" b="1" spc="-45" dirty="0">
                <a:solidFill>
                  <a:srgbClr val="FF0000"/>
                </a:solidFill>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Is</a:t>
            </a:r>
            <a:r>
              <a:rPr sz="1800" spc="2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the</a:t>
            </a:r>
            <a:r>
              <a:rPr sz="1800"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e.m.f.</a:t>
            </a:r>
            <a:r>
              <a:rPr sz="1800" spc="54"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produced</a:t>
            </a:r>
            <a:r>
              <a:rPr sz="1800" spc="5" dirty="0">
                <a:latin typeface="Arial" panose="020B0604020202020204" pitchFamily="34" charset="0"/>
                <a:cs typeface="Arial" panose="020B0604020202020204" pitchFamily="34" charset="0"/>
              </a:rPr>
              <a:t> </a:t>
            </a:r>
            <a:r>
              <a:rPr sz="1800" spc="-18" dirty="0">
                <a:latin typeface="Arial" panose="020B0604020202020204" pitchFamily="34" charset="0"/>
                <a:cs typeface="Arial" panose="020B0604020202020204" pitchFamily="34" charset="0"/>
              </a:rPr>
              <a:t>when </a:t>
            </a:r>
            <a:r>
              <a:rPr sz="1800" dirty="0">
                <a:latin typeface="Arial" panose="020B0604020202020204" pitchFamily="34" charset="0"/>
                <a:cs typeface="Arial" panose="020B0604020202020204" pitchFamily="34" charset="0"/>
              </a:rPr>
              <a:t>a half cell</a:t>
            </a:r>
            <a:r>
              <a:rPr sz="1800" spc="18"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consisiting</a:t>
            </a:r>
            <a:r>
              <a:rPr sz="1800" spc="-2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of</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an</a:t>
            </a:r>
            <a:r>
              <a:rPr sz="1800" spc="32"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element</a:t>
            </a:r>
            <a:r>
              <a:rPr sz="1800"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immersed</a:t>
            </a:r>
            <a:r>
              <a:rPr sz="1800"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in</a:t>
            </a:r>
            <a:r>
              <a:rPr sz="1800" spc="9"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one</a:t>
            </a:r>
            <a:r>
              <a:rPr sz="1800" spc="9" dirty="0">
                <a:latin typeface="Arial" panose="020B0604020202020204" pitchFamily="34" charset="0"/>
                <a:cs typeface="Arial" panose="020B0604020202020204" pitchFamily="34" charset="0"/>
              </a:rPr>
              <a:t> </a:t>
            </a:r>
            <a:r>
              <a:rPr sz="1800" spc="-9" dirty="0">
                <a:latin typeface="Arial" panose="020B0604020202020204" pitchFamily="34" charset="0"/>
                <a:cs typeface="Arial" panose="020B0604020202020204" pitchFamily="34" charset="0"/>
              </a:rPr>
              <a:t>molar </a:t>
            </a:r>
            <a:r>
              <a:rPr sz="1800" dirty="0">
                <a:latin typeface="Arial" panose="020B0604020202020204" pitchFamily="34" charset="0"/>
                <a:cs typeface="Arial" panose="020B0604020202020204" pitchFamily="34" charset="0"/>
              </a:rPr>
              <a:t>solution</a:t>
            </a:r>
            <a:r>
              <a:rPr sz="1800"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of</a:t>
            </a:r>
            <a:r>
              <a:rPr sz="1800" spc="2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its</a:t>
            </a:r>
            <a:r>
              <a:rPr sz="1800" spc="18"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ions</a:t>
            </a:r>
            <a:r>
              <a:rPr sz="1800" spc="-14"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is</a:t>
            </a:r>
            <a:r>
              <a:rPr sz="1800" spc="2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coupled</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with</a:t>
            </a:r>
            <a:r>
              <a:rPr sz="1800" spc="32" dirty="0">
                <a:latin typeface="Arial" panose="020B0604020202020204" pitchFamily="34" charset="0"/>
                <a:cs typeface="Arial" panose="020B0604020202020204" pitchFamily="34" charset="0"/>
              </a:rPr>
              <a:t> </a:t>
            </a:r>
            <a:r>
              <a:rPr sz="1800" spc="-18" dirty="0">
                <a:latin typeface="Arial" panose="020B0604020202020204" pitchFamily="34" charset="0"/>
                <a:cs typeface="Arial" panose="020B0604020202020204" pitchFamily="34" charset="0"/>
              </a:rPr>
              <a:t>NHE.</a:t>
            </a:r>
            <a:endParaRPr sz="1800" dirty="0">
              <a:latin typeface="Arial" panose="020B0604020202020204" pitchFamily="34" charset="0"/>
              <a:cs typeface="Arial" panose="020B0604020202020204" pitchFamily="34" charset="0"/>
            </a:endParaRPr>
          </a:p>
        </p:txBody>
      </p:sp>
      <p:sp>
        <p:nvSpPr>
          <p:cNvPr id="3" name="object 3"/>
          <p:cNvSpPr txBox="1"/>
          <p:nvPr/>
        </p:nvSpPr>
        <p:spPr>
          <a:xfrm>
            <a:off x="1048016" y="1320643"/>
            <a:ext cx="7927871" cy="742887"/>
          </a:xfrm>
          <a:prstGeom prst="rect">
            <a:avLst/>
          </a:prstGeom>
        </p:spPr>
        <p:txBody>
          <a:bodyPr vert="horz" wrap="square" lIns="0" tIns="24184" rIns="0" bIns="0" rtlCol="0">
            <a:spAutoFit/>
          </a:bodyPr>
          <a:lstStyle/>
          <a:p>
            <a:pPr marL="365644" marR="16123" indent="-343188">
              <a:lnSpc>
                <a:spcPts val="2875"/>
              </a:lnSpc>
              <a:spcBef>
                <a:spcPts val="190"/>
              </a:spcBef>
            </a:pPr>
            <a:r>
              <a:rPr dirty="0">
                <a:latin typeface="Arial" panose="020B0604020202020204" pitchFamily="34" charset="0"/>
                <a:cs typeface="Arial" panose="020B0604020202020204" pitchFamily="34" charset="0"/>
              </a:rPr>
              <a:t>By</a:t>
            </a:r>
            <a:r>
              <a:rPr spc="-32"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measuring</a:t>
            </a:r>
            <a:r>
              <a:rPr spc="-54"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E</a:t>
            </a:r>
            <a:r>
              <a:rPr baseline="25396" dirty="0">
                <a:latin typeface="Arial" panose="020B0604020202020204" pitchFamily="34" charset="0"/>
                <a:cs typeface="Arial" panose="020B0604020202020204" pitchFamily="34" charset="0"/>
              </a:rPr>
              <a:t>0</a:t>
            </a:r>
            <a:r>
              <a:rPr spc="299" baseline="25396"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for</a:t>
            </a:r>
            <a:r>
              <a:rPr spc="-14"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all</a:t>
            </a:r>
            <a:r>
              <a:rPr spc="-14"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elements</a:t>
            </a:r>
            <a:r>
              <a:rPr spc="-32"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and</a:t>
            </a:r>
            <a:r>
              <a:rPr spc="-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arrange</a:t>
            </a:r>
            <a:r>
              <a:rPr spc="-32"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into</a:t>
            </a:r>
            <a:r>
              <a:rPr spc="-9"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a:t>
            </a:r>
            <a:r>
              <a:rPr spc="-32" dirty="0">
                <a:latin typeface="Arial" panose="020B0604020202020204" pitchFamily="34" charset="0"/>
                <a:cs typeface="Arial" panose="020B0604020202020204" pitchFamily="34" charset="0"/>
              </a:rPr>
              <a:t> </a:t>
            </a:r>
            <a:r>
              <a:rPr spc="-9" dirty="0">
                <a:latin typeface="Arial" panose="020B0604020202020204" pitchFamily="34" charset="0"/>
                <a:cs typeface="Arial" panose="020B0604020202020204" pitchFamily="34" charset="0"/>
              </a:rPr>
              <a:t>series </a:t>
            </a:r>
            <a:r>
              <a:rPr dirty="0">
                <a:latin typeface="Arial" panose="020B0604020202020204" pitchFamily="34" charset="0"/>
                <a:cs typeface="Arial" panose="020B0604020202020204" pitchFamily="34" charset="0"/>
              </a:rPr>
              <a:t>known</a:t>
            </a:r>
            <a:r>
              <a:rPr spc="-54"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as</a:t>
            </a:r>
            <a:r>
              <a:rPr spc="-23" dirty="0">
                <a:latin typeface="Arial" panose="020B0604020202020204" pitchFamily="34" charset="0"/>
                <a:cs typeface="Arial" panose="020B0604020202020204" pitchFamily="34" charset="0"/>
              </a:rPr>
              <a:t> </a:t>
            </a:r>
            <a:r>
              <a:rPr b="1" spc="-50" dirty="0">
                <a:solidFill>
                  <a:srgbClr val="FF0000"/>
                </a:solidFill>
                <a:latin typeface="Arial" panose="020B0604020202020204" pitchFamily="34" charset="0"/>
                <a:cs typeface="Arial" panose="020B0604020202020204" pitchFamily="34" charset="0"/>
              </a:rPr>
              <a:t>“Electrochemical</a:t>
            </a:r>
            <a:r>
              <a:rPr b="1" spc="-127" dirty="0">
                <a:solidFill>
                  <a:srgbClr val="FF0000"/>
                </a:solidFill>
                <a:latin typeface="Arial" panose="020B0604020202020204" pitchFamily="34" charset="0"/>
                <a:cs typeface="Arial" panose="020B0604020202020204" pitchFamily="34" charset="0"/>
              </a:rPr>
              <a:t> </a:t>
            </a:r>
            <a:r>
              <a:rPr b="1" spc="-18" dirty="0">
                <a:solidFill>
                  <a:srgbClr val="FF0000"/>
                </a:solidFill>
                <a:latin typeface="Arial" panose="020B0604020202020204" pitchFamily="34" charset="0"/>
                <a:cs typeface="Arial" panose="020B0604020202020204" pitchFamily="34" charset="0"/>
              </a:rPr>
              <a:t>Series</a:t>
            </a:r>
            <a:r>
              <a:rPr b="1" spc="-95" dirty="0">
                <a:solidFill>
                  <a:srgbClr val="FF0000"/>
                </a:solidFill>
                <a:latin typeface="Arial" panose="020B0604020202020204" pitchFamily="34" charset="0"/>
                <a:cs typeface="Arial" panose="020B0604020202020204" pitchFamily="34" charset="0"/>
              </a:rPr>
              <a:t> </a:t>
            </a:r>
            <a:r>
              <a:rPr b="1" dirty="0">
                <a:solidFill>
                  <a:srgbClr val="FF0000"/>
                </a:solidFill>
                <a:latin typeface="Arial" panose="020B0604020202020204" pitchFamily="34" charset="0"/>
                <a:cs typeface="Arial" panose="020B0604020202020204" pitchFamily="34" charset="0"/>
              </a:rPr>
              <a:t>“</a:t>
            </a:r>
            <a:r>
              <a:rPr b="1" dirty="0">
                <a:latin typeface="Arial" panose="020B0604020202020204" pitchFamily="34" charset="0"/>
                <a:cs typeface="Arial" panose="020B0604020202020204" pitchFamily="34" charset="0"/>
              </a:rPr>
              <a:t>:</a:t>
            </a:r>
            <a:r>
              <a:rPr dirty="0">
                <a:latin typeface="Arial" panose="020B0604020202020204" pitchFamily="34" charset="0"/>
                <a:cs typeface="Arial" panose="020B0604020202020204" pitchFamily="34" charset="0"/>
              </a:rPr>
              <a:t>Starting</a:t>
            </a:r>
            <a:r>
              <a:rPr spc="-59" dirty="0">
                <a:latin typeface="Arial" panose="020B0604020202020204" pitchFamily="34" charset="0"/>
                <a:cs typeface="Arial" panose="020B0604020202020204" pitchFamily="34" charset="0"/>
              </a:rPr>
              <a:t> </a:t>
            </a:r>
            <a:r>
              <a:rPr spc="-18" dirty="0">
                <a:latin typeface="Arial" panose="020B0604020202020204" pitchFamily="34" charset="0"/>
                <a:cs typeface="Arial" panose="020B0604020202020204" pitchFamily="34" charset="0"/>
              </a:rPr>
              <a:t>from</a:t>
            </a:r>
            <a:endParaRPr dirty="0">
              <a:latin typeface="Arial" panose="020B0604020202020204" pitchFamily="34" charset="0"/>
              <a:cs typeface="Arial" panose="020B0604020202020204" pitchFamily="34" charset="0"/>
            </a:endParaRPr>
          </a:p>
        </p:txBody>
      </p:sp>
      <p:sp>
        <p:nvSpPr>
          <p:cNvPr id="4" name="object 4"/>
          <p:cNvSpPr txBox="1"/>
          <p:nvPr/>
        </p:nvSpPr>
        <p:spPr>
          <a:xfrm>
            <a:off x="3898561" y="2125038"/>
            <a:ext cx="2393102" cy="288627"/>
          </a:xfrm>
          <a:prstGeom prst="rect">
            <a:avLst/>
          </a:prstGeom>
        </p:spPr>
        <p:txBody>
          <a:bodyPr vert="horz" wrap="square" lIns="0" tIns="11516" rIns="0" bIns="0" rtlCol="0">
            <a:spAutoFit/>
          </a:bodyPr>
          <a:lstStyle/>
          <a:p>
            <a:pPr marL="34549">
              <a:spcBef>
                <a:spcPts val="91"/>
              </a:spcBef>
            </a:pPr>
            <a:r>
              <a:rPr dirty="0">
                <a:latin typeface="Arial" panose="020B0604020202020204" pitchFamily="34" charset="0"/>
                <a:cs typeface="Arial" panose="020B0604020202020204" pitchFamily="34" charset="0"/>
              </a:rPr>
              <a:t>E</a:t>
            </a:r>
            <a:r>
              <a:rPr baseline="-20634" dirty="0">
                <a:latin typeface="Arial" panose="020B0604020202020204" pitchFamily="34" charset="0"/>
                <a:cs typeface="Arial" panose="020B0604020202020204" pitchFamily="34" charset="0"/>
              </a:rPr>
              <a:t>0</a:t>
            </a:r>
            <a:r>
              <a:rPr spc="319" baseline="-20634"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t>
            </a:r>
            <a:r>
              <a:rPr spc="-18"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-ve</a:t>
            </a:r>
            <a:r>
              <a:rPr spc="-14"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value,</a:t>
            </a:r>
            <a:r>
              <a:rPr spc="14" dirty="0">
                <a:latin typeface="Arial" panose="020B0604020202020204" pitchFamily="34" charset="0"/>
                <a:cs typeface="Arial" panose="020B0604020202020204" pitchFamily="34" charset="0"/>
              </a:rPr>
              <a:t> </a:t>
            </a:r>
            <a:r>
              <a:rPr spc="-23" dirty="0">
                <a:latin typeface="Arial" panose="020B0604020202020204" pitchFamily="34" charset="0"/>
                <a:cs typeface="Arial" panose="020B0604020202020204" pitchFamily="34" charset="0"/>
              </a:rPr>
              <a:t>to</a:t>
            </a:r>
            <a:endParaRPr>
              <a:latin typeface="Arial" panose="020B0604020202020204" pitchFamily="34" charset="0"/>
              <a:cs typeface="Arial" panose="020B0604020202020204" pitchFamily="34" charset="0"/>
            </a:endParaRPr>
          </a:p>
        </p:txBody>
      </p:sp>
      <p:sp>
        <p:nvSpPr>
          <p:cNvPr id="5" name="object 5"/>
          <p:cNvSpPr txBox="1"/>
          <p:nvPr/>
        </p:nvSpPr>
        <p:spPr>
          <a:xfrm>
            <a:off x="1143940" y="2564517"/>
            <a:ext cx="5159911" cy="288627"/>
          </a:xfrm>
          <a:prstGeom prst="rect">
            <a:avLst/>
          </a:prstGeom>
        </p:spPr>
        <p:txBody>
          <a:bodyPr vert="horz" wrap="square" lIns="0" tIns="11516" rIns="0" bIns="0" rtlCol="0">
            <a:spAutoFit/>
          </a:bodyPr>
          <a:lstStyle/>
          <a:p>
            <a:pPr marL="11516">
              <a:spcBef>
                <a:spcPts val="91"/>
              </a:spcBef>
              <a:tabLst>
                <a:tab pos="2790414" algn="l"/>
                <a:tab pos="3191183" algn="l"/>
              </a:tabLst>
            </a:pPr>
            <a:r>
              <a:rPr dirty="0">
                <a:latin typeface="Arial" panose="020B0604020202020204" pitchFamily="34" charset="0"/>
                <a:cs typeface="Arial" panose="020B0604020202020204" pitchFamily="34" charset="0"/>
              </a:rPr>
              <a:t>hydrogen</a:t>
            </a:r>
            <a:r>
              <a:rPr spc="-68" dirty="0">
                <a:latin typeface="Arial" panose="020B0604020202020204" pitchFamily="34" charset="0"/>
                <a:cs typeface="Arial" panose="020B0604020202020204" pitchFamily="34" charset="0"/>
              </a:rPr>
              <a:t> </a:t>
            </a:r>
            <a:r>
              <a:rPr spc="-18" dirty="0">
                <a:latin typeface="Arial" panose="020B0604020202020204" pitchFamily="34" charset="0"/>
                <a:cs typeface="Arial" panose="020B0604020202020204" pitchFamily="34" charset="0"/>
              </a:rPr>
              <a:t>where</a:t>
            </a:r>
            <a:r>
              <a:rPr dirty="0">
                <a:latin typeface="Arial" panose="020B0604020202020204" pitchFamily="34" charset="0"/>
                <a:cs typeface="Arial" panose="020B0604020202020204" pitchFamily="34" charset="0"/>
              </a:rPr>
              <a:t>	</a:t>
            </a:r>
            <a:r>
              <a:rPr spc="-45" dirty="0">
                <a:latin typeface="Arial" panose="020B0604020202020204" pitchFamily="34" charset="0"/>
                <a:cs typeface="Arial" panose="020B0604020202020204" pitchFamily="34" charset="0"/>
              </a:rPr>
              <a:t>E</a:t>
            </a:r>
            <a:r>
              <a:rPr dirty="0">
                <a:latin typeface="Arial" panose="020B0604020202020204" pitchFamily="34" charset="0"/>
                <a:cs typeface="Arial" panose="020B0604020202020204" pitchFamily="34" charset="0"/>
              </a:rPr>
              <a:t>	=</a:t>
            </a:r>
            <a:r>
              <a:rPr spc="-27"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zero,</a:t>
            </a:r>
            <a:r>
              <a:rPr spc="-36"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then</a:t>
            </a:r>
            <a:r>
              <a:rPr spc="-14" dirty="0">
                <a:latin typeface="Arial" panose="020B0604020202020204" pitchFamily="34" charset="0"/>
                <a:cs typeface="Arial" panose="020B0604020202020204" pitchFamily="34" charset="0"/>
              </a:rPr>
              <a:t> </a:t>
            </a:r>
            <a:r>
              <a:rPr spc="-23" dirty="0">
                <a:latin typeface="Arial" panose="020B0604020202020204" pitchFamily="34" charset="0"/>
                <a:cs typeface="Arial" panose="020B0604020202020204" pitchFamily="34" charset="0"/>
              </a:rPr>
              <a:t>to</a:t>
            </a:r>
            <a:endParaRPr>
              <a:latin typeface="Arial" panose="020B0604020202020204" pitchFamily="34" charset="0"/>
              <a:cs typeface="Arial" panose="020B0604020202020204" pitchFamily="34" charset="0"/>
            </a:endParaRPr>
          </a:p>
        </p:txBody>
      </p:sp>
      <p:sp>
        <p:nvSpPr>
          <p:cNvPr id="6" name="object 6"/>
          <p:cNvSpPr txBox="1"/>
          <p:nvPr/>
        </p:nvSpPr>
        <p:spPr>
          <a:xfrm>
            <a:off x="3898561" y="2728708"/>
            <a:ext cx="2048187" cy="605229"/>
          </a:xfrm>
          <a:prstGeom prst="rect">
            <a:avLst/>
          </a:prstGeom>
        </p:spPr>
        <p:txBody>
          <a:bodyPr vert="horz" wrap="square" lIns="0" tIns="25336" rIns="0" bIns="0" rtlCol="0">
            <a:spAutoFit/>
          </a:bodyPr>
          <a:lstStyle/>
          <a:p>
            <a:pPr marL="238964">
              <a:spcBef>
                <a:spcPts val="199"/>
              </a:spcBef>
            </a:pPr>
            <a:r>
              <a:rPr spc="-45" dirty="0">
                <a:latin typeface="Arial" panose="020B0604020202020204" pitchFamily="34" charset="0"/>
                <a:cs typeface="Arial" panose="020B0604020202020204" pitchFamily="34" charset="0"/>
              </a:rPr>
              <a:t>0</a:t>
            </a:r>
            <a:endParaRPr>
              <a:latin typeface="Arial" panose="020B0604020202020204" pitchFamily="34" charset="0"/>
              <a:cs typeface="Arial" panose="020B0604020202020204" pitchFamily="34" charset="0"/>
            </a:endParaRPr>
          </a:p>
          <a:p>
            <a:pPr marL="34549">
              <a:spcBef>
                <a:spcPts val="154"/>
              </a:spcBef>
            </a:pPr>
            <a:r>
              <a:rPr dirty="0">
                <a:latin typeface="Arial" panose="020B0604020202020204" pitchFamily="34" charset="0"/>
                <a:cs typeface="Arial" panose="020B0604020202020204" pitchFamily="34" charset="0"/>
              </a:rPr>
              <a:t>E</a:t>
            </a:r>
            <a:r>
              <a:rPr baseline="-20634" dirty="0">
                <a:latin typeface="Arial" panose="020B0604020202020204" pitchFamily="34" charset="0"/>
                <a:cs typeface="Arial" panose="020B0604020202020204" pitchFamily="34" charset="0"/>
              </a:rPr>
              <a:t>0</a:t>
            </a:r>
            <a:r>
              <a:rPr spc="340" baseline="-20634"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t>
            </a:r>
            <a:r>
              <a:rPr spc="-9"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+ve </a:t>
            </a:r>
            <a:r>
              <a:rPr spc="-18" dirty="0">
                <a:latin typeface="Arial" panose="020B0604020202020204" pitchFamily="34" charset="0"/>
                <a:cs typeface="Arial" panose="020B0604020202020204" pitchFamily="34" charset="0"/>
              </a:rPr>
              <a:t>value</a:t>
            </a:r>
            <a:endParaRPr>
              <a:latin typeface="Arial" panose="020B0604020202020204" pitchFamily="34" charset="0"/>
              <a:cs typeface="Arial" panose="020B0604020202020204" pitchFamily="34" charset="0"/>
            </a:endParaRPr>
          </a:p>
        </p:txBody>
      </p:sp>
      <p:sp>
        <p:nvSpPr>
          <p:cNvPr id="7" name="object 7"/>
          <p:cNvSpPr txBox="1"/>
          <p:nvPr/>
        </p:nvSpPr>
        <p:spPr>
          <a:xfrm>
            <a:off x="1059575" y="3877332"/>
            <a:ext cx="5185823" cy="349371"/>
          </a:xfrm>
          <a:prstGeom prst="rect">
            <a:avLst/>
          </a:prstGeom>
        </p:spPr>
        <p:txBody>
          <a:bodyPr vert="horz" wrap="square" lIns="0" tIns="14395" rIns="0" bIns="0" rtlCol="0">
            <a:spAutoFit/>
          </a:bodyPr>
          <a:lstStyle/>
          <a:p>
            <a:pPr marL="11516">
              <a:spcBef>
                <a:spcPts val="113"/>
              </a:spcBef>
            </a:pPr>
            <a:r>
              <a:rPr sz="2176" b="1" u="sng" spc="-18" dirty="0">
                <a:uFill>
                  <a:solidFill>
                    <a:srgbClr val="000000"/>
                  </a:solidFill>
                </a:uFill>
                <a:latin typeface="Tahoma"/>
                <a:cs typeface="Tahoma"/>
              </a:rPr>
              <a:t>From</a:t>
            </a:r>
            <a:r>
              <a:rPr sz="2176" b="1" u="sng" spc="-141" dirty="0">
                <a:uFill>
                  <a:solidFill>
                    <a:srgbClr val="000000"/>
                  </a:solidFill>
                </a:uFill>
                <a:latin typeface="Tahoma"/>
                <a:cs typeface="Tahoma"/>
              </a:rPr>
              <a:t> </a:t>
            </a:r>
            <a:r>
              <a:rPr sz="2176" b="1" u="sng" spc="-18" dirty="0">
                <a:uFill>
                  <a:solidFill>
                    <a:srgbClr val="000000"/>
                  </a:solidFill>
                </a:uFill>
                <a:latin typeface="Tahoma"/>
                <a:cs typeface="Tahoma"/>
              </a:rPr>
              <a:t>this</a:t>
            </a:r>
            <a:r>
              <a:rPr sz="2176" b="1" u="sng" spc="-141" dirty="0">
                <a:uFill>
                  <a:solidFill>
                    <a:srgbClr val="000000"/>
                  </a:solidFill>
                </a:uFill>
                <a:latin typeface="Tahoma"/>
                <a:cs typeface="Tahoma"/>
              </a:rPr>
              <a:t> </a:t>
            </a:r>
            <a:r>
              <a:rPr sz="2176" b="1" u="sng" spc="-9" dirty="0">
                <a:uFill>
                  <a:solidFill>
                    <a:srgbClr val="000000"/>
                  </a:solidFill>
                </a:uFill>
                <a:latin typeface="Tahoma"/>
                <a:cs typeface="Tahoma"/>
              </a:rPr>
              <a:t>series</a:t>
            </a:r>
            <a:r>
              <a:rPr sz="2176" b="1" u="sng" spc="-141" dirty="0">
                <a:uFill>
                  <a:solidFill>
                    <a:srgbClr val="000000"/>
                  </a:solidFill>
                </a:uFill>
                <a:latin typeface="Tahoma"/>
                <a:cs typeface="Tahoma"/>
              </a:rPr>
              <a:t> we</a:t>
            </a:r>
            <a:r>
              <a:rPr sz="2176" b="1" u="sng" spc="-59" dirty="0">
                <a:uFill>
                  <a:solidFill>
                    <a:srgbClr val="000000"/>
                  </a:solidFill>
                </a:uFill>
                <a:latin typeface="Tahoma"/>
                <a:cs typeface="Tahoma"/>
              </a:rPr>
              <a:t> </a:t>
            </a:r>
            <a:r>
              <a:rPr sz="2176" b="1" u="sng" dirty="0">
                <a:uFill>
                  <a:solidFill>
                    <a:srgbClr val="000000"/>
                  </a:solidFill>
                </a:uFill>
                <a:latin typeface="Tahoma"/>
                <a:cs typeface="Tahoma"/>
              </a:rPr>
              <a:t>can</a:t>
            </a:r>
            <a:r>
              <a:rPr sz="2176" b="1" u="sng" spc="-103" dirty="0">
                <a:uFill>
                  <a:solidFill>
                    <a:srgbClr val="000000"/>
                  </a:solidFill>
                </a:uFill>
                <a:latin typeface="Tahoma"/>
                <a:cs typeface="Tahoma"/>
              </a:rPr>
              <a:t> </a:t>
            </a:r>
            <a:r>
              <a:rPr sz="2176" b="1" u="sng" dirty="0">
                <a:uFill>
                  <a:solidFill>
                    <a:srgbClr val="000000"/>
                  </a:solidFill>
                </a:uFill>
                <a:latin typeface="Tahoma"/>
                <a:cs typeface="Tahoma"/>
              </a:rPr>
              <a:t>conclude</a:t>
            </a:r>
            <a:r>
              <a:rPr sz="2176" b="1" u="sng" spc="-73" dirty="0">
                <a:uFill>
                  <a:solidFill>
                    <a:srgbClr val="000000"/>
                  </a:solidFill>
                </a:uFill>
                <a:latin typeface="Tahoma"/>
                <a:cs typeface="Tahoma"/>
              </a:rPr>
              <a:t> </a:t>
            </a:r>
            <a:r>
              <a:rPr sz="2176" b="1" u="sng" spc="-54" dirty="0">
                <a:uFill>
                  <a:solidFill>
                    <a:srgbClr val="000000"/>
                  </a:solidFill>
                </a:uFill>
                <a:latin typeface="Tahoma"/>
                <a:cs typeface="Tahoma"/>
              </a:rPr>
              <a:t>that:</a:t>
            </a:r>
            <a:endParaRPr sz="2176">
              <a:latin typeface="Tahoma"/>
              <a:cs typeface="Tahoma"/>
            </a:endParaRPr>
          </a:p>
        </p:txBody>
      </p:sp>
      <p:sp>
        <p:nvSpPr>
          <p:cNvPr id="8" name="object 8"/>
          <p:cNvSpPr txBox="1"/>
          <p:nvPr/>
        </p:nvSpPr>
        <p:spPr>
          <a:xfrm>
            <a:off x="1036543" y="4279438"/>
            <a:ext cx="8340733" cy="2081226"/>
          </a:xfrm>
          <a:prstGeom prst="rect">
            <a:avLst/>
          </a:prstGeom>
        </p:spPr>
        <p:txBody>
          <a:bodyPr vert="horz" wrap="square" lIns="0" tIns="10365" rIns="0" bIns="0" rtlCol="0">
            <a:spAutoFit/>
          </a:bodyPr>
          <a:lstStyle/>
          <a:p>
            <a:pPr marL="354128" marR="139924" indent="-320155">
              <a:lnSpc>
                <a:spcPct val="101099"/>
              </a:lnSpc>
              <a:spcBef>
                <a:spcPts val="82"/>
              </a:spcBef>
              <a:buAutoNum type="arabicPlain"/>
              <a:tabLst>
                <a:tab pos="377161" algn="l"/>
              </a:tabLst>
            </a:pPr>
            <a:r>
              <a:rPr sz="2176" dirty="0">
                <a:latin typeface="Microsoft Sans Serif"/>
                <a:cs typeface="Microsoft Sans Serif"/>
              </a:rPr>
              <a:t>The</a:t>
            </a:r>
            <a:r>
              <a:rPr sz="2176" spc="45" dirty="0">
                <a:latin typeface="Microsoft Sans Serif"/>
                <a:cs typeface="Microsoft Sans Serif"/>
              </a:rPr>
              <a:t> </a:t>
            </a:r>
            <a:r>
              <a:rPr sz="2176" dirty="0">
                <a:latin typeface="Microsoft Sans Serif"/>
                <a:cs typeface="Microsoft Sans Serif"/>
              </a:rPr>
              <a:t>greater</a:t>
            </a:r>
            <a:r>
              <a:rPr sz="2176" spc="73" dirty="0">
                <a:latin typeface="Microsoft Sans Serif"/>
                <a:cs typeface="Microsoft Sans Serif"/>
              </a:rPr>
              <a:t> </a:t>
            </a:r>
            <a:r>
              <a:rPr sz="2176" dirty="0">
                <a:latin typeface="Microsoft Sans Serif"/>
                <a:cs typeface="Microsoft Sans Serif"/>
              </a:rPr>
              <a:t>the</a:t>
            </a:r>
            <a:r>
              <a:rPr sz="2176" spc="50" dirty="0">
                <a:latin typeface="Microsoft Sans Serif"/>
                <a:cs typeface="Microsoft Sans Serif"/>
              </a:rPr>
              <a:t> </a:t>
            </a:r>
            <a:r>
              <a:rPr sz="2176" spc="190" dirty="0">
                <a:latin typeface="Microsoft Sans Serif"/>
                <a:cs typeface="Microsoft Sans Serif"/>
              </a:rPr>
              <a:t>–ve</a:t>
            </a:r>
            <a:r>
              <a:rPr sz="2176" spc="45" dirty="0">
                <a:latin typeface="Microsoft Sans Serif"/>
                <a:cs typeface="Microsoft Sans Serif"/>
              </a:rPr>
              <a:t> </a:t>
            </a:r>
            <a:r>
              <a:rPr sz="2176" dirty="0">
                <a:latin typeface="Microsoft Sans Serif"/>
                <a:cs typeface="Microsoft Sans Serif"/>
              </a:rPr>
              <a:t>value</a:t>
            </a:r>
            <a:r>
              <a:rPr sz="2176" spc="50" dirty="0">
                <a:latin typeface="Microsoft Sans Serif"/>
                <a:cs typeface="Microsoft Sans Serif"/>
              </a:rPr>
              <a:t> </a:t>
            </a:r>
            <a:r>
              <a:rPr sz="2176" dirty="0">
                <a:latin typeface="Microsoft Sans Serif"/>
                <a:cs typeface="Microsoft Sans Serif"/>
              </a:rPr>
              <a:t>of</a:t>
            </a:r>
            <a:r>
              <a:rPr sz="2176" spc="41" dirty="0">
                <a:latin typeface="Microsoft Sans Serif"/>
                <a:cs typeface="Microsoft Sans Serif"/>
              </a:rPr>
              <a:t> </a:t>
            </a:r>
            <a:r>
              <a:rPr sz="2176" dirty="0">
                <a:latin typeface="Microsoft Sans Serif"/>
                <a:cs typeface="Microsoft Sans Serif"/>
              </a:rPr>
              <a:t>E</a:t>
            </a:r>
            <a:r>
              <a:rPr sz="2176" baseline="-20833" dirty="0">
                <a:latin typeface="Microsoft Sans Serif"/>
                <a:cs typeface="Microsoft Sans Serif"/>
              </a:rPr>
              <a:t>0</a:t>
            </a:r>
            <a:r>
              <a:rPr sz="2176" dirty="0">
                <a:latin typeface="Microsoft Sans Serif"/>
                <a:cs typeface="Microsoft Sans Serif"/>
              </a:rPr>
              <a:t>,</a:t>
            </a:r>
            <a:r>
              <a:rPr sz="2176" spc="18" dirty="0">
                <a:latin typeface="Microsoft Sans Serif"/>
                <a:cs typeface="Microsoft Sans Serif"/>
              </a:rPr>
              <a:t> </a:t>
            </a:r>
            <a:r>
              <a:rPr sz="2176" dirty="0">
                <a:latin typeface="Microsoft Sans Serif"/>
                <a:cs typeface="Microsoft Sans Serif"/>
              </a:rPr>
              <a:t>the</a:t>
            </a:r>
            <a:r>
              <a:rPr sz="2176" spc="50" dirty="0">
                <a:latin typeface="Microsoft Sans Serif"/>
                <a:cs typeface="Microsoft Sans Serif"/>
              </a:rPr>
              <a:t> </a:t>
            </a:r>
            <a:r>
              <a:rPr sz="2176" dirty="0">
                <a:latin typeface="Microsoft Sans Serif"/>
                <a:cs typeface="Microsoft Sans Serif"/>
              </a:rPr>
              <a:t>greater</a:t>
            </a:r>
            <a:r>
              <a:rPr sz="2176" spc="73" dirty="0">
                <a:latin typeface="Microsoft Sans Serif"/>
                <a:cs typeface="Microsoft Sans Serif"/>
              </a:rPr>
              <a:t> </a:t>
            </a:r>
            <a:r>
              <a:rPr sz="2176" dirty="0">
                <a:latin typeface="Microsoft Sans Serif"/>
                <a:cs typeface="Microsoft Sans Serif"/>
              </a:rPr>
              <a:t>the</a:t>
            </a:r>
            <a:r>
              <a:rPr sz="2176" spc="68" dirty="0">
                <a:latin typeface="Microsoft Sans Serif"/>
                <a:cs typeface="Microsoft Sans Serif"/>
              </a:rPr>
              <a:t> </a:t>
            </a:r>
            <a:r>
              <a:rPr sz="2176" dirty="0">
                <a:latin typeface="Microsoft Sans Serif"/>
                <a:cs typeface="Microsoft Sans Serif"/>
              </a:rPr>
              <a:t>tendency</a:t>
            </a:r>
            <a:r>
              <a:rPr sz="2176" spc="59" dirty="0">
                <a:latin typeface="Microsoft Sans Serif"/>
                <a:cs typeface="Microsoft Sans Serif"/>
              </a:rPr>
              <a:t> </a:t>
            </a:r>
            <a:r>
              <a:rPr sz="2176" dirty="0">
                <a:latin typeface="Microsoft Sans Serif"/>
                <a:cs typeface="Microsoft Sans Serif"/>
              </a:rPr>
              <a:t>of</a:t>
            </a:r>
            <a:r>
              <a:rPr sz="2176" spc="41" dirty="0">
                <a:latin typeface="Microsoft Sans Serif"/>
                <a:cs typeface="Microsoft Sans Serif"/>
              </a:rPr>
              <a:t> </a:t>
            </a:r>
            <a:r>
              <a:rPr sz="2176" spc="-23" dirty="0">
                <a:latin typeface="Microsoft Sans Serif"/>
                <a:cs typeface="Microsoft Sans Serif"/>
              </a:rPr>
              <a:t>the 	</a:t>
            </a:r>
            <a:r>
              <a:rPr sz="2176" dirty="0">
                <a:latin typeface="Microsoft Sans Serif"/>
                <a:cs typeface="Microsoft Sans Serif"/>
              </a:rPr>
              <a:t>metal</a:t>
            </a:r>
            <a:r>
              <a:rPr sz="2176" spc="41" dirty="0">
                <a:latin typeface="Microsoft Sans Serif"/>
                <a:cs typeface="Microsoft Sans Serif"/>
              </a:rPr>
              <a:t> </a:t>
            </a:r>
            <a:r>
              <a:rPr sz="2176" dirty="0">
                <a:latin typeface="Microsoft Sans Serif"/>
                <a:cs typeface="Microsoft Sans Serif"/>
              </a:rPr>
              <a:t>to</a:t>
            </a:r>
            <a:r>
              <a:rPr sz="2176" spc="36" dirty="0">
                <a:latin typeface="Microsoft Sans Serif"/>
                <a:cs typeface="Microsoft Sans Serif"/>
              </a:rPr>
              <a:t> </a:t>
            </a:r>
            <a:r>
              <a:rPr sz="2176" dirty="0">
                <a:latin typeface="Microsoft Sans Serif"/>
                <a:cs typeface="Microsoft Sans Serif"/>
              </a:rPr>
              <a:t>pass</a:t>
            </a:r>
            <a:r>
              <a:rPr sz="2176" spc="27" dirty="0">
                <a:latin typeface="Microsoft Sans Serif"/>
                <a:cs typeface="Microsoft Sans Serif"/>
              </a:rPr>
              <a:t> </a:t>
            </a:r>
            <a:r>
              <a:rPr sz="2176" dirty="0">
                <a:latin typeface="Microsoft Sans Serif"/>
                <a:cs typeface="Microsoft Sans Serif"/>
              </a:rPr>
              <a:t>into</a:t>
            </a:r>
            <a:r>
              <a:rPr sz="2176" spc="36" dirty="0">
                <a:latin typeface="Microsoft Sans Serif"/>
                <a:cs typeface="Microsoft Sans Serif"/>
              </a:rPr>
              <a:t> </a:t>
            </a:r>
            <a:r>
              <a:rPr sz="2176" dirty="0">
                <a:latin typeface="Microsoft Sans Serif"/>
                <a:cs typeface="Microsoft Sans Serif"/>
              </a:rPr>
              <a:t>ionic</a:t>
            </a:r>
            <a:r>
              <a:rPr sz="2176" spc="45" dirty="0">
                <a:latin typeface="Microsoft Sans Serif"/>
                <a:cs typeface="Microsoft Sans Serif"/>
              </a:rPr>
              <a:t> </a:t>
            </a:r>
            <a:r>
              <a:rPr sz="2176" dirty="0">
                <a:latin typeface="Microsoft Sans Serif"/>
                <a:cs typeface="Microsoft Sans Serif"/>
              </a:rPr>
              <a:t>state</a:t>
            </a:r>
            <a:r>
              <a:rPr sz="2176" spc="54" dirty="0">
                <a:latin typeface="Microsoft Sans Serif"/>
                <a:cs typeface="Microsoft Sans Serif"/>
              </a:rPr>
              <a:t> </a:t>
            </a:r>
            <a:r>
              <a:rPr sz="2176" dirty="0">
                <a:latin typeface="Microsoft Sans Serif"/>
                <a:cs typeface="Microsoft Sans Serif"/>
              </a:rPr>
              <a:t>(oxidized)</a:t>
            </a:r>
            <a:r>
              <a:rPr sz="2176" spc="63" dirty="0">
                <a:latin typeface="Microsoft Sans Serif"/>
                <a:cs typeface="Microsoft Sans Serif"/>
              </a:rPr>
              <a:t> </a:t>
            </a:r>
            <a:r>
              <a:rPr sz="2176" dirty="0">
                <a:latin typeface="Microsoft Sans Serif"/>
                <a:cs typeface="Microsoft Sans Serif"/>
              </a:rPr>
              <a:t>i.e.</a:t>
            </a:r>
            <a:r>
              <a:rPr sz="2176" spc="32" dirty="0">
                <a:latin typeface="Microsoft Sans Serif"/>
                <a:cs typeface="Microsoft Sans Serif"/>
              </a:rPr>
              <a:t> </a:t>
            </a:r>
            <a:r>
              <a:rPr sz="2176" dirty="0">
                <a:latin typeface="Microsoft Sans Serif"/>
                <a:cs typeface="Microsoft Sans Serif"/>
              </a:rPr>
              <a:t>E</a:t>
            </a:r>
            <a:r>
              <a:rPr sz="2176" baseline="-20833" dirty="0">
                <a:latin typeface="Microsoft Sans Serif"/>
                <a:cs typeface="Microsoft Sans Serif"/>
              </a:rPr>
              <a:t>0</a:t>
            </a:r>
            <a:r>
              <a:rPr sz="2176" spc="319" baseline="-20833" dirty="0">
                <a:latin typeface="Microsoft Sans Serif"/>
                <a:cs typeface="Microsoft Sans Serif"/>
              </a:rPr>
              <a:t> </a:t>
            </a:r>
            <a:r>
              <a:rPr sz="2176" dirty="0">
                <a:latin typeface="Microsoft Sans Serif"/>
                <a:cs typeface="Microsoft Sans Serif"/>
              </a:rPr>
              <a:t>is</a:t>
            </a:r>
            <a:r>
              <a:rPr sz="2176" spc="23" dirty="0">
                <a:latin typeface="Microsoft Sans Serif"/>
                <a:cs typeface="Microsoft Sans Serif"/>
              </a:rPr>
              <a:t> </a:t>
            </a:r>
            <a:r>
              <a:rPr sz="2176" dirty="0">
                <a:latin typeface="Microsoft Sans Serif"/>
                <a:cs typeface="Microsoft Sans Serif"/>
              </a:rPr>
              <a:t>a</a:t>
            </a:r>
            <a:r>
              <a:rPr sz="2176" spc="36" dirty="0">
                <a:latin typeface="Microsoft Sans Serif"/>
                <a:cs typeface="Microsoft Sans Serif"/>
              </a:rPr>
              <a:t> </a:t>
            </a:r>
            <a:r>
              <a:rPr sz="2176" spc="-9" dirty="0">
                <a:latin typeface="Microsoft Sans Serif"/>
                <a:cs typeface="Microsoft Sans Serif"/>
              </a:rPr>
              <a:t>quantitative 	</a:t>
            </a:r>
            <a:r>
              <a:rPr sz="2176" dirty="0">
                <a:latin typeface="Microsoft Sans Serif"/>
                <a:cs typeface="Microsoft Sans Serif"/>
              </a:rPr>
              <a:t>measure</a:t>
            </a:r>
            <a:r>
              <a:rPr sz="2176" spc="45" dirty="0">
                <a:latin typeface="Microsoft Sans Serif"/>
                <a:cs typeface="Microsoft Sans Serif"/>
              </a:rPr>
              <a:t> </a:t>
            </a:r>
            <a:r>
              <a:rPr sz="2176" dirty="0">
                <a:latin typeface="Microsoft Sans Serif"/>
                <a:cs typeface="Microsoft Sans Serif"/>
              </a:rPr>
              <a:t>of</a:t>
            </a:r>
            <a:r>
              <a:rPr sz="2176" spc="23" dirty="0">
                <a:latin typeface="Microsoft Sans Serif"/>
                <a:cs typeface="Microsoft Sans Serif"/>
              </a:rPr>
              <a:t> </a:t>
            </a:r>
            <a:r>
              <a:rPr sz="2176" dirty="0">
                <a:latin typeface="Microsoft Sans Serif"/>
                <a:cs typeface="Microsoft Sans Serif"/>
              </a:rPr>
              <a:t>the</a:t>
            </a:r>
            <a:r>
              <a:rPr sz="2176" spc="27" dirty="0">
                <a:latin typeface="Microsoft Sans Serif"/>
                <a:cs typeface="Microsoft Sans Serif"/>
              </a:rPr>
              <a:t> </a:t>
            </a:r>
            <a:r>
              <a:rPr sz="2176" dirty="0">
                <a:latin typeface="Microsoft Sans Serif"/>
                <a:cs typeface="Microsoft Sans Serif"/>
              </a:rPr>
              <a:t>ability</a:t>
            </a:r>
            <a:r>
              <a:rPr sz="2176" spc="41" dirty="0">
                <a:latin typeface="Microsoft Sans Serif"/>
                <a:cs typeface="Microsoft Sans Serif"/>
              </a:rPr>
              <a:t> </a:t>
            </a:r>
            <a:r>
              <a:rPr sz="2176" dirty="0">
                <a:latin typeface="Microsoft Sans Serif"/>
                <a:cs typeface="Microsoft Sans Serif"/>
              </a:rPr>
              <a:t>of</a:t>
            </a:r>
            <a:r>
              <a:rPr sz="2176" spc="50" dirty="0">
                <a:latin typeface="Microsoft Sans Serif"/>
                <a:cs typeface="Microsoft Sans Serif"/>
              </a:rPr>
              <a:t> </a:t>
            </a:r>
            <a:r>
              <a:rPr sz="2176" dirty="0">
                <a:latin typeface="Microsoft Sans Serif"/>
                <a:cs typeface="Microsoft Sans Serif"/>
              </a:rPr>
              <a:t>the</a:t>
            </a:r>
            <a:r>
              <a:rPr sz="2176" spc="27" dirty="0">
                <a:latin typeface="Microsoft Sans Serif"/>
                <a:cs typeface="Microsoft Sans Serif"/>
              </a:rPr>
              <a:t> </a:t>
            </a:r>
            <a:r>
              <a:rPr sz="2176" dirty="0">
                <a:latin typeface="Microsoft Sans Serif"/>
                <a:cs typeface="Microsoft Sans Serif"/>
              </a:rPr>
              <a:t>element</a:t>
            </a:r>
            <a:r>
              <a:rPr sz="2176" spc="45" dirty="0">
                <a:latin typeface="Microsoft Sans Serif"/>
                <a:cs typeface="Microsoft Sans Serif"/>
              </a:rPr>
              <a:t> </a:t>
            </a:r>
            <a:r>
              <a:rPr sz="2176" dirty="0">
                <a:latin typeface="Microsoft Sans Serif"/>
                <a:cs typeface="Microsoft Sans Serif"/>
              </a:rPr>
              <a:t>to</a:t>
            </a:r>
            <a:r>
              <a:rPr sz="2176" spc="27" dirty="0">
                <a:latin typeface="Microsoft Sans Serif"/>
                <a:cs typeface="Microsoft Sans Serif"/>
              </a:rPr>
              <a:t> </a:t>
            </a:r>
            <a:r>
              <a:rPr sz="2176" dirty="0">
                <a:latin typeface="Microsoft Sans Serif"/>
                <a:cs typeface="Microsoft Sans Serif"/>
              </a:rPr>
              <a:t>lose</a:t>
            </a:r>
            <a:r>
              <a:rPr sz="2176" spc="9" dirty="0">
                <a:latin typeface="Microsoft Sans Serif"/>
                <a:cs typeface="Microsoft Sans Serif"/>
              </a:rPr>
              <a:t> </a:t>
            </a:r>
            <a:r>
              <a:rPr sz="2176" dirty="0">
                <a:latin typeface="Microsoft Sans Serif"/>
                <a:cs typeface="Microsoft Sans Serif"/>
              </a:rPr>
              <a:t>electrons</a:t>
            </a:r>
            <a:r>
              <a:rPr sz="2176" spc="59" dirty="0">
                <a:latin typeface="Microsoft Sans Serif"/>
                <a:cs typeface="Microsoft Sans Serif"/>
              </a:rPr>
              <a:t> </a:t>
            </a:r>
            <a:r>
              <a:rPr sz="2176" dirty="0">
                <a:latin typeface="Microsoft Sans Serif"/>
                <a:cs typeface="Microsoft Sans Serif"/>
              </a:rPr>
              <a:t>giving</a:t>
            </a:r>
            <a:r>
              <a:rPr sz="2176" spc="45" dirty="0">
                <a:latin typeface="Microsoft Sans Serif"/>
                <a:cs typeface="Microsoft Sans Serif"/>
              </a:rPr>
              <a:t> </a:t>
            </a:r>
            <a:r>
              <a:rPr sz="2176" spc="-23" dirty="0">
                <a:latin typeface="Microsoft Sans Serif"/>
                <a:cs typeface="Microsoft Sans Serif"/>
              </a:rPr>
              <a:t>its 	</a:t>
            </a:r>
            <a:r>
              <a:rPr sz="2176" spc="-9" dirty="0">
                <a:latin typeface="Microsoft Sans Serif"/>
                <a:cs typeface="Microsoft Sans Serif"/>
              </a:rPr>
              <a:t>ions.</a:t>
            </a:r>
            <a:endParaRPr sz="2176">
              <a:latin typeface="Microsoft Sans Serif"/>
              <a:cs typeface="Microsoft Sans Serif"/>
            </a:endParaRPr>
          </a:p>
          <a:p>
            <a:pPr marL="359886" marR="27639" indent="-325913">
              <a:lnSpc>
                <a:spcPct val="100800"/>
              </a:lnSpc>
              <a:spcBef>
                <a:spcPts val="544"/>
              </a:spcBef>
              <a:buAutoNum type="arabicPlain"/>
              <a:tabLst>
                <a:tab pos="377161" algn="l"/>
              </a:tabLst>
            </a:pPr>
            <a:r>
              <a:rPr sz="2176" dirty="0">
                <a:latin typeface="Microsoft Sans Serif"/>
                <a:cs typeface="Microsoft Sans Serif"/>
              </a:rPr>
              <a:t>Metal</a:t>
            </a:r>
            <a:r>
              <a:rPr sz="2176" spc="23" dirty="0">
                <a:latin typeface="Microsoft Sans Serif"/>
                <a:cs typeface="Microsoft Sans Serif"/>
              </a:rPr>
              <a:t> </a:t>
            </a:r>
            <a:r>
              <a:rPr sz="2176" dirty="0">
                <a:latin typeface="Microsoft Sans Serif"/>
                <a:cs typeface="Microsoft Sans Serif"/>
              </a:rPr>
              <a:t>with</a:t>
            </a:r>
            <a:r>
              <a:rPr sz="2176" spc="18" dirty="0">
                <a:latin typeface="Microsoft Sans Serif"/>
                <a:cs typeface="Microsoft Sans Serif"/>
              </a:rPr>
              <a:t> </a:t>
            </a:r>
            <a:r>
              <a:rPr sz="2176" dirty="0">
                <a:latin typeface="Microsoft Sans Serif"/>
                <a:cs typeface="Microsoft Sans Serif"/>
              </a:rPr>
              <a:t>more</a:t>
            </a:r>
            <a:r>
              <a:rPr sz="2176" spc="32" dirty="0">
                <a:latin typeface="Microsoft Sans Serif"/>
                <a:cs typeface="Microsoft Sans Serif"/>
              </a:rPr>
              <a:t> </a:t>
            </a:r>
            <a:r>
              <a:rPr sz="2176" dirty="0">
                <a:latin typeface="Microsoft Sans Serif"/>
                <a:cs typeface="Microsoft Sans Serif"/>
              </a:rPr>
              <a:t>negative</a:t>
            </a:r>
            <a:r>
              <a:rPr sz="2176" spc="36" dirty="0">
                <a:latin typeface="Microsoft Sans Serif"/>
                <a:cs typeface="Microsoft Sans Serif"/>
              </a:rPr>
              <a:t> </a:t>
            </a:r>
            <a:r>
              <a:rPr sz="2176" dirty="0">
                <a:latin typeface="Microsoft Sans Serif"/>
                <a:cs typeface="Microsoft Sans Serif"/>
              </a:rPr>
              <a:t>reduction</a:t>
            </a:r>
            <a:r>
              <a:rPr sz="2176" spc="32" dirty="0">
                <a:latin typeface="Microsoft Sans Serif"/>
                <a:cs typeface="Microsoft Sans Serif"/>
              </a:rPr>
              <a:t> </a:t>
            </a:r>
            <a:r>
              <a:rPr sz="2176" dirty="0">
                <a:latin typeface="Microsoft Sans Serif"/>
                <a:cs typeface="Microsoft Sans Serif"/>
              </a:rPr>
              <a:t>potential</a:t>
            </a:r>
            <a:r>
              <a:rPr sz="2176" spc="41" dirty="0">
                <a:latin typeface="Microsoft Sans Serif"/>
                <a:cs typeface="Microsoft Sans Serif"/>
              </a:rPr>
              <a:t> </a:t>
            </a:r>
            <a:r>
              <a:rPr sz="2176" dirty="0">
                <a:latin typeface="Microsoft Sans Serif"/>
                <a:cs typeface="Microsoft Sans Serif"/>
              </a:rPr>
              <a:t>will</a:t>
            </a:r>
            <a:r>
              <a:rPr sz="2176" spc="5" dirty="0">
                <a:latin typeface="Microsoft Sans Serif"/>
                <a:cs typeface="Microsoft Sans Serif"/>
              </a:rPr>
              <a:t> </a:t>
            </a:r>
            <a:r>
              <a:rPr sz="2176" dirty="0">
                <a:latin typeface="Microsoft Sans Serif"/>
                <a:cs typeface="Microsoft Sans Serif"/>
              </a:rPr>
              <a:t>displace</a:t>
            </a:r>
            <a:r>
              <a:rPr sz="2176" spc="18" dirty="0">
                <a:latin typeface="Microsoft Sans Serif"/>
                <a:cs typeface="Microsoft Sans Serif"/>
              </a:rPr>
              <a:t> </a:t>
            </a:r>
            <a:r>
              <a:rPr sz="2176" spc="-9" dirty="0">
                <a:latin typeface="Microsoft Sans Serif"/>
                <a:cs typeface="Microsoft Sans Serif"/>
              </a:rPr>
              <a:t>metals 	</a:t>
            </a:r>
            <a:r>
              <a:rPr sz="2176" dirty="0">
                <a:latin typeface="Microsoft Sans Serif"/>
                <a:cs typeface="Microsoft Sans Serif"/>
              </a:rPr>
              <a:t>with</a:t>
            </a:r>
            <a:r>
              <a:rPr sz="2176" spc="23" dirty="0">
                <a:latin typeface="Microsoft Sans Serif"/>
                <a:cs typeface="Microsoft Sans Serif"/>
              </a:rPr>
              <a:t> </a:t>
            </a:r>
            <a:r>
              <a:rPr sz="2176" dirty="0">
                <a:latin typeface="Microsoft Sans Serif"/>
                <a:cs typeface="Microsoft Sans Serif"/>
              </a:rPr>
              <a:t>lesser</a:t>
            </a:r>
            <a:r>
              <a:rPr sz="2176" spc="45" dirty="0">
                <a:latin typeface="Microsoft Sans Serif"/>
                <a:cs typeface="Microsoft Sans Serif"/>
              </a:rPr>
              <a:t> </a:t>
            </a:r>
            <a:r>
              <a:rPr sz="2176" dirty="0">
                <a:latin typeface="Microsoft Sans Serif"/>
                <a:cs typeface="Microsoft Sans Serif"/>
              </a:rPr>
              <a:t>negative</a:t>
            </a:r>
            <a:r>
              <a:rPr sz="2176" spc="41" dirty="0">
                <a:latin typeface="Microsoft Sans Serif"/>
                <a:cs typeface="Microsoft Sans Serif"/>
              </a:rPr>
              <a:t> </a:t>
            </a:r>
            <a:r>
              <a:rPr sz="2176" dirty="0">
                <a:latin typeface="Microsoft Sans Serif"/>
                <a:cs typeface="Microsoft Sans Serif"/>
              </a:rPr>
              <a:t>reduction</a:t>
            </a:r>
            <a:r>
              <a:rPr sz="2176" spc="63" dirty="0">
                <a:latin typeface="Microsoft Sans Serif"/>
                <a:cs typeface="Microsoft Sans Serif"/>
              </a:rPr>
              <a:t> </a:t>
            </a:r>
            <a:r>
              <a:rPr sz="2176" dirty="0">
                <a:latin typeface="Microsoft Sans Serif"/>
                <a:cs typeface="Microsoft Sans Serif"/>
              </a:rPr>
              <a:t>potentials</a:t>
            </a:r>
            <a:r>
              <a:rPr sz="2176" spc="36" dirty="0">
                <a:latin typeface="Microsoft Sans Serif"/>
                <a:cs typeface="Microsoft Sans Serif"/>
              </a:rPr>
              <a:t> </a:t>
            </a:r>
            <a:r>
              <a:rPr sz="2176" dirty="0">
                <a:latin typeface="Microsoft Sans Serif"/>
                <a:cs typeface="Microsoft Sans Serif"/>
              </a:rPr>
              <a:t>from</a:t>
            </a:r>
            <a:r>
              <a:rPr sz="2176" spc="27" dirty="0">
                <a:latin typeface="Microsoft Sans Serif"/>
                <a:cs typeface="Microsoft Sans Serif"/>
              </a:rPr>
              <a:t> </a:t>
            </a:r>
            <a:r>
              <a:rPr sz="2176" dirty="0">
                <a:latin typeface="Microsoft Sans Serif"/>
                <a:cs typeface="Microsoft Sans Serif"/>
              </a:rPr>
              <a:t>their</a:t>
            </a:r>
            <a:r>
              <a:rPr sz="2176" spc="27" dirty="0">
                <a:latin typeface="Microsoft Sans Serif"/>
                <a:cs typeface="Microsoft Sans Serif"/>
              </a:rPr>
              <a:t> </a:t>
            </a:r>
            <a:r>
              <a:rPr sz="2176" spc="-9" dirty="0">
                <a:latin typeface="Microsoft Sans Serif"/>
                <a:cs typeface="Microsoft Sans Serif"/>
              </a:rPr>
              <a:t>solution.</a:t>
            </a:r>
            <a:endParaRPr sz="2176">
              <a:latin typeface="Microsoft Sans Serif"/>
              <a:cs typeface="Microsoft Sans Serif"/>
            </a:endParaRPr>
          </a:p>
        </p:txBody>
      </p:sp>
      <p:sp>
        <p:nvSpPr>
          <p:cNvPr id="9" name="object 9"/>
          <p:cNvSpPr/>
          <p:nvPr/>
        </p:nvSpPr>
        <p:spPr>
          <a:xfrm>
            <a:off x="9274450" y="2133753"/>
            <a:ext cx="22457" cy="8637"/>
          </a:xfrm>
          <a:custGeom>
            <a:avLst/>
            <a:gdLst/>
            <a:ahLst/>
            <a:cxnLst/>
            <a:rect l="l" t="t" r="r" b="b"/>
            <a:pathLst>
              <a:path w="24765" h="9525">
                <a:moveTo>
                  <a:pt x="24384" y="0"/>
                </a:moveTo>
                <a:lnTo>
                  <a:pt x="0" y="0"/>
                </a:lnTo>
                <a:lnTo>
                  <a:pt x="0" y="9144"/>
                </a:lnTo>
                <a:lnTo>
                  <a:pt x="9144" y="9144"/>
                </a:lnTo>
                <a:lnTo>
                  <a:pt x="24384" y="9144"/>
                </a:lnTo>
                <a:lnTo>
                  <a:pt x="24384" y="0"/>
                </a:lnTo>
                <a:close/>
              </a:path>
            </a:pathLst>
          </a:custGeom>
          <a:solidFill>
            <a:srgbClr val="000000"/>
          </a:solidFill>
        </p:spPr>
        <p:txBody>
          <a:bodyPr wrap="square" lIns="0" tIns="0" rIns="0" bIns="0" rtlCol="0"/>
          <a:lstStyle/>
          <a:p>
            <a:endParaRPr sz="1632"/>
          </a:p>
        </p:txBody>
      </p:sp>
      <p:sp>
        <p:nvSpPr>
          <p:cNvPr id="10" name="object 10"/>
          <p:cNvSpPr/>
          <p:nvPr/>
        </p:nvSpPr>
        <p:spPr>
          <a:xfrm>
            <a:off x="9274450" y="4060212"/>
            <a:ext cx="22457" cy="11516"/>
          </a:xfrm>
          <a:custGeom>
            <a:avLst/>
            <a:gdLst/>
            <a:ahLst/>
            <a:cxnLst/>
            <a:rect l="l" t="t" r="r" b="b"/>
            <a:pathLst>
              <a:path w="24765" h="12700">
                <a:moveTo>
                  <a:pt x="24383" y="12191"/>
                </a:moveTo>
                <a:lnTo>
                  <a:pt x="0" y="12191"/>
                </a:lnTo>
                <a:lnTo>
                  <a:pt x="12192" y="0"/>
                </a:lnTo>
                <a:lnTo>
                  <a:pt x="24383" y="0"/>
                </a:lnTo>
                <a:lnTo>
                  <a:pt x="24383" y="12191"/>
                </a:lnTo>
                <a:close/>
              </a:path>
            </a:pathLst>
          </a:custGeom>
          <a:solidFill>
            <a:srgbClr val="000000"/>
          </a:solidFill>
        </p:spPr>
        <p:txBody>
          <a:bodyPr wrap="square" lIns="0" tIns="0" rIns="0" bIns="0" rtlCol="0"/>
          <a:lstStyle/>
          <a:p>
            <a:endParaRPr sz="1632"/>
          </a:p>
        </p:txBody>
      </p:sp>
      <p:sp>
        <p:nvSpPr>
          <p:cNvPr id="11" name="object 11"/>
          <p:cNvSpPr txBox="1"/>
          <p:nvPr/>
        </p:nvSpPr>
        <p:spPr>
          <a:xfrm>
            <a:off x="7075744" y="2133754"/>
            <a:ext cx="2209992" cy="1702112"/>
          </a:xfrm>
          <a:prstGeom prst="rect">
            <a:avLst/>
          </a:prstGeom>
          <a:ln w="24383">
            <a:solidFill>
              <a:srgbClr val="000000"/>
            </a:solidFill>
          </a:ln>
        </p:spPr>
        <p:txBody>
          <a:bodyPr vert="horz" wrap="square" lIns="0" tIns="39731" rIns="0" bIns="0" rtlCol="0">
            <a:spAutoFit/>
          </a:bodyPr>
          <a:lstStyle/>
          <a:p>
            <a:pPr marL="90979" marR="390980">
              <a:spcBef>
                <a:spcPts val="313"/>
              </a:spcBef>
              <a:tabLst>
                <a:tab pos="1232251" algn="l"/>
                <a:tab pos="1497127" algn="l"/>
              </a:tabLst>
            </a:pPr>
            <a:r>
              <a:rPr spc="-9" dirty="0">
                <a:latin typeface="Arial" panose="020B0604020202020204" pitchFamily="34" charset="0"/>
                <a:cs typeface="Arial" panose="020B0604020202020204" pitchFamily="34" charset="0"/>
              </a:rPr>
              <a:t>System</a:t>
            </a:r>
            <a:r>
              <a:rPr dirty="0">
                <a:latin typeface="Arial" panose="020B0604020202020204" pitchFamily="34" charset="0"/>
                <a:cs typeface="Arial" panose="020B0604020202020204" pitchFamily="34" charset="0"/>
              </a:rPr>
              <a:t>		</a:t>
            </a:r>
            <a:r>
              <a:rPr spc="-23" dirty="0">
                <a:latin typeface="Arial" panose="020B0604020202020204" pitchFamily="34" charset="0"/>
                <a:cs typeface="Arial" panose="020B0604020202020204" pitchFamily="34" charset="0"/>
              </a:rPr>
              <a:t>E</a:t>
            </a:r>
            <a:r>
              <a:rPr spc="-34" baseline="-21072" dirty="0">
                <a:latin typeface="Arial" panose="020B0604020202020204" pitchFamily="34" charset="0"/>
                <a:cs typeface="Arial" panose="020B0604020202020204" pitchFamily="34" charset="0"/>
              </a:rPr>
              <a:t>0 </a:t>
            </a:r>
            <a:r>
              <a:rPr spc="-9" dirty="0">
                <a:latin typeface="Arial" panose="020B0604020202020204" pitchFamily="34" charset="0"/>
                <a:cs typeface="Arial" panose="020B0604020202020204" pitchFamily="34" charset="0"/>
              </a:rPr>
              <a:t>Zn/Zn</a:t>
            </a:r>
            <a:r>
              <a:rPr spc="-14" baseline="24904" dirty="0">
                <a:latin typeface="Arial" panose="020B0604020202020204" pitchFamily="34" charset="0"/>
                <a:cs typeface="Arial" panose="020B0604020202020204" pitchFamily="34" charset="0"/>
              </a:rPr>
              <a:t>2+</a:t>
            </a:r>
            <a:r>
              <a:rPr baseline="24904" dirty="0">
                <a:latin typeface="Arial" panose="020B0604020202020204" pitchFamily="34" charset="0"/>
                <a:cs typeface="Arial" panose="020B0604020202020204" pitchFamily="34" charset="0"/>
              </a:rPr>
              <a:t>	</a:t>
            </a:r>
            <a:r>
              <a:rPr spc="-23" dirty="0">
                <a:latin typeface="Arial" panose="020B0604020202020204" pitchFamily="34" charset="0"/>
                <a:cs typeface="Arial" panose="020B0604020202020204" pitchFamily="34" charset="0"/>
              </a:rPr>
              <a:t>-</a:t>
            </a:r>
            <a:r>
              <a:rPr spc="-18" dirty="0">
                <a:latin typeface="Arial" panose="020B0604020202020204" pitchFamily="34" charset="0"/>
                <a:cs typeface="Arial" panose="020B0604020202020204" pitchFamily="34" charset="0"/>
              </a:rPr>
              <a:t>0.76</a:t>
            </a:r>
            <a:endParaRPr>
              <a:latin typeface="Arial" panose="020B0604020202020204" pitchFamily="34" charset="0"/>
              <a:cs typeface="Arial" panose="020B0604020202020204" pitchFamily="34" charset="0"/>
            </a:endParaRPr>
          </a:p>
          <a:p>
            <a:pPr marL="90979">
              <a:spcBef>
                <a:spcPts val="9"/>
              </a:spcBef>
              <a:tabLst>
                <a:tab pos="1280619" algn="l"/>
              </a:tabLst>
            </a:pPr>
            <a:r>
              <a:rPr spc="-9" dirty="0">
                <a:latin typeface="Arial" panose="020B0604020202020204" pitchFamily="34" charset="0"/>
                <a:cs typeface="Arial" panose="020B0604020202020204" pitchFamily="34" charset="0"/>
              </a:rPr>
              <a:t>Fe/Fe</a:t>
            </a:r>
            <a:r>
              <a:rPr spc="-14" baseline="24904" dirty="0">
                <a:latin typeface="Arial" panose="020B0604020202020204" pitchFamily="34" charset="0"/>
                <a:cs typeface="Arial" panose="020B0604020202020204" pitchFamily="34" charset="0"/>
              </a:rPr>
              <a:t>2+</a:t>
            </a:r>
            <a:r>
              <a:rPr baseline="24904" dirty="0">
                <a:latin typeface="Arial" panose="020B0604020202020204" pitchFamily="34" charset="0"/>
                <a:cs typeface="Arial" panose="020B0604020202020204" pitchFamily="34" charset="0"/>
              </a:rPr>
              <a:t>	</a:t>
            </a:r>
            <a:r>
              <a:rPr spc="-23" dirty="0">
                <a:latin typeface="Arial" panose="020B0604020202020204" pitchFamily="34" charset="0"/>
                <a:cs typeface="Arial" panose="020B0604020202020204" pitchFamily="34" charset="0"/>
              </a:rPr>
              <a:t>-</a:t>
            </a:r>
            <a:r>
              <a:rPr spc="-18" dirty="0">
                <a:latin typeface="Arial" panose="020B0604020202020204" pitchFamily="34" charset="0"/>
                <a:cs typeface="Arial" panose="020B0604020202020204" pitchFamily="34" charset="0"/>
              </a:rPr>
              <a:t>0.44</a:t>
            </a:r>
            <a:endParaRPr>
              <a:latin typeface="Arial" panose="020B0604020202020204" pitchFamily="34" charset="0"/>
              <a:cs typeface="Arial" panose="020B0604020202020204" pitchFamily="34" charset="0"/>
            </a:endParaRPr>
          </a:p>
          <a:p>
            <a:pPr marL="90979">
              <a:spcBef>
                <a:spcPts val="9"/>
              </a:spcBef>
              <a:tabLst>
                <a:tab pos="1309986" algn="l"/>
              </a:tabLst>
            </a:pPr>
            <a:r>
              <a:rPr spc="-9" dirty="0">
                <a:latin typeface="Arial" panose="020B0604020202020204" pitchFamily="34" charset="0"/>
                <a:cs typeface="Arial" panose="020B0604020202020204" pitchFamily="34" charset="0"/>
              </a:rPr>
              <a:t>Sn/Sn</a:t>
            </a:r>
            <a:r>
              <a:rPr spc="-14" baseline="24904" dirty="0">
                <a:latin typeface="Arial" panose="020B0604020202020204" pitchFamily="34" charset="0"/>
                <a:cs typeface="Arial" panose="020B0604020202020204" pitchFamily="34" charset="0"/>
              </a:rPr>
              <a:t>2+</a:t>
            </a:r>
            <a:r>
              <a:rPr baseline="24904" dirty="0">
                <a:latin typeface="Arial" panose="020B0604020202020204" pitchFamily="34" charset="0"/>
                <a:cs typeface="Arial" panose="020B0604020202020204" pitchFamily="34" charset="0"/>
              </a:rPr>
              <a:t>	</a:t>
            </a:r>
            <a:r>
              <a:rPr spc="-23" dirty="0">
                <a:latin typeface="Arial" panose="020B0604020202020204" pitchFamily="34" charset="0"/>
                <a:cs typeface="Arial" panose="020B0604020202020204" pitchFamily="34" charset="0"/>
              </a:rPr>
              <a:t>-</a:t>
            </a:r>
            <a:r>
              <a:rPr spc="-18" dirty="0">
                <a:latin typeface="Arial" panose="020B0604020202020204" pitchFamily="34" charset="0"/>
                <a:cs typeface="Arial" panose="020B0604020202020204" pitchFamily="34" charset="0"/>
              </a:rPr>
              <a:t>0.13</a:t>
            </a:r>
            <a:endParaRPr>
              <a:latin typeface="Arial" panose="020B0604020202020204" pitchFamily="34" charset="0"/>
              <a:cs typeface="Arial" panose="020B0604020202020204" pitchFamily="34" charset="0"/>
            </a:endParaRPr>
          </a:p>
          <a:p>
            <a:pPr marL="90979">
              <a:tabLst>
                <a:tab pos="1590409" algn="l"/>
              </a:tabLst>
            </a:pPr>
            <a:r>
              <a:rPr spc="-9" dirty="0">
                <a:latin typeface="Arial" panose="020B0604020202020204" pitchFamily="34" charset="0"/>
                <a:cs typeface="Arial" panose="020B0604020202020204" pitchFamily="34" charset="0"/>
              </a:rPr>
              <a:t>H</a:t>
            </a:r>
            <a:r>
              <a:rPr spc="-14" baseline="-21072" dirty="0">
                <a:latin typeface="Arial" panose="020B0604020202020204" pitchFamily="34" charset="0"/>
                <a:cs typeface="Arial" panose="020B0604020202020204" pitchFamily="34" charset="0"/>
              </a:rPr>
              <a:t>2</a:t>
            </a:r>
            <a:r>
              <a:rPr spc="-9" dirty="0">
                <a:latin typeface="Arial" panose="020B0604020202020204" pitchFamily="34" charset="0"/>
                <a:cs typeface="Arial" panose="020B0604020202020204" pitchFamily="34" charset="0"/>
              </a:rPr>
              <a:t>(pt)/H</a:t>
            </a:r>
            <a:r>
              <a:rPr spc="-14" baseline="24904" dirty="0">
                <a:latin typeface="Arial" panose="020B0604020202020204" pitchFamily="34" charset="0"/>
                <a:cs typeface="Arial" panose="020B0604020202020204" pitchFamily="34" charset="0"/>
              </a:rPr>
              <a:t>+</a:t>
            </a:r>
            <a:r>
              <a:rPr baseline="24904" dirty="0">
                <a:latin typeface="Arial" panose="020B0604020202020204" pitchFamily="34" charset="0"/>
                <a:cs typeface="Arial" panose="020B0604020202020204" pitchFamily="34" charset="0"/>
              </a:rPr>
              <a:t>	</a:t>
            </a:r>
            <a:r>
              <a:rPr spc="-45" dirty="0">
                <a:latin typeface="Arial" panose="020B0604020202020204" pitchFamily="34" charset="0"/>
                <a:cs typeface="Arial" panose="020B0604020202020204" pitchFamily="34" charset="0"/>
              </a:rPr>
              <a:t>0</a:t>
            </a:r>
            <a:endParaRPr>
              <a:latin typeface="Arial" panose="020B0604020202020204" pitchFamily="34" charset="0"/>
              <a:cs typeface="Arial" panose="020B0604020202020204" pitchFamily="34" charset="0"/>
            </a:endParaRPr>
          </a:p>
          <a:p>
            <a:pPr marL="90979">
              <a:spcBef>
                <a:spcPts val="14"/>
              </a:spcBef>
              <a:tabLst>
                <a:tab pos="1337625" algn="l"/>
              </a:tabLst>
            </a:pPr>
            <a:r>
              <a:rPr spc="-9" dirty="0">
                <a:latin typeface="Arial" panose="020B0604020202020204" pitchFamily="34" charset="0"/>
                <a:cs typeface="Arial" panose="020B0604020202020204" pitchFamily="34" charset="0"/>
              </a:rPr>
              <a:t>Cu/Cu</a:t>
            </a:r>
            <a:r>
              <a:rPr spc="-14" baseline="24904" dirty="0">
                <a:latin typeface="Arial" panose="020B0604020202020204" pitchFamily="34" charset="0"/>
                <a:cs typeface="Arial" panose="020B0604020202020204" pitchFamily="34" charset="0"/>
              </a:rPr>
              <a:t>2+</a:t>
            </a:r>
            <a:r>
              <a:rPr baseline="24904" dirty="0">
                <a:latin typeface="Arial" panose="020B0604020202020204" pitchFamily="34" charset="0"/>
                <a:cs typeface="Arial" panose="020B0604020202020204" pitchFamily="34" charset="0"/>
              </a:rPr>
              <a:t>	</a:t>
            </a:r>
            <a:r>
              <a:rPr spc="-18" dirty="0">
                <a:latin typeface="Arial" panose="020B0604020202020204" pitchFamily="34" charset="0"/>
                <a:cs typeface="Arial" panose="020B0604020202020204" pitchFamily="34" charset="0"/>
              </a:rPr>
              <a:t>+0.34</a:t>
            </a:r>
            <a:endParaRPr>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A9A26D-7F44-5045-53EE-196535AC1A3F}"/>
              </a:ext>
            </a:extLst>
          </p:cNvPr>
          <p:cNvSpPr txBox="1"/>
          <p:nvPr/>
        </p:nvSpPr>
        <p:spPr>
          <a:xfrm>
            <a:off x="658368" y="5039249"/>
            <a:ext cx="7909560" cy="830997"/>
          </a:xfrm>
          <a:prstGeom prst="rect">
            <a:avLst/>
          </a:prstGeom>
          <a:noFill/>
        </p:spPr>
        <p:txBody>
          <a:bodyPr wrap="square" rtlCol="0">
            <a:spAutoFit/>
          </a:bodyPr>
          <a:lstStyle/>
          <a:p>
            <a:r>
              <a:rPr lang="en-US" sz="1600" b="0" i="0" u="none" strike="noStrike" baseline="0" dirty="0">
                <a:solidFill>
                  <a:srgbClr val="C00000"/>
                </a:solidFill>
                <a:latin typeface="Arial" panose="020B0604020202020204" pitchFamily="34" charset="0"/>
              </a:rPr>
              <a:t>The potential that develops in a cell is a measure of the tendency for a reaction to proceed toward equilibrium</a:t>
            </a:r>
          </a:p>
          <a:p>
            <a:endParaRPr lang="en-IN" sz="1600" dirty="0"/>
          </a:p>
        </p:txBody>
      </p:sp>
      <p:sp>
        <p:nvSpPr>
          <p:cNvPr id="3" name="TextBox 2">
            <a:extLst>
              <a:ext uri="{FF2B5EF4-FFF2-40B4-BE49-F238E27FC236}">
                <a16:creationId xmlns:a16="http://schemas.microsoft.com/office/drawing/2014/main" id="{3E971553-2081-A785-3474-3A4F7A9A1135}"/>
              </a:ext>
            </a:extLst>
          </p:cNvPr>
          <p:cNvSpPr txBox="1"/>
          <p:nvPr/>
        </p:nvSpPr>
        <p:spPr>
          <a:xfrm>
            <a:off x="4416278" y="137160"/>
            <a:ext cx="1967205" cy="369332"/>
          </a:xfrm>
          <a:prstGeom prst="rect">
            <a:avLst/>
          </a:prstGeom>
          <a:noFill/>
        </p:spPr>
        <p:txBody>
          <a:bodyPr wrap="none" rtlCol="0">
            <a:spAutoFit/>
          </a:bodyPr>
          <a:lstStyle/>
          <a:p>
            <a:r>
              <a:rPr lang="en-US" b="1" dirty="0">
                <a:solidFill>
                  <a:srgbClr val="C00000"/>
                </a:solidFill>
                <a:latin typeface="Arial" panose="020B0604020202020204" pitchFamily="34" charset="0"/>
                <a:cs typeface="Arial" panose="020B0604020202020204" pitchFamily="34" charset="0"/>
              </a:rPr>
              <a:t>Nernst Equation</a:t>
            </a:r>
            <a:endParaRPr lang="en-IN" b="1" dirty="0">
              <a:solidFill>
                <a:srgbClr val="C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A5E887B-2FFE-B510-AA53-103E60E1E6C4}"/>
              </a:ext>
            </a:extLst>
          </p:cNvPr>
          <p:cNvSpPr txBox="1"/>
          <p:nvPr/>
        </p:nvSpPr>
        <p:spPr>
          <a:xfrm>
            <a:off x="438912" y="599373"/>
            <a:ext cx="5328703" cy="1154675"/>
          </a:xfrm>
          <a:prstGeom prst="rect">
            <a:avLst/>
          </a:prstGeom>
          <a:noFill/>
        </p:spPr>
        <p:txBody>
          <a:bodyPr wrap="none" rtlCol="0">
            <a:spAutoFit/>
          </a:bodyPr>
          <a:lstStyle/>
          <a:p>
            <a:pPr lvl="1" eaLnBrk="1" hangingPunct="1">
              <a:lnSpc>
                <a:spcPct val="150000"/>
              </a:lnSpc>
              <a:buSzPct val="60000"/>
              <a:buFont typeface="Wingdings" panose="05000000000000000000" pitchFamily="2" charset="2"/>
              <a:buNone/>
            </a:pPr>
            <a:r>
              <a:rPr lang="en-US" altLang="en-US" sz="1600" b="0" dirty="0">
                <a:solidFill>
                  <a:srgbClr val="CC3300"/>
                </a:solidFill>
                <a:latin typeface="Arial" panose="020B0604020202020204" pitchFamily="34" charset="0"/>
                <a:cs typeface="Arial" panose="020B0604020202020204" pitchFamily="34" charset="0"/>
                <a:sym typeface="Wingdings" panose="05000000000000000000" pitchFamily="2" charset="2"/>
              </a:rPr>
              <a:t>Reduction Potential under </a:t>
            </a:r>
            <a:r>
              <a:rPr lang="en-US" altLang="en-US" sz="1600" b="0" i="1" dirty="0">
                <a:solidFill>
                  <a:srgbClr val="CC3300"/>
                </a:solidFill>
                <a:latin typeface="Arial" panose="020B0604020202020204" pitchFamily="34" charset="0"/>
                <a:cs typeface="Arial" panose="020B0604020202020204" pitchFamily="34" charset="0"/>
                <a:sym typeface="Wingdings" panose="05000000000000000000" pitchFamily="2" charset="2"/>
              </a:rPr>
              <a:t>Non-standard</a:t>
            </a:r>
            <a:r>
              <a:rPr lang="en-US" altLang="en-US" sz="1600" b="0" dirty="0">
                <a:solidFill>
                  <a:srgbClr val="CC3300"/>
                </a:solidFill>
                <a:latin typeface="Arial" panose="020B0604020202020204" pitchFamily="34" charset="0"/>
                <a:cs typeface="Arial" panose="020B0604020202020204" pitchFamily="34" charset="0"/>
                <a:sym typeface="Wingdings" panose="05000000000000000000" pitchFamily="2" charset="2"/>
              </a:rPr>
              <a:t> Conditions</a:t>
            </a:r>
            <a:endParaRPr lang="en-US" altLang="en-US" sz="1600" i="1" u="sng" dirty="0">
              <a:solidFill>
                <a:srgbClr val="CC3300"/>
              </a:solidFill>
              <a:latin typeface="Arial" panose="020B0604020202020204" pitchFamily="34" charset="0"/>
              <a:cs typeface="Arial" panose="020B0604020202020204" pitchFamily="34" charset="0"/>
              <a:sym typeface="Wingdings" panose="05000000000000000000" pitchFamily="2" charset="2"/>
            </a:endParaRPr>
          </a:p>
          <a:p>
            <a:pPr lvl="1" eaLnBrk="1" hangingPunct="1">
              <a:lnSpc>
                <a:spcPct val="150000"/>
              </a:lnSpc>
              <a:buSzPct val="60000"/>
              <a:buFont typeface="Wingdings" panose="05000000000000000000" pitchFamily="2" charset="2"/>
              <a:buNone/>
            </a:pPr>
            <a:r>
              <a:rPr lang="en-US" altLang="en-US" sz="1600" b="0" dirty="0">
                <a:latin typeface="Arial" panose="020B0604020202020204" pitchFamily="34" charset="0"/>
                <a:cs typeface="Arial" panose="020B0604020202020204" pitchFamily="34" charset="0"/>
                <a:sym typeface="Wingdings" panose="05000000000000000000" pitchFamily="2" charset="2"/>
              </a:rPr>
              <a:t>E determined using </a:t>
            </a:r>
            <a:r>
              <a:rPr lang="en-US" altLang="en-US" sz="1600" b="0" i="1" dirty="0">
                <a:solidFill>
                  <a:srgbClr val="660066"/>
                </a:solidFill>
                <a:latin typeface="Arial" panose="020B0604020202020204" pitchFamily="34" charset="0"/>
                <a:cs typeface="Arial" panose="020B0604020202020204" pitchFamily="34" charset="0"/>
                <a:sym typeface="Wingdings" panose="05000000000000000000" pitchFamily="2" charset="2"/>
              </a:rPr>
              <a:t>Nernst Equation</a:t>
            </a:r>
          </a:p>
          <a:p>
            <a:pPr lvl="1" eaLnBrk="1" hangingPunct="1">
              <a:lnSpc>
                <a:spcPct val="150000"/>
              </a:lnSpc>
              <a:buSzPct val="60000"/>
              <a:buFont typeface="Wingdings" panose="05000000000000000000" pitchFamily="2" charset="2"/>
              <a:buNone/>
            </a:pPr>
            <a:r>
              <a:rPr lang="en-US" altLang="en-US" sz="1600" b="0" dirty="0">
                <a:latin typeface="Arial" panose="020B0604020202020204" pitchFamily="34" charset="0"/>
                <a:cs typeface="Arial" panose="020B0604020202020204" pitchFamily="34" charset="0"/>
                <a:sym typeface="Wingdings" panose="05000000000000000000" pitchFamily="2" charset="2"/>
              </a:rPr>
              <a:t>Concentrations not-equal to 1M</a:t>
            </a:r>
          </a:p>
        </p:txBody>
      </p:sp>
      <p:sp>
        <p:nvSpPr>
          <p:cNvPr id="8" name="TextBox 7">
            <a:extLst>
              <a:ext uri="{FF2B5EF4-FFF2-40B4-BE49-F238E27FC236}">
                <a16:creationId xmlns:a16="http://schemas.microsoft.com/office/drawing/2014/main" id="{3FF6787D-4E71-6B63-1A5B-5BBCD7E4E183}"/>
              </a:ext>
            </a:extLst>
          </p:cNvPr>
          <p:cNvSpPr txBox="1"/>
          <p:nvPr/>
        </p:nvSpPr>
        <p:spPr>
          <a:xfrm>
            <a:off x="4683465" y="1183612"/>
            <a:ext cx="1280479" cy="369332"/>
          </a:xfrm>
          <a:prstGeom prst="rect">
            <a:avLst/>
          </a:prstGeom>
          <a:noFill/>
        </p:spPr>
        <p:txBody>
          <a:bodyPr wrap="none" rtlCol="0">
            <a:spAutoFit/>
          </a:bodyPr>
          <a:lstStyle/>
          <a:p>
            <a:r>
              <a:rPr lang="en-US" dirty="0">
                <a:sym typeface="Symbol" panose="05050102010706020507" pitchFamily="18" charset="2"/>
              </a:rPr>
              <a:t></a:t>
            </a:r>
            <a:r>
              <a:rPr lang="en-US" dirty="0"/>
              <a:t>G = </a:t>
            </a:r>
            <a:r>
              <a:rPr lang="en-US" dirty="0" err="1"/>
              <a:t>RTlnK</a:t>
            </a:r>
            <a:endParaRPr lang="en-IN" dirty="0"/>
          </a:p>
        </p:txBody>
      </p:sp>
      <p:sp>
        <p:nvSpPr>
          <p:cNvPr id="9" name="TextBox 8">
            <a:extLst>
              <a:ext uri="{FF2B5EF4-FFF2-40B4-BE49-F238E27FC236}">
                <a16:creationId xmlns:a16="http://schemas.microsoft.com/office/drawing/2014/main" id="{0A002FE8-77BA-B906-5847-C1D27B172874}"/>
              </a:ext>
            </a:extLst>
          </p:cNvPr>
          <p:cNvSpPr txBox="1"/>
          <p:nvPr/>
        </p:nvSpPr>
        <p:spPr>
          <a:xfrm>
            <a:off x="1115648" y="2083939"/>
            <a:ext cx="2189061"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sym typeface="Symbol" panose="05050102010706020507" pitchFamily="18" charset="2"/>
              </a:rPr>
              <a:t></a:t>
            </a:r>
            <a:r>
              <a:rPr lang="en-US" dirty="0">
                <a:latin typeface="Arial" panose="020B0604020202020204" pitchFamily="34" charset="0"/>
                <a:cs typeface="Arial" panose="020B0604020202020204" pitchFamily="34" charset="0"/>
              </a:rPr>
              <a:t>G =</a:t>
            </a:r>
            <a:r>
              <a:rPr lang="en-US" dirty="0">
                <a:latin typeface="Arial" panose="020B0604020202020204" pitchFamily="34" charset="0"/>
                <a:cs typeface="Arial" panose="020B0604020202020204" pitchFamily="34" charset="0"/>
                <a:sym typeface="Symbol" panose="05050102010706020507" pitchFamily="18" charset="2"/>
              </a:rPr>
              <a:t> </a:t>
            </a:r>
            <a:r>
              <a:rPr lang="en-US" dirty="0">
                <a:latin typeface="Arial" panose="020B0604020202020204" pitchFamily="34" charset="0"/>
                <a:cs typeface="Arial" panose="020B0604020202020204" pitchFamily="34" charset="0"/>
              </a:rPr>
              <a:t>G</a:t>
            </a:r>
            <a:r>
              <a:rPr lang="en-US" baseline="30000" dirty="0">
                <a:latin typeface="Arial" panose="020B0604020202020204" pitchFamily="34" charset="0"/>
                <a:cs typeface="Arial" panose="020B0604020202020204" pitchFamily="34" charset="0"/>
              </a:rPr>
              <a:t>o</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RTlnK</a:t>
            </a:r>
            <a:endParaRPr lang="en-IN" dirty="0">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BC2A4DDF-9234-3FDB-5C58-C37897A11DFA}"/>
              </a:ext>
            </a:extLst>
          </p:cNvPr>
          <p:cNvGrpSpPr/>
          <p:nvPr/>
        </p:nvGrpSpPr>
        <p:grpSpPr>
          <a:xfrm>
            <a:off x="983951" y="2671521"/>
            <a:ext cx="3756939" cy="461665"/>
            <a:chOff x="983951" y="2671521"/>
            <a:chExt cx="3756939" cy="461665"/>
          </a:xfrm>
        </p:grpSpPr>
        <p:sp>
          <p:nvSpPr>
            <p:cNvPr id="10" name="TextBox 9">
              <a:extLst>
                <a:ext uri="{FF2B5EF4-FFF2-40B4-BE49-F238E27FC236}">
                  <a16:creationId xmlns:a16="http://schemas.microsoft.com/office/drawing/2014/main" id="{E5C44B53-D77D-36B9-0CD1-8C7E0FE9FF5A}"/>
                </a:ext>
              </a:extLst>
            </p:cNvPr>
            <p:cNvSpPr txBox="1"/>
            <p:nvPr/>
          </p:nvSpPr>
          <p:spPr>
            <a:xfrm>
              <a:off x="3579995" y="2671521"/>
              <a:ext cx="1160895" cy="369332"/>
            </a:xfrm>
            <a:prstGeom prst="rect">
              <a:avLst/>
            </a:prstGeom>
            <a:noFill/>
          </p:spPr>
          <p:txBody>
            <a:bodyPr wrap="none" rtlCol="0">
              <a:spAutoFit/>
            </a:bodyPr>
            <a:lstStyle/>
            <a:p>
              <a:r>
                <a:rPr lang="en-US" dirty="0">
                  <a:sym typeface="Symbol" panose="05050102010706020507" pitchFamily="18" charset="2"/>
                </a:rPr>
                <a:t></a:t>
              </a:r>
              <a:r>
                <a:rPr lang="en-US" dirty="0"/>
                <a:t>G = -</a:t>
              </a:r>
              <a:r>
                <a:rPr lang="en-US" dirty="0" err="1"/>
                <a:t>nFE</a:t>
              </a:r>
              <a:endParaRPr lang="en-IN" dirty="0"/>
            </a:p>
          </p:txBody>
        </p:sp>
        <p:sp>
          <p:nvSpPr>
            <p:cNvPr id="12" name="TextBox 11">
              <a:extLst>
                <a:ext uri="{FF2B5EF4-FFF2-40B4-BE49-F238E27FC236}">
                  <a16:creationId xmlns:a16="http://schemas.microsoft.com/office/drawing/2014/main" id="{93A7D8BA-62DC-D014-CE0D-93518EEA417D}"/>
                </a:ext>
              </a:extLst>
            </p:cNvPr>
            <p:cNvSpPr txBox="1"/>
            <p:nvPr/>
          </p:nvSpPr>
          <p:spPr>
            <a:xfrm>
              <a:off x="983951" y="2763854"/>
              <a:ext cx="2189061" cy="369332"/>
            </a:xfrm>
            <a:prstGeom prst="rect">
              <a:avLst/>
            </a:prstGeom>
            <a:noFill/>
          </p:spPr>
          <p:txBody>
            <a:bodyPr wrap="square">
              <a:spAutoFit/>
            </a:bodyPr>
            <a:lstStyle/>
            <a:p>
              <a:r>
                <a:rPr lang="en-US" dirty="0"/>
                <a:t>-</a:t>
              </a:r>
              <a:r>
                <a:rPr lang="en-US" dirty="0" err="1"/>
                <a:t>nFE</a:t>
              </a:r>
              <a:r>
                <a:rPr lang="en-US" dirty="0"/>
                <a:t> = -</a:t>
              </a:r>
              <a:r>
                <a:rPr lang="en-US" dirty="0" err="1"/>
                <a:t>nFE</a:t>
              </a:r>
              <a:r>
                <a:rPr lang="en-US" baseline="30000" dirty="0" err="1"/>
                <a:t>o</a:t>
              </a:r>
              <a:r>
                <a:rPr lang="en-US" baseline="30000" dirty="0"/>
                <a:t> </a:t>
              </a:r>
              <a:r>
                <a:rPr lang="en-US" dirty="0"/>
                <a:t>+ </a:t>
              </a:r>
              <a:r>
                <a:rPr lang="en-US" dirty="0" err="1">
                  <a:latin typeface="Arial" panose="020B0604020202020204" pitchFamily="34" charset="0"/>
                  <a:cs typeface="Arial" panose="020B0604020202020204" pitchFamily="34" charset="0"/>
                </a:rPr>
                <a:t>RTlnK</a:t>
              </a:r>
              <a:r>
                <a:rPr lang="en-US" dirty="0"/>
                <a:t> </a:t>
              </a:r>
              <a:endParaRPr lang="en-IN" dirty="0"/>
            </a:p>
          </p:txBody>
        </p:sp>
      </p:grpSp>
      <p:sp>
        <p:nvSpPr>
          <p:cNvPr id="13" name="TextBox 12">
            <a:extLst>
              <a:ext uri="{FF2B5EF4-FFF2-40B4-BE49-F238E27FC236}">
                <a16:creationId xmlns:a16="http://schemas.microsoft.com/office/drawing/2014/main" id="{08A402AD-019C-3493-1BFE-23A689693860}"/>
              </a:ext>
            </a:extLst>
          </p:cNvPr>
          <p:cNvSpPr txBox="1"/>
          <p:nvPr/>
        </p:nvSpPr>
        <p:spPr>
          <a:xfrm>
            <a:off x="983995" y="3331495"/>
            <a:ext cx="2189061" cy="646331"/>
          </a:xfrm>
          <a:prstGeom prst="rect">
            <a:avLst/>
          </a:prstGeom>
          <a:noFill/>
        </p:spPr>
        <p:txBody>
          <a:bodyPr wrap="square">
            <a:spAutoFit/>
          </a:bodyPr>
          <a:lstStyle/>
          <a:p>
            <a:r>
              <a:rPr lang="en-US" dirty="0"/>
              <a:t>E = </a:t>
            </a:r>
            <a:r>
              <a:rPr lang="en-US" dirty="0" err="1"/>
              <a:t>E</a:t>
            </a:r>
            <a:r>
              <a:rPr lang="en-US" baseline="30000" dirty="0" err="1"/>
              <a:t>o</a:t>
            </a:r>
            <a:r>
              <a:rPr lang="en-US" baseline="30000" dirty="0"/>
              <a:t> </a:t>
            </a:r>
            <a:r>
              <a:rPr lang="en-US" dirty="0"/>
              <a:t>-</a:t>
            </a:r>
            <a:r>
              <a:rPr lang="en-US" u="sng" dirty="0">
                <a:latin typeface="Arial" panose="020B0604020202020204" pitchFamily="34" charset="0"/>
                <a:cs typeface="Arial" panose="020B0604020202020204" pitchFamily="34" charset="0"/>
              </a:rPr>
              <a:t>RT </a:t>
            </a:r>
            <a:r>
              <a:rPr lang="en-US" dirty="0">
                <a:latin typeface="Arial" panose="020B0604020202020204" pitchFamily="34" charset="0"/>
                <a:cs typeface="Arial" panose="020B0604020202020204" pitchFamily="34" charset="0"/>
              </a:rPr>
              <a:t>ln K</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nF</a:t>
            </a:r>
            <a:r>
              <a:rPr lang="en-US" dirty="0"/>
              <a:t> </a:t>
            </a:r>
            <a:endParaRPr lang="en-IN" dirty="0"/>
          </a:p>
        </p:txBody>
      </p:sp>
      <p:sp>
        <p:nvSpPr>
          <p:cNvPr id="14" name="TextBox 13">
            <a:extLst>
              <a:ext uri="{FF2B5EF4-FFF2-40B4-BE49-F238E27FC236}">
                <a16:creationId xmlns:a16="http://schemas.microsoft.com/office/drawing/2014/main" id="{A97DDADF-C178-27FF-4515-7C48D30DA958}"/>
              </a:ext>
            </a:extLst>
          </p:cNvPr>
          <p:cNvSpPr txBox="1"/>
          <p:nvPr/>
        </p:nvSpPr>
        <p:spPr>
          <a:xfrm>
            <a:off x="3978211" y="4102276"/>
            <a:ext cx="1884875" cy="369332"/>
          </a:xfrm>
          <a:prstGeom prst="rect">
            <a:avLst/>
          </a:prstGeom>
          <a:noFill/>
        </p:spPr>
        <p:txBody>
          <a:bodyPr wrap="none" rtlCol="0">
            <a:spAutoFit/>
          </a:bodyPr>
          <a:lstStyle/>
          <a:p>
            <a:r>
              <a:rPr lang="en-IN" sz="1800" b="0" i="1" u="none" strike="noStrike" baseline="0" dirty="0">
                <a:latin typeface="SabonLTStd-Italic"/>
              </a:rPr>
              <a:t>a </a:t>
            </a:r>
            <a:r>
              <a:rPr lang="en-IN" sz="1800" b="0" i="0" u="none" strike="noStrike" baseline="0" dirty="0">
                <a:latin typeface="SabonLTStd-Roman"/>
              </a:rPr>
              <a:t>Ox </a:t>
            </a:r>
            <a:r>
              <a:rPr lang="en-IN" sz="1800" b="0" i="0" u="none" strike="noStrike" baseline="0" dirty="0">
                <a:latin typeface="MathematicalPi-One"/>
              </a:rPr>
              <a:t> + n</a:t>
            </a:r>
            <a:r>
              <a:rPr lang="en-IN" sz="1800" b="0" i="0" u="none" strike="noStrike" baseline="0" dirty="0">
                <a:latin typeface="SabonLTStd-Roman"/>
              </a:rPr>
              <a:t>e</a:t>
            </a:r>
            <a:r>
              <a:rPr lang="en-IN" sz="1800" b="0" i="0" u="none" strike="noStrike" baseline="0" dirty="0">
                <a:latin typeface="MathematicalPi-One"/>
              </a:rPr>
              <a:t> </a:t>
            </a:r>
            <a:r>
              <a:rPr lang="en-IN" dirty="0">
                <a:latin typeface="Symbol" panose="05050102010706020507" pitchFamily="18" charset="2"/>
              </a:rPr>
              <a:t>=</a:t>
            </a:r>
            <a:r>
              <a:rPr lang="en-IN" sz="1800" b="0" i="0" u="none" strike="noStrike" baseline="0" dirty="0">
                <a:latin typeface="Symbol" panose="05050102010706020507" pitchFamily="18" charset="2"/>
              </a:rPr>
              <a:t> </a:t>
            </a:r>
            <a:r>
              <a:rPr lang="en-IN" sz="1800" b="0" i="1" u="none" strike="noStrike" baseline="0" dirty="0">
                <a:latin typeface="SabonLTStd-Italic"/>
              </a:rPr>
              <a:t>a</a:t>
            </a:r>
            <a:r>
              <a:rPr lang="en-IN" sz="1800" b="0" i="0" u="none" strike="noStrike" baseline="0" dirty="0">
                <a:latin typeface="MathematicalPi-One"/>
              </a:rPr>
              <a:t> </a:t>
            </a:r>
            <a:r>
              <a:rPr lang="en-IN" sz="1800" b="0" i="0" u="none" strike="noStrike" baseline="0" dirty="0">
                <a:latin typeface="SabonLTStd-Roman"/>
              </a:rPr>
              <a:t>Red</a:t>
            </a:r>
            <a:endParaRPr lang="en-IN" dirty="0"/>
          </a:p>
        </p:txBody>
      </p:sp>
      <p:sp>
        <p:nvSpPr>
          <p:cNvPr id="15" name="TextBox 14">
            <a:extLst>
              <a:ext uri="{FF2B5EF4-FFF2-40B4-BE49-F238E27FC236}">
                <a16:creationId xmlns:a16="http://schemas.microsoft.com/office/drawing/2014/main" id="{5DEDAC3E-9924-44A8-4A50-88C879E27040}"/>
              </a:ext>
            </a:extLst>
          </p:cNvPr>
          <p:cNvSpPr txBox="1"/>
          <p:nvPr/>
        </p:nvSpPr>
        <p:spPr>
          <a:xfrm>
            <a:off x="817541" y="4047917"/>
            <a:ext cx="2962420" cy="923330"/>
          </a:xfrm>
          <a:prstGeom prst="rect">
            <a:avLst/>
          </a:prstGeom>
          <a:noFill/>
        </p:spPr>
        <p:txBody>
          <a:bodyPr wrap="square">
            <a:spAutoFit/>
          </a:bodyPr>
          <a:lstStyle/>
          <a:p>
            <a:r>
              <a:rPr lang="en-US" dirty="0"/>
              <a:t>E = </a:t>
            </a:r>
            <a:r>
              <a:rPr lang="en-US" dirty="0" err="1"/>
              <a:t>E</a:t>
            </a:r>
            <a:r>
              <a:rPr lang="en-US" baseline="30000" dirty="0" err="1"/>
              <a:t>o</a:t>
            </a:r>
            <a:r>
              <a:rPr lang="en-US" baseline="30000" dirty="0"/>
              <a:t> </a:t>
            </a:r>
            <a:r>
              <a:rPr lang="en-US" dirty="0"/>
              <a:t>-2.303 </a:t>
            </a:r>
            <a:r>
              <a:rPr lang="en-US" u="sng" dirty="0">
                <a:latin typeface="Arial" panose="020B0604020202020204" pitchFamily="34" charset="0"/>
                <a:cs typeface="Arial" panose="020B0604020202020204" pitchFamily="34" charset="0"/>
              </a:rPr>
              <a:t>RT </a:t>
            </a:r>
            <a:r>
              <a:rPr lang="en-US" dirty="0">
                <a:latin typeface="Arial" panose="020B0604020202020204" pitchFamily="34" charset="0"/>
                <a:cs typeface="Arial" panose="020B0604020202020204" pitchFamily="34" charset="0"/>
              </a:rPr>
              <a:t>log [</a:t>
            </a:r>
            <a:r>
              <a:rPr lang="en-US" u="sng" dirty="0">
                <a:latin typeface="Arial" panose="020B0604020202020204" pitchFamily="34" charset="0"/>
                <a:cs typeface="Arial" panose="020B0604020202020204" pitchFamily="34" charset="0"/>
              </a:rPr>
              <a:t>red</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nF</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oxd</a:t>
            </a:r>
            <a:r>
              <a:rPr lang="en-US" dirty="0">
                <a:latin typeface="Arial" panose="020B0604020202020204" pitchFamily="34" charset="0"/>
                <a:cs typeface="Arial" panose="020B0604020202020204" pitchFamily="34" charset="0"/>
              </a:rPr>
              <a:t>]</a:t>
            </a:r>
          </a:p>
          <a:p>
            <a:endParaRPr lang="en-IN" dirty="0"/>
          </a:p>
        </p:txBody>
      </p:sp>
      <p:sp>
        <p:nvSpPr>
          <p:cNvPr id="4" name="Rectangle 3">
            <a:extLst>
              <a:ext uri="{FF2B5EF4-FFF2-40B4-BE49-F238E27FC236}">
                <a16:creationId xmlns:a16="http://schemas.microsoft.com/office/drawing/2014/main" id="{CE8254D7-C82B-2C1C-F966-94BF0068FA36}"/>
              </a:ext>
            </a:extLst>
          </p:cNvPr>
          <p:cNvSpPr/>
          <p:nvPr/>
        </p:nvSpPr>
        <p:spPr>
          <a:xfrm>
            <a:off x="830945" y="3947116"/>
            <a:ext cx="2749050" cy="90215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14600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691070-0CCB-A331-6844-3E892E78F374}"/>
              </a:ext>
            </a:extLst>
          </p:cNvPr>
          <p:cNvSpPr txBox="1"/>
          <p:nvPr/>
        </p:nvSpPr>
        <p:spPr>
          <a:xfrm>
            <a:off x="3832785" y="128016"/>
            <a:ext cx="3134191" cy="369332"/>
          </a:xfrm>
          <a:prstGeom prst="rect">
            <a:avLst/>
          </a:prstGeom>
          <a:noFill/>
        </p:spPr>
        <p:txBody>
          <a:bodyPr wrap="none" rtlCol="0">
            <a:spAutoFit/>
          </a:bodyPr>
          <a:lstStyle/>
          <a:p>
            <a:r>
              <a:rPr lang="en-IN" sz="1800" b="1" i="0" u="none" strike="noStrike" baseline="0" dirty="0">
                <a:solidFill>
                  <a:srgbClr val="C00000"/>
                </a:solidFill>
                <a:latin typeface="Arial" panose="020B0604020202020204" pitchFamily="34" charset="0"/>
                <a:cs typeface="Arial" panose="020B0604020202020204" pitchFamily="34" charset="0"/>
              </a:rPr>
              <a:t>THREE-ELECTRODE CELL</a:t>
            </a:r>
            <a:endParaRPr lang="en-IN"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EA6CEDF-5BC2-D0D9-C905-0F18F2622637}"/>
              </a:ext>
            </a:extLst>
          </p:cNvPr>
          <p:cNvSpPr txBox="1"/>
          <p:nvPr/>
        </p:nvSpPr>
        <p:spPr>
          <a:xfrm>
            <a:off x="627071" y="612904"/>
            <a:ext cx="9756648" cy="1077218"/>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The absolute potential change across a metal–liquid interface cannot be measured experimentally. This is because two connections are needed to measure the potential, which means another metal has to be introduced into the solution. That will </a:t>
            </a:r>
            <a:r>
              <a:rPr lang="en-IN" sz="1600" b="0" i="0" u="none" strike="noStrike" baseline="0" dirty="0">
                <a:latin typeface="Arial" panose="020B0604020202020204" pitchFamily="34" charset="0"/>
                <a:cs typeface="Arial" panose="020B0604020202020204" pitchFamily="34" charset="0"/>
              </a:rPr>
              <a:t>cause a second potential change. </a:t>
            </a:r>
            <a:r>
              <a:rPr lang="en-US" sz="1600" b="0" i="0" u="none" strike="noStrike" baseline="0" dirty="0">
                <a:latin typeface="Arial" panose="020B0604020202020204" pitchFamily="34" charset="0"/>
                <a:cs typeface="Arial" panose="020B0604020202020204" pitchFamily="34" charset="0"/>
              </a:rPr>
              <a:t>Thus, only the sum of the two potential changes </a:t>
            </a:r>
            <a:r>
              <a:rPr lang="en-IN" sz="1600" b="0" i="0" u="none" strike="noStrike" baseline="0" dirty="0">
                <a:latin typeface="Arial" panose="020B0604020202020204" pitchFamily="34" charset="0"/>
                <a:cs typeface="Arial" panose="020B0604020202020204" pitchFamily="34" charset="0"/>
              </a:rPr>
              <a:t>can be measured.</a:t>
            </a:r>
            <a:endParaRPr lang="en-I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693CFDF-410F-39ED-B219-492FD60B458C}"/>
              </a:ext>
            </a:extLst>
          </p:cNvPr>
          <p:cNvPicPr>
            <a:picLocks noChangeAspect="1"/>
          </p:cNvPicPr>
          <p:nvPr/>
        </p:nvPicPr>
        <p:blipFill>
          <a:blip r:embed="rId2"/>
          <a:stretch>
            <a:fillRect/>
          </a:stretch>
        </p:blipFill>
        <p:spPr>
          <a:xfrm>
            <a:off x="260595" y="1968746"/>
            <a:ext cx="4378515" cy="3645670"/>
          </a:xfrm>
          <a:prstGeom prst="rect">
            <a:avLst/>
          </a:prstGeom>
        </p:spPr>
      </p:pic>
      <p:sp>
        <p:nvSpPr>
          <p:cNvPr id="6" name="TextBox 5">
            <a:extLst>
              <a:ext uri="{FF2B5EF4-FFF2-40B4-BE49-F238E27FC236}">
                <a16:creationId xmlns:a16="http://schemas.microsoft.com/office/drawing/2014/main" id="{6976ACE0-19EF-0143-C828-73EFD64D74F1}"/>
              </a:ext>
            </a:extLst>
          </p:cNvPr>
          <p:cNvSpPr txBox="1"/>
          <p:nvPr/>
        </p:nvSpPr>
        <p:spPr>
          <a:xfrm>
            <a:off x="4768945" y="2305556"/>
            <a:ext cx="5614774" cy="2862322"/>
          </a:xfrm>
          <a:prstGeom prst="rect">
            <a:avLst/>
          </a:prstGeom>
          <a:noFill/>
        </p:spPr>
        <p:txBody>
          <a:bodyPr wrap="square" rtlCol="0">
            <a:spAutoFit/>
          </a:bodyPr>
          <a:lstStyle/>
          <a:p>
            <a:pPr algn="just"/>
            <a:r>
              <a:rPr lang="en-IN" sz="1800" b="0" i="0" u="none" strike="noStrike" baseline="0" dirty="0">
                <a:latin typeface="TimesLTStd-Roman"/>
              </a:rPr>
              <a:t>To measure </a:t>
            </a:r>
            <a:r>
              <a:rPr lang="en-US" sz="1800" b="0" i="0" u="none" strike="noStrike" baseline="0" dirty="0">
                <a:latin typeface="TimesLTStd-Roman"/>
              </a:rPr>
              <a:t>the potential drop across the electrode–electrolyte interface, we have to connect it to a voltmeter. </a:t>
            </a:r>
          </a:p>
          <a:p>
            <a:pPr algn="just"/>
            <a:endParaRPr lang="en-US" dirty="0">
              <a:latin typeface="TimesLTStd-Roman"/>
            </a:endParaRPr>
          </a:p>
          <a:p>
            <a:pPr algn="just"/>
            <a:r>
              <a:rPr lang="en-US" sz="1800" b="0" i="0" u="none" strike="noStrike" baseline="0" dirty="0">
                <a:latin typeface="TimesLTStd-Roman"/>
              </a:rPr>
              <a:t>A voltmeter has two probes. One probe can be connected to the electrode, but when the second probe is introduced into the liquid, it also develops a potential </a:t>
            </a:r>
            <a:r>
              <a:rPr lang="en-US" sz="1800" b="0" i="1" u="none" strike="noStrike" baseline="0" dirty="0">
                <a:latin typeface="TimesLTStd-Italic"/>
              </a:rPr>
              <a:t>y</a:t>
            </a:r>
            <a:r>
              <a:rPr lang="en-US" sz="1800" b="0" i="0" u="none" strike="noStrike" baseline="0" dirty="0">
                <a:latin typeface="TimesLTStd-Roman"/>
              </a:rPr>
              <a:t>, which is unknown, across the probe–electrolyte interface. </a:t>
            </a:r>
          </a:p>
          <a:p>
            <a:pPr algn="just"/>
            <a:endParaRPr lang="en-US" dirty="0">
              <a:latin typeface="TimesLTStd-Roman"/>
            </a:endParaRPr>
          </a:p>
          <a:p>
            <a:pPr algn="just"/>
            <a:r>
              <a:rPr lang="en-US" sz="1800" b="0" i="0" u="none" strike="noStrike" baseline="0" dirty="0">
                <a:latin typeface="TimesLTStd-Roman"/>
              </a:rPr>
              <a:t>What one can measure is the difference </a:t>
            </a:r>
            <a:r>
              <a:rPr lang="en-US" sz="1800" b="0" i="1" u="none" strike="noStrike" baseline="0" dirty="0">
                <a:latin typeface="TimesLTStd-Italic"/>
              </a:rPr>
              <a:t>x </a:t>
            </a:r>
            <a:r>
              <a:rPr lang="en-US" sz="1800" b="0" i="0" u="none" strike="noStrike" baseline="0" dirty="0">
                <a:latin typeface="STIXGeneral-Regular"/>
              </a:rPr>
              <a:t>− </a:t>
            </a:r>
            <a:r>
              <a:rPr lang="en-US" sz="1800" b="0" i="1" u="none" strike="noStrike" baseline="0" dirty="0">
                <a:latin typeface="TimesLTStd-Italic"/>
              </a:rPr>
              <a:t>y </a:t>
            </a:r>
            <a:r>
              <a:rPr lang="en-US" sz="1800" b="0" i="0" u="none" strike="noStrike" baseline="0" dirty="0">
                <a:latin typeface="TimesLTStd-Roman"/>
              </a:rPr>
              <a:t>rather than the value of </a:t>
            </a:r>
            <a:r>
              <a:rPr lang="en-US" sz="1800" b="0" i="1" u="none" strike="noStrike" baseline="0" dirty="0">
                <a:latin typeface="TimesLTStd-Italic"/>
              </a:rPr>
              <a:t>x </a:t>
            </a:r>
            <a:r>
              <a:rPr lang="en-US" sz="1800" b="0" i="0" u="none" strike="noStrike" baseline="0" dirty="0">
                <a:latin typeface="TimesLTStd-Roman"/>
              </a:rPr>
              <a:t>alone</a:t>
            </a:r>
            <a:endParaRPr lang="en-IN" dirty="0"/>
          </a:p>
        </p:txBody>
      </p:sp>
    </p:spTree>
    <p:extLst>
      <p:ext uri="{BB962C8B-B14F-4D97-AF65-F5344CB8AC3E}">
        <p14:creationId xmlns:p14="http://schemas.microsoft.com/office/powerpoint/2010/main" val="1121906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F53B01-A85B-CACB-7C61-1F8F2BF3A353}"/>
              </a:ext>
            </a:extLst>
          </p:cNvPr>
          <p:cNvSpPr txBox="1"/>
          <p:nvPr/>
        </p:nvSpPr>
        <p:spPr>
          <a:xfrm>
            <a:off x="3832785" y="128016"/>
            <a:ext cx="3134191" cy="369332"/>
          </a:xfrm>
          <a:prstGeom prst="rect">
            <a:avLst/>
          </a:prstGeom>
          <a:noFill/>
        </p:spPr>
        <p:txBody>
          <a:bodyPr wrap="none" rtlCol="0">
            <a:spAutoFit/>
          </a:bodyPr>
          <a:lstStyle/>
          <a:p>
            <a:r>
              <a:rPr lang="en-IN" sz="1800" b="1" i="0" u="none" strike="noStrike" baseline="0" dirty="0">
                <a:solidFill>
                  <a:srgbClr val="C00000"/>
                </a:solidFill>
                <a:latin typeface="Arial" panose="020B0604020202020204" pitchFamily="34" charset="0"/>
                <a:cs typeface="Arial" panose="020B0604020202020204" pitchFamily="34" charset="0"/>
              </a:rPr>
              <a:t>THREE-ELECTRODE CELL</a:t>
            </a:r>
            <a:endParaRPr lang="en-IN" dirty="0">
              <a:solidFill>
                <a:srgbClr val="C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4B6200A-0C86-80CA-7DE1-F7C0586DC655}"/>
              </a:ext>
            </a:extLst>
          </p:cNvPr>
          <p:cNvPicPr>
            <a:picLocks noChangeAspect="1"/>
          </p:cNvPicPr>
          <p:nvPr/>
        </p:nvPicPr>
        <p:blipFill>
          <a:blip r:embed="rId2"/>
          <a:stretch>
            <a:fillRect/>
          </a:stretch>
        </p:blipFill>
        <p:spPr>
          <a:xfrm>
            <a:off x="989903" y="1342161"/>
            <a:ext cx="7279947" cy="2803458"/>
          </a:xfrm>
          <a:prstGeom prst="rect">
            <a:avLst/>
          </a:prstGeom>
        </p:spPr>
      </p:pic>
      <p:sp>
        <p:nvSpPr>
          <p:cNvPr id="8" name="TextBox 7">
            <a:extLst>
              <a:ext uri="{FF2B5EF4-FFF2-40B4-BE49-F238E27FC236}">
                <a16:creationId xmlns:a16="http://schemas.microsoft.com/office/drawing/2014/main" id="{FAB7FDCD-2546-314D-5DA8-ADB4B31C4207}"/>
              </a:ext>
            </a:extLst>
          </p:cNvPr>
          <p:cNvSpPr txBox="1"/>
          <p:nvPr/>
        </p:nvSpPr>
        <p:spPr>
          <a:xfrm>
            <a:off x="722910" y="643645"/>
            <a:ext cx="8974508" cy="369332"/>
          </a:xfrm>
          <a:prstGeom prst="rect">
            <a:avLst/>
          </a:prstGeom>
          <a:noFill/>
        </p:spPr>
        <p:txBody>
          <a:bodyPr wrap="none" rtlCol="0">
            <a:spAutoFit/>
          </a:bodyPr>
          <a:lstStyle/>
          <a:p>
            <a:r>
              <a:rPr lang="en-US" dirty="0">
                <a:latin typeface="TimesLTStd-Roman"/>
              </a:rPr>
              <a:t>T</a:t>
            </a:r>
            <a:r>
              <a:rPr lang="en-US" sz="1800" b="0" i="0" u="none" strike="noStrike" baseline="0" dirty="0">
                <a:latin typeface="TimesLTStd-Roman"/>
              </a:rPr>
              <a:t>wo electrodes (M1 and M2) into an electrolyte and apply a potential difference between them. </a:t>
            </a:r>
            <a:endParaRPr lang="en-IN" dirty="0"/>
          </a:p>
        </p:txBody>
      </p:sp>
      <p:sp>
        <p:nvSpPr>
          <p:cNvPr id="9" name="TextBox 8">
            <a:extLst>
              <a:ext uri="{FF2B5EF4-FFF2-40B4-BE49-F238E27FC236}">
                <a16:creationId xmlns:a16="http://schemas.microsoft.com/office/drawing/2014/main" id="{24FE40F8-A044-9365-6A56-298C484F7F80}"/>
              </a:ext>
            </a:extLst>
          </p:cNvPr>
          <p:cNvSpPr txBox="1"/>
          <p:nvPr/>
        </p:nvSpPr>
        <p:spPr>
          <a:xfrm>
            <a:off x="427852" y="4215384"/>
            <a:ext cx="9564624" cy="830997"/>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While the potential difference between </a:t>
            </a:r>
            <a:r>
              <a:rPr lang="en-US" sz="1600" b="0" i="1" u="none" strike="noStrike" baseline="0" dirty="0">
                <a:latin typeface="Arial" panose="020B0604020202020204" pitchFamily="34" charset="0"/>
                <a:cs typeface="Arial" panose="020B0604020202020204" pitchFamily="34" charset="0"/>
              </a:rPr>
              <a:t>M</a:t>
            </a:r>
            <a:r>
              <a:rPr lang="en-US" sz="1600" b="0" i="0" u="none" strike="noStrike" baseline="0" dirty="0">
                <a:latin typeface="Arial" panose="020B0604020202020204" pitchFamily="34" charset="0"/>
                <a:cs typeface="Arial" panose="020B0604020202020204" pitchFamily="34" charset="0"/>
              </a:rPr>
              <a:t>1 and </a:t>
            </a:r>
            <a:r>
              <a:rPr lang="en-US" sz="1600" b="0" i="1" u="none" strike="noStrike" baseline="0" dirty="0">
                <a:latin typeface="Arial" panose="020B0604020202020204" pitchFamily="34" charset="0"/>
                <a:cs typeface="Arial" panose="020B0604020202020204" pitchFamily="34" charset="0"/>
              </a:rPr>
              <a:t>M</a:t>
            </a:r>
            <a:r>
              <a:rPr lang="en-US" sz="1600" b="0" i="0" u="none" strike="noStrike" baseline="0" dirty="0">
                <a:latin typeface="Arial" panose="020B0604020202020204" pitchFamily="34" charset="0"/>
                <a:cs typeface="Arial" panose="020B0604020202020204" pitchFamily="34" charset="0"/>
              </a:rPr>
              <a:t>2 is known to be 1 V, </a:t>
            </a:r>
            <a:r>
              <a:rPr lang="en-US" sz="1600" b="0" i="1" u="none" strike="noStrike" baseline="0" dirty="0">
                <a:latin typeface="Arial" panose="020B0604020202020204" pitchFamily="34" charset="0"/>
                <a:cs typeface="Arial" panose="020B0604020202020204" pitchFamily="34" charset="0"/>
              </a:rPr>
              <a:t>M</a:t>
            </a:r>
            <a:r>
              <a:rPr lang="en-US" sz="1600" b="0" i="0" u="none" strike="noStrike" baseline="0" dirty="0">
                <a:latin typeface="Arial" panose="020B0604020202020204" pitchFamily="34" charset="0"/>
                <a:cs typeface="Arial" panose="020B0604020202020204" pitchFamily="34" charset="0"/>
              </a:rPr>
              <a:t>1 may be +0.8 V </a:t>
            </a:r>
            <a:r>
              <a:rPr lang="en-US" sz="1600" b="0" i="1" u="none" strike="noStrike" baseline="0" dirty="0" err="1">
                <a:latin typeface="Arial" panose="020B0604020202020204" pitchFamily="34" charset="0"/>
                <a:cs typeface="Arial" panose="020B0604020202020204" pitchFamily="34" charset="0"/>
              </a:rPr>
              <a:t>wrt</a:t>
            </a:r>
            <a:r>
              <a:rPr lang="en-US" sz="1600" b="0" i="1" u="none" strike="noStrike" baseline="0" dirty="0">
                <a:latin typeface="Arial" panose="020B0604020202020204" pitchFamily="34" charset="0"/>
                <a:cs typeface="Arial" panose="020B0604020202020204" pitchFamily="34" charset="0"/>
              </a:rPr>
              <a:t> </a:t>
            </a:r>
            <a:r>
              <a:rPr lang="en-US" sz="1600" b="0" i="0" u="none" strike="noStrike" baseline="0" dirty="0">
                <a:latin typeface="Arial" panose="020B0604020202020204" pitchFamily="34" charset="0"/>
                <a:cs typeface="Arial" panose="020B0604020202020204" pitchFamily="34" charset="0"/>
              </a:rPr>
              <a:t>the electrolyte, and </a:t>
            </a:r>
            <a:r>
              <a:rPr lang="en-US" sz="1600" b="0" i="1" u="none" strike="noStrike" baseline="0" dirty="0">
                <a:latin typeface="Arial" panose="020B0604020202020204" pitchFamily="34" charset="0"/>
                <a:cs typeface="Arial" panose="020B0604020202020204" pitchFamily="34" charset="0"/>
              </a:rPr>
              <a:t>M</a:t>
            </a:r>
            <a:r>
              <a:rPr lang="en-US" sz="1600" b="0" i="0" u="none" strike="noStrike" baseline="0" dirty="0">
                <a:latin typeface="Arial" panose="020B0604020202020204" pitchFamily="34" charset="0"/>
                <a:cs typeface="Arial" panose="020B0604020202020204" pitchFamily="34" charset="0"/>
              </a:rPr>
              <a:t>2 is −0.2 V </a:t>
            </a:r>
            <a:r>
              <a:rPr lang="en-US" sz="1600" b="0" i="1" u="none" strike="noStrike" baseline="0" dirty="0" err="1">
                <a:latin typeface="Arial" panose="020B0604020202020204" pitchFamily="34" charset="0"/>
                <a:cs typeface="Arial" panose="020B0604020202020204" pitchFamily="34" charset="0"/>
              </a:rPr>
              <a:t>wrt</a:t>
            </a:r>
            <a:r>
              <a:rPr lang="en-US" sz="1600" b="0" i="1" u="none" strike="noStrike" baseline="0" dirty="0">
                <a:latin typeface="Arial" panose="020B0604020202020204" pitchFamily="34" charset="0"/>
                <a:cs typeface="Arial" panose="020B0604020202020204" pitchFamily="34" charset="0"/>
              </a:rPr>
              <a:t> </a:t>
            </a:r>
            <a:r>
              <a:rPr lang="en-US" sz="1600" b="0" i="0" u="none" strike="noStrike" baseline="0" dirty="0">
                <a:latin typeface="Arial" panose="020B0604020202020204" pitchFamily="34" charset="0"/>
                <a:cs typeface="Arial" panose="020B0604020202020204" pitchFamily="34" charset="0"/>
              </a:rPr>
              <a:t>the electrolyte as </a:t>
            </a:r>
            <a:r>
              <a:rPr lang="en-IN" sz="1600" b="0" i="0" u="none" strike="noStrike" baseline="0" dirty="0">
                <a:latin typeface="Arial" panose="020B0604020202020204" pitchFamily="34" charset="0"/>
                <a:cs typeface="Arial" panose="020B0604020202020204" pitchFamily="34" charset="0"/>
              </a:rPr>
              <a:t>given in Figure. </a:t>
            </a:r>
            <a:r>
              <a:rPr lang="en-US" sz="1600" b="0" i="0" u="none" strike="noStrike" baseline="0" dirty="0">
                <a:latin typeface="Arial" panose="020B0604020202020204" pitchFamily="34" charset="0"/>
                <a:cs typeface="Arial" panose="020B0604020202020204" pitchFamily="34" charset="0"/>
              </a:rPr>
              <a:t>It is quite possible that </a:t>
            </a:r>
            <a:r>
              <a:rPr lang="en-US" sz="1600" b="0" i="1" u="none" strike="noStrike" baseline="0" dirty="0">
                <a:latin typeface="Arial" panose="020B0604020202020204" pitchFamily="34" charset="0"/>
                <a:cs typeface="Arial" panose="020B0604020202020204" pitchFamily="34" charset="0"/>
              </a:rPr>
              <a:t>M</a:t>
            </a:r>
            <a:r>
              <a:rPr lang="en-US" sz="1600" b="0" i="0" u="none" strike="noStrike" baseline="0" dirty="0">
                <a:latin typeface="Arial" panose="020B0604020202020204" pitchFamily="34" charset="0"/>
                <a:cs typeface="Arial" panose="020B0604020202020204" pitchFamily="34" charset="0"/>
              </a:rPr>
              <a:t>1 is 0.6 V </a:t>
            </a:r>
            <a:r>
              <a:rPr lang="en-US" sz="1600" b="0" i="1" u="none" strike="noStrike" baseline="0" dirty="0" err="1">
                <a:latin typeface="Arial" panose="020B0604020202020204" pitchFamily="34" charset="0"/>
                <a:cs typeface="Arial" panose="020B0604020202020204" pitchFamily="34" charset="0"/>
              </a:rPr>
              <a:t>wrt</a:t>
            </a:r>
            <a:r>
              <a:rPr lang="en-US" sz="1600" b="0" i="1" u="none" strike="noStrike" baseline="0" dirty="0">
                <a:latin typeface="Arial" panose="020B0604020202020204" pitchFamily="34" charset="0"/>
                <a:cs typeface="Arial" panose="020B0604020202020204" pitchFamily="34" charset="0"/>
              </a:rPr>
              <a:t> </a:t>
            </a:r>
            <a:r>
              <a:rPr lang="en-US" sz="1600" b="0" i="0" u="none" strike="noStrike" baseline="0" dirty="0">
                <a:latin typeface="Arial" panose="020B0604020202020204" pitchFamily="34" charset="0"/>
                <a:cs typeface="Arial" panose="020B0604020202020204" pitchFamily="34" charset="0"/>
              </a:rPr>
              <a:t>the electrolyte, and </a:t>
            </a:r>
            <a:r>
              <a:rPr lang="en-US" sz="1600" b="0" i="1" u="none" strike="noStrike" baseline="0" dirty="0">
                <a:latin typeface="Arial" panose="020B0604020202020204" pitchFamily="34" charset="0"/>
                <a:cs typeface="Arial" panose="020B0604020202020204" pitchFamily="34" charset="0"/>
              </a:rPr>
              <a:t>M</a:t>
            </a:r>
            <a:r>
              <a:rPr lang="en-US" sz="1600" b="0" i="0" u="none" strike="noStrike" baseline="0" dirty="0">
                <a:latin typeface="Arial" panose="020B0604020202020204" pitchFamily="34" charset="0"/>
                <a:cs typeface="Arial" panose="020B0604020202020204" pitchFamily="34" charset="0"/>
              </a:rPr>
              <a:t>2 is −0.4 V </a:t>
            </a:r>
            <a:r>
              <a:rPr lang="en-US" sz="1600" b="0" i="1" u="none" strike="noStrike" baseline="0" dirty="0" err="1">
                <a:latin typeface="Arial" panose="020B0604020202020204" pitchFamily="34" charset="0"/>
                <a:cs typeface="Arial" panose="020B0604020202020204" pitchFamily="34" charset="0"/>
              </a:rPr>
              <a:t>wrt</a:t>
            </a:r>
            <a:r>
              <a:rPr lang="en-US" sz="1600" b="0" i="1" u="none" strike="noStrike" baseline="0" dirty="0">
                <a:latin typeface="Arial" panose="020B0604020202020204" pitchFamily="34" charset="0"/>
                <a:cs typeface="Arial" panose="020B0604020202020204" pitchFamily="34" charset="0"/>
              </a:rPr>
              <a:t> </a:t>
            </a:r>
            <a:r>
              <a:rPr lang="en-US" sz="1600" b="0" i="0" u="none" strike="noStrike" baseline="0" dirty="0">
                <a:latin typeface="Arial" panose="020B0604020202020204" pitchFamily="34" charset="0"/>
                <a:cs typeface="Arial" panose="020B0604020202020204" pitchFamily="34" charset="0"/>
              </a:rPr>
              <a:t>the electrolyte</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5340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24B9BCC-415B-B24A-E947-F1BD3FBF202F}"/>
              </a:ext>
            </a:extLst>
          </p:cNvPr>
          <p:cNvGrpSpPr/>
          <p:nvPr/>
        </p:nvGrpSpPr>
        <p:grpSpPr>
          <a:xfrm>
            <a:off x="625391" y="1165080"/>
            <a:ext cx="8386370" cy="2650968"/>
            <a:chOff x="391870" y="1494264"/>
            <a:chExt cx="8386370" cy="2650968"/>
          </a:xfrm>
        </p:grpSpPr>
        <p:pic>
          <p:nvPicPr>
            <p:cNvPr id="3" name="Picture 2">
              <a:extLst>
                <a:ext uri="{FF2B5EF4-FFF2-40B4-BE49-F238E27FC236}">
                  <a16:creationId xmlns:a16="http://schemas.microsoft.com/office/drawing/2014/main" id="{C4FE6DCB-AF89-CDF5-5545-579A5EAFD217}"/>
                </a:ext>
              </a:extLst>
            </p:cNvPr>
            <p:cNvPicPr>
              <a:picLocks noChangeAspect="1"/>
            </p:cNvPicPr>
            <p:nvPr/>
          </p:nvPicPr>
          <p:blipFill>
            <a:blip r:embed="rId2"/>
            <a:stretch>
              <a:fillRect/>
            </a:stretch>
          </p:blipFill>
          <p:spPr>
            <a:xfrm>
              <a:off x="391870" y="1494264"/>
              <a:ext cx="5579162" cy="2650968"/>
            </a:xfrm>
            <a:prstGeom prst="rect">
              <a:avLst/>
            </a:prstGeom>
          </p:spPr>
        </p:pic>
        <p:pic>
          <p:nvPicPr>
            <p:cNvPr id="5" name="Picture 4">
              <a:extLst>
                <a:ext uri="{FF2B5EF4-FFF2-40B4-BE49-F238E27FC236}">
                  <a16:creationId xmlns:a16="http://schemas.microsoft.com/office/drawing/2014/main" id="{4335E503-1088-48AF-0CB1-751B55FC510F}"/>
                </a:ext>
              </a:extLst>
            </p:cNvPr>
            <p:cNvPicPr>
              <a:picLocks noChangeAspect="1"/>
            </p:cNvPicPr>
            <p:nvPr/>
          </p:nvPicPr>
          <p:blipFill>
            <a:blip r:embed="rId3"/>
            <a:stretch>
              <a:fillRect/>
            </a:stretch>
          </p:blipFill>
          <p:spPr>
            <a:xfrm>
              <a:off x="6281928" y="1586512"/>
              <a:ext cx="2496312" cy="2558720"/>
            </a:xfrm>
            <a:prstGeom prst="rect">
              <a:avLst/>
            </a:prstGeom>
          </p:spPr>
        </p:pic>
      </p:grpSp>
      <p:sp>
        <p:nvSpPr>
          <p:cNvPr id="10" name="TextBox 9">
            <a:extLst>
              <a:ext uri="{FF2B5EF4-FFF2-40B4-BE49-F238E27FC236}">
                <a16:creationId xmlns:a16="http://schemas.microsoft.com/office/drawing/2014/main" id="{DF3B338F-BAC8-C7B8-3449-2F2DF2FA37C0}"/>
              </a:ext>
            </a:extLst>
          </p:cNvPr>
          <p:cNvSpPr txBox="1"/>
          <p:nvPr/>
        </p:nvSpPr>
        <p:spPr>
          <a:xfrm>
            <a:off x="3832785" y="128016"/>
            <a:ext cx="3134191" cy="369332"/>
          </a:xfrm>
          <a:prstGeom prst="rect">
            <a:avLst/>
          </a:prstGeom>
          <a:noFill/>
        </p:spPr>
        <p:txBody>
          <a:bodyPr wrap="none" rtlCol="0">
            <a:spAutoFit/>
          </a:bodyPr>
          <a:lstStyle/>
          <a:p>
            <a:r>
              <a:rPr lang="en-IN" sz="1800" b="1" i="0" u="none" strike="noStrike" baseline="0" dirty="0">
                <a:solidFill>
                  <a:srgbClr val="C00000"/>
                </a:solidFill>
                <a:latin typeface="Arial" panose="020B0604020202020204" pitchFamily="34" charset="0"/>
                <a:cs typeface="Arial" panose="020B0604020202020204" pitchFamily="34" charset="0"/>
              </a:rPr>
              <a:t>THREE-ELECTRODE CELL</a:t>
            </a:r>
            <a:endParaRPr lang="en-IN" dirty="0">
              <a:solidFill>
                <a:srgbClr val="C00000"/>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8AB876F-A496-47FD-834B-E47B0876B8BD}"/>
              </a:ext>
            </a:extLst>
          </p:cNvPr>
          <p:cNvSpPr txBox="1"/>
          <p:nvPr/>
        </p:nvSpPr>
        <p:spPr>
          <a:xfrm>
            <a:off x="638758" y="553726"/>
            <a:ext cx="4512710" cy="369332"/>
          </a:xfrm>
          <a:prstGeom prst="rect">
            <a:avLst/>
          </a:prstGeom>
          <a:noFill/>
        </p:spPr>
        <p:txBody>
          <a:bodyPr wrap="none" rtlCol="0">
            <a:spAutoFit/>
          </a:bodyPr>
          <a:lstStyle/>
          <a:p>
            <a:r>
              <a:rPr lang="en-US" dirty="0"/>
              <a:t>If the potential difference is increased to 1.5 V</a:t>
            </a:r>
            <a:endParaRPr lang="en-IN" dirty="0"/>
          </a:p>
        </p:txBody>
      </p:sp>
      <p:sp>
        <p:nvSpPr>
          <p:cNvPr id="15" name="TextBox 14">
            <a:extLst>
              <a:ext uri="{FF2B5EF4-FFF2-40B4-BE49-F238E27FC236}">
                <a16:creationId xmlns:a16="http://schemas.microsoft.com/office/drawing/2014/main" id="{FAFF45DC-DA04-1AEF-AA04-E865D319845D}"/>
              </a:ext>
            </a:extLst>
          </p:cNvPr>
          <p:cNvSpPr txBox="1"/>
          <p:nvPr/>
        </p:nvSpPr>
        <p:spPr>
          <a:xfrm>
            <a:off x="296004" y="4198530"/>
            <a:ext cx="9710928" cy="1754326"/>
          </a:xfrm>
          <a:prstGeom prst="rect">
            <a:avLst/>
          </a:prstGeom>
          <a:noFill/>
        </p:spPr>
        <p:txBody>
          <a:bodyPr wrap="square" rtlCol="0">
            <a:spAutoFit/>
          </a:bodyPr>
          <a:lstStyle/>
          <a:p>
            <a:pPr algn="just"/>
            <a:r>
              <a:rPr lang="en-US" sz="1800" b="0" i="0" u="none" strike="noStrike" baseline="0" dirty="0">
                <a:latin typeface="Arial" panose="020B0604020202020204" pitchFamily="34" charset="0"/>
                <a:cs typeface="Arial" panose="020B0604020202020204" pitchFamily="34" charset="0"/>
              </a:rPr>
              <a:t>if the increase the potential to 1.5 V across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1 and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2, the new potential drops may be described between two electrodes by Figure. </a:t>
            </a:r>
          </a:p>
          <a:p>
            <a:pPr algn="just"/>
            <a:endParaRPr lang="en-US" dirty="0">
              <a:latin typeface="Arial" panose="020B0604020202020204" pitchFamily="34" charset="0"/>
              <a:cs typeface="Arial" panose="020B0604020202020204" pitchFamily="34" charset="0"/>
            </a:endParaRPr>
          </a:p>
          <a:p>
            <a:pPr algn="just"/>
            <a:r>
              <a:rPr lang="en-US" sz="1800" b="0" i="0" u="none" strike="noStrike" baseline="0" dirty="0">
                <a:latin typeface="Arial" panose="020B0604020202020204" pitchFamily="34" charset="0"/>
                <a:cs typeface="Arial" panose="020B0604020202020204" pitchFamily="34" charset="0"/>
              </a:rPr>
              <a:t>It is difficult to determine if the additional potential change occurs completely at the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1–electrolyte interface, or at the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2– electrolyte interface or if it is split in some ratio between the two interfaces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8203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3022F3-967C-417A-E3FA-B79D0A300D4C}"/>
              </a:ext>
            </a:extLst>
          </p:cNvPr>
          <p:cNvPicPr>
            <a:picLocks noChangeAspect="1"/>
          </p:cNvPicPr>
          <p:nvPr/>
        </p:nvPicPr>
        <p:blipFill>
          <a:blip r:embed="rId2"/>
          <a:stretch>
            <a:fillRect/>
          </a:stretch>
        </p:blipFill>
        <p:spPr>
          <a:xfrm>
            <a:off x="462344" y="974732"/>
            <a:ext cx="6660832" cy="3184710"/>
          </a:xfrm>
          <a:prstGeom prst="rect">
            <a:avLst/>
          </a:prstGeom>
        </p:spPr>
      </p:pic>
      <p:sp>
        <p:nvSpPr>
          <p:cNvPr id="4" name="TextBox 3">
            <a:extLst>
              <a:ext uri="{FF2B5EF4-FFF2-40B4-BE49-F238E27FC236}">
                <a16:creationId xmlns:a16="http://schemas.microsoft.com/office/drawing/2014/main" id="{48E54DE0-52F2-C4A2-A5AD-6A57DED9CD50}"/>
              </a:ext>
            </a:extLst>
          </p:cNvPr>
          <p:cNvSpPr txBox="1"/>
          <p:nvPr/>
        </p:nvSpPr>
        <p:spPr>
          <a:xfrm>
            <a:off x="3832785" y="128016"/>
            <a:ext cx="3134191" cy="369332"/>
          </a:xfrm>
          <a:prstGeom prst="rect">
            <a:avLst/>
          </a:prstGeom>
          <a:noFill/>
        </p:spPr>
        <p:txBody>
          <a:bodyPr wrap="none" rtlCol="0">
            <a:spAutoFit/>
          </a:bodyPr>
          <a:lstStyle/>
          <a:p>
            <a:r>
              <a:rPr lang="en-IN" sz="1800" b="1" i="0" u="none" strike="noStrike" baseline="0" dirty="0">
                <a:solidFill>
                  <a:srgbClr val="C00000"/>
                </a:solidFill>
                <a:latin typeface="Arial" panose="020B0604020202020204" pitchFamily="34" charset="0"/>
                <a:cs typeface="Arial" panose="020B0604020202020204" pitchFamily="34" charset="0"/>
              </a:rPr>
              <a:t>THREE-ELECTRODE CELL</a:t>
            </a:r>
            <a:endParaRPr lang="en-IN" dirty="0">
              <a:solidFill>
                <a:srgbClr val="C0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0B8F4AB-BBDC-0E38-02AE-F37269356086}"/>
              </a:ext>
            </a:extLst>
          </p:cNvPr>
          <p:cNvSpPr txBox="1"/>
          <p:nvPr/>
        </p:nvSpPr>
        <p:spPr>
          <a:xfrm>
            <a:off x="585499" y="636178"/>
            <a:ext cx="8032455" cy="338554"/>
          </a:xfrm>
          <a:prstGeom prst="rect">
            <a:avLst/>
          </a:prstGeom>
          <a:noFill/>
        </p:spPr>
        <p:txBody>
          <a:bodyPr wrap="none" rtlCol="0">
            <a:spAutoFit/>
          </a:bodyPr>
          <a:lstStyle/>
          <a:p>
            <a:r>
              <a:rPr lang="en-US" sz="1600" dirty="0">
                <a:solidFill>
                  <a:srgbClr val="C00000"/>
                </a:solidFill>
                <a:latin typeface="Arial" panose="020B0604020202020204" pitchFamily="34" charset="0"/>
                <a:cs typeface="Arial" panose="020B0604020202020204" pitchFamily="34" charset="0"/>
              </a:rPr>
              <a:t>Importance of reference electrode. The potential across the electrode remains constant</a:t>
            </a:r>
            <a:endParaRPr lang="en-IN" sz="1600" dirty="0">
              <a:solidFill>
                <a:srgbClr val="C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3980545-EE30-7B3B-B7D4-72D7BF910A87}"/>
              </a:ext>
            </a:extLst>
          </p:cNvPr>
          <p:cNvSpPr txBox="1"/>
          <p:nvPr/>
        </p:nvSpPr>
        <p:spPr>
          <a:xfrm>
            <a:off x="199001" y="4272677"/>
            <a:ext cx="10274178" cy="2031325"/>
          </a:xfrm>
          <a:prstGeom prst="rect">
            <a:avLst/>
          </a:prstGeom>
          <a:noFill/>
        </p:spPr>
        <p:txBody>
          <a:bodyPr wrap="square" rtlCol="0">
            <a:spAutoFit/>
          </a:bodyPr>
          <a:lstStyle/>
          <a:p>
            <a:pPr algn="just"/>
            <a:r>
              <a:rPr lang="en-US" dirty="0"/>
              <a:t>Although the potential across the electrode remains constant, we cannot measure it. But one can be confident that the potential across the electrode–electrolyte interface does not change for these electrodes. </a:t>
            </a:r>
            <a:r>
              <a:rPr lang="en-US" dirty="0">
                <a:solidFill>
                  <a:srgbClr val="C00000"/>
                </a:solidFill>
              </a:rPr>
              <a:t>These are known as ideally nonpolarizable electrodes and are also called reference electrodes. </a:t>
            </a:r>
          </a:p>
          <a:p>
            <a:pPr algn="just"/>
            <a:endParaRPr lang="en-US" dirty="0">
              <a:solidFill>
                <a:srgbClr val="C00000"/>
              </a:solidFill>
            </a:endParaRPr>
          </a:p>
          <a:p>
            <a:pPr algn="just"/>
            <a:r>
              <a:rPr lang="en-US" dirty="0"/>
              <a:t>Commonly used reference electrodes are silver/silver chloride (Ag/AgCl) and saturated calomel electrode (SCE). Not so common reference electrodes are standard hydrogen electrode (SHE), mercury/mercury</a:t>
            </a:r>
          </a:p>
          <a:p>
            <a:pPr algn="just"/>
            <a:r>
              <a:rPr lang="en-US" dirty="0"/>
              <a:t>sulfate electrode, and so on.</a:t>
            </a:r>
            <a:endParaRPr lang="en-IN" dirty="0"/>
          </a:p>
        </p:txBody>
      </p:sp>
    </p:spTree>
    <p:extLst>
      <p:ext uri="{BB962C8B-B14F-4D97-AF65-F5344CB8AC3E}">
        <p14:creationId xmlns:p14="http://schemas.microsoft.com/office/powerpoint/2010/main" val="2112531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4C9AF3-0EDA-4A05-4B3C-E24E761A1AE5}"/>
              </a:ext>
            </a:extLst>
          </p:cNvPr>
          <p:cNvSpPr txBox="1"/>
          <p:nvPr/>
        </p:nvSpPr>
        <p:spPr>
          <a:xfrm>
            <a:off x="3832785" y="128016"/>
            <a:ext cx="3134191" cy="369332"/>
          </a:xfrm>
          <a:prstGeom prst="rect">
            <a:avLst/>
          </a:prstGeom>
          <a:noFill/>
        </p:spPr>
        <p:txBody>
          <a:bodyPr wrap="none" rtlCol="0">
            <a:spAutoFit/>
          </a:bodyPr>
          <a:lstStyle/>
          <a:p>
            <a:r>
              <a:rPr lang="en-IN" sz="1800" b="1" i="0" u="none" strike="noStrike" baseline="0" dirty="0">
                <a:solidFill>
                  <a:srgbClr val="C00000"/>
                </a:solidFill>
                <a:latin typeface="Arial" panose="020B0604020202020204" pitchFamily="34" charset="0"/>
                <a:cs typeface="Arial" panose="020B0604020202020204" pitchFamily="34" charset="0"/>
              </a:rPr>
              <a:t>THREE-ELECTRODE CELL</a:t>
            </a:r>
            <a:endParaRPr lang="en-IN"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2B2610A-5976-6071-AD6E-61DB682CD4CB}"/>
              </a:ext>
            </a:extLst>
          </p:cNvPr>
          <p:cNvSpPr txBox="1"/>
          <p:nvPr/>
        </p:nvSpPr>
        <p:spPr>
          <a:xfrm>
            <a:off x="6966976" y="128016"/>
            <a:ext cx="2172390"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(Counter electrode)</a:t>
            </a:r>
            <a:endParaRPr lang="en-IN" dirty="0">
              <a:solidFill>
                <a:srgbClr val="C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D6DC0CE-99BC-4F62-0E9D-7A51E5DA9C4C}"/>
              </a:ext>
            </a:extLst>
          </p:cNvPr>
          <p:cNvSpPr txBox="1"/>
          <p:nvPr/>
        </p:nvSpPr>
        <p:spPr>
          <a:xfrm>
            <a:off x="401582" y="705874"/>
            <a:ext cx="9372600" cy="2308324"/>
          </a:xfrm>
          <a:prstGeom prst="rect">
            <a:avLst/>
          </a:prstGeom>
          <a:noFill/>
        </p:spPr>
        <p:txBody>
          <a:bodyPr wrap="square" rtlCol="0">
            <a:spAutoFit/>
          </a:bodyPr>
          <a:lstStyle/>
          <a:p>
            <a:pPr algn="just"/>
            <a:r>
              <a:rPr lang="en-US" dirty="0">
                <a:latin typeface="Arial" panose="020B0604020202020204" pitchFamily="34" charset="0"/>
                <a:cs typeface="Arial" panose="020B0604020202020204" pitchFamily="34" charset="0"/>
              </a:rPr>
              <a:t>If the current through the working electrode is small, then, two electrodes, i.e., the working electrode and the reference electrode, are sufficient to conduct the experiment.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the current through the working electrode is large, then the current will flow through the reference electrode. Unfortunately, when a large current flows through the reference electrode, the assumption that only a constant potential change occurs across the electrode–electrolyte interface becomes invalid, i.e., it is no longer a proper reference electrode.</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B8E7ACD-EFB3-F89F-9AF5-A2013B811A9A}"/>
              </a:ext>
            </a:extLst>
          </p:cNvPr>
          <p:cNvSpPr txBox="1"/>
          <p:nvPr/>
        </p:nvSpPr>
        <p:spPr>
          <a:xfrm flipH="1">
            <a:off x="401582" y="3222724"/>
            <a:ext cx="6565394" cy="3139321"/>
          </a:xfrm>
          <a:prstGeom prst="rect">
            <a:avLst/>
          </a:prstGeom>
          <a:noFill/>
        </p:spPr>
        <p:txBody>
          <a:bodyPr wrap="square" rtlCol="0">
            <a:spAutoFit/>
          </a:bodyPr>
          <a:lstStyle/>
          <a:p>
            <a:pPr algn="just"/>
            <a:r>
              <a:rPr lang="en-IN" dirty="0">
                <a:solidFill>
                  <a:srgbClr val="C00000"/>
                </a:solidFill>
              </a:rPr>
              <a:t>A third electrode called counter or auxiliary electrode will be introduced in the system which will draw all the current through that electrode.  </a:t>
            </a:r>
          </a:p>
          <a:p>
            <a:pPr algn="just"/>
            <a:endParaRPr lang="en-IN" dirty="0">
              <a:solidFill>
                <a:srgbClr val="C00000"/>
              </a:solidFill>
            </a:endParaRPr>
          </a:p>
          <a:p>
            <a:pPr algn="just"/>
            <a:r>
              <a:rPr lang="en-US" dirty="0"/>
              <a:t>The counter electrode is also polarizable. The potential of this electrode is controlled using a feedback circuit, and it is altered until all the current flowing out of (into) the working electrode comes to (from) this counter electrode. </a:t>
            </a:r>
          </a:p>
          <a:p>
            <a:pPr algn="just"/>
            <a:endParaRPr lang="en-US" dirty="0"/>
          </a:p>
          <a:p>
            <a:pPr algn="just"/>
            <a:r>
              <a:rPr lang="en-US" dirty="0"/>
              <a:t>As large current flows through this electrode it needs to be inert. Pt is generally used as the counter electrode. </a:t>
            </a:r>
            <a:endParaRPr lang="en-IN" dirty="0"/>
          </a:p>
        </p:txBody>
      </p:sp>
      <p:pic>
        <p:nvPicPr>
          <p:cNvPr id="1026" name="Picture 2" descr="Three-Electrode Setups – Pine Research ...">
            <a:extLst>
              <a:ext uri="{FF2B5EF4-FFF2-40B4-BE49-F238E27FC236}">
                <a16:creationId xmlns:a16="http://schemas.microsoft.com/office/drawing/2014/main" id="{1B4ECAA4-E1B2-DF99-59B8-0964CFC7F5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5995" y="3123627"/>
            <a:ext cx="2973408" cy="2856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7473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168538" y="4827963"/>
            <a:ext cx="989832" cy="396739"/>
            <a:chOff x="4423409" y="4970526"/>
            <a:chExt cx="1091565" cy="437515"/>
          </a:xfrm>
        </p:grpSpPr>
        <p:sp>
          <p:nvSpPr>
            <p:cNvPr id="3" name="object 3"/>
            <p:cNvSpPr/>
            <p:nvPr/>
          </p:nvSpPr>
          <p:spPr>
            <a:xfrm>
              <a:off x="4428743" y="4975860"/>
              <a:ext cx="1080770" cy="426720"/>
            </a:xfrm>
            <a:custGeom>
              <a:avLst/>
              <a:gdLst/>
              <a:ahLst/>
              <a:cxnLst/>
              <a:rect l="l" t="t" r="r" b="b"/>
              <a:pathLst>
                <a:path w="1080770" h="426720">
                  <a:moveTo>
                    <a:pt x="864108" y="426720"/>
                  </a:moveTo>
                  <a:lnTo>
                    <a:pt x="864108" y="320040"/>
                  </a:lnTo>
                  <a:lnTo>
                    <a:pt x="216407" y="320040"/>
                  </a:lnTo>
                  <a:lnTo>
                    <a:pt x="216407" y="426720"/>
                  </a:lnTo>
                  <a:lnTo>
                    <a:pt x="0" y="213360"/>
                  </a:lnTo>
                  <a:lnTo>
                    <a:pt x="216407" y="0"/>
                  </a:lnTo>
                  <a:lnTo>
                    <a:pt x="216407" y="106680"/>
                  </a:lnTo>
                  <a:lnTo>
                    <a:pt x="864108" y="106680"/>
                  </a:lnTo>
                  <a:lnTo>
                    <a:pt x="864108" y="0"/>
                  </a:lnTo>
                  <a:lnTo>
                    <a:pt x="1080516" y="213360"/>
                  </a:lnTo>
                  <a:lnTo>
                    <a:pt x="864108" y="426720"/>
                  </a:lnTo>
                  <a:close/>
                </a:path>
              </a:pathLst>
            </a:custGeom>
            <a:solidFill>
              <a:srgbClr val="3493BA"/>
            </a:solidFill>
          </p:spPr>
          <p:txBody>
            <a:bodyPr wrap="square" lIns="0" tIns="0" rIns="0" bIns="0" rtlCol="0"/>
            <a:lstStyle/>
            <a:p>
              <a:endParaRPr sz="1632"/>
            </a:p>
          </p:txBody>
        </p:sp>
        <p:sp>
          <p:nvSpPr>
            <p:cNvPr id="4" name="object 4"/>
            <p:cNvSpPr/>
            <p:nvPr/>
          </p:nvSpPr>
          <p:spPr>
            <a:xfrm>
              <a:off x="4428743" y="4975860"/>
              <a:ext cx="1080770" cy="426720"/>
            </a:xfrm>
            <a:custGeom>
              <a:avLst/>
              <a:gdLst/>
              <a:ahLst/>
              <a:cxnLst/>
              <a:rect l="l" t="t" r="r" b="b"/>
              <a:pathLst>
                <a:path w="1080770" h="426720">
                  <a:moveTo>
                    <a:pt x="0" y="213360"/>
                  </a:moveTo>
                  <a:lnTo>
                    <a:pt x="216407" y="0"/>
                  </a:lnTo>
                  <a:lnTo>
                    <a:pt x="216407" y="106680"/>
                  </a:lnTo>
                  <a:lnTo>
                    <a:pt x="864108" y="106680"/>
                  </a:lnTo>
                  <a:lnTo>
                    <a:pt x="864108" y="0"/>
                  </a:lnTo>
                  <a:lnTo>
                    <a:pt x="1080516" y="213360"/>
                  </a:lnTo>
                  <a:lnTo>
                    <a:pt x="864108" y="426720"/>
                  </a:lnTo>
                  <a:lnTo>
                    <a:pt x="864108" y="320040"/>
                  </a:lnTo>
                  <a:lnTo>
                    <a:pt x="216407" y="320040"/>
                  </a:lnTo>
                  <a:lnTo>
                    <a:pt x="216407" y="426720"/>
                  </a:lnTo>
                  <a:lnTo>
                    <a:pt x="0" y="213360"/>
                  </a:lnTo>
                  <a:close/>
                </a:path>
              </a:pathLst>
            </a:custGeom>
            <a:ln w="10668">
              <a:solidFill>
                <a:srgbClr val="000000"/>
              </a:solidFill>
            </a:ln>
          </p:spPr>
          <p:txBody>
            <a:bodyPr wrap="square" lIns="0" tIns="0" rIns="0" bIns="0" rtlCol="0"/>
            <a:lstStyle/>
            <a:p>
              <a:endParaRPr sz="1632"/>
            </a:p>
          </p:txBody>
        </p:sp>
      </p:grpSp>
      <p:sp>
        <p:nvSpPr>
          <p:cNvPr id="7" name="object 7"/>
          <p:cNvSpPr txBox="1"/>
          <p:nvPr/>
        </p:nvSpPr>
        <p:spPr>
          <a:xfrm>
            <a:off x="285791" y="4058149"/>
            <a:ext cx="4721108" cy="1390790"/>
          </a:xfrm>
          <a:prstGeom prst="rect">
            <a:avLst/>
          </a:prstGeom>
        </p:spPr>
        <p:txBody>
          <a:bodyPr vert="horz" wrap="square" lIns="0" tIns="70826" rIns="0" bIns="0" rtlCol="0">
            <a:spAutoFit/>
          </a:bodyPr>
          <a:lstStyle/>
          <a:p>
            <a:pPr marL="45490">
              <a:spcBef>
                <a:spcPts val="558"/>
              </a:spcBef>
            </a:pPr>
            <a:r>
              <a:rPr sz="1587" spc="-9" dirty="0">
                <a:latin typeface="Microsoft Sans Serif"/>
                <a:cs typeface="Microsoft Sans Serif"/>
              </a:rPr>
              <a:t>Convenient</a:t>
            </a:r>
            <a:endParaRPr sz="1587" dirty="0">
              <a:latin typeface="Microsoft Sans Serif"/>
              <a:cs typeface="Microsoft Sans Serif"/>
            </a:endParaRPr>
          </a:p>
          <a:p>
            <a:pPr marL="503265" indent="-457199">
              <a:spcBef>
                <a:spcPts val="398"/>
              </a:spcBef>
              <a:buClr>
                <a:srgbClr val="000000"/>
              </a:buClr>
              <a:buFont typeface="Trebuchet MS"/>
              <a:buChar char="-"/>
              <a:tabLst>
                <a:tab pos="503265" algn="l"/>
              </a:tabLst>
            </a:pPr>
            <a:r>
              <a:rPr sz="1406" dirty="0">
                <a:latin typeface="Microsoft Sans Serif"/>
                <a:cs typeface="Microsoft Sans Serif"/>
              </a:rPr>
              <a:t>Common</a:t>
            </a:r>
            <a:r>
              <a:rPr sz="1406" spc="-50" dirty="0">
                <a:latin typeface="Microsoft Sans Serif"/>
                <a:cs typeface="Microsoft Sans Serif"/>
              </a:rPr>
              <a:t> </a:t>
            </a:r>
            <a:r>
              <a:rPr sz="1406" dirty="0">
                <a:latin typeface="Microsoft Sans Serif"/>
                <a:cs typeface="Microsoft Sans Serif"/>
              </a:rPr>
              <a:t>problem</a:t>
            </a:r>
            <a:r>
              <a:rPr sz="1406" spc="-54" dirty="0">
                <a:latin typeface="Microsoft Sans Serif"/>
                <a:cs typeface="Microsoft Sans Serif"/>
              </a:rPr>
              <a:t> </a:t>
            </a:r>
            <a:r>
              <a:rPr sz="1406" dirty="0">
                <a:latin typeface="Microsoft Sans Serif"/>
                <a:cs typeface="Microsoft Sans Serif"/>
              </a:rPr>
              <a:t>is</a:t>
            </a:r>
            <a:r>
              <a:rPr sz="1406" spc="-18" dirty="0">
                <a:latin typeface="Microsoft Sans Serif"/>
                <a:cs typeface="Microsoft Sans Serif"/>
              </a:rPr>
              <a:t> </a:t>
            </a:r>
            <a:r>
              <a:rPr sz="1406" dirty="0">
                <a:latin typeface="Microsoft Sans Serif"/>
                <a:cs typeface="Microsoft Sans Serif"/>
              </a:rPr>
              <a:t>porous</a:t>
            </a:r>
            <a:r>
              <a:rPr sz="1406" spc="-50" dirty="0">
                <a:latin typeface="Microsoft Sans Serif"/>
                <a:cs typeface="Microsoft Sans Serif"/>
              </a:rPr>
              <a:t> </a:t>
            </a:r>
            <a:r>
              <a:rPr sz="1406" dirty="0">
                <a:latin typeface="Microsoft Sans Serif"/>
                <a:cs typeface="Microsoft Sans Serif"/>
              </a:rPr>
              <a:t>plug</a:t>
            </a:r>
            <a:r>
              <a:rPr sz="1406" spc="-50" dirty="0">
                <a:latin typeface="Microsoft Sans Serif"/>
                <a:cs typeface="Microsoft Sans Serif"/>
              </a:rPr>
              <a:t> </a:t>
            </a:r>
            <a:r>
              <a:rPr sz="1406" dirty="0">
                <a:latin typeface="Microsoft Sans Serif"/>
                <a:cs typeface="Microsoft Sans Serif"/>
              </a:rPr>
              <a:t>becomes</a:t>
            </a:r>
            <a:r>
              <a:rPr sz="1406" spc="-50" dirty="0">
                <a:latin typeface="Microsoft Sans Serif"/>
                <a:cs typeface="Microsoft Sans Serif"/>
              </a:rPr>
              <a:t> </a:t>
            </a:r>
            <a:r>
              <a:rPr sz="1406" spc="-9" dirty="0">
                <a:latin typeface="Microsoft Sans Serif"/>
                <a:cs typeface="Microsoft Sans Serif"/>
              </a:rPr>
              <a:t>clogged</a:t>
            </a:r>
            <a:endParaRPr sz="1406" dirty="0">
              <a:latin typeface="Microsoft Sans Serif"/>
              <a:cs typeface="Microsoft Sans Serif"/>
            </a:endParaRPr>
          </a:p>
          <a:p>
            <a:pPr marL="95586">
              <a:spcBef>
                <a:spcPts val="404"/>
              </a:spcBef>
            </a:pPr>
            <a:r>
              <a:rPr sz="1587" dirty="0">
                <a:latin typeface="Microsoft Sans Serif"/>
                <a:cs typeface="Microsoft Sans Serif"/>
              </a:rPr>
              <a:t>Standard</a:t>
            </a:r>
            <a:r>
              <a:rPr sz="1587" spc="-18" dirty="0">
                <a:latin typeface="Microsoft Sans Serif"/>
                <a:cs typeface="Microsoft Sans Serif"/>
              </a:rPr>
              <a:t> </a:t>
            </a:r>
            <a:r>
              <a:rPr sz="1587" dirty="0">
                <a:latin typeface="Microsoft Sans Serif"/>
                <a:cs typeface="Microsoft Sans Serif"/>
              </a:rPr>
              <a:t>Hydrogen</a:t>
            </a:r>
            <a:r>
              <a:rPr sz="1587" spc="41" dirty="0">
                <a:latin typeface="Microsoft Sans Serif"/>
                <a:cs typeface="Microsoft Sans Serif"/>
              </a:rPr>
              <a:t> </a:t>
            </a:r>
            <a:r>
              <a:rPr sz="1587" dirty="0">
                <a:latin typeface="Microsoft Sans Serif"/>
                <a:cs typeface="Microsoft Sans Serif"/>
              </a:rPr>
              <a:t>Electrodes</a:t>
            </a:r>
            <a:r>
              <a:rPr sz="1587" spc="-14" dirty="0">
                <a:latin typeface="Microsoft Sans Serif"/>
                <a:cs typeface="Microsoft Sans Serif"/>
              </a:rPr>
              <a:t> </a:t>
            </a:r>
            <a:r>
              <a:rPr sz="1587" dirty="0">
                <a:latin typeface="Microsoft Sans Serif"/>
                <a:cs typeface="Microsoft Sans Serif"/>
              </a:rPr>
              <a:t>(SHE)</a:t>
            </a:r>
            <a:r>
              <a:rPr sz="1587" spc="14" dirty="0">
                <a:latin typeface="Microsoft Sans Serif"/>
                <a:cs typeface="Microsoft Sans Serif"/>
              </a:rPr>
              <a:t> </a:t>
            </a:r>
            <a:r>
              <a:rPr sz="1587" dirty="0">
                <a:latin typeface="Microsoft Sans Serif"/>
                <a:cs typeface="Microsoft Sans Serif"/>
              </a:rPr>
              <a:t>or</a:t>
            </a:r>
            <a:r>
              <a:rPr sz="1587" spc="32" dirty="0">
                <a:latin typeface="Microsoft Sans Serif"/>
                <a:cs typeface="Microsoft Sans Serif"/>
              </a:rPr>
              <a:t> </a:t>
            </a:r>
            <a:r>
              <a:rPr sz="1587" dirty="0">
                <a:latin typeface="Microsoft Sans Serif"/>
                <a:cs typeface="Microsoft Sans Serif"/>
              </a:rPr>
              <a:t>NHE</a:t>
            </a:r>
            <a:r>
              <a:rPr sz="1587" spc="9" dirty="0">
                <a:latin typeface="Microsoft Sans Serif"/>
                <a:cs typeface="Microsoft Sans Serif"/>
              </a:rPr>
              <a:t> </a:t>
            </a:r>
            <a:r>
              <a:rPr sz="1587" dirty="0">
                <a:latin typeface="Microsoft Sans Serif"/>
                <a:cs typeface="Microsoft Sans Serif"/>
              </a:rPr>
              <a:t>are</a:t>
            </a:r>
            <a:r>
              <a:rPr sz="1587" spc="27" dirty="0">
                <a:latin typeface="Microsoft Sans Serif"/>
                <a:cs typeface="Microsoft Sans Serif"/>
              </a:rPr>
              <a:t> </a:t>
            </a:r>
            <a:r>
              <a:rPr sz="1587" spc="-9" dirty="0">
                <a:latin typeface="Microsoft Sans Serif"/>
                <a:cs typeface="Microsoft Sans Serif"/>
              </a:rPr>
              <a:t>cumbersome</a:t>
            </a:r>
            <a:endParaRPr sz="1587" dirty="0">
              <a:latin typeface="Microsoft Sans Serif"/>
              <a:cs typeface="Microsoft Sans Serif"/>
            </a:endParaRPr>
          </a:p>
          <a:p>
            <a:pPr marL="503265" indent="-457199">
              <a:spcBef>
                <a:spcPts val="413"/>
              </a:spcBef>
              <a:buClr>
                <a:srgbClr val="000000"/>
              </a:buClr>
              <a:buFont typeface="Trebuchet MS"/>
              <a:buChar char="-"/>
              <a:tabLst>
                <a:tab pos="503265" algn="l"/>
              </a:tabLst>
            </a:pPr>
            <a:r>
              <a:rPr sz="1406" dirty="0">
                <a:latin typeface="Microsoft Sans Serif"/>
                <a:cs typeface="Microsoft Sans Serif"/>
              </a:rPr>
              <a:t>Requires</a:t>
            </a:r>
            <a:r>
              <a:rPr sz="1406" spc="-41" dirty="0">
                <a:latin typeface="Microsoft Sans Serif"/>
                <a:cs typeface="Microsoft Sans Serif"/>
              </a:rPr>
              <a:t> </a:t>
            </a:r>
            <a:r>
              <a:rPr sz="1406" dirty="0">
                <a:latin typeface="Microsoft Sans Serif"/>
                <a:cs typeface="Microsoft Sans Serif"/>
              </a:rPr>
              <a:t>H</a:t>
            </a:r>
            <a:r>
              <a:rPr sz="1360" baseline="-19444" dirty="0">
                <a:latin typeface="Microsoft Sans Serif"/>
                <a:cs typeface="Microsoft Sans Serif"/>
              </a:rPr>
              <a:t>2</a:t>
            </a:r>
            <a:r>
              <a:rPr sz="1360" spc="170" baseline="-19444" dirty="0">
                <a:latin typeface="Microsoft Sans Serif"/>
                <a:cs typeface="Microsoft Sans Serif"/>
              </a:rPr>
              <a:t> </a:t>
            </a:r>
            <a:r>
              <a:rPr sz="1406" dirty="0">
                <a:latin typeface="Microsoft Sans Serif"/>
                <a:cs typeface="Microsoft Sans Serif"/>
              </a:rPr>
              <a:t>gas</a:t>
            </a:r>
            <a:r>
              <a:rPr sz="1406" spc="-36" dirty="0">
                <a:latin typeface="Microsoft Sans Serif"/>
                <a:cs typeface="Microsoft Sans Serif"/>
              </a:rPr>
              <a:t> </a:t>
            </a:r>
            <a:r>
              <a:rPr sz="1406" dirty="0">
                <a:latin typeface="Microsoft Sans Serif"/>
                <a:cs typeface="Microsoft Sans Serif"/>
              </a:rPr>
              <a:t>and</a:t>
            </a:r>
            <a:r>
              <a:rPr sz="1406" spc="-50" dirty="0">
                <a:latin typeface="Microsoft Sans Serif"/>
                <a:cs typeface="Microsoft Sans Serif"/>
              </a:rPr>
              <a:t> </a:t>
            </a:r>
            <a:r>
              <a:rPr sz="1406" dirty="0">
                <a:latin typeface="Microsoft Sans Serif"/>
                <a:cs typeface="Microsoft Sans Serif"/>
              </a:rPr>
              <a:t>freshly</a:t>
            </a:r>
            <a:r>
              <a:rPr sz="1406" spc="-50" dirty="0">
                <a:latin typeface="Microsoft Sans Serif"/>
                <a:cs typeface="Microsoft Sans Serif"/>
              </a:rPr>
              <a:t> </a:t>
            </a:r>
            <a:r>
              <a:rPr sz="1406" dirty="0">
                <a:latin typeface="Microsoft Sans Serif"/>
                <a:cs typeface="Microsoft Sans Serif"/>
              </a:rPr>
              <a:t>prepared</a:t>
            </a:r>
            <a:r>
              <a:rPr sz="1406" spc="-45" dirty="0">
                <a:latin typeface="Microsoft Sans Serif"/>
                <a:cs typeface="Microsoft Sans Serif"/>
              </a:rPr>
              <a:t> </a:t>
            </a:r>
            <a:r>
              <a:rPr sz="1406" spc="-23" dirty="0">
                <a:latin typeface="Microsoft Sans Serif"/>
                <a:cs typeface="Microsoft Sans Serif"/>
              </a:rPr>
              <a:t>Pt</a:t>
            </a:r>
            <a:endParaRPr sz="1406" dirty="0">
              <a:latin typeface="Microsoft Sans Serif"/>
              <a:cs typeface="Microsoft Sans Serif"/>
            </a:endParaRPr>
          </a:p>
        </p:txBody>
      </p:sp>
      <p:grpSp>
        <p:nvGrpSpPr>
          <p:cNvPr id="14" name="Group 13">
            <a:extLst>
              <a:ext uri="{FF2B5EF4-FFF2-40B4-BE49-F238E27FC236}">
                <a16:creationId xmlns:a16="http://schemas.microsoft.com/office/drawing/2014/main" id="{1FE3F7CB-330F-8A5C-BEE9-00DA8F5B8BBB}"/>
              </a:ext>
            </a:extLst>
          </p:cNvPr>
          <p:cNvGrpSpPr/>
          <p:nvPr/>
        </p:nvGrpSpPr>
        <p:grpSpPr>
          <a:xfrm>
            <a:off x="2591475" y="1880885"/>
            <a:ext cx="5953389" cy="745941"/>
            <a:chOff x="1816081" y="888831"/>
            <a:chExt cx="5953389" cy="745941"/>
          </a:xfrm>
        </p:grpSpPr>
        <p:pic>
          <p:nvPicPr>
            <p:cNvPr id="9" name="object 9"/>
            <p:cNvPicPr/>
            <p:nvPr/>
          </p:nvPicPr>
          <p:blipFill>
            <a:blip r:embed="rId2" cstate="print"/>
            <a:stretch>
              <a:fillRect/>
            </a:stretch>
          </p:blipFill>
          <p:spPr>
            <a:xfrm>
              <a:off x="2068948" y="1380947"/>
              <a:ext cx="3756044" cy="253825"/>
            </a:xfrm>
            <a:prstGeom prst="rect">
              <a:avLst/>
            </a:prstGeom>
          </p:spPr>
        </p:pic>
        <p:sp>
          <p:nvSpPr>
            <p:cNvPr id="10" name="object 10"/>
            <p:cNvSpPr txBox="1"/>
            <p:nvPr/>
          </p:nvSpPr>
          <p:spPr>
            <a:xfrm>
              <a:off x="1816081" y="888831"/>
              <a:ext cx="5953389" cy="681056"/>
            </a:xfrm>
            <a:prstGeom prst="rect">
              <a:avLst/>
            </a:prstGeom>
          </p:spPr>
          <p:txBody>
            <a:bodyPr vert="horz" wrap="square" lIns="0" tIns="97889" rIns="0" bIns="0" rtlCol="0">
              <a:spAutoFit/>
            </a:bodyPr>
            <a:lstStyle/>
            <a:p>
              <a:pPr marL="34549">
                <a:spcBef>
                  <a:spcPts val="771"/>
                </a:spcBef>
                <a:tabLst>
                  <a:tab pos="492324" algn="l"/>
                </a:tabLst>
              </a:pPr>
              <a:r>
                <a:rPr sz="1600" dirty="0">
                  <a:solidFill>
                    <a:srgbClr val="C00000"/>
                  </a:solidFill>
                  <a:latin typeface="Arial" panose="020B0604020202020204" pitchFamily="34" charset="0"/>
                  <a:cs typeface="Arial" panose="020B0604020202020204" pitchFamily="34" charset="0"/>
                </a:rPr>
                <a:t>Silver-Silver</a:t>
              </a:r>
              <a:r>
                <a:rPr sz="1600" spc="86" dirty="0">
                  <a:solidFill>
                    <a:srgbClr val="C00000"/>
                  </a:solidFill>
                  <a:latin typeface="Arial" panose="020B0604020202020204" pitchFamily="34" charset="0"/>
                  <a:cs typeface="Arial" panose="020B0604020202020204" pitchFamily="34" charset="0"/>
                </a:rPr>
                <a:t> </a:t>
              </a:r>
              <a:r>
                <a:rPr sz="1600" dirty="0">
                  <a:solidFill>
                    <a:srgbClr val="C00000"/>
                  </a:solidFill>
                  <a:latin typeface="Arial" panose="020B0604020202020204" pitchFamily="34" charset="0"/>
                  <a:cs typeface="Arial" panose="020B0604020202020204" pitchFamily="34" charset="0"/>
                </a:rPr>
                <a:t>Chloride</a:t>
              </a:r>
              <a:r>
                <a:rPr sz="1600" spc="77" dirty="0">
                  <a:solidFill>
                    <a:srgbClr val="C00000"/>
                  </a:solidFill>
                  <a:latin typeface="Arial" panose="020B0604020202020204" pitchFamily="34" charset="0"/>
                  <a:cs typeface="Arial" panose="020B0604020202020204" pitchFamily="34" charset="0"/>
                </a:rPr>
                <a:t> </a:t>
              </a:r>
              <a:r>
                <a:rPr sz="1600" dirty="0">
                  <a:solidFill>
                    <a:srgbClr val="C00000"/>
                  </a:solidFill>
                  <a:latin typeface="Arial" panose="020B0604020202020204" pitchFamily="34" charset="0"/>
                  <a:cs typeface="Arial" panose="020B0604020202020204" pitchFamily="34" charset="0"/>
                </a:rPr>
                <a:t>Reference</a:t>
              </a:r>
              <a:r>
                <a:rPr sz="1600" spc="77" dirty="0">
                  <a:solidFill>
                    <a:srgbClr val="C00000"/>
                  </a:solidFill>
                  <a:latin typeface="Arial" panose="020B0604020202020204" pitchFamily="34" charset="0"/>
                  <a:cs typeface="Arial" panose="020B0604020202020204" pitchFamily="34" charset="0"/>
                </a:rPr>
                <a:t> </a:t>
              </a:r>
              <a:r>
                <a:rPr sz="1600" spc="-9" dirty="0">
                  <a:solidFill>
                    <a:srgbClr val="C00000"/>
                  </a:solidFill>
                  <a:latin typeface="Arial" panose="020B0604020202020204" pitchFamily="34" charset="0"/>
                  <a:cs typeface="Arial" panose="020B0604020202020204" pitchFamily="34" charset="0"/>
                </a:rPr>
                <a:t>Electrode</a:t>
              </a:r>
              <a:endParaRPr sz="1600" dirty="0">
                <a:solidFill>
                  <a:srgbClr val="C00000"/>
                </a:solidFill>
                <a:latin typeface="Arial" panose="020B0604020202020204" pitchFamily="34" charset="0"/>
                <a:cs typeface="Arial" panose="020B0604020202020204" pitchFamily="34" charset="0"/>
              </a:endParaRPr>
            </a:p>
            <a:p>
              <a:pPr marL="4488501">
                <a:spcBef>
                  <a:spcPts val="685"/>
                </a:spcBef>
              </a:pPr>
              <a:r>
                <a:rPr sz="1600" dirty="0">
                  <a:solidFill>
                    <a:srgbClr val="0000FF"/>
                  </a:solidFill>
                  <a:latin typeface="Arial" panose="020B0604020202020204" pitchFamily="34" charset="0"/>
                  <a:cs typeface="Arial" panose="020B0604020202020204" pitchFamily="34" charset="0"/>
                </a:rPr>
                <a:t>E</a:t>
              </a:r>
              <a:r>
                <a:rPr sz="1600" baseline="25641" dirty="0">
                  <a:solidFill>
                    <a:srgbClr val="0000FF"/>
                  </a:solidFill>
                  <a:latin typeface="Arial" panose="020B0604020202020204" pitchFamily="34" charset="0"/>
                  <a:cs typeface="Arial" panose="020B0604020202020204" pitchFamily="34" charset="0"/>
                </a:rPr>
                <a:t>o</a:t>
              </a:r>
              <a:r>
                <a:rPr sz="1600" spc="313" baseline="25641" dirty="0">
                  <a:solidFill>
                    <a:srgbClr val="0000FF"/>
                  </a:solidFill>
                  <a:latin typeface="Arial" panose="020B0604020202020204" pitchFamily="34" charset="0"/>
                  <a:cs typeface="Arial" panose="020B0604020202020204" pitchFamily="34" charset="0"/>
                </a:rPr>
                <a:t> </a:t>
              </a:r>
              <a:r>
                <a:rPr sz="1600" dirty="0">
                  <a:solidFill>
                    <a:srgbClr val="0000FF"/>
                  </a:solidFill>
                  <a:latin typeface="Arial" panose="020B0604020202020204" pitchFamily="34" charset="0"/>
                  <a:cs typeface="Arial" panose="020B0604020202020204" pitchFamily="34" charset="0"/>
                </a:rPr>
                <a:t>=</a:t>
              </a:r>
              <a:r>
                <a:rPr sz="1600" spc="63" dirty="0">
                  <a:solidFill>
                    <a:srgbClr val="0000FF"/>
                  </a:solidFill>
                  <a:latin typeface="Arial" panose="020B0604020202020204" pitchFamily="34" charset="0"/>
                  <a:cs typeface="Arial" panose="020B0604020202020204" pitchFamily="34" charset="0"/>
                </a:rPr>
                <a:t> </a:t>
              </a:r>
              <a:r>
                <a:rPr sz="1600" dirty="0">
                  <a:solidFill>
                    <a:srgbClr val="0000FF"/>
                  </a:solidFill>
                  <a:latin typeface="Arial" panose="020B0604020202020204" pitchFamily="34" charset="0"/>
                  <a:cs typeface="Arial" panose="020B0604020202020204" pitchFamily="34" charset="0"/>
                </a:rPr>
                <a:t>+0.222</a:t>
              </a:r>
              <a:r>
                <a:rPr sz="1600" spc="59" dirty="0">
                  <a:solidFill>
                    <a:srgbClr val="0000FF"/>
                  </a:solidFill>
                  <a:latin typeface="Arial" panose="020B0604020202020204" pitchFamily="34" charset="0"/>
                  <a:cs typeface="Arial" panose="020B0604020202020204" pitchFamily="34" charset="0"/>
                </a:rPr>
                <a:t> </a:t>
              </a:r>
              <a:r>
                <a:rPr sz="1600" spc="-45" dirty="0">
                  <a:solidFill>
                    <a:srgbClr val="0000FF"/>
                  </a:solidFill>
                  <a:latin typeface="Arial" panose="020B0604020202020204" pitchFamily="34" charset="0"/>
                  <a:cs typeface="Arial" panose="020B0604020202020204" pitchFamily="34" charset="0"/>
                </a:rPr>
                <a:t>V</a:t>
              </a:r>
              <a:endParaRPr lang="en-IN" sz="1600" spc="-45" dirty="0">
                <a:solidFill>
                  <a:srgbClr val="0000FF"/>
                </a:solidFill>
                <a:latin typeface="Arial" panose="020B0604020202020204" pitchFamily="34" charset="0"/>
                <a:cs typeface="Arial" panose="020B0604020202020204" pitchFamily="34" charset="0"/>
              </a:endParaRPr>
            </a:p>
          </p:txBody>
        </p:sp>
      </p:grpSp>
      <p:pic>
        <p:nvPicPr>
          <p:cNvPr id="11" name="object 11"/>
          <p:cNvPicPr/>
          <p:nvPr/>
        </p:nvPicPr>
        <p:blipFill>
          <a:blip r:embed="rId3" cstate="print"/>
          <a:stretch>
            <a:fillRect/>
          </a:stretch>
        </p:blipFill>
        <p:spPr>
          <a:xfrm>
            <a:off x="5259004" y="3895137"/>
            <a:ext cx="1522925" cy="2649225"/>
          </a:xfrm>
          <a:prstGeom prst="rect">
            <a:avLst/>
          </a:prstGeom>
        </p:spPr>
      </p:pic>
      <p:sp>
        <p:nvSpPr>
          <p:cNvPr id="12" name="object 12"/>
          <p:cNvSpPr txBox="1">
            <a:spLocks noGrp="1"/>
          </p:cNvSpPr>
          <p:nvPr>
            <p:ph type="title"/>
          </p:nvPr>
        </p:nvSpPr>
        <p:spPr>
          <a:xfrm>
            <a:off x="3569929" y="139796"/>
            <a:ext cx="3077759" cy="353090"/>
          </a:xfrm>
          <a:prstGeom prst="rect">
            <a:avLst/>
          </a:prstGeom>
        </p:spPr>
        <p:txBody>
          <a:bodyPr vert="horz" wrap="square" lIns="0" tIns="14395" rIns="0" bIns="0" rtlCol="0" anchor="ctr">
            <a:spAutoFit/>
          </a:bodyPr>
          <a:lstStyle/>
          <a:p>
            <a:pPr marL="11516">
              <a:lnSpc>
                <a:spcPct val="100000"/>
              </a:lnSpc>
              <a:spcBef>
                <a:spcPts val="113"/>
              </a:spcBef>
            </a:pPr>
            <a:r>
              <a:rPr lang="en-IN" sz="2200" dirty="0">
                <a:solidFill>
                  <a:srgbClr val="C00000"/>
                </a:solidFill>
                <a:latin typeface="Arial" panose="020B0604020202020204" pitchFamily="34" charset="0"/>
                <a:cs typeface="Arial" panose="020B0604020202020204" pitchFamily="34" charset="0"/>
              </a:rPr>
              <a:t>Reference</a:t>
            </a:r>
            <a:r>
              <a:rPr sz="2200" spc="14" dirty="0">
                <a:solidFill>
                  <a:srgbClr val="C00000"/>
                </a:solidFill>
                <a:latin typeface="Arial" panose="020B0604020202020204" pitchFamily="34" charset="0"/>
                <a:cs typeface="Arial" panose="020B0604020202020204" pitchFamily="34" charset="0"/>
              </a:rPr>
              <a:t> </a:t>
            </a:r>
            <a:r>
              <a:rPr sz="2200" spc="-9" dirty="0">
                <a:solidFill>
                  <a:srgbClr val="C00000"/>
                </a:solidFill>
                <a:latin typeface="Arial" panose="020B0604020202020204" pitchFamily="34" charset="0"/>
                <a:cs typeface="Arial" panose="020B0604020202020204" pitchFamily="34" charset="0"/>
              </a:rPr>
              <a:t>electrodes</a:t>
            </a:r>
            <a:endParaRPr sz="2200" dirty="0">
              <a:solidFill>
                <a:srgbClr val="C00000"/>
              </a:solidFill>
              <a:latin typeface="Arial" panose="020B0604020202020204" pitchFamily="34" charset="0"/>
              <a:cs typeface="Arial" panose="020B0604020202020204" pitchFamily="34" charset="0"/>
            </a:endParaRPr>
          </a:p>
        </p:txBody>
      </p:sp>
      <p:pic>
        <p:nvPicPr>
          <p:cNvPr id="13" name="object 13"/>
          <p:cNvPicPr/>
          <p:nvPr/>
        </p:nvPicPr>
        <p:blipFill>
          <a:blip r:embed="rId4" cstate="print"/>
          <a:stretch>
            <a:fillRect/>
          </a:stretch>
        </p:blipFill>
        <p:spPr>
          <a:xfrm>
            <a:off x="8544864" y="3163824"/>
            <a:ext cx="1760424" cy="3242386"/>
          </a:xfrm>
          <a:prstGeom prst="rect">
            <a:avLst/>
          </a:prstGeom>
        </p:spPr>
      </p:pic>
      <p:sp>
        <p:nvSpPr>
          <p:cNvPr id="15" name="TextBox 14">
            <a:extLst>
              <a:ext uri="{FF2B5EF4-FFF2-40B4-BE49-F238E27FC236}">
                <a16:creationId xmlns:a16="http://schemas.microsoft.com/office/drawing/2014/main" id="{C49B6BB9-2E25-979B-D846-327D69F97A98}"/>
              </a:ext>
            </a:extLst>
          </p:cNvPr>
          <p:cNvSpPr txBox="1"/>
          <p:nvPr/>
        </p:nvSpPr>
        <p:spPr>
          <a:xfrm>
            <a:off x="509800" y="781018"/>
            <a:ext cx="9198016" cy="1323439"/>
          </a:xfrm>
          <a:prstGeom prst="rect">
            <a:avLst/>
          </a:prstGeom>
          <a:noFill/>
        </p:spPr>
        <p:txBody>
          <a:bodyPr wrap="square" rtlCol="0">
            <a:spAutoFit/>
          </a:bodyPr>
          <a:lstStyle/>
          <a:p>
            <a:pPr algn="just"/>
            <a:r>
              <a:rPr lang="en-US" sz="1600" b="0" i="0" dirty="0">
                <a:effectLst/>
                <a:latin typeface="Arial" panose="020B0604020202020204" pitchFamily="34" charset="0"/>
                <a:cs typeface="Arial" panose="020B0604020202020204" pitchFamily="34" charset="0"/>
              </a:rPr>
              <a:t>The working principle of the Ag/AgCl electrode is based on the concept of a half-cell reaction, which involves the transfer of electrons between the electrode and the electrolyte.</a:t>
            </a:r>
          </a:p>
          <a:p>
            <a:pPr algn="just"/>
            <a:endParaRPr lang="en-US" sz="1600" dirty="0">
              <a:latin typeface="Arial" panose="020B0604020202020204" pitchFamily="34" charset="0"/>
              <a:cs typeface="Arial" panose="020B0604020202020204" pitchFamily="34" charset="0"/>
            </a:endParaRPr>
          </a:p>
          <a:p>
            <a:pPr algn="just"/>
            <a:r>
              <a:rPr lang="en-US" sz="1600" b="0" i="0" dirty="0">
                <a:effectLst/>
                <a:latin typeface="Arial" panose="020B0604020202020204" pitchFamily="34" charset="0"/>
                <a:cs typeface="Arial" panose="020B0604020202020204" pitchFamily="34" charset="0"/>
              </a:rPr>
              <a:t>The silver ions then react with the silver wire to form metallic silver, while the chloride ions remain in the electrolyte.</a:t>
            </a:r>
            <a:endParaRPr lang="en-IN" sz="16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FA96A246-5A23-CA00-1FC1-07C6EFDEF3F8}"/>
              </a:ext>
            </a:extLst>
          </p:cNvPr>
          <p:cNvSpPr txBox="1"/>
          <p:nvPr/>
        </p:nvSpPr>
        <p:spPr>
          <a:xfrm>
            <a:off x="545272" y="2760833"/>
            <a:ext cx="9427464" cy="584775"/>
          </a:xfrm>
          <a:prstGeom prst="rect">
            <a:avLst/>
          </a:prstGeom>
          <a:noFill/>
        </p:spPr>
        <p:txBody>
          <a:bodyPr wrap="square" rtlCol="0">
            <a:spAutoFit/>
          </a:bodyPr>
          <a:lstStyle/>
          <a:p>
            <a:r>
              <a:rPr lang="en-US" sz="1600" b="0" i="0" dirty="0">
                <a:effectLst/>
                <a:latin typeface="Arial" panose="020B0604020202020204" pitchFamily="34" charset="0"/>
                <a:cs typeface="Arial" panose="020B0604020202020204" pitchFamily="34" charset="0"/>
              </a:rPr>
              <a:t>The Ag/AgCl electrode is widely used as a reference electrode in electrochemical studies due to its stable and reproducible electrode potential reference</a:t>
            </a:r>
            <a:endParaRPr lang="en-IN" sz="1600" dirty="0">
              <a:latin typeface="Arial" panose="020B0604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4618" y="2285711"/>
            <a:ext cx="2809533" cy="4432493"/>
          </a:xfrm>
          <a:prstGeom prst="rect">
            <a:avLst/>
          </a:prstGeom>
        </p:spPr>
      </p:pic>
      <p:grpSp>
        <p:nvGrpSpPr>
          <p:cNvPr id="16" name="Group 15">
            <a:extLst>
              <a:ext uri="{FF2B5EF4-FFF2-40B4-BE49-F238E27FC236}">
                <a16:creationId xmlns:a16="http://schemas.microsoft.com/office/drawing/2014/main" id="{A38859DF-B007-D386-E714-E733AD39964C}"/>
              </a:ext>
            </a:extLst>
          </p:cNvPr>
          <p:cNvGrpSpPr/>
          <p:nvPr/>
        </p:nvGrpSpPr>
        <p:grpSpPr>
          <a:xfrm>
            <a:off x="321046" y="968026"/>
            <a:ext cx="6514236" cy="780483"/>
            <a:chOff x="948749" y="967608"/>
            <a:chExt cx="6514236" cy="780483"/>
          </a:xfrm>
        </p:grpSpPr>
        <p:pic>
          <p:nvPicPr>
            <p:cNvPr id="9" name="object 9"/>
            <p:cNvPicPr/>
            <p:nvPr/>
          </p:nvPicPr>
          <p:blipFill>
            <a:blip r:embed="rId3" cstate="print"/>
            <a:stretch>
              <a:fillRect/>
            </a:stretch>
          </p:blipFill>
          <p:spPr>
            <a:xfrm>
              <a:off x="2021959" y="1502567"/>
              <a:ext cx="3863841" cy="245524"/>
            </a:xfrm>
            <a:prstGeom prst="rect">
              <a:avLst/>
            </a:prstGeom>
          </p:spPr>
        </p:pic>
        <p:sp>
          <p:nvSpPr>
            <p:cNvPr id="10" name="object 10"/>
            <p:cNvSpPr txBox="1"/>
            <p:nvPr/>
          </p:nvSpPr>
          <p:spPr>
            <a:xfrm>
              <a:off x="948749" y="967608"/>
              <a:ext cx="6514236" cy="761518"/>
            </a:xfrm>
            <a:prstGeom prst="rect">
              <a:avLst/>
            </a:prstGeom>
          </p:spPr>
          <p:txBody>
            <a:bodyPr vert="horz" wrap="square" lIns="0" tIns="12092" rIns="0" bIns="0" rtlCol="0">
              <a:spAutoFit/>
            </a:bodyPr>
            <a:lstStyle/>
            <a:p>
              <a:pPr marL="480232">
                <a:spcBef>
                  <a:spcPts val="41"/>
                </a:spcBef>
                <a:tabLst>
                  <a:tab pos="937432" algn="l"/>
                </a:tabLst>
              </a:pPr>
              <a:r>
                <a:rPr sz="1768" dirty="0">
                  <a:solidFill>
                    <a:srgbClr val="C00000"/>
                  </a:solidFill>
                  <a:latin typeface="Microsoft Sans Serif"/>
                  <a:cs typeface="Microsoft Sans Serif"/>
                </a:rPr>
                <a:t>Saturated</a:t>
              </a:r>
              <a:r>
                <a:rPr sz="1768" spc="82" dirty="0">
                  <a:solidFill>
                    <a:srgbClr val="C00000"/>
                  </a:solidFill>
                  <a:latin typeface="Microsoft Sans Serif"/>
                  <a:cs typeface="Microsoft Sans Serif"/>
                </a:rPr>
                <a:t> </a:t>
              </a:r>
              <a:r>
                <a:rPr sz="1768" dirty="0">
                  <a:solidFill>
                    <a:srgbClr val="C00000"/>
                  </a:solidFill>
                  <a:latin typeface="Microsoft Sans Serif"/>
                  <a:cs typeface="Microsoft Sans Serif"/>
                </a:rPr>
                <a:t>Calomel</a:t>
              </a:r>
              <a:r>
                <a:rPr sz="1768" spc="113" dirty="0">
                  <a:solidFill>
                    <a:srgbClr val="C00000"/>
                  </a:solidFill>
                  <a:latin typeface="Microsoft Sans Serif"/>
                  <a:cs typeface="Microsoft Sans Serif"/>
                </a:rPr>
                <a:t> </a:t>
              </a:r>
              <a:r>
                <a:rPr sz="1768" dirty="0">
                  <a:solidFill>
                    <a:srgbClr val="C00000"/>
                  </a:solidFill>
                  <a:latin typeface="Microsoft Sans Serif"/>
                  <a:cs typeface="Microsoft Sans Serif"/>
                </a:rPr>
                <a:t>Reference</a:t>
              </a:r>
              <a:r>
                <a:rPr sz="1768" spc="82" dirty="0">
                  <a:solidFill>
                    <a:srgbClr val="C00000"/>
                  </a:solidFill>
                  <a:latin typeface="Microsoft Sans Serif"/>
                  <a:cs typeface="Microsoft Sans Serif"/>
                </a:rPr>
                <a:t> </a:t>
              </a:r>
              <a:r>
                <a:rPr sz="1768" dirty="0">
                  <a:solidFill>
                    <a:srgbClr val="C00000"/>
                  </a:solidFill>
                  <a:latin typeface="Microsoft Sans Serif"/>
                  <a:cs typeface="Microsoft Sans Serif"/>
                </a:rPr>
                <a:t>Electrode</a:t>
              </a:r>
              <a:r>
                <a:rPr sz="1768" spc="103" dirty="0">
                  <a:solidFill>
                    <a:srgbClr val="C00000"/>
                  </a:solidFill>
                  <a:latin typeface="Microsoft Sans Serif"/>
                  <a:cs typeface="Microsoft Sans Serif"/>
                </a:rPr>
                <a:t> </a:t>
              </a:r>
              <a:r>
                <a:rPr sz="1768" spc="-9" dirty="0">
                  <a:solidFill>
                    <a:srgbClr val="C00000"/>
                  </a:solidFill>
                  <a:latin typeface="Microsoft Sans Serif"/>
                  <a:cs typeface="Microsoft Sans Serif"/>
                </a:rPr>
                <a:t>(S.C.E)</a:t>
              </a:r>
              <a:endParaRPr sz="1768" dirty="0">
                <a:solidFill>
                  <a:srgbClr val="C00000"/>
                </a:solidFill>
                <a:latin typeface="Microsoft Sans Serif"/>
                <a:cs typeface="Microsoft Sans Serif"/>
              </a:endParaRPr>
            </a:p>
            <a:p>
              <a:pPr marR="39156" algn="r">
                <a:spcBef>
                  <a:spcPts val="1591"/>
                </a:spcBef>
              </a:pPr>
              <a:r>
                <a:rPr sz="1768" dirty="0" err="1">
                  <a:solidFill>
                    <a:srgbClr val="0000FF"/>
                  </a:solidFill>
                  <a:latin typeface="Microsoft Sans Serif"/>
                  <a:cs typeface="Microsoft Sans Serif"/>
                </a:rPr>
                <a:t>E</a:t>
              </a:r>
              <a:r>
                <a:rPr sz="1768" baseline="25641" dirty="0" err="1">
                  <a:solidFill>
                    <a:srgbClr val="0000FF"/>
                  </a:solidFill>
                  <a:latin typeface="Microsoft Sans Serif"/>
                  <a:cs typeface="Microsoft Sans Serif"/>
                </a:rPr>
                <a:t>o</a:t>
              </a:r>
              <a:r>
                <a:rPr sz="1768" spc="313" baseline="25641" dirty="0">
                  <a:solidFill>
                    <a:srgbClr val="0000FF"/>
                  </a:solidFill>
                  <a:latin typeface="Microsoft Sans Serif"/>
                  <a:cs typeface="Microsoft Sans Serif"/>
                </a:rPr>
                <a:t> </a:t>
              </a:r>
              <a:r>
                <a:rPr sz="1768" dirty="0">
                  <a:solidFill>
                    <a:srgbClr val="0000FF"/>
                  </a:solidFill>
                  <a:latin typeface="Microsoft Sans Serif"/>
                  <a:cs typeface="Microsoft Sans Serif"/>
                </a:rPr>
                <a:t>=</a:t>
              </a:r>
              <a:r>
                <a:rPr sz="1768" spc="68" dirty="0">
                  <a:solidFill>
                    <a:srgbClr val="0000FF"/>
                  </a:solidFill>
                  <a:latin typeface="Microsoft Sans Serif"/>
                  <a:cs typeface="Microsoft Sans Serif"/>
                </a:rPr>
                <a:t> </a:t>
              </a:r>
              <a:r>
                <a:rPr sz="1768" dirty="0">
                  <a:solidFill>
                    <a:srgbClr val="0000FF"/>
                  </a:solidFill>
                  <a:latin typeface="Microsoft Sans Serif"/>
                  <a:cs typeface="Microsoft Sans Serif"/>
                </a:rPr>
                <a:t>+0.268</a:t>
              </a:r>
              <a:endParaRPr sz="1768" dirty="0">
                <a:latin typeface="Microsoft Sans Serif"/>
                <a:cs typeface="Microsoft Sans Serif"/>
              </a:endParaRPr>
            </a:p>
          </p:txBody>
        </p:sp>
      </p:grpSp>
      <p:pic>
        <p:nvPicPr>
          <p:cNvPr id="11" name="object 11"/>
          <p:cNvPicPr/>
          <p:nvPr/>
        </p:nvPicPr>
        <p:blipFill>
          <a:blip r:embed="rId4" cstate="print"/>
          <a:stretch>
            <a:fillRect/>
          </a:stretch>
        </p:blipFill>
        <p:spPr>
          <a:xfrm>
            <a:off x="7779163" y="64953"/>
            <a:ext cx="1996938" cy="1996938"/>
          </a:xfrm>
          <a:prstGeom prst="rect">
            <a:avLst/>
          </a:prstGeom>
        </p:spPr>
      </p:pic>
      <p:grpSp>
        <p:nvGrpSpPr>
          <p:cNvPr id="17" name="Group 16">
            <a:extLst>
              <a:ext uri="{FF2B5EF4-FFF2-40B4-BE49-F238E27FC236}">
                <a16:creationId xmlns:a16="http://schemas.microsoft.com/office/drawing/2014/main" id="{30AB3561-8B65-976B-A6F3-60A0154AC897}"/>
              </a:ext>
            </a:extLst>
          </p:cNvPr>
          <p:cNvGrpSpPr/>
          <p:nvPr/>
        </p:nvGrpSpPr>
        <p:grpSpPr>
          <a:xfrm>
            <a:off x="416446" y="2770231"/>
            <a:ext cx="4841651" cy="2358226"/>
            <a:chOff x="1902602" y="2343332"/>
            <a:chExt cx="4841651" cy="2358226"/>
          </a:xfrm>
        </p:grpSpPr>
        <p:sp>
          <p:nvSpPr>
            <p:cNvPr id="4" name="object 4"/>
            <p:cNvSpPr txBox="1"/>
            <p:nvPr/>
          </p:nvSpPr>
          <p:spPr>
            <a:xfrm>
              <a:off x="1902602" y="2424912"/>
              <a:ext cx="119770" cy="158725"/>
            </a:xfrm>
            <a:prstGeom prst="rect">
              <a:avLst/>
            </a:prstGeom>
          </p:spPr>
          <p:txBody>
            <a:bodyPr vert="horz" wrap="square" lIns="0" tIns="12092" rIns="0" bIns="0" rtlCol="0">
              <a:spAutoFit/>
            </a:bodyPr>
            <a:lstStyle/>
            <a:p>
              <a:pPr marL="11516">
                <a:spcBef>
                  <a:spcPts val="95"/>
                </a:spcBef>
              </a:pPr>
              <a:r>
                <a:rPr sz="952" spc="-145" dirty="0">
                  <a:solidFill>
                    <a:srgbClr val="CC3300"/>
                  </a:solidFill>
                  <a:latin typeface="Calibri"/>
                  <a:cs typeface="Calibri"/>
                </a:rPr>
                <a:t>➢</a:t>
              </a:r>
              <a:endParaRPr sz="952">
                <a:latin typeface="Calibri"/>
                <a:cs typeface="Calibri"/>
              </a:endParaRPr>
            </a:p>
          </p:txBody>
        </p:sp>
        <p:sp>
          <p:nvSpPr>
            <p:cNvPr id="5" name="object 5"/>
            <p:cNvSpPr txBox="1"/>
            <p:nvPr/>
          </p:nvSpPr>
          <p:spPr>
            <a:xfrm>
              <a:off x="2336937" y="2343332"/>
              <a:ext cx="4407316" cy="488619"/>
            </a:xfrm>
            <a:prstGeom prst="rect">
              <a:avLst/>
            </a:prstGeom>
          </p:spPr>
          <p:txBody>
            <a:bodyPr vert="horz" wrap="square" lIns="0" tIns="11516" rIns="0" bIns="0" rtlCol="0">
              <a:spAutoFit/>
            </a:bodyPr>
            <a:lstStyle/>
            <a:p>
              <a:pPr marL="69098" marR="27639" indent="-35125">
                <a:lnSpc>
                  <a:spcPct val="100600"/>
                </a:lnSpc>
                <a:spcBef>
                  <a:spcPts val="91"/>
                </a:spcBef>
              </a:pPr>
              <a:r>
                <a:rPr sz="1587" dirty="0">
                  <a:latin typeface="Microsoft Sans Serif"/>
                  <a:cs typeface="Microsoft Sans Serif"/>
                </a:rPr>
                <a:t>Saturated</a:t>
              </a:r>
              <a:r>
                <a:rPr sz="1587" spc="18" dirty="0">
                  <a:latin typeface="Microsoft Sans Serif"/>
                  <a:cs typeface="Microsoft Sans Serif"/>
                </a:rPr>
                <a:t> </a:t>
              </a:r>
              <a:r>
                <a:rPr sz="1587" dirty="0">
                  <a:latin typeface="Microsoft Sans Serif"/>
                  <a:cs typeface="Microsoft Sans Serif"/>
                </a:rPr>
                <a:t>KCl</a:t>
              </a:r>
              <a:r>
                <a:rPr sz="1587" spc="9" dirty="0">
                  <a:latin typeface="Microsoft Sans Serif"/>
                  <a:cs typeface="Microsoft Sans Serif"/>
                </a:rPr>
                <a:t> </a:t>
              </a:r>
              <a:r>
                <a:rPr sz="1587" dirty="0">
                  <a:latin typeface="Microsoft Sans Serif"/>
                  <a:cs typeface="Microsoft Sans Serif"/>
                </a:rPr>
                <a:t>maintains</a:t>
              </a:r>
              <a:r>
                <a:rPr sz="1587" spc="18" dirty="0">
                  <a:latin typeface="Microsoft Sans Serif"/>
                  <a:cs typeface="Microsoft Sans Serif"/>
                </a:rPr>
                <a:t> </a:t>
              </a:r>
              <a:r>
                <a:rPr sz="1587" dirty="0">
                  <a:latin typeface="Microsoft Sans Serif"/>
                  <a:cs typeface="Microsoft Sans Serif"/>
                </a:rPr>
                <a:t>constant</a:t>
              </a:r>
              <a:r>
                <a:rPr sz="1587" spc="18" dirty="0">
                  <a:latin typeface="Microsoft Sans Serif"/>
                  <a:cs typeface="Microsoft Sans Serif"/>
                </a:rPr>
                <a:t> </a:t>
              </a:r>
              <a:r>
                <a:rPr sz="1587" spc="-9" dirty="0">
                  <a:latin typeface="Microsoft Sans Serif"/>
                  <a:cs typeface="Microsoft Sans Serif"/>
                </a:rPr>
                <a:t>[Cl</a:t>
              </a:r>
              <a:r>
                <a:rPr sz="1564" spc="-14" baseline="26570" dirty="0">
                  <a:latin typeface="Microsoft Sans Serif"/>
                  <a:cs typeface="Microsoft Sans Serif"/>
                </a:rPr>
                <a:t>-</a:t>
              </a:r>
              <a:r>
                <a:rPr sz="1587" dirty="0">
                  <a:latin typeface="Microsoft Sans Serif"/>
                  <a:cs typeface="Microsoft Sans Serif"/>
                </a:rPr>
                <a:t>]</a:t>
              </a:r>
              <a:r>
                <a:rPr sz="1587" spc="23" dirty="0">
                  <a:latin typeface="Microsoft Sans Serif"/>
                  <a:cs typeface="Microsoft Sans Serif"/>
                </a:rPr>
                <a:t> </a:t>
              </a:r>
              <a:r>
                <a:rPr sz="1587" dirty="0">
                  <a:latin typeface="Microsoft Sans Serif"/>
                  <a:cs typeface="Microsoft Sans Serif"/>
                </a:rPr>
                <a:t>even</a:t>
              </a:r>
              <a:r>
                <a:rPr sz="1587" spc="5" dirty="0">
                  <a:latin typeface="Microsoft Sans Serif"/>
                  <a:cs typeface="Microsoft Sans Serif"/>
                </a:rPr>
                <a:t> </a:t>
              </a:r>
              <a:r>
                <a:rPr sz="1587" spc="-18" dirty="0">
                  <a:latin typeface="Microsoft Sans Serif"/>
                  <a:cs typeface="Microsoft Sans Serif"/>
                </a:rPr>
                <a:t>with </a:t>
              </a:r>
              <a:r>
                <a:rPr sz="1587" dirty="0">
                  <a:latin typeface="Microsoft Sans Serif"/>
                  <a:cs typeface="Microsoft Sans Serif"/>
                </a:rPr>
                <a:t>some</a:t>
              </a:r>
              <a:r>
                <a:rPr sz="1587" spc="27" dirty="0">
                  <a:latin typeface="Microsoft Sans Serif"/>
                  <a:cs typeface="Microsoft Sans Serif"/>
                </a:rPr>
                <a:t> </a:t>
              </a:r>
              <a:r>
                <a:rPr sz="1587" spc="-9" dirty="0">
                  <a:latin typeface="Microsoft Sans Serif"/>
                  <a:cs typeface="Microsoft Sans Serif"/>
                </a:rPr>
                <a:t>evaporation</a:t>
              </a:r>
              <a:endParaRPr sz="1587" dirty="0">
                <a:latin typeface="Microsoft Sans Serif"/>
                <a:cs typeface="Microsoft Sans Serif"/>
              </a:endParaRPr>
            </a:p>
          </p:txBody>
        </p:sp>
        <p:sp>
          <p:nvSpPr>
            <p:cNvPr id="6" name="object 6"/>
            <p:cNvSpPr txBox="1"/>
            <p:nvPr/>
          </p:nvSpPr>
          <p:spPr>
            <a:xfrm>
              <a:off x="1902602" y="3155960"/>
              <a:ext cx="119770" cy="158725"/>
            </a:xfrm>
            <a:prstGeom prst="rect">
              <a:avLst/>
            </a:prstGeom>
          </p:spPr>
          <p:txBody>
            <a:bodyPr vert="horz" wrap="square" lIns="0" tIns="12092" rIns="0" bIns="0" rtlCol="0">
              <a:spAutoFit/>
            </a:bodyPr>
            <a:lstStyle/>
            <a:p>
              <a:pPr marL="11516">
                <a:spcBef>
                  <a:spcPts val="95"/>
                </a:spcBef>
              </a:pPr>
              <a:r>
                <a:rPr sz="952" spc="-145" dirty="0">
                  <a:solidFill>
                    <a:srgbClr val="CC3300"/>
                  </a:solidFill>
                  <a:latin typeface="Calibri"/>
                  <a:cs typeface="Calibri"/>
                </a:rPr>
                <a:t>➢</a:t>
              </a:r>
              <a:endParaRPr sz="952">
                <a:latin typeface="Calibri"/>
                <a:cs typeface="Calibri"/>
              </a:endParaRPr>
            </a:p>
          </p:txBody>
        </p:sp>
        <p:sp>
          <p:nvSpPr>
            <p:cNvPr id="7" name="object 7"/>
            <p:cNvSpPr txBox="1"/>
            <p:nvPr/>
          </p:nvSpPr>
          <p:spPr>
            <a:xfrm>
              <a:off x="2359970" y="3074387"/>
              <a:ext cx="4101556" cy="1168364"/>
            </a:xfrm>
            <a:prstGeom prst="rect">
              <a:avLst/>
            </a:prstGeom>
          </p:spPr>
          <p:txBody>
            <a:bodyPr vert="horz" wrap="square" lIns="0" tIns="12668" rIns="0" bIns="0" rtlCol="0">
              <a:spAutoFit/>
            </a:bodyPr>
            <a:lstStyle/>
            <a:p>
              <a:pPr marL="11516">
                <a:spcBef>
                  <a:spcPts val="100"/>
                </a:spcBef>
                <a:tabLst>
                  <a:tab pos="488294" algn="l"/>
                </a:tabLst>
              </a:pPr>
              <a:r>
                <a:rPr sz="1587" spc="-18" dirty="0">
                  <a:solidFill>
                    <a:srgbClr val="BF0000"/>
                  </a:solidFill>
                  <a:latin typeface="Microsoft Sans Serif"/>
                  <a:cs typeface="Microsoft Sans Serif"/>
                </a:rPr>
                <a:t>But,</a:t>
              </a:r>
              <a:r>
                <a:rPr sz="1587" dirty="0">
                  <a:solidFill>
                    <a:srgbClr val="BF0000"/>
                  </a:solidFill>
                  <a:latin typeface="Microsoft Sans Serif"/>
                  <a:cs typeface="Microsoft Sans Serif"/>
                </a:rPr>
                <a:t>	S.</a:t>
              </a:r>
              <a:r>
                <a:rPr sz="1587" spc="14" dirty="0">
                  <a:solidFill>
                    <a:srgbClr val="BF0000"/>
                  </a:solidFill>
                  <a:latin typeface="Microsoft Sans Serif"/>
                  <a:cs typeface="Microsoft Sans Serif"/>
                </a:rPr>
                <a:t> </a:t>
              </a:r>
              <a:r>
                <a:rPr sz="1587" dirty="0">
                  <a:solidFill>
                    <a:srgbClr val="BF0000"/>
                  </a:solidFill>
                  <a:latin typeface="Microsoft Sans Serif"/>
                  <a:cs typeface="Microsoft Sans Serif"/>
                </a:rPr>
                <a:t>C.</a:t>
              </a:r>
              <a:r>
                <a:rPr sz="1587" spc="36" dirty="0">
                  <a:solidFill>
                    <a:srgbClr val="BF0000"/>
                  </a:solidFill>
                  <a:latin typeface="Microsoft Sans Serif"/>
                  <a:cs typeface="Microsoft Sans Serif"/>
                </a:rPr>
                <a:t> </a:t>
              </a:r>
              <a:r>
                <a:rPr sz="1587" dirty="0">
                  <a:solidFill>
                    <a:srgbClr val="BF0000"/>
                  </a:solidFill>
                  <a:latin typeface="Microsoft Sans Serif"/>
                  <a:cs typeface="Microsoft Sans Serif"/>
                </a:rPr>
                <a:t>E.</a:t>
              </a:r>
              <a:r>
                <a:rPr sz="1587" spc="18" dirty="0">
                  <a:solidFill>
                    <a:srgbClr val="BF0000"/>
                  </a:solidFill>
                  <a:latin typeface="Microsoft Sans Serif"/>
                  <a:cs typeface="Microsoft Sans Serif"/>
                </a:rPr>
                <a:t> </a:t>
              </a:r>
              <a:r>
                <a:rPr sz="1587" dirty="0">
                  <a:solidFill>
                    <a:srgbClr val="BF0000"/>
                  </a:solidFill>
                  <a:latin typeface="Microsoft Sans Serif"/>
                  <a:cs typeface="Microsoft Sans Serif"/>
                </a:rPr>
                <a:t>requires</a:t>
              </a:r>
              <a:r>
                <a:rPr sz="1587" spc="14" dirty="0">
                  <a:solidFill>
                    <a:srgbClr val="BF0000"/>
                  </a:solidFill>
                  <a:latin typeface="Microsoft Sans Serif"/>
                  <a:cs typeface="Microsoft Sans Serif"/>
                </a:rPr>
                <a:t> </a:t>
              </a:r>
              <a:r>
                <a:rPr sz="1587" dirty="0">
                  <a:solidFill>
                    <a:srgbClr val="BF0000"/>
                  </a:solidFill>
                  <a:latin typeface="Microsoft Sans Serif"/>
                  <a:cs typeface="Microsoft Sans Serif"/>
                </a:rPr>
                <a:t>handling</a:t>
              </a:r>
              <a:r>
                <a:rPr sz="1587" spc="5" dirty="0">
                  <a:solidFill>
                    <a:srgbClr val="BF0000"/>
                  </a:solidFill>
                  <a:latin typeface="Microsoft Sans Serif"/>
                  <a:cs typeface="Microsoft Sans Serif"/>
                </a:rPr>
                <a:t> </a:t>
              </a:r>
              <a:r>
                <a:rPr sz="1587" dirty="0">
                  <a:solidFill>
                    <a:srgbClr val="BF0000"/>
                  </a:solidFill>
                  <a:latin typeface="Microsoft Sans Serif"/>
                  <a:cs typeface="Microsoft Sans Serif"/>
                </a:rPr>
                <a:t>of</a:t>
              </a:r>
              <a:r>
                <a:rPr sz="1587" spc="-14" dirty="0">
                  <a:solidFill>
                    <a:srgbClr val="BF0000"/>
                  </a:solidFill>
                  <a:latin typeface="Microsoft Sans Serif"/>
                  <a:cs typeface="Microsoft Sans Serif"/>
                </a:rPr>
                <a:t> </a:t>
              </a:r>
              <a:r>
                <a:rPr sz="1587" dirty="0">
                  <a:solidFill>
                    <a:srgbClr val="BF0000"/>
                  </a:solidFill>
                  <a:latin typeface="Microsoft Sans Serif"/>
                  <a:cs typeface="Microsoft Sans Serif"/>
                </a:rPr>
                <a:t>Hg</a:t>
              </a:r>
              <a:r>
                <a:rPr sz="1587" spc="23" dirty="0">
                  <a:solidFill>
                    <a:srgbClr val="BF0000"/>
                  </a:solidFill>
                  <a:latin typeface="Microsoft Sans Serif"/>
                  <a:cs typeface="Microsoft Sans Serif"/>
                </a:rPr>
                <a:t> </a:t>
              </a:r>
              <a:r>
                <a:rPr sz="1587" spc="-23" dirty="0">
                  <a:solidFill>
                    <a:srgbClr val="BF0000"/>
                  </a:solidFill>
                  <a:latin typeface="Microsoft Sans Serif"/>
                  <a:cs typeface="Microsoft Sans Serif"/>
                </a:rPr>
                <a:t>(l)</a:t>
              </a:r>
              <a:endParaRPr sz="1587">
                <a:latin typeface="Microsoft Sans Serif"/>
                <a:cs typeface="Microsoft Sans Serif"/>
              </a:endParaRPr>
            </a:p>
            <a:p>
              <a:pPr marL="11516">
                <a:spcBef>
                  <a:spcPts val="9"/>
                </a:spcBef>
                <a:tabLst>
                  <a:tab pos="468716" algn="l"/>
                </a:tabLst>
              </a:pPr>
              <a:r>
                <a:rPr sz="1406" spc="-45" dirty="0">
                  <a:latin typeface="Trebuchet MS"/>
                  <a:cs typeface="Trebuchet MS"/>
                </a:rPr>
                <a:t>-</a:t>
              </a:r>
              <a:r>
                <a:rPr sz="1406" dirty="0">
                  <a:latin typeface="Trebuchet MS"/>
                  <a:cs typeface="Trebuchet MS"/>
                </a:rPr>
                <a:t>	</a:t>
              </a:r>
              <a:r>
                <a:rPr sz="1406" b="1" spc="-54" dirty="0">
                  <a:solidFill>
                    <a:srgbClr val="0000FF"/>
                  </a:solidFill>
                  <a:latin typeface="Tahoma"/>
                  <a:cs typeface="Tahoma"/>
                </a:rPr>
                <a:t>Toxicity</a:t>
              </a:r>
              <a:r>
                <a:rPr sz="1406" b="1" spc="-36" dirty="0">
                  <a:solidFill>
                    <a:srgbClr val="0000FF"/>
                  </a:solidFill>
                  <a:latin typeface="Tahoma"/>
                  <a:cs typeface="Tahoma"/>
                </a:rPr>
                <a:t> </a:t>
              </a:r>
              <a:r>
                <a:rPr sz="1406" b="1" spc="-9" dirty="0">
                  <a:solidFill>
                    <a:srgbClr val="0000FF"/>
                  </a:solidFill>
                  <a:latin typeface="Tahoma"/>
                  <a:cs typeface="Tahoma"/>
                </a:rPr>
                <a:t>issues</a:t>
              </a:r>
              <a:endParaRPr sz="1406">
                <a:latin typeface="Tahoma"/>
                <a:cs typeface="Tahoma"/>
              </a:endParaRPr>
            </a:p>
            <a:p>
              <a:pPr marL="67947" marR="4607" indent="-57006">
                <a:lnSpc>
                  <a:spcPct val="100600"/>
                </a:lnSpc>
                <a:spcBef>
                  <a:spcPts val="1678"/>
                </a:spcBef>
              </a:pPr>
              <a:r>
                <a:rPr sz="1587" dirty="0">
                  <a:solidFill>
                    <a:srgbClr val="BF0000"/>
                  </a:solidFill>
                  <a:latin typeface="Microsoft Sans Serif"/>
                  <a:cs typeface="Microsoft Sans Serif"/>
                </a:rPr>
                <a:t>Thus,</a:t>
              </a:r>
              <a:r>
                <a:rPr sz="1587" spc="-73" dirty="0">
                  <a:solidFill>
                    <a:srgbClr val="BF0000"/>
                  </a:solidFill>
                  <a:latin typeface="Microsoft Sans Serif"/>
                  <a:cs typeface="Microsoft Sans Serif"/>
                </a:rPr>
                <a:t> </a:t>
              </a:r>
              <a:r>
                <a:rPr sz="1587" dirty="0">
                  <a:solidFill>
                    <a:srgbClr val="BF0000"/>
                  </a:solidFill>
                  <a:latin typeface="Microsoft Sans Serif"/>
                  <a:cs typeface="Microsoft Sans Serif"/>
                </a:rPr>
                <a:t>Ag/AgCl</a:t>
              </a:r>
              <a:r>
                <a:rPr sz="1587" spc="-5" dirty="0">
                  <a:solidFill>
                    <a:srgbClr val="BF0000"/>
                  </a:solidFill>
                  <a:latin typeface="Microsoft Sans Serif"/>
                  <a:cs typeface="Microsoft Sans Serif"/>
                </a:rPr>
                <a:t> </a:t>
              </a:r>
              <a:r>
                <a:rPr sz="1587" dirty="0">
                  <a:solidFill>
                    <a:srgbClr val="BF0000"/>
                  </a:solidFill>
                  <a:latin typeface="Microsoft Sans Serif"/>
                  <a:cs typeface="Microsoft Sans Serif"/>
                </a:rPr>
                <a:t>reference</a:t>
              </a:r>
              <a:r>
                <a:rPr sz="1587" spc="9" dirty="0">
                  <a:solidFill>
                    <a:srgbClr val="BF0000"/>
                  </a:solidFill>
                  <a:latin typeface="Microsoft Sans Serif"/>
                  <a:cs typeface="Microsoft Sans Serif"/>
                </a:rPr>
                <a:t> </a:t>
              </a:r>
              <a:r>
                <a:rPr sz="1587" dirty="0">
                  <a:solidFill>
                    <a:srgbClr val="BF0000"/>
                  </a:solidFill>
                  <a:latin typeface="Microsoft Sans Serif"/>
                  <a:cs typeface="Microsoft Sans Serif"/>
                </a:rPr>
                <a:t>electrodes</a:t>
              </a:r>
              <a:r>
                <a:rPr sz="1587" spc="5" dirty="0">
                  <a:solidFill>
                    <a:srgbClr val="BF0000"/>
                  </a:solidFill>
                  <a:latin typeface="Microsoft Sans Serif"/>
                  <a:cs typeface="Microsoft Sans Serif"/>
                </a:rPr>
                <a:t> </a:t>
              </a:r>
              <a:r>
                <a:rPr sz="1587" dirty="0">
                  <a:solidFill>
                    <a:srgbClr val="BF0000"/>
                  </a:solidFill>
                  <a:latin typeface="Microsoft Sans Serif"/>
                  <a:cs typeface="Microsoft Sans Serif"/>
                </a:rPr>
                <a:t>are</a:t>
              </a:r>
              <a:r>
                <a:rPr sz="1587" spc="9" dirty="0">
                  <a:solidFill>
                    <a:srgbClr val="BF0000"/>
                  </a:solidFill>
                  <a:latin typeface="Microsoft Sans Serif"/>
                  <a:cs typeface="Microsoft Sans Serif"/>
                </a:rPr>
                <a:t> </a:t>
              </a:r>
              <a:r>
                <a:rPr sz="1587" spc="-18" dirty="0">
                  <a:solidFill>
                    <a:srgbClr val="BF0000"/>
                  </a:solidFill>
                  <a:latin typeface="Microsoft Sans Serif"/>
                  <a:cs typeface="Microsoft Sans Serif"/>
                </a:rPr>
                <a:t>more </a:t>
              </a:r>
              <a:r>
                <a:rPr sz="1587" dirty="0">
                  <a:solidFill>
                    <a:srgbClr val="BF0000"/>
                  </a:solidFill>
                  <a:latin typeface="Microsoft Sans Serif"/>
                  <a:cs typeface="Microsoft Sans Serif"/>
                </a:rPr>
                <a:t>commonly </a:t>
              </a:r>
              <a:r>
                <a:rPr sz="1587" spc="-18" dirty="0">
                  <a:solidFill>
                    <a:srgbClr val="BF0000"/>
                  </a:solidFill>
                  <a:latin typeface="Microsoft Sans Serif"/>
                  <a:cs typeface="Microsoft Sans Serif"/>
                </a:rPr>
                <a:t>used!</a:t>
              </a:r>
              <a:endParaRPr sz="1587">
                <a:latin typeface="Microsoft Sans Serif"/>
                <a:cs typeface="Microsoft Sans Serif"/>
              </a:endParaRPr>
            </a:p>
          </p:txBody>
        </p:sp>
        <p:sp>
          <p:nvSpPr>
            <p:cNvPr id="8" name="object 8"/>
            <p:cNvSpPr txBox="1"/>
            <p:nvPr/>
          </p:nvSpPr>
          <p:spPr>
            <a:xfrm>
              <a:off x="1902602" y="3827625"/>
              <a:ext cx="119770" cy="158725"/>
            </a:xfrm>
            <a:prstGeom prst="rect">
              <a:avLst/>
            </a:prstGeom>
          </p:spPr>
          <p:txBody>
            <a:bodyPr vert="horz" wrap="square" lIns="0" tIns="12092" rIns="0" bIns="0" rtlCol="0">
              <a:spAutoFit/>
            </a:bodyPr>
            <a:lstStyle/>
            <a:p>
              <a:pPr marL="11516">
                <a:spcBef>
                  <a:spcPts val="95"/>
                </a:spcBef>
              </a:pPr>
              <a:r>
                <a:rPr sz="952" spc="-145" dirty="0">
                  <a:solidFill>
                    <a:srgbClr val="CC3300"/>
                  </a:solidFill>
                  <a:latin typeface="Calibri"/>
                  <a:cs typeface="Calibri"/>
                </a:rPr>
                <a:t>➢</a:t>
              </a:r>
              <a:endParaRPr sz="952">
                <a:latin typeface="Calibri"/>
                <a:cs typeface="Calibri"/>
              </a:endParaRPr>
            </a:p>
          </p:txBody>
        </p:sp>
        <p:sp>
          <p:nvSpPr>
            <p:cNvPr id="12" name="object 12"/>
            <p:cNvSpPr/>
            <p:nvPr/>
          </p:nvSpPr>
          <p:spPr>
            <a:xfrm>
              <a:off x="2480711" y="4677950"/>
              <a:ext cx="11516" cy="23608"/>
            </a:xfrm>
            <a:custGeom>
              <a:avLst/>
              <a:gdLst/>
              <a:ahLst/>
              <a:cxnLst/>
              <a:rect l="l" t="t" r="r" b="b"/>
              <a:pathLst>
                <a:path w="12700" h="26035">
                  <a:moveTo>
                    <a:pt x="7620" y="25908"/>
                  </a:moveTo>
                  <a:lnTo>
                    <a:pt x="4572" y="24384"/>
                  </a:lnTo>
                  <a:lnTo>
                    <a:pt x="1524" y="21336"/>
                  </a:lnTo>
                  <a:lnTo>
                    <a:pt x="1524" y="16764"/>
                  </a:lnTo>
                  <a:lnTo>
                    <a:pt x="0" y="15240"/>
                  </a:lnTo>
                  <a:lnTo>
                    <a:pt x="0" y="6096"/>
                  </a:lnTo>
                  <a:lnTo>
                    <a:pt x="3048" y="3048"/>
                  </a:lnTo>
                  <a:lnTo>
                    <a:pt x="4572" y="0"/>
                  </a:lnTo>
                  <a:lnTo>
                    <a:pt x="10668" y="0"/>
                  </a:lnTo>
                  <a:lnTo>
                    <a:pt x="12192" y="1524"/>
                  </a:lnTo>
                  <a:lnTo>
                    <a:pt x="12192" y="6096"/>
                  </a:lnTo>
                  <a:lnTo>
                    <a:pt x="10668" y="6096"/>
                  </a:lnTo>
                  <a:lnTo>
                    <a:pt x="7620" y="10668"/>
                  </a:lnTo>
                  <a:lnTo>
                    <a:pt x="10668" y="10668"/>
                  </a:lnTo>
                  <a:lnTo>
                    <a:pt x="10668" y="18288"/>
                  </a:lnTo>
                  <a:lnTo>
                    <a:pt x="12192" y="19812"/>
                  </a:lnTo>
                  <a:lnTo>
                    <a:pt x="12192" y="22860"/>
                  </a:lnTo>
                  <a:lnTo>
                    <a:pt x="9144" y="24384"/>
                  </a:lnTo>
                  <a:lnTo>
                    <a:pt x="7620" y="25908"/>
                  </a:lnTo>
                  <a:close/>
                </a:path>
                <a:path w="12700" h="26035">
                  <a:moveTo>
                    <a:pt x="7620" y="10668"/>
                  </a:moveTo>
                  <a:lnTo>
                    <a:pt x="10668" y="6096"/>
                  </a:lnTo>
                  <a:lnTo>
                    <a:pt x="10668" y="9144"/>
                  </a:lnTo>
                  <a:lnTo>
                    <a:pt x="7620" y="10668"/>
                  </a:lnTo>
                  <a:close/>
                </a:path>
                <a:path w="12700" h="26035">
                  <a:moveTo>
                    <a:pt x="10668" y="9144"/>
                  </a:moveTo>
                  <a:lnTo>
                    <a:pt x="10668" y="6096"/>
                  </a:lnTo>
                  <a:lnTo>
                    <a:pt x="12192" y="6096"/>
                  </a:lnTo>
                  <a:lnTo>
                    <a:pt x="12192" y="7620"/>
                  </a:lnTo>
                  <a:lnTo>
                    <a:pt x="10668" y="9144"/>
                  </a:lnTo>
                  <a:close/>
                </a:path>
                <a:path w="12700" h="26035">
                  <a:moveTo>
                    <a:pt x="10668" y="10668"/>
                  </a:moveTo>
                  <a:lnTo>
                    <a:pt x="7620" y="10668"/>
                  </a:lnTo>
                  <a:lnTo>
                    <a:pt x="10668" y="9144"/>
                  </a:lnTo>
                  <a:lnTo>
                    <a:pt x="10668" y="10668"/>
                  </a:lnTo>
                  <a:close/>
                </a:path>
              </a:pathLst>
            </a:custGeom>
            <a:solidFill>
              <a:srgbClr val="FF0000"/>
            </a:solidFill>
          </p:spPr>
          <p:txBody>
            <a:bodyPr wrap="square" lIns="0" tIns="0" rIns="0" bIns="0" rtlCol="0"/>
            <a:lstStyle/>
            <a:p>
              <a:endParaRPr sz="1632"/>
            </a:p>
          </p:txBody>
        </p:sp>
      </p:grpSp>
      <p:sp>
        <p:nvSpPr>
          <p:cNvPr id="15" name="object 12">
            <a:extLst>
              <a:ext uri="{FF2B5EF4-FFF2-40B4-BE49-F238E27FC236}">
                <a16:creationId xmlns:a16="http://schemas.microsoft.com/office/drawing/2014/main" id="{EF370737-39E4-F3F4-541B-6D7D7ECB236D}"/>
              </a:ext>
            </a:extLst>
          </p:cNvPr>
          <p:cNvSpPr txBox="1">
            <a:spLocks noGrp="1"/>
          </p:cNvSpPr>
          <p:nvPr>
            <p:ph type="title"/>
          </p:nvPr>
        </p:nvSpPr>
        <p:spPr>
          <a:xfrm>
            <a:off x="3569929" y="139796"/>
            <a:ext cx="3077759" cy="353090"/>
          </a:xfrm>
          <a:prstGeom prst="rect">
            <a:avLst/>
          </a:prstGeom>
        </p:spPr>
        <p:txBody>
          <a:bodyPr vert="horz" wrap="square" lIns="0" tIns="14395" rIns="0" bIns="0" rtlCol="0" anchor="ctr">
            <a:spAutoFit/>
          </a:bodyPr>
          <a:lstStyle/>
          <a:p>
            <a:pPr marL="11516">
              <a:lnSpc>
                <a:spcPct val="100000"/>
              </a:lnSpc>
              <a:spcBef>
                <a:spcPts val="113"/>
              </a:spcBef>
            </a:pPr>
            <a:r>
              <a:rPr lang="en-IN" sz="2200" dirty="0">
                <a:solidFill>
                  <a:srgbClr val="C00000"/>
                </a:solidFill>
                <a:latin typeface="Arial" panose="020B0604020202020204" pitchFamily="34" charset="0"/>
                <a:cs typeface="Arial" panose="020B0604020202020204" pitchFamily="34" charset="0"/>
              </a:rPr>
              <a:t>Reference</a:t>
            </a:r>
            <a:r>
              <a:rPr sz="2200" spc="14" dirty="0">
                <a:solidFill>
                  <a:srgbClr val="C00000"/>
                </a:solidFill>
                <a:latin typeface="Arial" panose="020B0604020202020204" pitchFamily="34" charset="0"/>
                <a:cs typeface="Arial" panose="020B0604020202020204" pitchFamily="34" charset="0"/>
              </a:rPr>
              <a:t> </a:t>
            </a:r>
            <a:r>
              <a:rPr sz="2200" spc="-9" dirty="0">
                <a:solidFill>
                  <a:srgbClr val="C00000"/>
                </a:solidFill>
                <a:latin typeface="Arial" panose="020B0604020202020204" pitchFamily="34" charset="0"/>
                <a:cs typeface="Arial" panose="020B0604020202020204" pitchFamily="34" charset="0"/>
              </a:rPr>
              <a:t>electrodes</a:t>
            </a:r>
            <a:endParaRPr sz="220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27881" y="80154"/>
            <a:ext cx="9141697" cy="66970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36387</TotalTime>
  <Words>2761</Words>
  <Application>Microsoft Office PowerPoint</Application>
  <PresentationFormat>Custom</PresentationFormat>
  <Paragraphs>235</Paragraphs>
  <Slides>25</Slides>
  <Notes>0</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41" baseType="lpstr">
      <vt:lpstr>Arial</vt:lpstr>
      <vt:lpstr>Calibri</vt:lpstr>
      <vt:lpstr>Calibri Light</vt:lpstr>
      <vt:lpstr>MathematicalPi-One</vt:lpstr>
      <vt:lpstr>Microsoft Sans Serif</vt:lpstr>
      <vt:lpstr>SabonLTStd-Italic</vt:lpstr>
      <vt:lpstr>SabonLTStd-Roman</vt:lpstr>
      <vt:lpstr>STIXGeneral-Regular</vt:lpstr>
      <vt:lpstr>Symbol</vt:lpstr>
      <vt:lpstr>Tahoma</vt:lpstr>
      <vt:lpstr>TimesLTStd-Italic</vt:lpstr>
      <vt:lpstr>TimesLTStd-Roman</vt:lpstr>
      <vt:lpstr>Trebuchet MS</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the example above, the reactions occuring are:</vt:lpstr>
      <vt:lpstr>PowerPoint Presentation</vt:lpstr>
      <vt:lpstr>PowerPoint Presentation</vt:lpstr>
      <vt:lpstr>PowerPoint Presentation</vt:lpstr>
      <vt:lpstr>PowerPoint Presentation</vt:lpstr>
      <vt:lpstr>PowerPoint Presentation</vt:lpstr>
      <vt:lpstr>PowerPoint Presentation</vt:lpstr>
      <vt:lpstr>How to measure E0 standard electrode potential?</vt:lpstr>
      <vt:lpstr>Standard electrode potential E0: Is the e.m.f. produced when a half cell consisiting of an element immersed in one molar solution of its ions is coupled with NHE.</vt:lpstr>
      <vt:lpstr>PowerPoint Presentation</vt:lpstr>
      <vt:lpstr>PowerPoint Presentation</vt:lpstr>
      <vt:lpstr>PowerPoint Presentation</vt:lpstr>
      <vt:lpstr>PowerPoint Presentation</vt:lpstr>
      <vt:lpstr>PowerPoint Presentation</vt:lpstr>
      <vt:lpstr>PowerPoint Presentation</vt:lpstr>
      <vt:lpstr>Reference electrodes</vt:lpstr>
      <vt:lpstr>Reference electrodes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Venkataramanan Mahalingam</dc:creator>
  <cp:lastModifiedBy>Arya Basak</cp:lastModifiedBy>
  <cp:revision>196</cp:revision>
  <dcterms:created xsi:type="dcterms:W3CDTF">2025-01-03T06:00:32Z</dcterms:created>
  <dcterms:modified xsi:type="dcterms:W3CDTF">2025-02-28T18:16:03Z</dcterms:modified>
</cp:coreProperties>
</file>