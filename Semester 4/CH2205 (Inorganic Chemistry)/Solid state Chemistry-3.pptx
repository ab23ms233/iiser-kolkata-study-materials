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1" r:id="rId6"/>
    <p:sldId id="260" r:id="rId7"/>
    <p:sldId id="263" r:id="rId8"/>
    <p:sldId id="264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0BF068-BDFC-43FF-BDBF-29275E0B7B4C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43EC4-E60E-4E84-913B-285255B8A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518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43EC4-E60E-4E84-913B-285255B8A92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676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549B5-6EB2-D23F-D044-701672841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B5101-ED19-A9FF-4138-2E33E5DA2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B7A5D-1C84-840E-4EDC-ED18553E2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41362-4558-4C76-9F29-ABA865CBDA4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E5F69-74A1-EC29-2DAF-44591C959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631F2-41F1-216F-1498-3AC34131E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D519E-E5C1-40CA-958F-A8AA5DF90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16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B2C6-F581-4CD2-ADDA-8D38680EB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8EBEC-D3A7-BD38-9913-DA58C832A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20C11-F66C-6C47-707E-A2DFBF660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41362-4558-4C76-9F29-ABA865CBDA4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0218-2D97-BF1D-C52D-C35C203D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ED791-E32B-A577-747D-6C6D9AA97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D519E-E5C1-40CA-958F-A8AA5DF90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82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26046-BDD4-4F96-8042-3D6C1EF82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D097D-D967-5635-B73D-3B9EC809B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A56CB-422D-C3E7-6728-CF5A421F8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41362-4558-4C76-9F29-ABA865CBDA4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0A0BF-0E31-1906-EC30-0E62A4046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DB749-32C5-188D-C20D-C78CD525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D519E-E5C1-40CA-958F-A8AA5DF90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808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86514-F934-4056-5AE3-AC0220D00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08FA4-84C3-5DE2-9BB8-4B20212EDF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13056-46EF-32F1-0118-C5DE23A9B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A5932-4FC0-6A43-B628-E994EEC2C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41362-4558-4C76-9F29-ABA865CBDA4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9D0D6-03B3-ED62-9B67-78689E507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EC7D0-20F6-B64A-880F-5BF2153B5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D519E-E5C1-40CA-958F-A8AA5DF90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754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FF5A8-61EC-14CD-43DB-F72E5AAFE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AD7A8-C00B-CF1C-D9FB-6A72BD9C8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0AB7A-4D64-DB2F-9BF0-FE4D74335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21F73-5C5E-9F2F-CB09-0A0AC6049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761526-33D9-9B8E-B37A-8FBB6A49FC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18C6C5-6296-29E2-B7E9-3FADE9C4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41362-4558-4C76-9F29-ABA865CBDA4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F17B6B-DC0A-77C8-03B1-5E0728311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4AE346-04DC-265A-EC37-3D0F1029B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D519E-E5C1-40CA-958F-A8AA5DF90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339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2897-D661-077F-B662-11A7E29BC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349560-DB32-4001-537D-4E5848BEC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41362-4558-4C76-9F29-ABA865CBDA4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FADFAE-14A0-FD0F-F6BB-587F3CB78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969742-0A5E-5C34-29AC-7E9B184C2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D519E-E5C1-40CA-958F-A8AA5DF90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781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C445EA-3834-118A-5D64-FD4AA3F23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41362-4558-4C76-9F29-ABA865CBDA4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175E2B-E5D0-69D4-289C-69819B0A5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834F1-3B6E-BFF3-9F50-664BC860E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D519E-E5C1-40CA-958F-A8AA5DF90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353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B2EB6-4E54-6833-458B-FA8751241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861C1-B4F5-B0FB-14F8-DF49A0F72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BFE64F-3D13-BD5B-92CF-67C4E1417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D3D21-0EDD-C668-5817-3069D6DF1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41362-4558-4C76-9F29-ABA865CBDA4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94D63-7E95-50D3-9DA4-9AE92D724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D2316-CF4E-ECE8-D495-388E2903C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D519E-E5C1-40CA-958F-A8AA5DF90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48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FA852-0A06-E907-26E0-B39B041B7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36178B-D97A-1A7A-B38D-2C81AA7668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84B30D-806D-0415-CE7A-8EE88593E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1498B-1614-B5DB-71CB-FAF2D736B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41362-4558-4C76-9F29-ABA865CBDA4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C4591-A5C9-75F5-DD58-E0CB6807A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0240A-4023-ACEB-EAEA-68B1274F7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D519E-E5C1-40CA-958F-A8AA5DF90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84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53E16-FEDB-6573-4547-F2BF1CCD0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889C55-C63C-0C76-59A5-1C2C32171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66ED0-F4F9-F911-E654-F891831B2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41362-4558-4C76-9F29-ABA865CBDA4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72596-E237-199B-617B-249C50483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EE89B-1EE0-5F6B-71D1-B9CA77A93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D519E-E5C1-40CA-958F-A8AA5DF90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998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A851E0-29F2-9BD4-0781-B84903A454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65481-5FFA-9D15-FFDB-5B6C13F8A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D2AFB-5FF3-83B6-1774-3F7D79C92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41362-4558-4C76-9F29-ABA865CBDA4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476A6-4710-4773-11D5-9B965ED90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B0589-B6A0-8569-CDFE-126D3FE43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D519E-E5C1-40CA-958F-A8AA5DF90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365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BA479B-6CFB-98A8-37AD-64BD9972E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63051-645E-02E9-65A1-C06E88734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5516D-5A21-DFBD-9DF3-AFB239DDD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41362-4558-4C76-9F29-ABA865CBDA44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13D78-379E-18BB-F4AD-15109C14C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9B24F-59AB-B5B5-0D8D-4ACAB67EC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8D519E-E5C1-40CA-958F-A8AA5DF90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480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AB827-3FFD-13BC-3265-FE5D3ED8A3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4584" y="35758"/>
            <a:ext cx="9144000" cy="483298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Miller Indices-concept of planes</a:t>
            </a:r>
            <a:endParaRPr lang="en-IN" sz="2200" b="1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219B3B-E0ED-CA1A-7CDC-9C2DC0709B77}"/>
              </a:ext>
            </a:extLst>
          </p:cNvPr>
          <p:cNvSpPr txBox="1"/>
          <p:nvPr/>
        </p:nvSpPr>
        <p:spPr>
          <a:xfrm>
            <a:off x="967985" y="605734"/>
            <a:ext cx="10051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Consider the 2D array of lattice points as shown below. This array may be divided into many different sets of rows and for each set there is a characteristic perpendicular distance, </a:t>
            </a:r>
            <a:r>
              <a:rPr lang="en-US" sz="16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, between pairs of adjacent rows.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642714B-D86A-3324-0715-70A7406B3F60}"/>
              </a:ext>
            </a:extLst>
          </p:cNvPr>
          <p:cNvGrpSpPr/>
          <p:nvPr/>
        </p:nvGrpSpPr>
        <p:grpSpPr>
          <a:xfrm>
            <a:off x="1499616" y="2255524"/>
            <a:ext cx="2615184" cy="1962911"/>
            <a:chOff x="1828800" y="2667004"/>
            <a:chExt cx="2615184" cy="196291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E1C5411-3A10-36B1-6B69-816BB1ECBF0A}"/>
                </a:ext>
              </a:extLst>
            </p:cNvPr>
            <p:cNvGrpSpPr/>
            <p:nvPr/>
          </p:nvGrpSpPr>
          <p:grpSpPr>
            <a:xfrm>
              <a:off x="1831848" y="3191262"/>
              <a:ext cx="2612136" cy="399285"/>
              <a:chOff x="1679448" y="2514604"/>
              <a:chExt cx="2612136" cy="399285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DDFBF67-E42A-B6C7-F3A0-9173177F26BE}"/>
                  </a:ext>
                </a:extLst>
              </p:cNvPr>
              <p:cNvSpPr/>
              <p:nvPr/>
            </p:nvSpPr>
            <p:spPr>
              <a:xfrm>
                <a:off x="1691640" y="2516127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A074A4C-D7CB-E409-EEDD-8206F7A1442F}"/>
                  </a:ext>
                </a:extLst>
              </p:cNvPr>
              <p:cNvSpPr/>
              <p:nvPr/>
            </p:nvSpPr>
            <p:spPr>
              <a:xfrm>
                <a:off x="2334768" y="2519182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568A8C5-493C-B0B2-89EC-A27A5CC3D177}"/>
                  </a:ext>
                </a:extLst>
              </p:cNvPr>
              <p:cNvSpPr/>
              <p:nvPr/>
            </p:nvSpPr>
            <p:spPr>
              <a:xfrm>
                <a:off x="2618232" y="2516894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5A9077AC-73EA-AB14-3891-599E9B1DF6B0}"/>
                  </a:ext>
                </a:extLst>
              </p:cNvPr>
              <p:cNvSpPr/>
              <p:nvPr/>
            </p:nvSpPr>
            <p:spPr>
              <a:xfrm>
                <a:off x="2919984" y="2523749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0C416DC5-1700-7D9E-E249-1B40733D5FCA}"/>
                  </a:ext>
                </a:extLst>
              </p:cNvPr>
              <p:cNvSpPr/>
              <p:nvPr/>
            </p:nvSpPr>
            <p:spPr>
              <a:xfrm>
                <a:off x="3218688" y="2514604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E9BE8BA-C18D-7709-C4D6-F542BD48415F}"/>
                  </a:ext>
                </a:extLst>
              </p:cNvPr>
              <p:cNvSpPr/>
              <p:nvPr/>
            </p:nvSpPr>
            <p:spPr>
              <a:xfrm>
                <a:off x="3553968" y="2523749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215D340-319E-34E6-E5F0-0C291D2B599D}"/>
                  </a:ext>
                </a:extLst>
              </p:cNvPr>
              <p:cNvSpPr/>
              <p:nvPr/>
            </p:nvSpPr>
            <p:spPr>
              <a:xfrm>
                <a:off x="3870960" y="2523749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C991A3B-F6FD-2BDF-11EE-75D158B3183D}"/>
                  </a:ext>
                </a:extLst>
              </p:cNvPr>
              <p:cNvSpPr/>
              <p:nvPr/>
            </p:nvSpPr>
            <p:spPr>
              <a:xfrm>
                <a:off x="2008632" y="2523749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1C81A99-72D8-2ABE-7EA0-DC8D63AF7FAF}"/>
                  </a:ext>
                </a:extLst>
              </p:cNvPr>
              <p:cNvSpPr/>
              <p:nvPr/>
            </p:nvSpPr>
            <p:spPr>
              <a:xfrm>
                <a:off x="4145280" y="2523748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2DD4A5E7-1556-F33A-0B2A-ED74F2FD0641}"/>
                  </a:ext>
                </a:extLst>
              </p:cNvPr>
              <p:cNvSpPr/>
              <p:nvPr/>
            </p:nvSpPr>
            <p:spPr>
              <a:xfrm>
                <a:off x="1679448" y="2769111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651FE6F-9DAE-2B13-10A6-B2FDC93117F1}"/>
                  </a:ext>
                </a:extLst>
              </p:cNvPr>
              <p:cNvSpPr/>
              <p:nvPr/>
            </p:nvSpPr>
            <p:spPr>
              <a:xfrm>
                <a:off x="2322576" y="2772166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C959FE03-4D11-61E4-0AE1-FAD91BF31CAF}"/>
                  </a:ext>
                </a:extLst>
              </p:cNvPr>
              <p:cNvSpPr/>
              <p:nvPr/>
            </p:nvSpPr>
            <p:spPr>
              <a:xfrm>
                <a:off x="2606040" y="2769878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5D7DCCB-5B63-E430-E826-2377831244A6}"/>
                  </a:ext>
                </a:extLst>
              </p:cNvPr>
              <p:cNvSpPr/>
              <p:nvPr/>
            </p:nvSpPr>
            <p:spPr>
              <a:xfrm>
                <a:off x="2907792" y="2776733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0C4FCCB3-2989-5EE0-5A35-E72B850110E1}"/>
                  </a:ext>
                </a:extLst>
              </p:cNvPr>
              <p:cNvSpPr/>
              <p:nvPr/>
            </p:nvSpPr>
            <p:spPr>
              <a:xfrm>
                <a:off x="3206496" y="2767588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82873BE-3684-5767-0278-846AA7AE4716}"/>
                  </a:ext>
                </a:extLst>
              </p:cNvPr>
              <p:cNvSpPr/>
              <p:nvPr/>
            </p:nvSpPr>
            <p:spPr>
              <a:xfrm>
                <a:off x="3541776" y="2776733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742E4FBB-0BF1-FD65-FB45-1F7A991F2DD0}"/>
                  </a:ext>
                </a:extLst>
              </p:cNvPr>
              <p:cNvSpPr/>
              <p:nvPr/>
            </p:nvSpPr>
            <p:spPr>
              <a:xfrm>
                <a:off x="3858768" y="2776733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3FE8F0EB-F741-796D-F12F-CEC8082C4BF6}"/>
                  </a:ext>
                </a:extLst>
              </p:cNvPr>
              <p:cNvSpPr/>
              <p:nvPr/>
            </p:nvSpPr>
            <p:spPr>
              <a:xfrm>
                <a:off x="1996440" y="2776733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7E3280F-E42E-3FEB-6058-F9E71BD5FC92}"/>
                  </a:ext>
                </a:extLst>
              </p:cNvPr>
              <p:cNvSpPr/>
              <p:nvPr/>
            </p:nvSpPr>
            <p:spPr>
              <a:xfrm>
                <a:off x="4133088" y="2767588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C7F4DA7-8DE6-7877-715B-4A045252DAAC}"/>
                </a:ext>
              </a:extLst>
            </p:cNvPr>
            <p:cNvGrpSpPr/>
            <p:nvPr/>
          </p:nvGrpSpPr>
          <p:grpSpPr>
            <a:xfrm>
              <a:off x="1831848" y="2667004"/>
              <a:ext cx="2612136" cy="399285"/>
              <a:chOff x="1679448" y="2514604"/>
              <a:chExt cx="2612136" cy="399285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8C7ABF7-96DC-4D17-0992-C76C0B2F1847}"/>
                  </a:ext>
                </a:extLst>
              </p:cNvPr>
              <p:cNvSpPr/>
              <p:nvPr/>
            </p:nvSpPr>
            <p:spPr>
              <a:xfrm>
                <a:off x="1691640" y="2516127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218B1D9C-1091-8D34-0169-16FB01715577}"/>
                  </a:ext>
                </a:extLst>
              </p:cNvPr>
              <p:cNvSpPr/>
              <p:nvPr/>
            </p:nvSpPr>
            <p:spPr>
              <a:xfrm>
                <a:off x="2334768" y="2519182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44517C27-5165-6E5D-5220-9F597903A6AB}"/>
                  </a:ext>
                </a:extLst>
              </p:cNvPr>
              <p:cNvSpPr/>
              <p:nvPr/>
            </p:nvSpPr>
            <p:spPr>
              <a:xfrm>
                <a:off x="2618232" y="2516894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3F1D8742-CDD4-EE5F-D208-769C169230ED}"/>
                  </a:ext>
                </a:extLst>
              </p:cNvPr>
              <p:cNvSpPr/>
              <p:nvPr/>
            </p:nvSpPr>
            <p:spPr>
              <a:xfrm>
                <a:off x="2919984" y="2523749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2F9322F2-9069-F6F6-24E1-9AA1B2B8C474}"/>
                  </a:ext>
                </a:extLst>
              </p:cNvPr>
              <p:cNvSpPr/>
              <p:nvPr/>
            </p:nvSpPr>
            <p:spPr>
              <a:xfrm>
                <a:off x="3218688" y="2514604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CE5A0AB7-D64B-5E01-3FF5-2A6624038EFD}"/>
                  </a:ext>
                </a:extLst>
              </p:cNvPr>
              <p:cNvSpPr/>
              <p:nvPr/>
            </p:nvSpPr>
            <p:spPr>
              <a:xfrm>
                <a:off x="3553968" y="2523749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4CCD1805-415F-8692-F8AD-7FD63764DF51}"/>
                  </a:ext>
                </a:extLst>
              </p:cNvPr>
              <p:cNvSpPr/>
              <p:nvPr/>
            </p:nvSpPr>
            <p:spPr>
              <a:xfrm>
                <a:off x="3870960" y="2523749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601650A5-3054-E42E-37DE-A3F079BD474F}"/>
                  </a:ext>
                </a:extLst>
              </p:cNvPr>
              <p:cNvSpPr/>
              <p:nvPr/>
            </p:nvSpPr>
            <p:spPr>
              <a:xfrm>
                <a:off x="2008632" y="2523749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8F8C6FAD-B4C4-8594-9572-AA973ABD8679}"/>
                  </a:ext>
                </a:extLst>
              </p:cNvPr>
              <p:cNvSpPr/>
              <p:nvPr/>
            </p:nvSpPr>
            <p:spPr>
              <a:xfrm>
                <a:off x="4145280" y="2523748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D77DA274-660E-E369-2154-C3753B652764}"/>
                  </a:ext>
                </a:extLst>
              </p:cNvPr>
              <p:cNvSpPr/>
              <p:nvPr/>
            </p:nvSpPr>
            <p:spPr>
              <a:xfrm>
                <a:off x="1679448" y="2769111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66130F16-C7C9-E21B-46B2-414B1205C6CA}"/>
                  </a:ext>
                </a:extLst>
              </p:cNvPr>
              <p:cNvSpPr/>
              <p:nvPr/>
            </p:nvSpPr>
            <p:spPr>
              <a:xfrm>
                <a:off x="2322576" y="2772166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3D90F80-B0BE-4572-FA9A-C6703F2C1821}"/>
                  </a:ext>
                </a:extLst>
              </p:cNvPr>
              <p:cNvSpPr/>
              <p:nvPr/>
            </p:nvSpPr>
            <p:spPr>
              <a:xfrm>
                <a:off x="2606040" y="2769878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AA77FEA-EAD8-F947-09F5-5954242FD732}"/>
                  </a:ext>
                </a:extLst>
              </p:cNvPr>
              <p:cNvSpPr/>
              <p:nvPr/>
            </p:nvSpPr>
            <p:spPr>
              <a:xfrm>
                <a:off x="2907792" y="2776733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ADAF83B9-1D10-FD2F-E504-5511D3F599B6}"/>
                  </a:ext>
                </a:extLst>
              </p:cNvPr>
              <p:cNvSpPr/>
              <p:nvPr/>
            </p:nvSpPr>
            <p:spPr>
              <a:xfrm>
                <a:off x="3206496" y="2767588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57C5BA1-5D98-9848-CD71-D3220D5D4417}"/>
                  </a:ext>
                </a:extLst>
              </p:cNvPr>
              <p:cNvSpPr/>
              <p:nvPr/>
            </p:nvSpPr>
            <p:spPr>
              <a:xfrm>
                <a:off x="3541776" y="2776733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306C108-0191-B391-8158-E5BA92857BFA}"/>
                  </a:ext>
                </a:extLst>
              </p:cNvPr>
              <p:cNvSpPr/>
              <p:nvPr/>
            </p:nvSpPr>
            <p:spPr>
              <a:xfrm>
                <a:off x="3858768" y="2776733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429596A7-82DE-B53A-6A4B-6BDE6EC7B268}"/>
                  </a:ext>
                </a:extLst>
              </p:cNvPr>
              <p:cNvSpPr/>
              <p:nvPr/>
            </p:nvSpPr>
            <p:spPr>
              <a:xfrm>
                <a:off x="1996440" y="2776733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F747DBCF-31E5-DDF5-2B3B-22327E1D4CAE}"/>
                  </a:ext>
                </a:extLst>
              </p:cNvPr>
              <p:cNvSpPr/>
              <p:nvPr/>
            </p:nvSpPr>
            <p:spPr>
              <a:xfrm>
                <a:off x="4133088" y="2767588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BAFA6B99-4458-C4EF-2784-AABACA44CC91}"/>
                </a:ext>
              </a:extLst>
            </p:cNvPr>
            <p:cNvGrpSpPr/>
            <p:nvPr/>
          </p:nvGrpSpPr>
          <p:grpSpPr>
            <a:xfrm>
              <a:off x="1828800" y="4230630"/>
              <a:ext cx="2612136" cy="399285"/>
              <a:chOff x="1679448" y="2514604"/>
              <a:chExt cx="2612136" cy="399285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2CE1EA1E-8E15-B410-126C-9FA552823A80}"/>
                  </a:ext>
                </a:extLst>
              </p:cNvPr>
              <p:cNvSpPr/>
              <p:nvPr/>
            </p:nvSpPr>
            <p:spPr>
              <a:xfrm>
                <a:off x="1691640" y="2516127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FACA7FB6-0586-9130-7799-36413124CF8E}"/>
                  </a:ext>
                </a:extLst>
              </p:cNvPr>
              <p:cNvSpPr/>
              <p:nvPr/>
            </p:nvSpPr>
            <p:spPr>
              <a:xfrm>
                <a:off x="2334768" y="2519182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191F4386-90C5-DEA0-3CDE-BD9D1D251FF7}"/>
                  </a:ext>
                </a:extLst>
              </p:cNvPr>
              <p:cNvSpPr/>
              <p:nvPr/>
            </p:nvSpPr>
            <p:spPr>
              <a:xfrm>
                <a:off x="2618232" y="2516894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82F1D3D2-1EA0-DCEB-5960-75DBE24305F0}"/>
                  </a:ext>
                </a:extLst>
              </p:cNvPr>
              <p:cNvSpPr/>
              <p:nvPr/>
            </p:nvSpPr>
            <p:spPr>
              <a:xfrm>
                <a:off x="2919984" y="2523749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9F1A67D9-94B9-3E58-5A3D-A24EF370C87E}"/>
                  </a:ext>
                </a:extLst>
              </p:cNvPr>
              <p:cNvSpPr/>
              <p:nvPr/>
            </p:nvSpPr>
            <p:spPr>
              <a:xfrm>
                <a:off x="3218688" y="2514604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E4A94D8E-60A0-B585-1317-6A3B8789F98A}"/>
                  </a:ext>
                </a:extLst>
              </p:cNvPr>
              <p:cNvSpPr/>
              <p:nvPr/>
            </p:nvSpPr>
            <p:spPr>
              <a:xfrm>
                <a:off x="3553968" y="2523749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28F330BE-98AA-7EC0-3BC2-3E8908E484DD}"/>
                  </a:ext>
                </a:extLst>
              </p:cNvPr>
              <p:cNvSpPr/>
              <p:nvPr/>
            </p:nvSpPr>
            <p:spPr>
              <a:xfrm>
                <a:off x="3861816" y="2523749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3581530C-0D93-5825-6CDC-D53F9A68750B}"/>
                  </a:ext>
                </a:extLst>
              </p:cNvPr>
              <p:cNvSpPr/>
              <p:nvPr/>
            </p:nvSpPr>
            <p:spPr>
              <a:xfrm>
                <a:off x="2008632" y="2523749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1CB97C1D-5F0D-807A-A774-DEEA767F871D}"/>
                  </a:ext>
                </a:extLst>
              </p:cNvPr>
              <p:cNvSpPr/>
              <p:nvPr/>
            </p:nvSpPr>
            <p:spPr>
              <a:xfrm>
                <a:off x="4145280" y="2523748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2E37FCC1-A6B3-88D8-80B2-6A6845E3BB70}"/>
                  </a:ext>
                </a:extLst>
              </p:cNvPr>
              <p:cNvSpPr/>
              <p:nvPr/>
            </p:nvSpPr>
            <p:spPr>
              <a:xfrm>
                <a:off x="1679448" y="2769111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E6AEFB0A-F106-DFFD-53EA-6AD39264DB05}"/>
                  </a:ext>
                </a:extLst>
              </p:cNvPr>
              <p:cNvSpPr/>
              <p:nvPr/>
            </p:nvSpPr>
            <p:spPr>
              <a:xfrm>
                <a:off x="2322576" y="2772166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F1565FA6-DE20-0763-69CA-C3F70581F8F8}"/>
                  </a:ext>
                </a:extLst>
              </p:cNvPr>
              <p:cNvSpPr/>
              <p:nvPr/>
            </p:nvSpPr>
            <p:spPr>
              <a:xfrm>
                <a:off x="2606040" y="2769878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7E8D4EE7-D351-C55C-D7A2-6A6B84B68DA2}"/>
                  </a:ext>
                </a:extLst>
              </p:cNvPr>
              <p:cNvSpPr/>
              <p:nvPr/>
            </p:nvSpPr>
            <p:spPr>
              <a:xfrm>
                <a:off x="2907792" y="2776733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F256BDD9-8210-B551-8F4A-8CABF36A89B2}"/>
                  </a:ext>
                </a:extLst>
              </p:cNvPr>
              <p:cNvSpPr/>
              <p:nvPr/>
            </p:nvSpPr>
            <p:spPr>
              <a:xfrm>
                <a:off x="3206496" y="2767588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47E637C2-BEDB-A3C4-E25D-3B6F1E7B260B}"/>
                  </a:ext>
                </a:extLst>
              </p:cNvPr>
              <p:cNvSpPr/>
              <p:nvPr/>
            </p:nvSpPr>
            <p:spPr>
              <a:xfrm>
                <a:off x="3541776" y="2776733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7320781C-F743-7BBA-D2AF-C0F3F15B1FE3}"/>
                  </a:ext>
                </a:extLst>
              </p:cNvPr>
              <p:cNvSpPr/>
              <p:nvPr/>
            </p:nvSpPr>
            <p:spPr>
              <a:xfrm>
                <a:off x="3858768" y="2776733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3E2BB153-77D2-C319-DA7F-B055BEB169C0}"/>
                  </a:ext>
                </a:extLst>
              </p:cNvPr>
              <p:cNvSpPr/>
              <p:nvPr/>
            </p:nvSpPr>
            <p:spPr>
              <a:xfrm>
                <a:off x="1996440" y="2776733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88EBD43C-C19D-FB65-5883-58239202DD0F}"/>
                  </a:ext>
                </a:extLst>
              </p:cNvPr>
              <p:cNvSpPr/>
              <p:nvPr/>
            </p:nvSpPr>
            <p:spPr>
              <a:xfrm>
                <a:off x="4133088" y="2767588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0248FAB9-1853-9FAC-24FB-F2957B740545}"/>
                </a:ext>
              </a:extLst>
            </p:cNvPr>
            <p:cNvGrpSpPr/>
            <p:nvPr/>
          </p:nvGrpSpPr>
          <p:grpSpPr>
            <a:xfrm>
              <a:off x="1828800" y="3706372"/>
              <a:ext cx="2612136" cy="399285"/>
              <a:chOff x="1679448" y="2514604"/>
              <a:chExt cx="2612136" cy="399285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6C575A5B-17FA-9C6B-82E0-1A048DD07CE3}"/>
                  </a:ext>
                </a:extLst>
              </p:cNvPr>
              <p:cNvSpPr/>
              <p:nvPr/>
            </p:nvSpPr>
            <p:spPr>
              <a:xfrm>
                <a:off x="1691640" y="2516127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52118656-E26D-AC7F-0492-4A016DB3E26C}"/>
                  </a:ext>
                </a:extLst>
              </p:cNvPr>
              <p:cNvSpPr/>
              <p:nvPr/>
            </p:nvSpPr>
            <p:spPr>
              <a:xfrm>
                <a:off x="2334768" y="2519182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93596EDC-67E7-BDC7-E363-27F410B86713}"/>
                  </a:ext>
                </a:extLst>
              </p:cNvPr>
              <p:cNvSpPr/>
              <p:nvPr/>
            </p:nvSpPr>
            <p:spPr>
              <a:xfrm>
                <a:off x="2618232" y="2516894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B1B5705-0D5A-DF2D-1B1F-8CBCA3F99455}"/>
                  </a:ext>
                </a:extLst>
              </p:cNvPr>
              <p:cNvSpPr/>
              <p:nvPr/>
            </p:nvSpPr>
            <p:spPr>
              <a:xfrm>
                <a:off x="2919984" y="2523749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2660E68D-90C1-3009-9836-86B75B7C5743}"/>
                  </a:ext>
                </a:extLst>
              </p:cNvPr>
              <p:cNvSpPr/>
              <p:nvPr/>
            </p:nvSpPr>
            <p:spPr>
              <a:xfrm>
                <a:off x="3218688" y="2514604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4AAE28B7-B1C1-FE5E-C96F-906134B140CD}"/>
                  </a:ext>
                </a:extLst>
              </p:cNvPr>
              <p:cNvSpPr/>
              <p:nvPr/>
            </p:nvSpPr>
            <p:spPr>
              <a:xfrm>
                <a:off x="3553968" y="2523749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58DCEAAA-E848-C99D-F62A-A488C848226C}"/>
                  </a:ext>
                </a:extLst>
              </p:cNvPr>
              <p:cNvSpPr/>
              <p:nvPr/>
            </p:nvSpPr>
            <p:spPr>
              <a:xfrm>
                <a:off x="3870960" y="2523749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78C116CE-75B8-D2C8-1DE3-2C91BB4183A1}"/>
                  </a:ext>
                </a:extLst>
              </p:cNvPr>
              <p:cNvSpPr/>
              <p:nvPr/>
            </p:nvSpPr>
            <p:spPr>
              <a:xfrm>
                <a:off x="2008632" y="2523749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8ACB3CDA-55E1-64F0-D9C4-4F420CB439CC}"/>
                  </a:ext>
                </a:extLst>
              </p:cNvPr>
              <p:cNvSpPr/>
              <p:nvPr/>
            </p:nvSpPr>
            <p:spPr>
              <a:xfrm>
                <a:off x="4145280" y="2523748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022BE988-FBBD-915B-05FF-9BD22213E770}"/>
                  </a:ext>
                </a:extLst>
              </p:cNvPr>
              <p:cNvSpPr/>
              <p:nvPr/>
            </p:nvSpPr>
            <p:spPr>
              <a:xfrm>
                <a:off x="1679448" y="2769111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78E81002-8073-E8B5-BEC3-A92F8FB9D5B2}"/>
                  </a:ext>
                </a:extLst>
              </p:cNvPr>
              <p:cNvSpPr/>
              <p:nvPr/>
            </p:nvSpPr>
            <p:spPr>
              <a:xfrm>
                <a:off x="2322576" y="2772166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3F8661A1-A53A-2147-A75E-8D84AD8977C8}"/>
                  </a:ext>
                </a:extLst>
              </p:cNvPr>
              <p:cNvSpPr/>
              <p:nvPr/>
            </p:nvSpPr>
            <p:spPr>
              <a:xfrm>
                <a:off x="2606040" y="2769878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E40A7AEE-E767-93D8-A800-1112888C99A2}"/>
                  </a:ext>
                </a:extLst>
              </p:cNvPr>
              <p:cNvSpPr/>
              <p:nvPr/>
            </p:nvSpPr>
            <p:spPr>
              <a:xfrm>
                <a:off x="2907792" y="2776733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37FBA715-BAD6-F3EB-6EA3-245A3D91F8BB}"/>
                  </a:ext>
                </a:extLst>
              </p:cNvPr>
              <p:cNvSpPr/>
              <p:nvPr/>
            </p:nvSpPr>
            <p:spPr>
              <a:xfrm>
                <a:off x="3206496" y="2767588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5CFCB5B0-BE17-AF5C-B415-46A760D26A9D}"/>
                  </a:ext>
                </a:extLst>
              </p:cNvPr>
              <p:cNvSpPr/>
              <p:nvPr/>
            </p:nvSpPr>
            <p:spPr>
              <a:xfrm>
                <a:off x="3541776" y="2776733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F5013545-F745-F30A-DEB7-4BF74BEFA811}"/>
                  </a:ext>
                </a:extLst>
              </p:cNvPr>
              <p:cNvSpPr/>
              <p:nvPr/>
            </p:nvSpPr>
            <p:spPr>
              <a:xfrm>
                <a:off x="3858768" y="2776733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8184C852-82A6-783F-446A-EFF61DE15CC1}"/>
                  </a:ext>
                </a:extLst>
              </p:cNvPr>
              <p:cNvSpPr/>
              <p:nvPr/>
            </p:nvSpPr>
            <p:spPr>
              <a:xfrm>
                <a:off x="1996440" y="2776733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DECBD0CB-5635-3F36-A7C4-9113AA489CE2}"/>
                  </a:ext>
                </a:extLst>
              </p:cNvPr>
              <p:cNvSpPr/>
              <p:nvPr/>
            </p:nvSpPr>
            <p:spPr>
              <a:xfrm>
                <a:off x="4133088" y="2767588"/>
                <a:ext cx="146304" cy="13715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ECF31C67-5FE3-A68C-CF70-B5AB0B02F237}"/>
              </a:ext>
            </a:extLst>
          </p:cNvPr>
          <p:cNvGrpSpPr/>
          <p:nvPr/>
        </p:nvGrpSpPr>
        <p:grpSpPr>
          <a:xfrm>
            <a:off x="1424544" y="2266120"/>
            <a:ext cx="3585917" cy="840812"/>
            <a:chOff x="1424544" y="2266120"/>
            <a:chExt cx="3585917" cy="840812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547DCA45-7752-1581-D067-2D8487E548E2}"/>
                </a:ext>
              </a:extLst>
            </p:cNvPr>
            <p:cNvGrpSpPr/>
            <p:nvPr/>
          </p:nvGrpSpPr>
          <p:grpSpPr>
            <a:xfrm>
              <a:off x="1424544" y="2334780"/>
              <a:ext cx="2924220" cy="772152"/>
              <a:chOff x="1424544" y="2334780"/>
              <a:chExt cx="2924220" cy="772152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29C78D1E-F62C-1969-8D9B-6870A6D14A8D}"/>
                  </a:ext>
                </a:extLst>
              </p:cNvPr>
              <p:cNvCxnSpPr/>
              <p:nvPr/>
            </p:nvCxnSpPr>
            <p:spPr>
              <a:xfrm>
                <a:off x="1516380" y="2334780"/>
                <a:ext cx="2808000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446A66B0-71C4-1DFE-B025-C23EE6BC6BB9}"/>
                  </a:ext>
                </a:extLst>
              </p:cNvPr>
              <p:cNvCxnSpPr/>
              <p:nvPr/>
            </p:nvCxnSpPr>
            <p:spPr>
              <a:xfrm>
                <a:off x="1540764" y="2578620"/>
                <a:ext cx="2808000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A2A36B6E-29A2-F9EE-382C-FAD18F0B267A}"/>
                  </a:ext>
                </a:extLst>
              </p:cNvPr>
              <p:cNvCxnSpPr/>
              <p:nvPr/>
            </p:nvCxnSpPr>
            <p:spPr>
              <a:xfrm>
                <a:off x="1515984" y="2855976"/>
                <a:ext cx="2808000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44AFB005-FBA8-9584-B42F-ADCF783E3B51}"/>
                  </a:ext>
                </a:extLst>
              </p:cNvPr>
              <p:cNvCxnSpPr/>
              <p:nvPr/>
            </p:nvCxnSpPr>
            <p:spPr>
              <a:xfrm>
                <a:off x="1424544" y="3106932"/>
                <a:ext cx="2808000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0" name="Right Brace 129">
              <a:extLst>
                <a:ext uri="{FF2B5EF4-FFF2-40B4-BE49-F238E27FC236}">
                  <a16:creationId xmlns:a16="http://schemas.microsoft.com/office/drawing/2014/main" id="{CAA25285-0733-952A-255C-AE35B297FD98}"/>
                </a:ext>
              </a:extLst>
            </p:cNvPr>
            <p:cNvSpPr/>
            <p:nvPr/>
          </p:nvSpPr>
          <p:spPr>
            <a:xfrm>
              <a:off x="4401809" y="2334780"/>
              <a:ext cx="277515" cy="249952"/>
            </a:xfrm>
            <a:prstGeom prst="rightBrac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2DAE688E-8BFB-CC6F-4986-A2FE01BC209D}"/>
                </a:ext>
              </a:extLst>
            </p:cNvPr>
            <p:cNvSpPr txBox="1"/>
            <p:nvPr/>
          </p:nvSpPr>
          <p:spPr>
            <a:xfrm>
              <a:off x="4638243" y="2266120"/>
              <a:ext cx="37221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en-IN" sz="15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IN" sz="15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3451D7D0-5233-4E13-2432-0EE7B6A9A6A8}"/>
              </a:ext>
            </a:extLst>
          </p:cNvPr>
          <p:cNvGrpSpPr/>
          <p:nvPr/>
        </p:nvGrpSpPr>
        <p:grpSpPr>
          <a:xfrm>
            <a:off x="661416" y="1251080"/>
            <a:ext cx="2353237" cy="2290696"/>
            <a:chOff x="661416" y="1251080"/>
            <a:chExt cx="2353237" cy="2290696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92756821-85C1-074E-5D05-BDF7B1537488}"/>
                </a:ext>
              </a:extLst>
            </p:cNvPr>
            <p:cNvGrpSpPr/>
            <p:nvPr/>
          </p:nvGrpSpPr>
          <p:grpSpPr>
            <a:xfrm>
              <a:off x="661416" y="1643892"/>
              <a:ext cx="2167128" cy="1897884"/>
              <a:chOff x="661416" y="1643892"/>
              <a:chExt cx="2167128" cy="189788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97191CC2-002B-762B-C810-D65D5BCDDF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3816" y="1773936"/>
                <a:ext cx="1709928" cy="14630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FEAE86D1-7126-9D96-F77D-6AE75DFCC9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" y="1926336"/>
                <a:ext cx="1709928" cy="14630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B0DBF70D-08A5-1511-6D32-03C0F94393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18616" y="2078736"/>
                <a:ext cx="1709928" cy="14630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D3A6960D-4D72-3D57-C74E-40A8083C6C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1416" y="1643892"/>
                <a:ext cx="1709928" cy="14630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2" name="Right Brace 131">
              <a:extLst>
                <a:ext uri="{FF2B5EF4-FFF2-40B4-BE49-F238E27FC236}">
                  <a16:creationId xmlns:a16="http://schemas.microsoft.com/office/drawing/2014/main" id="{67AF11A6-BC30-1050-AA26-083716383A40}"/>
                </a:ext>
              </a:extLst>
            </p:cNvPr>
            <p:cNvSpPr/>
            <p:nvPr/>
          </p:nvSpPr>
          <p:spPr>
            <a:xfrm rot="18775166">
              <a:off x="2440754" y="1497773"/>
              <a:ext cx="277515" cy="177275"/>
            </a:xfrm>
            <a:prstGeom prst="rightBrac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C12C25A9-CD27-B55F-DCB7-D5777CB0D901}"/>
                </a:ext>
              </a:extLst>
            </p:cNvPr>
            <p:cNvSpPr txBox="1"/>
            <p:nvPr/>
          </p:nvSpPr>
          <p:spPr>
            <a:xfrm>
              <a:off x="2642435" y="1251080"/>
              <a:ext cx="37221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en-IN" sz="15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IN" sz="15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50B6A67A-29D6-198A-30CD-4930705BB9C2}"/>
              </a:ext>
            </a:extLst>
          </p:cNvPr>
          <p:cNvGrpSpPr/>
          <p:nvPr/>
        </p:nvGrpSpPr>
        <p:grpSpPr>
          <a:xfrm>
            <a:off x="3084807" y="3068818"/>
            <a:ext cx="1426730" cy="2465523"/>
            <a:chOff x="3084807" y="3068818"/>
            <a:chExt cx="1426730" cy="2465523"/>
          </a:xfrm>
        </p:grpSpPr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08CCF968-AF49-85CF-46CF-ED2198CBB975}"/>
                </a:ext>
              </a:extLst>
            </p:cNvPr>
            <p:cNvGrpSpPr/>
            <p:nvPr/>
          </p:nvGrpSpPr>
          <p:grpSpPr>
            <a:xfrm>
              <a:off x="3254898" y="3068818"/>
              <a:ext cx="1256639" cy="1908566"/>
              <a:chOff x="3254898" y="3068818"/>
              <a:chExt cx="1256639" cy="1908566"/>
            </a:xfrm>
          </p:grpSpPr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323DB0AC-B189-28D5-DCC8-8E648D4DCE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88191" y="3292873"/>
                <a:ext cx="923346" cy="1684511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F29A8357-861E-61AB-440F-DD76593845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57026" y="3236976"/>
                <a:ext cx="923346" cy="1684511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9D6E8735-F0BD-72FE-A9AF-0F11490740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40272" y="3191747"/>
                <a:ext cx="923346" cy="1684511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792D93BE-E22C-E66C-2271-88AE3D954B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54898" y="3068818"/>
                <a:ext cx="923346" cy="1684511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8CCFBA8B-76D1-D66B-FE22-0384E91C72C7}"/>
                </a:ext>
              </a:extLst>
            </p:cNvPr>
            <p:cNvSpPr txBox="1"/>
            <p:nvPr/>
          </p:nvSpPr>
          <p:spPr>
            <a:xfrm>
              <a:off x="3084807" y="5211176"/>
              <a:ext cx="37221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en-IN" sz="15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IN" sz="15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Right Brace 137">
              <a:extLst>
                <a:ext uri="{FF2B5EF4-FFF2-40B4-BE49-F238E27FC236}">
                  <a16:creationId xmlns:a16="http://schemas.microsoft.com/office/drawing/2014/main" id="{69C4D3C9-C565-3AEA-F907-247608887919}"/>
                </a:ext>
              </a:extLst>
            </p:cNvPr>
            <p:cNvSpPr/>
            <p:nvPr/>
          </p:nvSpPr>
          <p:spPr>
            <a:xfrm rot="7095509">
              <a:off x="3318268" y="5074765"/>
              <a:ext cx="277515" cy="99487"/>
            </a:xfrm>
            <a:prstGeom prst="rightBrac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0C120965-7D55-4CCA-237C-D9058CB0CB66}"/>
              </a:ext>
            </a:extLst>
          </p:cNvPr>
          <p:cNvSpPr txBox="1"/>
          <p:nvPr/>
        </p:nvSpPr>
        <p:spPr>
          <a:xfrm>
            <a:off x="5321808" y="1369159"/>
            <a:ext cx="5833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In 3D, these rows become </a:t>
            </a:r>
            <a:r>
              <a:rPr lang="en-US" sz="16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lattice planes 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and adjacent planes are separated by the </a:t>
            </a:r>
            <a:r>
              <a:rPr lang="en-US" sz="16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interplanar </a:t>
            </a:r>
            <a:r>
              <a:rPr lang="en-IN" sz="16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d-spacing</a:t>
            </a:r>
            <a:r>
              <a:rPr lang="en-IN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6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C432B1A-E0FB-6C94-A4D3-08DFC25EEF07}"/>
              </a:ext>
            </a:extLst>
          </p:cNvPr>
          <p:cNvSpPr txBox="1"/>
          <p:nvPr/>
        </p:nvSpPr>
        <p:spPr>
          <a:xfrm>
            <a:off x="5321808" y="2131436"/>
            <a:ext cx="6391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Miller Indices are a method of describing the orientation of a plane or set of planes within a lattice in relation to the unit cell</a:t>
            </a:r>
            <a:endParaRPr lang="en-IN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E53A75D-7981-1556-1E65-DB1316047A9F}"/>
              </a:ext>
            </a:extLst>
          </p:cNvPr>
          <p:cNvGrpSpPr/>
          <p:nvPr/>
        </p:nvGrpSpPr>
        <p:grpSpPr>
          <a:xfrm>
            <a:off x="5388093" y="3109153"/>
            <a:ext cx="6474746" cy="3143113"/>
            <a:chOff x="5388093" y="3109153"/>
            <a:chExt cx="6474746" cy="3143113"/>
          </a:xfrm>
        </p:grpSpPr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ED40B032-B64F-F607-AFE4-CA492C67895D}"/>
                </a:ext>
              </a:extLst>
            </p:cNvPr>
            <p:cNvGrpSpPr/>
            <p:nvPr/>
          </p:nvGrpSpPr>
          <p:grpSpPr>
            <a:xfrm>
              <a:off x="5388093" y="3109153"/>
              <a:ext cx="6474746" cy="3143113"/>
              <a:chOff x="5586190" y="3068556"/>
              <a:chExt cx="6474746" cy="3143113"/>
            </a:xfrm>
          </p:grpSpPr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3C1F3D4E-013A-752C-88BC-55572C10A613}"/>
                  </a:ext>
                </a:extLst>
              </p:cNvPr>
              <p:cNvGrpSpPr/>
              <p:nvPr/>
            </p:nvGrpSpPr>
            <p:grpSpPr>
              <a:xfrm>
                <a:off x="5586190" y="3068556"/>
                <a:ext cx="2652554" cy="3143113"/>
                <a:chOff x="6359512" y="3215539"/>
                <a:chExt cx="2652554" cy="3143113"/>
              </a:xfrm>
            </p:grpSpPr>
            <p:grpSp>
              <p:nvGrpSpPr>
                <p:cNvPr id="164" name="Group 163">
                  <a:extLst>
                    <a:ext uri="{FF2B5EF4-FFF2-40B4-BE49-F238E27FC236}">
                      <a16:creationId xmlns:a16="http://schemas.microsoft.com/office/drawing/2014/main" id="{0BA9E1FC-10BC-EBB8-AFFD-E7E042E16EC1}"/>
                    </a:ext>
                  </a:extLst>
                </p:cNvPr>
                <p:cNvGrpSpPr/>
                <p:nvPr/>
              </p:nvGrpSpPr>
              <p:grpSpPr>
                <a:xfrm>
                  <a:off x="6540634" y="3575304"/>
                  <a:ext cx="2084832" cy="2478024"/>
                  <a:chOff x="6583680" y="3739896"/>
                  <a:chExt cx="2084832" cy="2478024"/>
                </a:xfrm>
              </p:grpSpPr>
              <p:sp>
                <p:nvSpPr>
                  <p:cNvPr id="142" name="Rectangle 141">
                    <a:extLst>
                      <a:ext uri="{FF2B5EF4-FFF2-40B4-BE49-F238E27FC236}">
                        <a16:creationId xmlns:a16="http://schemas.microsoft.com/office/drawing/2014/main" id="{87DDE3C2-B65A-2FE4-E77F-425DD2C4BCB2}"/>
                      </a:ext>
                    </a:extLst>
                  </p:cNvPr>
                  <p:cNvSpPr/>
                  <p:nvPr/>
                </p:nvSpPr>
                <p:spPr>
                  <a:xfrm>
                    <a:off x="7203264" y="4332622"/>
                    <a:ext cx="900000" cy="994752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43" name="Rectangle 142">
                    <a:extLst>
                      <a:ext uri="{FF2B5EF4-FFF2-40B4-BE49-F238E27FC236}">
                        <a16:creationId xmlns:a16="http://schemas.microsoft.com/office/drawing/2014/main" id="{846DAA54-B790-6D9E-B284-FF0859FF8059}"/>
                      </a:ext>
                    </a:extLst>
                  </p:cNvPr>
                  <p:cNvSpPr/>
                  <p:nvPr/>
                </p:nvSpPr>
                <p:spPr>
                  <a:xfrm>
                    <a:off x="6937248" y="4792278"/>
                    <a:ext cx="900000" cy="9000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cxnSp>
                <p:nvCxnSpPr>
                  <p:cNvPr id="146" name="Straight Arrow Connector 145">
                    <a:extLst>
                      <a:ext uri="{FF2B5EF4-FFF2-40B4-BE49-F238E27FC236}">
                        <a16:creationId xmlns:a16="http://schemas.microsoft.com/office/drawing/2014/main" id="{1F9EE27E-BA3C-61E1-CC56-9C5B7A2E45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583680" y="5327374"/>
                    <a:ext cx="619584" cy="890546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8" name="Straight Connector 147">
                    <a:extLst>
                      <a:ext uri="{FF2B5EF4-FFF2-40B4-BE49-F238E27FC236}">
                        <a16:creationId xmlns:a16="http://schemas.microsoft.com/office/drawing/2014/main" id="{2F495F6A-135B-B993-BA3B-34520C3CF8FA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6937248" y="4332622"/>
                    <a:ext cx="256032" cy="459656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" name="Straight Connector 149">
                    <a:extLst>
                      <a:ext uri="{FF2B5EF4-FFF2-40B4-BE49-F238E27FC236}">
                        <a16:creationId xmlns:a16="http://schemas.microsoft.com/office/drawing/2014/main" id="{C4678713-38C9-E0D9-5CD8-3D1BA28BE4AE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7837248" y="4332622"/>
                    <a:ext cx="266016" cy="459656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" name="Straight Connector 151">
                    <a:extLst>
                      <a:ext uri="{FF2B5EF4-FFF2-40B4-BE49-F238E27FC236}">
                        <a16:creationId xmlns:a16="http://schemas.microsoft.com/office/drawing/2014/main" id="{2F52AB59-6C95-131A-07EC-AD523D1A2970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6937248" y="5327374"/>
                    <a:ext cx="266016" cy="364904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" name="Straight Connector 153">
                    <a:extLst>
                      <a:ext uri="{FF2B5EF4-FFF2-40B4-BE49-F238E27FC236}">
                        <a16:creationId xmlns:a16="http://schemas.microsoft.com/office/drawing/2014/main" id="{B9D21E05-3870-5280-9096-BB079D084C80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7837248" y="5327374"/>
                    <a:ext cx="266016" cy="36490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" name="Straight Arrow Connector 157">
                    <a:extLst>
                      <a:ext uri="{FF2B5EF4-FFF2-40B4-BE49-F238E27FC236}">
                        <a16:creationId xmlns:a16="http://schemas.microsoft.com/office/drawing/2014/main" id="{137AEA2C-282B-129F-2D40-29679E87A9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242360" y="5332512"/>
                    <a:ext cx="1426152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Straight Arrow Connector 160">
                    <a:extLst>
                      <a:ext uri="{FF2B5EF4-FFF2-40B4-BE49-F238E27FC236}">
                        <a16:creationId xmlns:a16="http://schemas.microsoft.com/office/drawing/2014/main" id="{5CB8836B-5F88-29BD-2D4D-102D1B12CA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7193280" y="3739896"/>
                    <a:ext cx="9984" cy="1586396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4F0E2779-A2F5-1067-CF39-218FE709D284}"/>
                    </a:ext>
                  </a:extLst>
                </p:cNvPr>
                <p:cNvSpPr txBox="1"/>
                <p:nvPr/>
              </p:nvSpPr>
              <p:spPr>
                <a:xfrm>
                  <a:off x="6359512" y="5989320"/>
                  <a:ext cx="28405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x</a:t>
                  </a:r>
                </a:p>
              </p:txBody>
            </p:sp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A06B6660-76B2-4A11-F537-DFF7D239EBF6}"/>
                    </a:ext>
                  </a:extLst>
                </p:cNvPr>
                <p:cNvSpPr txBox="1"/>
                <p:nvPr/>
              </p:nvSpPr>
              <p:spPr>
                <a:xfrm>
                  <a:off x="8723204" y="4958218"/>
                  <a:ext cx="2888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y</a:t>
                  </a:r>
                </a:p>
              </p:txBody>
            </p:sp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A24A2EAA-C427-2EA5-2EDC-BF064D48CCAA}"/>
                    </a:ext>
                  </a:extLst>
                </p:cNvPr>
                <p:cNvSpPr txBox="1"/>
                <p:nvPr/>
              </p:nvSpPr>
              <p:spPr>
                <a:xfrm>
                  <a:off x="7008208" y="3215539"/>
                  <a:ext cx="2760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z</a:t>
                  </a:r>
                </a:p>
              </p:txBody>
            </p:sp>
          </p:grp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58E9B806-4C63-DBE0-EFD4-54C721AA0F61}"/>
                  </a:ext>
                </a:extLst>
              </p:cNvPr>
              <p:cNvSpPr txBox="1"/>
              <p:nvPr/>
            </p:nvSpPr>
            <p:spPr>
              <a:xfrm>
                <a:off x="7580376" y="3429000"/>
                <a:ext cx="448056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IN" sz="1500" b="0" i="0" u="none" strike="noStrike" baseline="0" dirty="0">
                    <a:latin typeface="Arial" panose="020B0604020202020204" pitchFamily="34" charset="0"/>
                    <a:cs typeface="Arial" panose="020B0604020202020204" pitchFamily="34" charset="0"/>
                  </a:rPr>
                  <a:t>x, y,</a:t>
                </a:r>
                <a:r>
                  <a:rPr lang="en-US" sz="1500" b="0" i="0" u="none" strike="noStrike" baseline="0" dirty="0">
                    <a:latin typeface="Arial" panose="020B0604020202020204" pitchFamily="34" charset="0"/>
                    <a:cs typeface="Arial" panose="020B0604020202020204" pitchFamily="34" charset="0"/>
                  </a:rPr>
                  <a:t>z are the </a:t>
                </a:r>
                <a:r>
                  <a:rPr lang="en-IN" sz="1500" b="0" i="0" u="none" strike="noStrike" baseline="0" dirty="0">
                    <a:latin typeface="Arial" panose="020B0604020202020204" pitchFamily="34" charset="0"/>
                    <a:cs typeface="Arial" panose="020B0604020202020204" pitchFamily="34" charset="0"/>
                  </a:rPr>
                  <a:t>crystallographic </a:t>
                </a:r>
                <a:r>
                  <a:rPr lang="en-US" sz="1500" b="0" i="0" u="none" strike="noStrike" baseline="0" dirty="0">
                    <a:latin typeface="Arial" panose="020B0604020202020204" pitchFamily="34" charset="0"/>
                    <a:cs typeface="Arial" panose="020B0604020202020204" pitchFamily="34" charset="0"/>
                  </a:rPr>
                  <a:t>axes of the three nonparallel edges of the cubic unit cell</a:t>
                </a:r>
                <a:endParaRPr lang="en-IN" sz="1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4C5D646-C5C6-EBD2-3FB9-F79E32D56CAC}"/>
                </a:ext>
              </a:extLst>
            </p:cNvPr>
            <p:cNvSpPr txBox="1"/>
            <p:nvPr/>
          </p:nvSpPr>
          <p:spPr>
            <a:xfrm>
              <a:off x="6264874" y="5409262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en-IN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9988831-D14B-569D-A0D3-7F2D02804504}"/>
                </a:ext>
              </a:extLst>
            </p:cNvPr>
            <p:cNvSpPr txBox="1"/>
            <p:nvPr/>
          </p:nvSpPr>
          <p:spPr>
            <a:xfrm>
              <a:off x="6899187" y="512450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en-IN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70F0108-6DA7-680A-A938-9851030193B1}"/>
                </a:ext>
              </a:extLst>
            </p:cNvPr>
            <p:cNvSpPr txBox="1"/>
            <p:nvPr/>
          </p:nvSpPr>
          <p:spPr>
            <a:xfrm>
              <a:off x="5651156" y="4670959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en-IN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5344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/>
      <p:bldP spid="14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AE25F8-DE9E-27DC-5BC5-32EFBD1392AE}"/>
              </a:ext>
            </a:extLst>
          </p:cNvPr>
          <p:cNvSpPr txBox="1"/>
          <p:nvPr/>
        </p:nvSpPr>
        <p:spPr>
          <a:xfrm>
            <a:off x="530584" y="209328"/>
            <a:ext cx="9966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Miller Indices are the reciprocals of the fractional intercepts which the plane makes with the crystallographic x, y, z axes of the three nonparallel edges of the cubic unit cell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72DBC0-50FC-5522-8D4D-9772C9BD0406}"/>
              </a:ext>
            </a:extLst>
          </p:cNvPr>
          <p:cNvSpPr txBox="1"/>
          <p:nvPr/>
        </p:nvSpPr>
        <p:spPr>
          <a:xfrm>
            <a:off x="645479" y="1081477"/>
            <a:ext cx="60980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o assign Miller indices to a set of planes, the following points are considered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0C1FDA-F349-0BA5-6B06-8EF8A818CC46}"/>
              </a:ext>
            </a:extLst>
          </p:cNvPr>
          <p:cNvSpPr txBox="1"/>
          <p:nvPr/>
        </p:nvSpPr>
        <p:spPr>
          <a:xfrm>
            <a:off x="609600" y="1912983"/>
            <a:ext cx="80277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1. From the array of lattice points, or the crystal structure, identify the unit cell, choose the origin and label the axes </a:t>
            </a:r>
            <a:r>
              <a:rPr lang="en-US" sz="16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and angles </a:t>
            </a:r>
            <a:r>
              <a:rPr lang="en-US" sz="16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α 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(between </a:t>
            </a:r>
            <a:r>
              <a:rPr lang="en-US" sz="16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6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US" sz="16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β 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(between </a:t>
            </a:r>
            <a:r>
              <a:rPr lang="en-US" sz="16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6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) and </a:t>
            </a:r>
            <a:r>
              <a:rPr lang="en-US" sz="16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γ 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(between </a:t>
            </a:r>
            <a:r>
              <a:rPr lang="en-US" sz="16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6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just"/>
            <a:endParaRPr lang="en-US" sz="16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2. For a particular set of lattice planes, identify that plane which is adjacent to the one that passes through </a:t>
            </a:r>
            <a:r>
              <a:rPr lang="en-IN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the origin.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90709C-05C4-EEE5-000E-1E78A58EC405}"/>
              </a:ext>
            </a:extLst>
          </p:cNvPr>
          <p:cNvSpPr txBox="1"/>
          <p:nvPr/>
        </p:nvSpPr>
        <p:spPr>
          <a:xfrm>
            <a:off x="609600" y="3585641"/>
            <a:ext cx="78918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3. Find the intersection of this plane on the three axes of the cell and write these intersections as fractions of </a:t>
            </a:r>
            <a:r>
              <a:rPr lang="en-IN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the cell edges.</a:t>
            </a:r>
          </a:p>
          <a:p>
            <a:pPr algn="just"/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4. Take reciprocals of these fractions and write the three numbers in parentheses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0D9EBF-32C7-35D9-FE9B-141FD655303B}"/>
              </a:ext>
            </a:extLst>
          </p:cNvPr>
          <p:cNvSpPr txBox="1"/>
          <p:nvPr/>
        </p:nvSpPr>
        <p:spPr>
          <a:xfrm>
            <a:off x="6223186" y="4817799"/>
            <a:ext cx="593944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plane (shaded) intercepts the x axis at 1a, 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</a:t>
            </a:r>
            <a:r>
              <a:rPr lang="en-US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b,c</a:t>
            </a:r>
            <a:endParaRPr 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Taking the reciprocals 1, 0, 0 </a:t>
            </a:r>
          </a:p>
          <a:p>
            <a:pPr marL="342900" indent="-342900">
              <a:buAutoNum type="arabicPeriod"/>
            </a:pPr>
            <a:endParaRPr 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Miller index is written as (100)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9FCA56-3DB7-D6A1-3462-0773DB6677D8}"/>
              </a:ext>
            </a:extLst>
          </p:cNvPr>
          <p:cNvSpPr txBox="1"/>
          <p:nvPr/>
        </p:nvSpPr>
        <p:spPr>
          <a:xfrm>
            <a:off x="530583" y="4980204"/>
            <a:ext cx="50080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• If a plane is parallel to an axis , we say it cuts at ∞ and 1/ ∞ = 0</a:t>
            </a:r>
          </a:p>
          <a:p>
            <a:pPr algn="l"/>
            <a:endParaRPr lang="en-US" sz="1500" b="1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5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• Round brackets ( ) describe a single plane</a:t>
            </a:r>
          </a:p>
          <a:p>
            <a:pPr algn="l"/>
            <a:endParaRPr lang="en-US" sz="1500" b="1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5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• Curly brackets { } to describe a family of planes</a:t>
            </a:r>
            <a:endParaRPr lang="en-IN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34745E4-2EE3-D066-62B2-A042D7925766}"/>
              </a:ext>
            </a:extLst>
          </p:cNvPr>
          <p:cNvGrpSpPr/>
          <p:nvPr/>
        </p:nvGrpSpPr>
        <p:grpSpPr>
          <a:xfrm>
            <a:off x="8929846" y="1126256"/>
            <a:ext cx="2652554" cy="3143113"/>
            <a:chOff x="8929846" y="1126256"/>
            <a:chExt cx="2652554" cy="3143113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B9B6B52-B7B1-67E1-4516-784F83EFC0D3}"/>
                </a:ext>
              </a:extLst>
            </p:cNvPr>
            <p:cNvGrpSpPr/>
            <p:nvPr/>
          </p:nvGrpSpPr>
          <p:grpSpPr>
            <a:xfrm>
              <a:off x="8929846" y="1126256"/>
              <a:ext cx="2652554" cy="3143113"/>
              <a:chOff x="8929846" y="1674061"/>
              <a:chExt cx="2652554" cy="3143113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B8CFB8B-1F9C-1569-961B-3AAD4EBB2389}"/>
                  </a:ext>
                </a:extLst>
              </p:cNvPr>
              <p:cNvSpPr/>
              <p:nvPr/>
            </p:nvSpPr>
            <p:spPr>
              <a:xfrm>
                <a:off x="9725560" y="2630963"/>
                <a:ext cx="900000" cy="99475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453CA2F9-5C19-AF8E-56AF-55EB029FB95A}"/>
                  </a:ext>
                </a:extLst>
              </p:cNvPr>
              <p:cNvGrpSpPr/>
              <p:nvPr/>
            </p:nvGrpSpPr>
            <p:grpSpPr>
              <a:xfrm>
                <a:off x="8929846" y="1674061"/>
                <a:ext cx="2652554" cy="3143113"/>
                <a:chOff x="2644893" y="2009402"/>
                <a:chExt cx="2652554" cy="3143113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5A5F09F8-7F49-ACC0-B45D-42025B40291B}"/>
                    </a:ext>
                  </a:extLst>
                </p:cNvPr>
                <p:cNvGrpSpPr/>
                <p:nvPr/>
              </p:nvGrpSpPr>
              <p:grpSpPr>
                <a:xfrm>
                  <a:off x="2644893" y="2009402"/>
                  <a:ext cx="2652554" cy="3143113"/>
                  <a:chOff x="6359512" y="3215539"/>
                  <a:chExt cx="2652554" cy="3143113"/>
                </a:xfrm>
              </p:grpSpPr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0BB6E222-1D80-D0B5-D4DA-C2C7C8845ED9}"/>
                      </a:ext>
                    </a:extLst>
                  </p:cNvPr>
                  <p:cNvGrpSpPr/>
                  <p:nvPr/>
                </p:nvGrpSpPr>
                <p:grpSpPr>
                  <a:xfrm>
                    <a:off x="6540634" y="3575304"/>
                    <a:ext cx="2084832" cy="2478024"/>
                    <a:chOff x="6583680" y="3739896"/>
                    <a:chExt cx="2084832" cy="2478024"/>
                  </a:xfrm>
                </p:grpSpPr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CAA8A10E-B5E2-B4D6-2B3F-342F220F90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2240" y="4799815"/>
                      <a:ext cx="900000" cy="886242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4CDC52A2-47D0-8171-F771-94700B578E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37248" y="4792278"/>
                      <a:ext cx="900000" cy="9000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cxnSp>
                  <p:nvCxnSpPr>
                    <p:cNvPr id="19" name="Straight Arrow Connector 18">
                      <a:extLst>
                        <a:ext uri="{FF2B5EF4-FFF2-40B4-BE49-F238E27FC236}">
                          <a16:creationId xmlns:a16="http://schemas.microsoft.com/office/drawing/2014/main" id="{E16F3BB4-CA8E-7FBF-A3C0-5BCFDBFD719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583680" y="5327374"/>
                      <a:ext cx="619584" cy="890546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" name="Straight Connector 19">
                      <a:extLst>
                        <a:ext uri="{FF2B5EF4-FFF2-40B4-BE49-F238E27FC236}">
                          <a16:creationId xmlns:a16="http://schemas.microsoft.com/office/drawing/2014/main" id="{2F19881C-DCF2-E0DD-359F-1E140B4C838E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6937248" y="4332622"/>
                      <a:ext cx="256032" cy="459656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Straight Connector 20">
                      <a:extLst>
                        <a:ext uri="{FF2B5EF4-FFF2-40B4-BE49-F238E27FC236}">
                          <a16:creationId xmlns:a16="http://schemas.microsoft.com/office/drawing/2014/main" id="{CACDDF4E-C043-23C3-8BC6-5A619D85905F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7837248" y="4332622"/>
                      <a:ext cx="266016" cy="459656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" name="Straight Connector 21">
                      <a:extLst>
                        <a:ext uri="{FF2B5EF4-FFF2-40B4-BE49-F238E27FC236}">
                          <a16:creationId xmlns:a16="http://schemas.microsoft.com/office/drawing/2014/main" id="{6473FD83-5253-EA31-CEF8-EBEB58A190BF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6937248" y="5327374"/>
                      <a:ext cx="266016" cy="364904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" name="Straight Connector 22">
                      <a:extLst>
                        <a:ext uri="{FF2B5EF4-FFF2-40B4-BE49-F238E27FC236}">
                          <a16:creationId xmlns:a16="http://schemas.microsoft.com/office/drawing/2014/main" id="{00AE9AA6-4431-C849-F9D5-965FDC9BF760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7837248" y="5327374"/>
                      <a:ext cx="266016" cy="364904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Straight Arrow Connector 23">
                      <a:extLst>
                        <a:ext uri="{FF2B5EF4-FFF2-40B4-BE49-F238E27FC236}">
                          <a16:creationId xmlns:a16="http://schemas.microsoft.com/office/drawing/2014/main" id="{D6F55B99-91D9-E7EF-338D-6E6E63E3069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242360" y="5332512"/>
                      <a:ext cx="1426152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" name="Straight Arrow Connector 24">
                      <a:extLst>
                        <a:ext uri="{FF2B5EF4-FFF2-40B4-BE49-F238E27FC236}">
                          <a16:creationId xmlns:a16="http://schemas.microsoft.com/office/drawing/2014/main" id="{FA941839-2EA7-067F-052F-584C6571BB8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7193280" y="3739896"/>
                      <a:ext cx="9984" cy="1586396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E356F8E1-0498-18F9-84BE-F9E69662B391}"/>
                      </a:ext>
                    </a:extLst>
                  </p:cNvPr>
                  <p:cNvSpPr txBox="1"/>
                  <p:nvPr/>
                </p:nvSpPr>
                <p:spPr>
                  <a:xfrm>
                    <a:off x="6359512" y="5989320"/>
                    <a:ext cx="28405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dirty="0"/>
                      <a:t>x</a:t>
                    </a:r>
                  </a:p>
                </p:txBody>
              </p:sp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474C98B2-ABBC-55CB-5F31-3ABB004FCCB6}"/>
                      </a:ext>
                    </a:extLst>
                  </p:cNvPr>
                  <p:cNvSpPr txBox="1"/>
                  <p:nvPr/>
                </p:nvSpPr>
                <p:spPr>
                  <a:xfrm>
                    <a:off x="8723204" y="4958218"/>
                    <a:ext cx="28886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dirty="0"/>
                      <a:t>y</a:t>
                    </a:r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29D26ED5-3ECC-D028-B700-D325EB6C67F3}"/>
                      </a:ext>
                    </a:extLst>
                  </p:cNvPr>
                  <p:cNvSpPr txBox="1"/>
                  <p:nvPr/>
                </p:nvSpPr>
                <p:spPr>
                  <a:xfrm>
                    <a:off x="7008208" y="3215539"/>
                    <a:ext cx="2760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dirty="0"/>
                      <a:t>z</a:t>
                    </a:r>
                  </a:p>
                </p:txBody>
              </p:sp>
            </p:grp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8C91C11-AF14-09AC-2070-4823F7CED1A0}"/>
                    </a:ext>
                  </a:extLst>
                </p:cNvPr>
                <p:cNvSpPr txBox="1"/>
                <p:nvPr/>
              </p:nvSpPr>
              <p:spPr>
                <a:xfrm>
                  <a:off x="3521674" y="4309511"/>
                  <a:ext cx="29367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en-IN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8A59109-83B3-A283-D1E5-86244199B592}"/>
                    </a:ext>
                  </a:extLst>
                </p:cNvPr>
                <p:cNvSpPr txBox="1"/>
                <p:nvPr/>
              </p:nvSpPr>
              <p:spPr>
                <a:xfrm>
                  <a:off x="4155987" y="4024757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  <a:endParaRPr lang="en-IN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E53DBBB-6530-43D9-DC62-890385986FCD}"/>
                    </a:ext>
                  </a:extLst>
                </p:cNvPr>
                <p:cNvSpPr txBox="1"/>
                <p:nvPr/>
              </p:nvSpPr>
              <p:spPr>
                <a:xfrm>
                  <a:off x="2907956" y="3571208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en-IN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213D460-10CC-D44B-ED91-66FEAD117384}"/>
                </a:ext>
              </a:extLst>
            </p:cNvPr>
            <p:cNvSpPr txBox="1"/>
            <p:nvPr/>
          </p:nvSpPr>
          <p:spPr>
            <a:xfrm>
              <a:off x="9646189" y="2796784"/>
              <a:ext cx="3449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761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31" grpId="0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42399026-DAC8-3A95-0D4A-087BE1C62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56" y="303607"/>
            <a:ext cx="3299254" cy="260641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0B9F504A-8A34-CCB2-B00B-924AB82B8B4B}"/>
              </a:ext>
            </a:extLst>
          </p:cNvPr>
          <p:cNvGrpSpPr/>
          <p:nvPr/>
        </p:nvGrpSpPr>
        <p:grpSpPr>
          <a:xfrm>
            <a:off x="165734" y="2929923"/>
            <a:ext cx="4438103" cy="2168278"/>
            <a:chOff x="423825" y="2929923"/>
            <a:chExt cx="4438103" cy="2168278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ECA7508-551B-466B-5687-85A9F474A534}"/>
                </a:ext>
              </a:extLst>
            </p:cNvPr>
            <p:cNvSpPr txBox="1"/>
            <p:nvPr/>
          </p:nvSpPr>
          <p:spPr>
            <a:xfrm>
              <a:off x="423825" y="3343875"/>
              <a:ext cx="4438103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AutoNum type="arabicPeriod"/>
              </a:pPr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plane (shaded) intercepts the x axis at 1a, </a:t>
              </a:r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b,1c</a:t>
              </a:r>
            </a:p>
            <a:p>
              <a:pPr marL="342900" indent="-342900">
                <a:buAutoNum type="arabicPeriod"/>
              </a:pP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endParaRPr>
            </a:p>
            <a:p>
              <a:pPr marL="342900" indent="-342900">
                <a:buAutoNum type="arabicPeriod"/>
              </a:pPr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Taking the reciprocals 1, 0, 1 </a:t>
              </a:r>
            </a:p>
            <a:p>
              <a:pPr marL="342900" indent="-342900">
                <a:buAutoNum type="arabicPeriod"/>
              </a:pP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endParaRPr>
            </a:p>
            <a:p>
              <a:pPr marL="342900" indent="-342900">
                <a:buAutoNum type="arabicPeriod"/>
              </a:pPr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Miller index is written as (101)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9E11768-6885-080C-67F8-9428D9F14B15}"/>
                </a:ext>
              </a:extLst>
            </p:cNvPr>
            <p:cNvSpPr txBox="1"/>
            <p:nvPr/>
          </p:nvSpPr>
          <p:spPr>
            <a:xfrm>
              <a:off x="1569308" y="2929923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(101)</a:t>
              </a:r>
              <a:endParaRPr lang="en-IN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7995991-66EB-0681-0703-4E5E49F923EC}"/>
              </a:ext>
            </a:extLst>
          </p:cNvPr>
          <p:cNvGrpSpPr/>
          <p:nvPr/>
        </p:nvGrpSpPr>
        <p:grpSpPr>
          <a:xfrm>
            <a:off x="5130253" y="94996"/>
            <a:ext cx="2652554" cy="3143113"/>
            <a:chOff x="6191282" y="538947"/>
            <a:chExt cx="2652554" cy="3143113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F85828E-42C9-4BA8-96C3-314091B5BDAC}"/>
                </a:ext>
              </a:extLst>
            </p:cNvPr>
            <p:cNvGrpSpPr/>
            <p:nvPr/>
          </p:nvGrpSpPr>
          <p:grpSpPr>
            <a:xfrm>
              <a:off x="6191282" y="538947"/>
              <a:ext cx="2652554" cy="3143113"/>
              <a:chOff x="5388093" y="3109153"/>
              <a:chExt cx="2652554" cy="3143113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264E2EEC-0CF2-86DE-A1F2-404E061AD7C3}"/>
                  </a:ext>
                </a:extLst>
              </p:cNvPr>
              <p:cNvGrpSpPr/>
              <p:nvPr/>
            </p:nvGrpSpPr>
            <p:grpSpPr>
              <a:xfrm>
                <a:off x="5388093" y="3109153"/>
                <a:ext cx="2652554" cy="3143113"/>
                <a:chOff x="6359512" y="3215539"/>
                <a:chExt cx="2652554" cy="3143113"/>
              </a:xfrm>
            </p:grpSpPr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50D5AE26-6B2D-A370-496D-5D8FE1629D83}"/>
                    </a:ext>
                  </a:extLst>
                </p:cNvPr>
                <p:cNvGrpSpPr/>
                <p:nvPr/>
              </p:nvGrpSpPr>
              <p:grpSpPr>
                <a:xfrm>
                  <a:off x="6540634" y="3575304"/>
                  <a:ext cx="2084832" cy="2478024"/>
                  <a:chOff x="6583680" y="3739896"/>
                  <a:chExt cx="2084832" cy="2478024"/>
                </a:xfrm>
              </p:grpSpPr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A8F1849C-8E5B-2C68-1890-0428EEDF8770}"/>
                      </a:ext>
                    </a:extLst>
                  </p:cNvPr>
                  <p:cNvSpPr/>
                  <p:nvPr/>
                </p:nvSpPr>
                <p:spPr>
                  <a:xfrm>
                    <a:off x="7203264" y="4332622"/>
                    <a:ext cx="900000" cy="994752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C901C4CB-8067-A5E2-46F8-506C1E2900F5}"/>
                      </a:ext>
                    </a:extLst>
                  </p:cNvPr>
                  <p:cNvSpPr/>
                  <p:nvPr/>
                </p:nvSpPr>
                <p:spPr>
                  <a:xfrm>
                    <a:off x="6937248" y="4792278"/>
                    <a:ext cx="900000" cy="9000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cxnSp>
                <p:nvCxnSpPr>
                  <p:cNvPr id="42" name="Straight Arrow Connector 41">
                    <a:extLst>
                      <a:ext uri="{FF2B5EF4-FFF2-40B4-BE49-F238E27FC236}">
                        <a16:creationId xmlns:a16="http://schemas.microsoft.com/office/drawing/2014/main" id="{900EF0EA-EE26-90E3-6D3E-B916927A5C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583680" y="5327374"/>
                    <a:ext cx="619584" cy="890546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CDC277B5-7DD2-D739-1BA7-CC8F6B2F7103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6937248" y="4332622"/>
                    <a:ext cx="256032" cy="459656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46255214-1503-FF89-F038-38FD9E8D146F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7837248" y="4332622"/>
                    <a:ext cx="266016" cy="459656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Connector 44">
                    <a:extLst>
                      <a:ext uri="{FF2B5EF4-FFF2-40B4-BE49-F238E27FC236}">
                        <a16:creationId xmlns:a16="http://schemas.microsoft.com/office/drawing/2014/main" id="{36440645-286D-BAF1-E396-7DE133D0639A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6937248" y="5327374"/>
                    <a:ext cx="266016" cy="364904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442812B1-12CE-D936-BA2A-AA8383D94EDB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7837248" y="5327374"/>
                    <a:ext cx="266016" cy="36490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Arrow Connector 46">
                    <a:extLst>
                      <a:ext uri="{FF2B5EF4-FFF2-40B4-BE49-F238E27FC236}">
                        <a16:creationId xmlns:a16="http://schemas.microsoft.com/office/drawing/2014/main" id="{B3EE2E1A-4496-6808-E210-7ABBA63E76A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242360" y="5332512"/>
                    <a:ext cx="1426152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Arrow Connector 47">
                    <a:extLst>
                      <a:ext uri="{FF2B5EF4-FFF2-40B4-BE49-F238E27FC236}">
                        <a16:creationId xmlns:a16="http://schemas.microsoft.com/office/drawing/2014/main" id="{88FBF367-9225-A988-EAEB-ADFDAD5040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7193280" y="3739896"/>
                    <a:ext cx="9984" cy="1586396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A3FAB27-3D98-EF93-96F1-1D7BCCE2B9EA}"/>
                    </a:ext>
                  </a:extLst>
                </p:cNvPr>
                <p:cNvSpPr txBox="1"/>
                <p:nvPr/>
              </p:nvSpPr>
              <p:spPr>
                <a:xfrm>
                  <a:off x="6359512" y="5989320"/>
                  <a:ext cx="28405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x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008D897-C925-45B7-9973-DD5EF2C7E983}"/>
                    </a:ext>
                  </a:extLst>
                </p:cNvPr>
                <p:cNvSpPr txBox="1"/>
                <p:nvPr/>
              </p:nvSpPr>
              <p:spPr>
                <a:xfrm>
                  <a:off x="8723204" y="4958218"/>
                  <a:ext cx="2888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y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F8CAEC13-E431-FA94-0AF9-029F8864CADD}"/>
                    </a:ext>
                  </a:extLst>
                </p:cNvPr>
                <p:cNvSpPr txBox="1"/>
                <p:nvPr/>
              </p:nvSpPr>
              <p:spPr>
                <a:xfrm>
                  <a:off x="7008208" y="3215539"/>
                  <a:ext cx="2760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z</a:t>
                  </a:r>
                </a:p>
              </p:txBody>
            </p:sp>
          </p:grp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9827E37-AD09-A7D0-4A0C-D9723DE2D33A}"/>
                  </a:ext>
                </a:extLst>
              </p:cNvPr>
              <p:cNvSpPr txBox="1"/>
              <p:nvPr/>
            </p:nvSpPr>
            <p:spPr>
              <a:xfrm>
                <a:off x="6264874" y="5409262"/>
                <a:ext cx="2936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endParaRPr lang="en-IN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F66EDD-0ABD-C0F3-778D-F240AE696B6A}"/>
                  </a:ext>
                </a:extLst>
              </p:cNvPr>
              <p:cNvSpPr txBox="1"/>
              <p:nvPr/>
            </p:nvSpPr>
            <p:spPr>
              <a:xfrm>
                <a:off x="6899187" y="512450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endParaRPr lang="en-IN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7292F50-41F8-8D60-54B9-5BF0F7B78AF9}"/>
                  </a:ext>
                </a:extLst>
              </p:cNvPr>
              <p:cNvSpPr txBox="1"/>
              <p:nvPr/>
            </p:nvSpPr>
            <p:spPr>
              <a:xfrm>
                <a:off x="5651156" y="4670959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endParaRPr lang="en-IN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065BF6FF-BF5D-AEAC-772A-EC587D652021}"/>
                </a:ext>
              </a:extLst>
            </p:cNvPr>
            <p:cNvSpPr/>
            <p:nvPr/>
          </p:nvSpPr>
          <p:spPr>
            <a:xfrm rot="20590645">
              <a:off x="6571743" y="1527176"/>
              <a:ext cx="1181380" cy="1134338"/>
            </a:xfrm>
            <a:prstGeom prst="triangle">
              <a:avLst>
                <a:gd name="adj" fmla="val 4698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824F724-9E1B-12F1-1AE3-75AB636A4C7A}"/>
              </a:ext>
            </a:extLst>
          </p:cNvPr>
          <p:cNvGrpSpPr/>
          <p:nvPr/>
        </p:nvGrpSpPr>
        <p:grpSpPr>
          <a:xfrm>
            <a:off x="4422295" y="3015628"/>
            <a:ext cx="4438103" cy="2200799"/>
            <a:chOff x="469017" y="2806494"/>
            <a:chExt cx="4438103" cy="2200799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DA8834E-560E-F721-2773-63F1C49CAE52}"/>
                </a:ext>
              </a:extLst>
            </p:cNvPr>
            <p:cNvSpPr txBox="1"/>
            <p:nvPr/>
          </p:nvSpPr>
          <p:spPr>
            <a:xfrm>
              <a:off x="469017" y="3252967"/>
              <a:ext cx="4438103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AutoNum type="arabicPeriod"/>
              </a:pPr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plane (shaded) intercepts the x axis at 1a, </a:t>
              </a:r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1b,1c</a:t>
              </a:r>
            </a:p>
            <a:p>
              <a:pPr marL="342900" indent="-342900">
                <a:buAutoNum type="arabicPeriod"/>
              </a:pP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endParaRPr>
            </a:p>
            <a:p>
              <a:pPr marL="342900" indent="-342900">
                <a:buAutoNum type="arabicPeriod"/>
              </a:pPr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Taking the reciprocals 1, 1, 1 </a:t>
              </a:r>
            </a:p>
            <a:p>
              <a:pPr marL="342900" indent="-342900">
                <a:buAutoNum type="arabicPeriod"/>
              </a:pPr>
              <a:endPara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endParaRPr>
            </a:p>
            <a:p>
              <a:pPr marL="342900" indent="-342900">
                <a:buAutoNum type="arabicPeriod"/>
              </a:pPr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Miller index is written as (111)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BAD0BDB-97AA-0C8D-E2C9-948DFAFDA89A}"/>
                </a:ext>
              </a:extLst>
            </p:cNvPr>
            <p:cNvSpPr txBox="1"/>
            <p:nvPr/>
          </p:nvSpPr>
          <p:spPr>
            <a:xfrm>
              <a:off x="1631245" y="2806494"/>
              <a:ext cx="6977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(111)</a:t>
              </a:r>
              <a:endParaRPr lang="en-IN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58" name="Picture 57">
            <a:extLst>
              <a:ext uri="{FF2B5EF4-FFF2-40B4-BE49-F238E27FC236}">
                <a16:creationId xmlns:a16="http://schemas.microsoft.com/office/drawing/2014/main" id="{21D6C06B-EDD9-4115-1D6D-A9EE3DBB8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398" y="741729"/>
            <a:ext cx="3257378" cy="2430828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6113F741-2E20-E53D-F697-D2C575DAE045}"/>
              </a:ext>
            </a:extLst>
          </p:cNvPr>
          <p:cNvSpPr txBox="1"/>
          <p:nvPr/>
        </p:nvSpPr>
        <p:spPr>
          <a:xfrm>
            <a:off x="9454098" y="3508267"/>
            <a:ext cx="15311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 3:  (100)</a:t>
            </a:r>
          </a:p>
          <a:p>
            <a:endParaRPr lang="en-US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Plane-2: (200)</a:t>
            </a:r>
            <a:endParaRPr lang="en-IN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4F66095-3A4B-1E11-F32E-4EA8152AE99E}"/>
              </a:ext>
            </a:extLst>
          </p:cNvPr>
          <p:cNvSpPr txBox="1"/>
          <p:nvPr/>
        </p:nvSpPr>
        <p:spPr>
          <a:xfrm>
            <a:off x="2828765" y="5672754"/>
            <a:ext cx="6209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The general symbol for Miller indices is (</a:t>
            </a:r>
            <a:r>
              <a:rPr lang="en-IN" sz="1800" b="1" i="1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hkl</a:t>
            </a:r>
            <a:r>
              <a:rPr lang="en-IN" sz="18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493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CDB5697B-1289-A4DD-FBA9-B64D4AB61834}"/>
              </a:ext>
            </a:extLst>
          </p:cNvPr>
          <p:cNvSpPr txBox="1"/>
          <p:nvPr/>
        </p:nvSpPr>
        <p:spPr>
          <a:xfrm>
            <a:off x="3895599" y="248194"/>
            <a:ext cx="3788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 passing through the origin</a:t>
            </a:r>
            <a:endParaRPr lang="en-IN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47A79C-B68B-FD51-8A29-3466A517E5DA}"/>
              </a:ext>
            </a:extLst>
          </p:cNvPr>
          <p:cNvSpPr txBox="1"/>
          <p:nvPr/>
        </p:nvSpPr>
        <p:spPr>
          <a:xfrm>
            <a:off x="979714" y="748604"/>
            <a:ext cx="107637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AutoNum type="arabicPeriod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IDFont+F1"/>
              </a:rPr>
              <a:t>The Miller indices refer to a whole set of parallel planes passing through lattice points. This implies that one of the planes of the infinite set actually passes through the origin.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CIDFont+F1"/>
            </a:endParaRPr>
          </a:p>
          <a:p>
            <a:pPr algn="l"/>
            <a:r>
              <a:rPr lang="en-US" dirty="0">
                <a:latin typeface="CIDFont+F2"/>
              </a:rPr>
              <a:t>2. U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IDFont+F1"/>
              </a:rPr>
              <a:t>sually we do not take that particular plane for the determination of Miller indices; but a parallel one, which does not pass through the origin.</a:t>
            </a:r>
            <a:endParaRPr lang="en-IN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58E3905-C5DC-E367-EEB6-46AFEDF99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112" y="2281306"/>
            <a:ext cx="3576362" cy="287259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795129A-2F1A-7E36-95F2-816CDDE4FCAF}"/>
              </a:ext>
            </a:extLst>
          </p:cNvPr>
          <p:cNvSpPr txBox="1"/>
          <p:nvPr/>
        </p:nvSpPr>
        <p:spPr>
          <a:xfrm>
            <a:off x="1387523" y="5340356"/>
            <a:ext cx="21270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0" i="0" u="none" strike="noStrike" baseline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Intercepts → </a:t>
            </a:r>
            <a:r>
              <a:rPr lang="en-IN" sz="1600" b="0" i="0" u="none" strike="noStrike" baseline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 0  </a:t>
            </a:r>
          </a:p>
          <a:p>
            <a:pPr algn="l"/>
            <a:r>
              <a:rPr lang="en-IN" sz="1600" b="0" i="0" u="none" strike="noStrike" baseline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 → (</a:t>
            </a:r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</a:t>
            </a:r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 0)</a:t>
            </a:r>
            <a:endParaRPr lang="en-IN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3529D82-35B0-006E-FD67-F97A2C464FF6}"/>
              </a:ext>
            </a:extLst>
          </p:cNvPr>
          <p:cNvGrpSpPr/>
          <p:nvPr/>
        </p:nvGrpSpPr>
        <p:grpSpPr>
          <a:xfrm>
            <a:off x="433935" y="3816211"/>
            <a:ext cx="2426831" cy="646331"/>
            <a:chOff x="433935" y="3816211"/>
            <a:chExt cx="2426831" cy="646331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2ADC253-0480-D5E7-0169-24B88504E6F1}"/>
                </a:ext>
              </a:extLst>
            </p:cNvPr>
            <p:cNvSpPr txBox="1"/>
            <p:nvPr/>
          </p:nvSpPr>
          <p:spPr>
            <a:xfrm>
              <a:off x="2103120" y="3847940"/>
              <a:ext cx="7576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→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50BA2FA-B85F-E559-B503-34308EEC9A99}"/>
                </a:ext>
              </a:extLst>
            </p:cNvPr>
            <p:cNvSpPr txBox="1"/>
            <p:nvPr/>
          </p:nvSpPr>
          <p:spPr>
            <a:xfrm>
              <a:off x="433935" y="3816211"/>
              <a:ext cx="19071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Plane passing through the origin</a:t>
              </a:r>
              <a:endParaRPr lang="en-IN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09F09E6-1C70-7744-8A6D-E1B987807CC8}"/>
              </a:ext>
            </a:extLst>
          </p:cNvPr>
          <p:cNvGrpSpPr/>
          <p:nvPr/>
        </p:nvGrpSpPr>
        <p:grpSpPr>
          <a:xfrm>
            <a:off x="5219294" y="3524774"/>
            <a:ext cx="2605357" cy="646331"/>
            <a:chOff x="-264245" y="3816211"/>
            <a:chExt cx="2605357" cy="646331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594F12F-9B08-3D4C-DEF0-CF53B44A6388}"/>
                </a:ext>
              </a:extLst>
            </p:cNvPr>
            <p:cNvSpPr txBox="1"/>
            <p:nvPr/>
          </p:nvSpPr>
          <p:spPr>
            <a:xfrm rot="10800000">
              <a:off x="-264245" y="3939322"/>
              <a:ext cx="7576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→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BBFE49B-DE74-003C-3FDC-08A03D46A3AC}"/>
                </a:ext>
              </a:extLst>
            </p:cNvPr>
            <p:cNvSpPr txBox="1"/>
            <p:nvPr/>
          </p:nvSpPr>
          <p:spPr>
            <a:xfrm>
              <a:off x="433935" y="3816211"/>
              <a:ext cx="19071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Consider this plane parallel to it</a:t>
              </a:r>
              <a:endParaRPr lang="en-IN" dirty="0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89046E37-A760-7293-47DD-2497F5432B25}"/>
              </a:ext>
            </a:extLst>
          </p:cNvPr>
          <p:cNvSpPr txBox="1"/>
          <p:nvPr/>
        </p:nvSpPr>
        <p:spPr>
          <a:xfrm>
            <a:off x="5032466" y="5245295"/>
            <a:ext cx="21270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0" i="0" u="none" strike="noStrike" baseline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Intercepts → </a:t>
            </a:r>
            <a:r>
              <a:rPr lang="en-IN" sz="1600" b="0" i="0" u="none" strike="noStrike" baseline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 1  </a:t>
            </a:r>
          </a:p>
          <a:p>
            <a:pPr algn="l"/>
            <a:r>
              <a:rPr lang="en-IN" sz="1600" b="0" i="0" u="none" strike="noStrike" baseline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 → (</a:t>
            </a:r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</a:t>
            </a:r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1 0)</a:t>
            </a:r>
            <a:endParaRPr lang="en-IN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816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DA09707-C38D-3489-EFAF-2DFFB12F537E}"/>
              </a:ext>
            </a:extLst>
          </p:cNvPr>
          <p:cNvGrpSpPr/>
          <p:nvPr/>
        </p:nvGrpSpPr>
        <p:grpSpPr>
          <a:xfrm>
            <a:off x="240420" y="3546566"/>
            <a:ext cx="3271123" cy="3311434"/>
            <a:chOff x="4088673" y="790303"/>
            <a:chExt cx="2777602" cy="263869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F422FB0-B8BB-97B6-CB29-40B0CDA765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7271" t="2727" b="48451"/>
            <a:stretch/>
          </p:blipFill>
          <p:spPr>
            <a:xfrm>
              <a:off x="4088673" y="790303"/>
              <a:ext cx="2777602" cy="2638697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8C29C66-4EE9-14B0-E014-20C6E5F9B0FF}"/>
                </a:ext>
              </a:extLst>
            </p:cNvPr>
            <p:cNvSpPr/>
            <p:nvPr/>
          </p:nvSpPr>
          <p:spPr>
            <a:xfrm>
              <a:off x="5251269" y="1084217"/>
              <a:ext cx="844731" cy="3788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6FCEFA7-2193-E0ED-551F-FC072E38ED8C}"/>
              </a:ext>
            </a:extLst>
          </p:cNvPr>
          <p:cNvGrpSpPr/>
          <p:nvPr/>
        </p:nvGrpSpPr>
        <p:grpSpPr>
          <a:xfrm>
            <a:off x="-74945" y="505506"/>
            <a:ext cx="3553097" cy="3168926"/>
            <a:chOff x="404949" y="671554"/>
            <a:chExt cx="3056708" cy="275744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70F3032-D06F-2EB6-66C7-361EC03F4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7239" r="57398" b="46539"/>
            <a:stretch/>
          </p:blipFill>
          <p:spPr>
            <a:xfrm>
              <a:off x="404949" y="671554"/>
              <a:ext cx="3056708" cy="275744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ADC716A-2EE3-E521-2B94-6891E2E83385}"/>
                </a:ext>
              </a:extLst>
            </p:cNvPr>
            <p:cNvSpPr/>
            <p:nvPr/>
          </p:nvSpPr>
          <p:spPr>
            <a:xfrm>
              <a:off x="1645920" y="947057"/>
              <a:ext cx="853439" cy="4245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0A37E9B-E5BF-5DFE-084E-5359CC544957}"/>
              </a:ext>
            </a:extLst>
          </p:cNvPr>
          <p:cNvGrpSpPr/>
          <p:nvPr/>
        </p:nvGrpSpPr>
        <p:grpSpPr>
          <a:xfrm>
            <a:off x="1513968" y="910000"/>
            <a:ext cx="676788" cy="369332"/>
            <a:chOff x="9731829" y="6204857"/>
            <a:chExt cx="676788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6419898-948A-41E8-977D-93D5E61FA021}"/>
                </a:ext>
              </a:extLst>
            </p:cNvPr>
            <p:cNvSpPr txBox="1"/>
            <p:nvPr/>
          </p:nvSpPr>
          <p:spPr>
            <a:xfrm>
              <a:off x="9731829" y="6204857"/>
              <a:ext cx="676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(001)</a:t>
              </a:r>
              <a:endParaRPr lang="en-IN" b="1" dirty="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EE98850-2C7A-17E7-E782-695E0043714F}"/>
                </a:ext>
              </a:extLst>
            </p:cNvPr>
            <p:cNvCxnSpPr>
              <a:cxnSpLocks/>
            </p:cNvCxnSpPr>
            <p:nvPr/>
          </p:nvCxnSpPr>
          <p:spPr>
            <a:xfrm>
              <a:off x="10119231" y="6257109"/>
              <a:ext cx="12313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24703B6-57E3-1A4F-DB03-93CB953C4359}"/>
              </a:ext>
            </a:extLst>
          </p:cNvPr>
          <p:cNvSpPr txBox="1"/>
          <p:nvPr/>
        </p:nvSpPr>
        <p:spPr>
          <a:xfrm>
            <a:off x="808091" y="136174"/>
            <a:ext cx="314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Consider green dot as origin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C3D6DFA-45BA-0E29-5238-8FBA6AB8B429}"/>
              </a:ext>
            </a:extLst>
          </p:cNvPr>
          <p:cNvGrpSpPr/>
          <p:nvPr/>
        </p:nvGrpSpPr>
        <p:grpSpPr>
          <a:xfrm>
            <a:off x="1701604" y="3972493"/>
            <a:ext cx="679994" cy="369332"/>
            <a:chOff x="9731829" y="6204857"/>
            <a:chExt cx="679994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5F82777-C2A8-4B67-1F9D-F482E7290197}"/>
                </a:ext>
              </a:extLst>
            </p:cNvPr>
            <p:cNvSpPr txBox="1"/>
            <p:nvPr/>
          </p:nvSpPr>
          <p:spPr>
            <a:xfrm>
              <a:off x="9731829" y="6204857"/>
              <a:ext cx="6799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(011)</a:t>
              </a:r>
              <a:endParaRPr lang="en-IN" b="1" dirty="0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2E65F52-A1E6-DA3E-AE57-22DB05AE690A}"/>
                </a:ext>
              </a:extLst>
            </p:cNvPr>
            <p:cNvCxnSpPr>
              <a:cxnSpLocks/>
            </p:cNvCxnSpPr>
            <p:nvPr/>
          </p:nvCxnSpPr>
          <p:spPr>
            <a:xfrm>
              <a:off x="10132294" y="6257109"/>
              <a:ext cx="12313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F56DDF5-AEC1-5B5A-090E-1DD7EF5CDDFD}"/>
              </a:ext>
            </a:extLst>
          </p:cNvPr>
          <p:cNvSpPr txBox="1"/>
          <p:nvPr/>
        </p:nvSpPr>
        <p:spPr>
          <a:xfrm>
            <a:off x="3970978" y="879475"/>
            <a:ext cx="807297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IN" sz="1800" b="0" i="0" u="none" strike="noStrike" baseline="0" dirty="0">
                <a:solidFill>
                  <a:srgbClr val="6600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General Principles</a:t>
            </a:r>
          </a:p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a Miller index is zero, the plane is parallel to that axis.</a:t>
            </a:r>
          </a:p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Smaller a Miller index, the more nearly parallel the plane is to the 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axis.</a:t>
            </a:r>
          </a:p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Larger a Miller index, more nearly perpendicular a plane is to that 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axis.</a:t>
            </a:r>
          </a:p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Multiplying or dividing a Miller index by a constant has no effect on the orientation of the plane</a:t>
            </a:r>
          </a:p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Miller indices are almost always small.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29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A1D61D-4949-AB74-7F00-3BC7F7005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82" y="1030954"/>
            <a:ext cx="2795599" cy="289752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BBCB63-E423-CE19-C0F0-6108B1193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083" y="907645"/>
            <a:ext cx="2795599" cy="296272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61CD39C-FAB5-DCE5-E4CD-63482B5CF5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784" y="809565"/>
            <a:ext cx="2981136" cy="285457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822DEE5-5721-FF9E-96C3-9F1A3076D158}"/>
              </a:ext>
            </a:extLst>
          </p:cNvPr>
          <p:cNvSpPr txBox="1"/>
          <p:nvPr/>
        </p:nvSpPr>
        <p:spPr>
          <a:xfrm>
            <a:off x="4118083" y="209006"/>
            <a:ext cx="3518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origin in these planes</a:t>
            </a:r>
            <a:endParaRPr lang="en-IN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92A432-87EE-887D-FCB0-6ED6E9247422}"/>
              </a:ext>
            </a:extLst>
          </p:cNvPr>
          <p:cNvGrpSpPr/>
          <p:nvPr/>
        </p:nvGrpSpPr>
        <p:grpSpPr>
          <a:xfrm>
            <a:off x="280503" y="3746634"/>
            <a:ext cx="2358194" cy="2897522"/>
            <a:chOff x="280503" y="3501043"/>
            <a:chExt cx="2548050" cy="3143113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93587C2-A3AA-8689-8F17-CC46D07605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2449" y="5457851"/>
              <a:ext cx="619584" cy="8905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5B1906C-DDED-0B3A-A646-CD90C6049B4B}"/>
                </a:ext>
              </a:extLst>
            </p:cNvPr>
            <p:cNvCxnSpPr>
              <a:cxnSpLocks/>
            </p:cNvCxnSpPr>
            <p:nvPr/>
          </p:nvCxnSpPr>
          <p:spPr>
            <a:xfrm>
              <a:off x="1081129" y="5462989"/>
              <a:ext cx="14261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9B036EB-3F5B-75CE-4901-E9F9AB4CAF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2049" y="3870373"/>
              <a:ext cx="9984" cy="15863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1E1E9BB-D656-7185-C610-CA23C9117ADF}"/>
                </a:ext>
              </a:extLst>
            </p:cNvPr>
            <p:cNvSpPr txBox="1"/>
            <p:nvPr/>
          </p:nvSpPr>
          <p:spPr>
            <a:xfrm>
              <a:off x="280503" y="6274824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x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6D7228F-F502-0FAC-4F2D-DA7C9137BCE3}"/>
                </a:ext>
              </a:extLst>
            </p:cNvPr>
            <p:cNvSpPr txBox="1"/>
            <p:nvPr/>
          </p:nvSpPr>
          <p:spPr>
            <a:xfrm>
              <a:off x="2539691" y="5243722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y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C0B94BF-257C-A5F7-1609-B124A905DF0D}"/>
                </a:ext>
              </a:extLst>
            </p:cNvPr>
            <p:cNvSpPr txBox="1"/>
            <p:nvPr/>
          </p:nvSpPr>
          <p:spPr>
            <a:xfrm>
              <a:off x="929199" y="3501043"/>
              <a:ext cx="276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8046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71316E-85CD-5924-E0C9-7587B124DC7C}"/>
              </a:ext>
            </a:extLst>
          </p:cNvPr>
          <p:cNvSpPr txBox="1"/>
          <p:nvPr/>
        </p:nvSpPr>
        <p:spPr>
          <a:xfrm>
            <a:off x="4553712" y="82296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Miller Indices for directions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83B3C6-F2F3-FE47-E39E-0F44E2971D57}"/>
              </a:ext>
            </a:extLst>
          </p:cNvPr>
          <p:cNvSpPr txBox="1"/>
          <p:nvPr/>
        </p:nvSpPr>
        <p:spPr>
          <a:xfrm>
            <a:off x="370839" y="1568014"/>
            <a:ext cx="6626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0" u="none" strike="noStrike" baseline="0" dirty="0">
                <a:latin typeface="CIDFont+F1"/>
              </a:rPr>
              <a:t>A vector </a:t>
            </a:r>
            <a:r>
              <a:rPr lang="en-US" sz="1800" b="0" i="0" u="none" strike="noStrike" baseline="0" dirty="0">
                <a:latin typeface="CIDFont+F9"/>
              </a:rPr>
              <a:t>r </a:t>
            </a:r>
            <a:r>
              <a:rPr lang="en-US" sz="1800" b="0" i="0" u="none" strike="noStrike" baseline="0" dirty="0">
                <a:latin typeface="CIDFont+F1"/>
              </a:rPr>
              <a:t>passing from the origin to a lattice point may be written as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3BFEE4-A676-6DF6-A3E2-B82084850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325" y="2414083"/>
            <a:ext cx="2978486" cy="7442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EE27CC-FCFA-9CFE-44F3-109BB20DFB57}"/>
              </a:ext>
            </a:extLst>
          </p:cNvPr>
          <p:cNvSpPr txBox="1"/>
          <p:nvPr/>
        </p:nvSpPr>
        <p:spPr>
          <a:xfrm>
            <a:off x="511766" y="3299187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CIDFont+F1"/>
              </a:rPr>
              <a:t>Where, </a:t>
            </a:r>
            <a:r>
              <a:rPr lang="en-US" sz="1800" b="0" i="0" u="none" strike="noStrike" baseline="0" dirty="0">
                <a:latin typeface="CIDFont+F9"/>
              </a:rPr>
              <a:t>a</a:t>
            </a:r>
            <a:r>
              <a:rPr lang="en-US" sz="1800" b="0" i="0" u="none" strike="noStrike" baseline="0" dirty="0">
                <a:latin typeface="CIDFont+F1"/>
              </a:rPr>
              <a:t>, </a:t>
            </a:r>
            <a:r>
              <a:rPr lang="en-US" sz="1800" b="0" i="0" u="none" strike="noStrike" baseline="0" dirty="0">
                <a:latin typeface="CIDFont+F9"/>
              </a:rPr>
              <a:t>b</a:t>
            </a:r>
            <a:r>
              <a:rPr lang="en-US" sz="1800" b="0" i="0" u="none" strike="noStrike" baseline="0" dirty="0">
                <a:latin typeface="CIDFont+F1"/>
              </a:rPr>
              <a:t>, </a:t>
            </a:r>
            <a:r>
              <a:rPr lang="en-US" sz="1800" b="0" i="0" u="none" strike="noStrike" baseline="0" dirty="0">
                <a:latin typeface="CIDFont+F9"/>
              </a:rPr>
              <a:t>c </a:t>
            </a:r>
            <a:r>
              <a:rPr lang="en-US" sz="1800" b="0" i="0" u="none" strike="noStrike" baseline="0" dirty="0">
                <a:latin typeface="CIDFont+F1"/>
              </a:rPr>
              <a:t>→ basic vectors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8F933F-DD52-E00F-B161-D3DCC4A8CDFA}"/>
              </a:ext>
            </a:extLst>
          </p:cNvPr>
          <p:cNvSpPr txBox="1"/>
          <p:nvPr/>
        </p:nvSpPr>
        <p:spPr>
          <a:xfrm>
            <a:off x="370839" y="3942557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IDFont+F1"/>
              </a:rPr>
              <a:t>Basis vectors are unit </a:t>
            </a:r>
            <a:r>
              <a:rPr lang="en-US" sz="1800" b="0" i="0" u="none" strike="noStrike" baseline="0" dirty="0">
                <a:solidFill>
                  <a:srgbClr val="0000FF"/>
                </a:solidFill>
                <a:latin typeface="CIDFont+F1"/>
              </a:rPr>
              <a:t>lattice translation vectors</a:t>
            </a:r>
            <a:endParaRPr lang="en-IN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B69B232-BFED-3BB2-699E-69D728B1536E}"/>
              </a:ext>
            </a:extLst>
          </p:cNvPr>
          <p:cNvGrpSpPr/>
          <p:nvPr/>
        </p:nvGrpSpPr>
        <p:grpSpPr>
          <a:xfrm>
            <a:off x="7229177" y="823592"/>
            <a:ext cx="3909891" cy="3373504"/>
            <a:chOff x="6928866" y="1070480"/>
            <a:chExt cx="3909891" cy="337350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DD56DE0-5139-F7B1-6AAA-AB9C5D0D4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8866" y="1070480"/>
              <a:ext cx="3909891" cy="3373504"/>
            </a:xfrm>
            <a:prstGeom prst="rect">
              <a:avLst/>
            </a:prstGeom>
          </p:spPr>
        </p:pic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DC536C9-5CA4-31C3-4C6D-67CAE18AED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4736" y="1783080"/>
              <a:ext cx="1709928" cy="20574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F5A148E-7D17-0302-0258-E84C23490BCC}"/>
                </a:ext>
              </a:extLst>
            </p:cNvPr>
            <p:cNvSpPr txBox="1"/>
            <p:nvPr/>
          </p:nvSpPr>
          <p:spPr>
            <a:xfrm>
              <a:off x="9884550" y="1641001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6F168D8-38B5-5A05-A83F-0D4D11E31D91}"/>
              </a:ext>
            </a:extLst>
          </p:cNvPr>
          <p:cNvSpPr txBox="1"/>
          <p:nvPr/>
        </p:nvSpPr>
        <p:spPr>
          <a:xfrm>
            <a:off x="283653" y="623946"/>
            <a:ext cx="68907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Directions in the crystal can be labelled. These are vectors written in terms of multiples of the lattice vectors </a:t>
            </a:r>
            <a:r>
              <a:rPr lang="en-US" sz="1600" b="1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6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sz="1600" b="1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16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and </a:t>
            </a:r>
            <a:r>
              <a:rPr lang="en-US" sz="1600" b="1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6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262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960B45-094A-2BC9-2BA1-C7F2B5230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56" y="689844"/>
            <a:ext cx="4437316" cy="38953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6D43D4-4E11-CF12-1266-84A0DFA5802A}"/>
              </a:ext>
            </a:extLst>
          </p:cNvPr>
          <p:cNvSpPr txBox="1"/>
          <p:nvPr/>
        </p:nvSpPr>
        <p:spPr>
          <a:xfrm>
            <a:off x="2601798" y="320512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2D lattice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94AD23-8191-D039-304C-23E3AC49C3B1}"/>
              </a:ext>
            </a:extLst>
          </p:cNvPr>
          <p:cNvSpPr txBox="1"/>
          <p:nvPr/>
        </p:nvSpPr>
        <p:spPr>
          <a:xfrm>
            <a:off x="135136" y="5184724"/>
            <a:ext cx="6367682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0" i="0" u="none" strike="noStrike" baseline="0" dirty="0">
                <a:solidFill>
                  <a:srgbClr val="C00000"/>
                </a:solidFill>
                <a:latin typeface="CIDFont+F1"/>
              </a:rPr>
              <a:t>1.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IDFont+F1"/>
              </a:rPr>
              <a:t>Position the vector, such that start </a:t>
            </a:r>
            <a:r>
              <a:rPr lang="en-US" sz="1800" b="0" i="0" u="none" strike="noStrike" baseline="0" dirty="0">
                <a:solidFill>
                  <a:srgbClr val="CD3300"/>
                </a:solidFill>
                <a:latin typeface="CIDFont+F1"/>
              </a:rPr>
              <a:t>(S: (x1, y1))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IDFont+F1"/>
              </a:rPr>
              <a:t>and end points </a:t>
            </a:r>
            <a:r>
              <a:rPr lang="en-US" sz="1800" b="0" i="0" u="none" strike="noStrike" baseline="0" dirty="0">
                <a:solidFill>
                  <a:srgbClr val="CD3300"/>
                </a:solidFill>
                <a:latin typeface="CIDFont+F1"/>
              </a:rPr>
              <a:t>(E: (x2, y2))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IDFont+F1"/>
              </a:rPr>
              <a:t>are lattice points and note the value of the coordinates. Subtract to obtain: (</a:t>
            </a:r>
            <a:r>
              <a:rPr lang="en-US" sz="1800" b="0" i="0" u="none" strike="noStrike" baseline="0" dirty="0">
                <a:solidFill>
                  <a:srgbClr val="CD3300"/>
                </a:solidFill>
                <a:latin typeface="CIDFont+F1"/>
              </a:rPr>
              <a:t>(x2</a:t>
            </a:r>
            <a:r>
              <a:rPr lang="en-US" dirty="0">
                <a:solidFill>
                  <a:srgbClr val="CD3300"/>
                </a:solidFill>
                <a:latin typeface="CIDFont+F11"/>
              </a:rPr>
              <a:t>-</a:t>
            </a:r>
            <a:r>
              <a:rPr lang="en-US" sz="1800" b="0" i="0" u="none" strike="noStrike" baseline="0" dirty="0">
                <a:solidFill>
                  <a:srgbClr val="CD3300"/>
                </a:solidFill>
                <a:latin typeface="CIDFont+F1"/>
              </a:rPr>
              <a:t>x1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IDFont+F1"/>
              </a:rPr>
              <a:t>), </a:t>
            </a:r>
            <a:r>
              <a:rPr lang="en-US" sz="1800" b="0" i="0" u="none" strike="noStrike" baseline="0" dirty="0">
                <a:solidFill>
                  <a:srgbClr val="CD3300"/>
                </a:solidFill>
                <a:latin typeface="CIDFont+F1"/>
              </a:rPr>
              <a:t>(y2</a:t>
            </a:r>
            <a:r>
              <a:rPr lang="en-US" dirty="0">
                <a:solidFill>
                  <a:srgbClr val="CD3300"/>
                </a:solidFill>
                <a:latin typeface="CIDFont+F11"/>
              </a:rPr>
              <a:t>-</a:t>
            </a:r>
            <a:r>
              <a:rPr lang="en-US" sz="1800" b="0" i="0" u="none" strike="noStrike" baseline="0" dirty="0">
                <a:solidFill>
                  <a:srgbClr val="CD3300"/>
                </a:solidFill>
                <a:latin typeface="CIDFont+F1"/>
              </a:rPr>
              <a:t>y1)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IDFont+F1"/>
              </a:rPr>
              <a:t>).</a:t>
            </a:r>
          </a:p>
          <a:p>
            <a:pPr algn="l">
              <a:spcAft>
                <a:spcPts val="600"/>
              </a:spcAft>
            </a:pPr>
            <a:r>
              <a:rPr lang="en-US" dirty="0">
                <a:solidFill>
                  <a:srgbClr val="A60021"/>
                </a:solidFill>
                <a:latin typeface="CIDFont+F2"/>
              </a:rPr>
              <a:t>2. </a:t>
            </a:r>
            <a:r>
              <a:rPr lang="en-US" sz="1800" b="0" i="0" u="none" strike="noStrike" baseline="0" dirty="0">
                <a:solidFill>
                  <a:srgbClr val="A60021"/>
                </a:solidFill>
                <a:latin typeface="CIDFont+F2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IDFont+F1"/>
              </a:rPr>
              <a:t>Write these number in square brackets, without the ‘comma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5714D-60AF-8A77-E586-5AD4EA626779}"/>
              </a:ext>
            </a:extLst>
          </p:cNvPr>
          <p:cNvSpPr txBox="1"/>
          <p:nvPr/>
        </p:nvSpPr>
        <p:spPr>
          <a:xfrm>
            <a:off x="1370692" y="4664854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Miller indices is [53]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42D921-0958-859C-76E2-71F75B86E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914" y="727665"/>
            <a:ext cx="4122737" cy="31829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059CD67-63B0-263D-4B14-58166721C43D}"/>
              </a:ext>
            </a:extLst>
          </p:cNvPr>
          <p:cNvSpPr txBox="1"/>
          <p:nvPr/>
        </p:nvSpPr>
        <p:spPr>
          <a:xfrm>
            <a:off x="10264991" y="3923299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(4,-2)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4AD2170-3D70-FE78-A6E2-9ED25944DE31}"/>
              </a:ext>
            </a:extLst>
          </p:cNvPr>
          <p:cNvGrpSpPr/>
          <p:nvPr/>
        </p:nvGrpSpPr>
        <p:grpSpPr>
          <a:xfrm>
            <a:off x="8145296" y="4464171"/>
            <a:ext cx="1725344" cy="369332"/>
            <a:chOff x="8774257" y="4788445"/>
            <a:chExt cx="1725344" cy="36933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596F096-6A5C-2CD6-7EFD-AFFA2925E1D5}"/>
                </a:ext>
              </a:extLst>
            </p:cNvPr>
            <p:cNvSpPr txBox="1"/>
            <p:nvPr/>
          </p:nvSpPr>
          <p:spPr>
            <a:xfrm>
              <a:off x="8774257" y="4788445"/>
              <a:ext cx="1725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Direction is [42]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996ABE1-FB24-1080-5286-5DECF122A909}"/>
                </a:ext>
              </a:extLst>
            </p:cNvPr>
            <p:cNvCxnSpPr/>
            <p:nvPr/>
          </p:nvCxnSpPr>
          <p:spPr>
            <a:xfrm>
              <a:off x="10131552" y="4883085"/>
              <a:ext cx="153091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0BB1F11-4F0B-4991-405E-DD1C37895CC8}"/>
              </a:ext>
            </a:extLst>
          </p:cNvPr>
          <p:cNvGrpSpPr/>
          <p:nvPr/>
        </p:nvGrpSpPr>
        <p:grpSpPr>
          <a:xfrm>
            <a:off x="7162592" y="5120741"/>
            <a:ext cx="3705059" cy="646331"/>
            <a:chOff x="7152851" y="5175279"/>
            <a:chExt cx="3705059" cy="64633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323D91F-7D11-69D7-4BA4-8B3171511762}"/>
                </a:ext>
              </a:extLst>
            </p:cNvPr>
            <p:cNvSpPr txBox="1"/>
            <p:nvPr/>
          </p:nvSpPr>
          <p:spPr>
            <a:xfrm>
              <a:off x="7152851" y="5175279"/>
              <a:ext cx="29787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Take out the common factor  </a:t>
              </a:r>
            </a:p>
            <a:p>
              <a:r>
                <a:rPr lang="en-IN" dirty="0"/>
                <a:t>Miller indices with magnitude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EB5FAC1-6F35-FA36-4AFA-ACB930C0BED9}"/>
                </a:ext>
              </a:extLst>
            </p:cNvPr>
            <p:cNvGrpSpPr/>
            <p:nvPr/>
          </p:nvGrpSpPr>
          <p:grpSpPr>
            <a:xfrm>
              <a:off x="10181122" y="5428383"/>
              <a:ext cx="676788" cy="369332"/>
              <a:chOff x="8739304" y="4829160"/>
              <a:chExt cx="676788" cy="369332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0AF0D9C-7EED-90DB-D201-E3057DDD34A7}"/>
                  </a:ext>
                </a:extLst>
              </p:cNvPr>
              <p:cNvSpPr txBox="1"/>
              <p:nvPr/>
            </p:nvSpPr>
            <p:spPr>
              <a:xfrm>
                <a:off x="8739304" y="4829160"/>
                <a:ext cx="6767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2[21]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EBED95F4-102F-C3CB-379B-03E7B86977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22886" y="4883085"/>
                <a:ext cx="117192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C079835F-C7E0-BF81-8826-43184F2F02A2}"/>
              </a:ext>
            </a:extLst>
          </p:cNvPr>
          <p:cNvSpPr txBox="1"/>
          <p:nvPr/>
        </p:nvSpPr>
        <p:spPr>
          <a:xfrm>
            <a:off x="7020986" y="5977994"/>
            <a:ext cx="46895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C00000"/>
                </a:solidFill>
                <a:latin typeface="CIDFont+F1"/>
              </a:rPr>
              <a:t>This Miller index usually represents a set</a:t>
            </a:r>
            <a:r>
              <a:rPr lang="en-US" sz="1200" b="0" i="0" u="none" strike="noStrike" baseline="0" dirty="0">
                <a:solidFill>
                  <a:srgbClr val="C00000"/>
                </a:solidFill>
                <a:latin typeface="CIDFont+F10"/>
              </a:rPr>
              <a:t> </a:t>
            </a:r>
            <a:r>
              <a:rPr lang="en-US" sz="1800" b="0" i="0" u="none" strike="noStrike" baseline="0" dirty="0">
                <a:solidFill>
                  <a:srgbClr val="C00000"/>
                </a:solidFill>
                <a:latin typeface="CIDFont+F1"/>
              </a:rPr>
              <a:t>of all such parallel vectors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60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6D33D-5A16-7E68-3A96-C40764BC7E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97"/>
          <a:stretch/>
        </p:blipFill>
        <p:spPr>
          <a:xfrm>
            <a:off x="1276423" y="1353312"/>
            <a:ext cx="9163665" cy="47097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A74A54-8376-E2E9-A046-2D9CCC964C01}"/>
              </a:ext>
            </a:extLst>
          </p:cNvPr>
          <p:cNvSpPr txBox="1"/>
          <p:nvPr/>
        </p:nvSpPr>
        <p:spPr>
          <a:xfrm>
            <a:off x="2215514" y="179755"/>
            <a:ext cx="8034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baseline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 directions in 3D represented by Miller Indices (cubic lattice)</a:t>
            </a:r>
            <a:endParaRPr lang="en-IN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895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C1AFB5-052C-CB49-A132-D24E770B688D}"/>
              </a:ext>
            </a:extLst>
          </p:cNvPr>
          <p:cNvSpPr txBox="1"/>
          <p:nvPr/>
        </p:nvSpPr>
        <p:spPr>
          <a:xfrm flipH="1">
            <a:off x="4952863" y="30459"/>
            <a:ext cx="4029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Braggs Law (X-ray Diffraction)</a:t>
            </a:r>
            <a:endParaRPr lang="en-IN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00A434-7A3E-835C-1697-953F6094B560}"/>
              </a:ext>
            </a:extLst>
          </p:cNvPr>
          <p:cNvSpPr txBox="1"/>
          <p:nvPr/>
        </p:nvSpPr>
        <p:spPr>
          <a:xfrm>
            <a:off x="2108672" y="6079733"/>
            <a:ext cx="674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https://www.doitpoms.ac.uk/tlplib/miller_indices/lattice_draw.php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08F4C3-CC20-BAC9-7EC7-76051AB51914}"/>
              </a:ext>
            </a:extLst>
          </p:cNvPr>
          <p:cNvSpPr txBox="1"/>
          <p:nvPr/>
        </p:nvSpPr>
        <p:spPr>
          <a:xfrm>
            <a:off x="501530" y="482107"/>
            <a:ext cx="80901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The scattering of radiation with wavelengths of about 100 pm from crystals gives rise to </a:t>
            </a:r>
            <a:r>
              <a:rPr lang="en-IN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diffraction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CD10DE-8AE4-FAA6-B710-F222C6E821C8}"/>
              </a:ext>
            </a:extLst>
          </p:cNvPr>
          <p:cNvSpPr txBox="1"/>
          <p:nvPr/>
        </p:nvSpPr>
        <p:spPr>
          <a:xfrm>
            <a:off x="470915" y="1144733"/>
            <a:ext cx="84810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Diffraction</a:t>
            </a:r>
            <a:r>
              <a:rPr lang="en-US" sz="16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is the interference between waves that occurs as a result of an object in their</a:t>
            </a:r>
          </a:p>
          <a:p>
            <a:pPr algn="just"/>
            <a:r>
              <a:rPr lang="en-IN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path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F6A256-59ED-5116-B0DF-C2B4DDB64CEE}"/>
              </a:ext>
            </a:extLst>
          </p:cNvPr>
          <p:cNvSpPr txBox="1"/>
          <p:nvPr/>
        </p:nvSpPr>
        <p:spPr>
          <a:xfrm>
            <a:off x="394782" y="1836147"/>
            <a:ext cx="81969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X-rays are scattered elastically by the electrons in atoms, and diffraction can occur for a periodic array of scattering centres separated by distances similar to the wavelength of the radiation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96A451-6A35-A19C-1A6F-71C20F9D8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7438" y="2547980"/>
            <a:ext cx="4426683" cy="22111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0ACCFDA-C1C8-4384-9BF4-17B5C1D6DC38}"/>
              </a:ext>
            </a:extLst>
          </p:cNvPr>
          <p:cNvSpPr txBox="1"/>
          <p:nvPr/>
        </p:nvSpPr>
        <p:spPr>
          <a:xfrm>
            <a:off x="394782" y="2875649"/>
            <a:ext cx="6742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2 x ray beams ( 1 and 2) reflected from adjacent planes A and B, the reflected beams (1’ and 2’) will be in-phase if the extra distance </a:t>
            </a:r>
            <a:r>
              <a:rPr lang="en-IN" sz="16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xyz</a:t>
            </a:r>
            <a:r>
              <a:rPr lang="en-IN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 travelled by beam is equal to a whole number wavelengths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442363-A710-61E3-FDC5-A0DC62921586}"/>
              </a:ext>
            </a:extLst>
          </p:cNvPr>
          <p:cNvSpPr txBox="1"/>
          <p:nvPr/>
        </p:nvSpPr>
        <p:spPr>
          <a:xfrm>
            <a:off x="2235274" y="3996861"/>
            <a:ext cx="171553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xy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yz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dsin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xyz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2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dsin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r>
              <a:rPr lang="en-I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n = 2</a:t>
            </a:r>
            <a:r>
              <a:rPr lang="en-I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dsin</a:t>
            </a:r>
            <a:r>
              <a:rPr lang="en-I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</a:p>
        </p:txBody>
      </p:sp>
    </p:spTree>
    <p:extLst>
      <p:ext uri="{BB962C8B-B14F-4D97-AF65-F5344CB8AC3E}">
        <p14:creationId xmlns:p14="http://schemas.microsoft.com/office/powerpoint/2010/main" val="333521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992</Words>
  <Application>Microsoft Office PowerPoint</Application>
  <PresentationFormat>Widescreen</PresentationFormat>
  <Paragraphs>116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CIDFont+F1</vt:lpstr>
      <vt:lpstr>CIDFont+F10</vt:lpstr>
      <vt:lpstr>CIDFont+F11</vt:lpstr>
      <vt:lpstr>CIDFont+F2</vt:lpstr>
      <vt:lpstr>CIDFont+F9</vt:lpstr>
      <vt:lpstr>Office Theme</vt:lpstr>
      <vt:lpstr>Miller Indices-concept of planes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Venkataramanan Mahalingam</dc:creator>
  <cp:lastModifiedBy>Venkataramanan Mahalingam</cp:lastModifiedBy>
  <cp:revision>57</cp:revision>
  <dcterms:created xsi:type="dcterms:W3CDTF">2025-04-15T13:20:29Z</dcterms:created>
  <dcterms:modified xsi:type="dcterms:W3CDTF">2025-04-16T13:56:29Z</dcterms:modified>
</cp:coreProperties>
</file>