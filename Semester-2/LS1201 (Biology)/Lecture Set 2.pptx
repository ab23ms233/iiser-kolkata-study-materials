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404" r:id="rId2"/>
    <p:sldId id="405" r:id="rId3"/>
    <p:sldId id="406" r:id="rId4"/>
    <p:sldId id="407" r:id="rId5"/>
    <p:sldId id="408" r:id="rId6"/>
    <p:sldId id="409" r:id="rId7"/>
    <p:sldId id="410" r:id="rId8"/>
    <p:sldId id="387" r:id="rId9"/>
    <p:sldId id="388" r:id="rId10"/>
    <p:sldId id="386" r:id="rId11"/>
    <p:sldId id="356" r:id="rId12"/>
    <p:sldId id="357" r:id="rId13"/>
    <p:sldId id="358" r:id="rId14"/>
    <p:sldId id="359" r:id="rId15"/>
    <p:sldId id="271" r:id="rId16"/>
    <p:sldId id="267" r:id="rId17"/>
    <p:sldId id="265" r:id="rId18"/>
    <p:sldId id="393" r:id="rId19"/>
    <p:sldId id="383" r:id="rId20"/>
    <p:sldId id="384" r:id="rId21"/>
    <p:sldId id="385" r:id="rId22"/>
    <p:sldId id="270" r:id="rId23"/>
    <p:sldId id="266" r:id="rId24"/>
    <p:sldId id="394" r:id="rId25"/>
    <p:sldId id="361" r:id="rId26"/>
    <p:sldId id="257" r:id="rId27"/>
    <p:sldId id="260" r:id="rId28"/>
    <p:sldId id="363" r:id="rId29"/>
    <p:sldId id="261" r:id="rId30"/>
    <p:sldId id="366" r:id="rId31"/>
    <p:sldId id="368" r:id="rId32"/>
    <p:sldId id="369" r:id="rId33"/>
    <p:sldId id="262" r:id="rId34"/>
    <p:sldId id="370" r:id="rId35"/>
    <p:sldId id="263"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953C"/>
    <a:srgbClr val="EEE47E"/>
    <a:srgbClr val="FF67D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1" d="1"/>
        <a:sy n="1" d="1"/>
      </p:scale>
      <p:origin x="0" y="87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Basak" userId="f8b72392e668bf96" providerId="LiveId" clId="{31B294EB-69B4-4F7B-9B92-FF59C3E78F91}"/>
    <pc:docChg chg="modSld">
      <pc:chgData name="Arya Basak" userId="f8b72392e668bf96" providerId="LiveId" clId="{31B294EB-69B4-4F7B-9B92-FF59C3E78F91}" dt="2024-02-09T05:21:31.453" v="1" actId="1036"/>
      <pc:docMkLst>
        <pc:docMk/>
      </pc:docMkLst>
      <pc:sldChg chg="modSp mod">
        <pc:chgData name="Arya Basak" userId="f8b72392e668bf96" providerId="LiveId" clId="{31B294EB-69B4-4F7B-9B92-FF59C3E78F91}" dt="2024-02-09T05:21:31.453" v="1" actId="1036"/>
        <pc:sldMkLst>
          <pc:docMk/>
          <pc:sldMk cId="209247025" sldId="385"/>
        </pc:sldMkLst>
        <pc:spChg chg="mod">
          <ac:chgData name="Arya Basak" userId="f8b72392e668bf96" providerId="LiveId" clId="{31B294EB-69B4-4F7B-9B92-FF59C3E78F91}" dt="2024-02-09T05:21:31.453" v="1" actId="1036"/>
          <ac:spMkLst>
            <pc:docMk/>
            <pc:sldMk cId="209247025" sldId="385"/>
            <ac:spMk id="8" creationId="{00000000-0000-0000-0000-000000000000}"/>
          </ac:spMkLst>
        </pc:spChg>
        <pc:spChg chg="mod">
          <ac:chgData name="Arya Basak" userId="f8b72392e668bf96" providerId="LiveId" clId="{31B294EB-69B4-4F7B-9B92-FF59C3E78F91}" dt="2024-02-09T05:21:26.306" v="0" actId="20577"/>
          <ac:spMkLst>
            <pc:docMk/>
            <pc:sldMk cId="209247025" sldId="385"/>
            <ac:spMk id="4403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6151D9-91A1-FA47-8950-7122AF7BB04C}" type="datetimeFigureOut">
              <a:rPr lang="en-US" smtClean="0"/>
              <a:pPr/>
              <a:t>2/9/2024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03798C-4449-E64A-A6E2-DA7240CEC010}" type="slidenum">
              <a:rPr lang="en-US" smtClean="0"/>
              <a:pPr/>
              <a:t>‹#›</a:t>
            </a:fld>
            <a:endParaRPr lang="en-US"/>
          </a:p>
        </p:txBody>
      </p:sp>
    </p:spTree>
    <p:extLst>
      <p:ext uri="{BB962C8B-B14F-4D97-AF65-F5344CB8AC3E}">
        <p14:creationId xmlns:p14="http://schemas.microsoft.com/office/powerpoint/2010/main" val="328700958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409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08BC98D-4171-4EE0-A96F-67BA71681218}" type="slidenum">
              <a:rPr lang="en-US" smtClean="0"/>
              <a:pPr fontAlgn="base">
                <a:spcBef>
                  <a:spcPct val="0"/>
                </a:spcBef>
                <a:spcAft>
                  <a:spcPct val="0"/>
                </a:spcAft>
                <a:defRPr/>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409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E5C1711-3B95-4584-9F09-09A033924D6E}" type="slidenum">
              <a:rPr lang="en-US" smtClean="0"/>
              <a:pPr fontAlgn="base">
                <a:spcBef>
                  <a:spcPct val="0"/>
                </a:spcBef>
                <a:spcAft>
                  <a:spcPct val="0"/>
                </a:spcAft>
                <a:defRPr/>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7E5F59-0049-6448-8D4F-4E0856B51CAF}"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1826180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E5F59-0049-6448-8D4F-4E0856B51CAF}"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998478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E5F59-0049-6448-8D4F-4E0856B51CAF}"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3872080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7E5F59-0049-6448-8D4F-4E0856B51CAF}"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1086873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7E5F59-0049-6448-8D4F-4E0856B51CAF}" type="datetimeFigureOut">
              <a:rPr lang="en-US" smtClean="0"/>
              <a:pPr/>
              <a:t>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706088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7E5F59-0049-6448-8D4F-4E0856B51CAF}" type="datetimeFigureOut">
              <a:rPr lang="en-US" smtClean="0"/>
              <a:pPr/>
              <a:t>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263723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E5F59-0049-6448-8D4F-4E0856B51CAF}" type="datetimeFigureOut">
              <a:rPr lang="en-US" smtClean="0"/>
              <a:pPr/>
              <a:t>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2430965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E5F59-0049-6448-8D4F-4E0856B51CAF}"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3279598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7E5F59-0049-6448-8D4F-4E0856B51CAF}"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1599649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E5F59-0049-6448-8D4F-4E0856B51CAF}"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3853373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E5F59-0049-6448-8D4F-4E0856B51CAF}"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C6D23A-49F4-6E41-A5B6-72D6E34CE8BC}" type="slidenum">
              <a:rPr lang="en-US" smtClean="0"/>
              <a:pPr/>
              <a:t>‹#›</a:t>
            </a:fld>
            <a:endParaRPr lang="en-US"/>
          </a:p>
        </p:txBody>
      </p:sp>
    </p:spTree>
    <p:extLst>
      <p:ext uri="{BB962C8B-B14F-4D97-AF65-F5344CB8AC3E}">
        <p14:creationId xmlns:p14="http://schemas.microsoft.com/office/powerpoint/2010/main" val="494781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E5F59-0049-6448-8D4F-4E0856B51CAF}" type="datetimeFigureOut">
              <a:rPr lang="en-US" smtClean="0"/>
              <a:pPr/>
              <a:t>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C6D23A-49F4-6E41-A5B6-72D6E34CE8BC}" type="slidenum">
              <a:rPr lang="en-US" smtClean="0"/>
              <a:pPr/>
              <a:t>‹#›</a:t>
            </a:fld>
            <a:endParaRPr lang="en-US"/>
          </a:p>
        </p:txBody>
      </p:sp>
    </p:spTree>
    <p:extLst>
      <p:ext uri="{BB962C8B-B14F-4D97-AF65-F5344CB8AC3E}">
        <p14:creationId xmlns:p14="http://schemas.microsoft.com/office/powerpoint/2010/main" val="1428724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jpe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838200"/>
            <a:ext cx="7448550" cy="5794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18949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a:solidFill>
                  <a:schemeClr val="tx2">
                    <a:lumMod val="75000"/>
                  </a:schemeClr>
                </a:solidFill>
                <a:latin typeface="Comic Sans MS" pitchFamily="66" charset="0"/>
              </a:rPr>
              <a:t>Monohybrid </a:t>
            </a:r>
            <a:r>
              <a:rPr lang="en-US" b="1" dirty="0" err="1">
                <a:solidFill>
                  <a:schemeClr val="tx2">
                    <a:lumMod val="75000"/>
                  </a:schemeClr>
                </a:solidFill>
                <a:latin typeface="Comic Sans MS" pitchFamily="66" charset="0"/>
              </a:rPr>
              <a:t>vs</a:t>
            </a:r>
            <a:r>
              <a:rPr lang="en-US" b="1" dirty="0">
                <a:solidFill>
                  <a:schemeClr val="tx2">
                    <a:lumMod val="75000"/>
                  </a:schemeClr>
                </a:solidFill>
                <a:latin typeface="Comic Sans MS" pitchFamily="66" charset="0"/>
              </a:rPr>
              <a:t> </a:t>
            </a:r>
            <a:r>
              <a:rPr lang="en-US" b="1" dirty="0" err="1">
                <a:solidFill>
                  <a:schemeClr val="tx2">
                    <a:lumMod val="75000"/>
                  </a:schemeClr>
                </a:solidFill>
                <a:latin typeface="Comic Sans MS" pitchFamily="66" charset="0"/>
              </a:rPr>
              <a:t>Dihybrid</a:t>
            </a:r>
            <a:r>
              <a:rPr lang="en-US" b="1" dirty="0">
                <a:solidFill>
                  <a:schemeClr val="tx2">
                    <a:lumMod val="75000"/>
                  </a:schemeClr>
                </a:solidFill>
                <a:latin typeface="Comic Sans MS" pitchFamily="66" charset="0"/>
              </a:rPr>
              <a:t> Cross</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a:t>A </a:t>
            </a:r>
            <a:r>
              <a:rPr lang="en-US" b="1" u="sng" dirty="0"/>
              <a:t>monohybrid</a:t>
            </a:r>
            <a:r>
              <a:rPr lang="en-US" dirty="0"/>
              <a:t> cross is one where only </a:t>
            </a:r>
            <a:r>
              <a:rPr lang="en-US" b="1" u="sng" dirty="0"/>
              <a:t>one trait </a:t>
            </a:r>
            <a:r>
              <a:rPr lang="en-US" dirty="0"/>
              <a:t>is crossed.</a:t>
            </a:r>
          </a:p>
          <a:p>
            <a:pPr eaLnBrk="1" fontAlgn="auto" hangingPunct="1">
              <a:spcAft>
                <a:spcPts val="0"/>
              </a:spcAft>
              <a:buFont typeface="Arial" pitchFamily="34" charset="0"/>
              <a:buNone/>
              <a:defRPr/>
            </a:pPr>
            <a:r>
              <a:rPr lang="en-US" dirty="0"/>
              <a:t>	e.g. A </a:t>
            </a:r>
            <a:r>
              <a:rPr lang="en-US" b="1" u="sng" dirty="0"/>
              <a:t>tall pea plant TT </a:t>
            </a:r>
            <a:r>
              <a:rPr lang="en-US" dirty="0"/>
              <a:t>is crosses with a </a:t>
            </a:r>
            <a:r>
              <a:rPr lang="en-US" b="1" u="sng" dirty="0"/>
              <a:t>short pea plant </a:t>
            </a:r>
            <a:r>
              <a:rPr lang="en-US" b="1" u="sng" dirty="0" err="1"/>
              <a:t>tt</a:t>
            </a:r>
            <a:r>
              <a:rPr lang="en-US" dirty="0"/>
              <a:t>.</a:t>
            </a:r>
          </a:p>
          <a:p>
            <a:pPr eaLnBrk="1" fontAlgn="auto" hangingPunct="1">
              <a:spcAft>
                <a:spcPts val="0"/>
              </a:spcAft>
              <a:buFont typeface="Arial" pitchFamily="34" charset="0"/>
              <a:buNone/>
              <a:defRPr/>
            </a:pPr>
            <a:endParaRPr lang="en-US" dirty="0"/>
          </a:p>
          <a:p>
            <a:pPr eaLnBrk="1" fontAlgn="auto" hangingPunct="1">
              <a:spcAft>
                <a:spcPts val="0"/>
              </a:spcAft>
              <a:buFont typeface="Arial" pitchFamily="34" charset="0"/>
              <a:buChar char="•"/>
              <a:defRPr/>
            </a:pPr>
            <a:r>
              <a:rPr lang="en-US" dirty="0"/>
              <a:t>A </a:t>
            </a:r>
            <a:r>
              <a:rPr lang="en-US" b="1" u="sng" dirty="0" err="1"/>
              <a:t>dihybrid</a:t>
            </a:r>
            <a:r>
              <a:rPr lang="en-US" b="1" u="sng" dirty="0"/>
              <a:t> cross </a:t>
            </a:r>
            <a:r>
              <a:rPr lang="en-US" dirty="0"/>
              <a:t>is one where </a:t>
            </a:r>
            <a:r>
              <a:rPr lang="en-US" b="1" u="sng" dirty="0"/>
              <a:t>two traits </a:t>
            </a:r>
            <a:r>
              <a:rPr lang="en-US" dirty="0"/>
              <a:t>are crossed.</a:t>
            </a:r>
          </a:p>
          <a:p>
            <a:pPr eaLnBrk="1" fontAlgn="auto" hangingPunct="1">
              <a:spcAft>
                <a:spcPts val="0"/>
              </a:spcAft>
              <a:buFont typeface="Arial" pitchFamily="34" charset="0"/>
              <a:buNone/>
              <a:defRPr/>
            </a:pPr>
            <a:r>
              <a:rPr lang="en-US" dirty="0"/>
              <a:t>	e.g. a </a:t>
            </a:r>
            <a:r>
              <a:rPr lang="en-US" b="1" u="sng" dirty="0"/>
              <a:t>tall</a:t>
            </a:r>
            <a:r>
              <a:rPr lang="en-US" b="1" dirty="0"/>
              <a:t>, </a:t>
            </a:r>
            <a:r>
              <a:rPr lang="en-US" b="1" u="sng" dirty="0"/>
              <a:t>purple flowered plant </a:t>
            </a:r>
            <a:r>
              <a:rPr lang="en-US" b="1" u="sng" dirty="0" err="1"/>
              <a:t>TtGg</a:t>
            </a:r>
            <a:r>
              <a:rPr lang="en-US" b="1" u="sng" dirty="0"/>
              <a:t> </a:t>
            </a:r>
            <a:r>
              <a:rPr lang="en-US" dirty="0"/>
              <a:t>is crossed with a </a:t>
            </a:r>
            <a:r>
              <a:rPr lang="en-US" b="1" u="sng" dirty="0"/>
              <a:t>short</a:t>
            </a:r>
            <a:r>
              <a:rPr lang="en-US" b="1" dirty="0"/>
              <a:t>, </a:t>
            </a:r>
            <a:r>
              <a:rPr lang="en-US" b="1" u="sng" dirty="0"/>
              <a:t>white flowered </a:t>
            </a:r>
            <a:r>
              <a:rPr lang="en-US" b="1" dirty="0"/>
              <a:t>plant </a:t>
            </a:r>
            <a:r>
              <a:rPr lang="en-US" b="1" dirty="0" err="1"/>
              <a:t>ttgg</a:t>
            </a:r>
            <a:r>
              <a:rPr lang="en-US" dirty="0"/>
              <a:t>.</a:t>
            </a:r>
          </a:p>
          <a:p>
            <a:pPr eaLnBrk="1" fontAlgn="auto" hangingPunct="1">
              <a:spcAft>
                <a:spcPts val="0"/>
              </a:spcAft>
              <a:buFont typeface="Arial" pitchFamily="34" charset="0"/>
              <a:buNone/>
              <a:defRPr/>
            </a:pPr>
            <a:endParaRPr lang="en-US" dirty="0"/>
          </a:p>
          <a:p>
            <a:pPr eaLnBrk="1" fontAlgn="auto" hangingPunct="1">
              <a:spcAft>
                <a:spcPts val="0"/>
              </a:spcAft>
              <a:buFont typeface="Arial" pitchFamily="34" charset="0"/>
              <a:buNone/>
              <a:defRPr/>
            </a:pPr>
            <a:endParaRPr lang="en-US" dirty="0"/>
          </a:p>
          <a:p>
            <a:pPr eaLnBrk="1" fontAlgn="auto" hangingPunct="1">
              <a:spcAft>
                <a:spcPts val="0"/>
              </a:spcAft>
              <a:buFont typeface="Arial" pitchFamily="34" charset="0"/>
              <a:buNone/>
              <a:defRPr/>
            </a:pPr>
            <a:endParaRPr lang="en-US" dirty="0"/>
          </a:p>
          <a:p>
            <a:pPr eaLnBrk="1" fontAlgn="auto" hangingPunct="1">
              <a:spcAft>
                <a:spcPts val="0"/>
              </a:spcAft>
              <a:buFont typeface="Arial" pitchFamily="34" charset="0"/>
              <a:buChar char="•"/>
              <a:defRPr/>
            </a:pPr>
            <a:endParaRPr lang="en-US" dirty="0"/>
          </a:p>
        </p:txBody>
      </p:sp>
    </p:spTree>
    <p:extLst>
      <p:ext uri="{BB962C8B-B14F-4D97-AF65-F5344CB8AC3E}">
        <p14:creationId xmlns:p14="http://schemas.microsoft.com/office/powerpoint/2010/main" val="2348269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a:solidFill>
                  <a:schemeClr val="tx2">
                    <a:lumMod val="75000"/>
                  </a:schemeClr>
                </a:solidFill>
                <a:latin typeface="Comic Sans MS" pitchFamily="66" charset="0"/>
              </a:rPr>
              <a:t>Law of Independent Assortment</a:t>
            </a:r>
          </a:p>
        </p:txBody>
      </p:sp>
      <p:grpSp>
        <p:nvGrpSpPr>
          <p:cNvPr id="3" name="Group 5"/>
          <p:cNvGrpSpPr>
            <a:grpSpLocks/>
          </p:cNvGrpSpPr>
          <p:nvPr/>
        </p:nvGrpSpPr>
        <p:grpSpPr bwMode="auto">
          <a:xfrm>
            <a:off x="685800" y="1905000"/>
            <a:ext cx="8686800" cy="4484132"/>
            <a:chOff x="2590800" y="2743200"/>
            <a:chExt cx="8686800" cy="4483586"/>
          </a:xfrm>
        </p:grpSpPr>
        <p:pic>
          <p:nvPicPr>
            <p:cNvPr id="31749" name="Picture 3" descr="law of independent assortment.gif"/>
            <p:cNvPicPr>
              <a:picLocks noChangeAspect="1"/>
            </p:cNvPicPr>
            <p:nvPr/>
          </p:nvPicPr>
          <p:blipFill>
            <a:blip r:embed="rId3" cstate="print"/>
            <a:srcRect/>
            <a:stretch>
              <a:fillRect/>
            </a:stretch>
          </p:blipFill>
          <p:spPr bwMode="auto">
            <a:xfrm>
              <a:off x="2895600" y="2743200"/>
              <a:ext cx="3600450" cy="3796838"/>
            </a:xfrm>
            <a:prstGeom prst="rect">
              <a:avLst/>
            </a:prstGeom>
            <a:noFill/>
            <a:ln w="9525">
              <a:noFill/>
              <a:miter lim="800000"/>
              <a:headEnd/>
              <a:tailEnd/>
            </a:ln>
          </p:spPr>
        </p:pic>
        <p:sp>
          <p:nvSpPr>
            <p:cNvPr id="31750" name="TextBox 4"/>
            <p:cNvSpPr txBox="1">
              <a:spLocks noChangeArrowheads="1"/>
            </p:cNvSpPr>
            <p:nvPr/>
          </p:nvSpPr>
          <p:spPr bwMode="auto">
            <a:xfrm>
              <a:off x="2590800" y="6857499"/>
              <a:ext cx="8686800" cy="369287"/>
            </a:xfrm>
            <a:prstGeom prst="rect">
              <a:avLst/>
            </a:prstGeom>
            <a:noFill/>
            <a:ln w="9525">
              <a:noFill/>
              <a:miter lim="800000"/>
              <a:headEnd/>
              <a:tailEnd/>
            </a:ln>
          </p:spPr>
          <p:txBody>
            <a:bodyPr wrap="square">
              <a:spAutoFit/>
            </a:bodyPr>
            <a:lstStyle/>
            <a:p>
              <a:r>
                <a:rPr lang="en-US" b="1" dirty="0">
                  <a:latin typeface="Calibri" pitchFamily="34" charset="0"/>
                </a:rPr>
                <a:t>F2 Ratio- </a:t>
              </a:r>
              <a:r>
                <a:rPr lang="en-US" dirty="0">
                  <a:latin typeface="Calibri" pitchFamily="34" charset="0"/>
                </a:rPr>
                <a:t>9 (round, yellow):3 (round, green):3 (wrinkled, yellow):1 (wrinkled , green)</a:t>
              </a:r>
            </a:p>
          </p:txBody>
        </p:sp>
      </p:grpSp>
      <p:sp>
        <p:nvSpPr>
          <p:cNvPr id="7" name="Rectangle 6"/>
          <p:cNvSpPr/>
          <p:nvPr/>
        </p:nvSpPr>
        <p:spPr>
          <a:xfrm>
            <a:off x="5181600" y="2971800"/>
            <a:ext cx="3581400" cy="1200329"/>
          </a:xfrm>
          <a:prstGeom prst="rect">
            <a:avLst/>
          </a:prstGeom>
        </p:spPr>
        <p:txBody>
          <a:bodyPr wrap="square">
            <a:spAutoFit/>
          </a:bodyPr>
          <a:lstStyle/>
          <a:p>
            <a:r>
              <a:rPr lang="en-US" dirty="0"/>
              <a:t>The </a:t>
            </a:r>
            <a:r>
              <a:rPr lang="en-US" b="1" dirty="0" err="1"/>
              <a:t>Punnett</a:t>
            </a:r>
            <a:r>
              <a:rPr lang="en-US" b="1" dirty="0"/>
              <a:t> square</a:t>
            </a:r>
            <a:r>
              <a:rPr lang="en-US" dirty="0"/>
              <a:t> is a diagram that is used to predict an outcome of a particular cross or breeding experiment</a:t>
            </a:r>
          </a:p>
        </p:txBody>
      </p:sp>
    </p:spTree>
    <p:extLst>
      <p:ext uri="{BB962C8B-B14F-4D97-AF65-F5344CB8AC3E}">
        <p14:creationId xmlns:p14="http://schemas.microsoft.com/office/powerpoint/2010/main" val="120607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b="1" dirty="0">
                <a:solidFill>
                  <a:schemeClr val="tx2">
                    <a:lumMod val="75000"/>
                  </a:schemeClr>
                </a:solidFill>
                <a:latin typeface="Comic Sans MS" pitchFamily="66" charset="0"/>
              </a:rPr>
              <a:t>Law of Independent Assortment</a:t>
            </a:r>
          </a:p>
        </p:txBody>
      </p:sp>
      <p:sp>
        <p:nvSpPr>
          <p:cNvPr id="31747" name="Content Placeholder 2"/>
          <p:cNvSpPr>
            <a:spLocks noGrp="1"/>
          </p:cNvSpPr>
          <p:nvPr>
            <p:ph idx="1"/>
          </p:nvPr>
        </p:nvSpPr>
        <p:spPr/>
        <p:txBody>
          <a:bodyPr/>
          <a:lstStyle/>
          <a:p>
            <a:pPr eaLnBrk="1" hangingPunct="1"/>
            <a:r>
              <a:rPr lang="en-US" sz="2400"/>
              <a:t>The Law of Independent Assortment, also known as "Inheritance Law", states that alleles of different genes assort independently of one another during gamete formation.</a:t>
            </a:r>
          </a:p>
        </p:txBody>
      </p:sp>
      <p:grpSp>
        <p:nvGrpSpPr>
          <p:cNvPr id="3" name="Group 5"/>
          <p:cNvGrpSpPr>
            <a:grpSpLocks/>
          </p:cNvGrpSpPr>
          <p:nvPr/>
        </p:nvGrpSpPr>
        <p:grpSpPr bwMode="auto">
          <a:xfrm>
            <a:off x="2057400" y="2819400"/>
            <a:ext cx="5791200" cy="3797300"/>
            <a:chOff x="2895600" y="2743200"/>
            <a:chExt cx="5791200" cy="3796838"/>
          </a:xfrm>
        </p:grpSpPr>
        <p:pic>
          <p:nvPicPr>
            <p:cNvPr id="31749" name="Picture 3" descr="law of independent assortment.gif"/>
            <p:cNvPicPr>
              <a:picLocks noChangeAspect="1"/>
            </p:cNvPicPr>
            <p:nvPr/>
          </p:nvPicPr>
          <p:blipFill>
            <a:blip r:embed="rId3" cstate="print"/>
            <a:srcRect/>
            <a:stretch>
              <a:fillRect/>
            </a:stretch>
          </p:blipFill>
          <p:spPr bwMode="auto">
            <a:xfrm>
              <a:off x="2895600" y="2743200"/>
              <a:ext cx="3600450" cy="3796838"/>
            </a:xfrm>
            <a:prstGeom prst="rect">
              <a:avLst/>
            </a:prstGeom>
            <a:noFill/>
            <a:ln w="9525">
              <a:noFill/>
              <a:miter lim="800000"/>
              <a:headEnd/>
              <a:tailEnd/>
            </a:ln>
          </p:spPr>
        </p:pic>
        <p:sp>
          <p:nvSpPr>
            <p:cNvPr id="31750" name="TextBox 4"/>
            <p:cNvSpPr txBox="1">
              <a:spLocks noChangeArrowheads="1"/>
            </p:cNvSpPr>
            <p:nvPr/>
          </p:nvSpPr>
          <p:spPr bwMode="auto">
            <a:xfrm>
              <a:off x="6096000" y="5638800"/>
              <a:ext cx="2590800" cy="369332"/>
            </a:xfrm>
            <a:prstGeom prst="rect">
              <a:avLst/>
            </a:prstGeom>
            <a:noFill/>
            <a:ln w="9525">
              <a:noFill/>
              <a:miter lim="800000"/>
              <a:headEnd/>
              <a:tailEnd/>
            </a:ln>
          </p:spPr>
          <p:txBody>
            <a:bodyPr>
              <a:spAutoFit/>
            </a:bodyPr>
            <a:lstStyle/>
            <a:p>
              <a:r>
                <a:rPr lang="en-US">
                  <a:latin typeface="Calibri" pitchFamily="34" charset="0"/>
                </a:rPr>
                <a:t>F2 Ratio-9:3:3:1</a:t>
              </a:r>
            </a:p>
          </p:txBody>
        </p:sp>
      </p:grpSp>
    </p:spTree>
    <p:extLst>
      <p:ext uri="{BB962C8B-B14F-4D97-AF65-F5344CB8AC3E}">
        <p14:creationId xmlns:p14="http://schemas.microsoft.com/office/powerpoint/2010/main" val="205449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Law of independent assortment</a:t>
            </a:r>
          </a:p>
        </p:txBody>
      </p:sp>
      <p:sp>
        <p:nvSpPr>
          <p:cNvPr id="3" name="Rectangle 2"/>
          <p:cNvSpPr/>
          <p:nvPr/>
        </p:nvSpPr>
        <p:spPr>
          <a:xfrm>
            <a:off x="685800" y="2133600"/>
            <a:ext cx="7848600" cy="2862322"/>
          </a:xfrm>
          <a:prstGeom prst="rect">
            <a:avLst/>
          </a:prstGeom>
        </p:spPr>
        <p:txBody>
          <a:bodyPr wrap="square">
            <a:spAutoFit/>
          </a:bodyPr>
          <a:lstStyle/>
          <a:p>
            <a:r>
              <a:rPr lang="en-US" sz="3600" dirty="0"/>
              <a:t>The Law of Independent Assortment, also known as "Inheritance Law", states that </a:t>
            </a:r>
            <a:r>
              <a:rPr lang="en-US" sz="3600" b="1" dirty="0"/>
              <a:t>alleles of different genes </a:t>
            </a:r>
            <a:r>
              <a:rPr lang="en-US" sz="3600" dirty="0"/>
              <a:t>assort independently of one another during gamete formation.</a:t>
            </a:r>
          </a:p>
        </p:txBody>
      </p:sp>
    </p:spTree>
    <p:extLst>
      <p:ext uri="{BB962C8B-B14F-4D97-AF65-F5344CB8AC3E}">
        <p14:creationId xmlns:p14="http://schemas.microsoft.com/office/powerpoint/2010/main" val="201598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762000"/>
            <a:ext cx="7772400" cy="1470025"/>
          </a:xfrm>
        </p:spPr>
        <p:txBody>
          <a:bodyPr/>
          <a:lstStyle/>
          <a:p>
            <a:r>
              <a:rPr lang="en-US" dirty="0"/>
              <a:t>What is the </a:t>
            </a:r>
            <a:r>
              <a:rPr lang="en-US" dirty="0" err="1"/>
              <a:t>Trihybrid</a:t>
            </a:r>
            <a:r>
              <a:rPr lang="en-US" dirty="0"/>
              <a:t> ratio (in F2)? </a:t>
            </a:r>
          </a:p>
        </p:txBody>
      </p:sp>
      <p:sp>
        <p:nvSpPr>
          <p:cNvPr id="4" name="TextBox 3"/>
          <p:cNvSpPr txBox="1"/>
          <p:nvPr/>
        </p:nvSpPr>
        <p:spPr>
          <a:xfrm>
            <a:off x="1447800" y="2667000"/>
            <a:ext cx="4343400" cy="646331"/>
          </a:xfrm>
          <a:prstGeom prst="rect">
            <a:avLst/>
          </a:prstGeom>
          <a:noFill/>
        </p:spPr>
        <p:txBody>
          <a:bodyPr wrap="square" rtlCol="0">
            <a:spAutoFit/>
          </a:bodyPr>
          <a:lstStyle/>
          <a:p>
            <a:r>
              <a:rPr lang="en-US" sz="3600" dirty="0"/>
              <a:t>TTYYRR    X    </a:t>
            </a:r>
            <a:r>
              <a:rPr lang="en-US" sz="3600" dirty="0" err="1"/>
              <a:t>ttyyrr</a:t>
            </a:r>
            <a:endParaRPr lang="en-US" sz="3600" dirty="0"/>
          </a:p>
        </p:txBody>
      </p:sp>
      <p:sp>
        <p:nvSpPr>
          <p:cNvPr id="5" name="TextBox 4"/>
          <p:cNvSpPr txBox="1"/>
          <p:nvPr/>
        </p:nvSpPr>
        <p:spPr>
          <a:xfrm>
            <a:off x="5257800" y="2057400"/>
            <a:ext cx="3657600" cy="923330"/>
          </a:xfrm>
          <a:prstGeom prst="rect">
            <a:avLst/>
          </a:prstGeom>
          <a:noFill/>
        </p:spPr>
        <p:txBody>
          <a:bodyPr wrap="square" rtlCol="0">
            <a:spAutoFit/>
          </a:bodyPr>
          <a:lstStyle/>
          <a:p>
            <a:r>
              <a:rPr lang="en-US" dirty="0"/>
              <a:t>T- tall, t- short</a:t>
            </a:r>
          </a:p>
          <a:p>
            <a:r>
              <a:rPr lang="en-US" dirty="0"/>
              <a:t>Y- yellow seed, y –green seed</a:t>
            </a:r>
          </a:p>
          <a:p>
            <a:r>
              <a:rPr lang="en-US" dirty="0"/>
              <a:t>R- round seed, r- wrinkled seed</a:t>
            </a:r>
          </a:p>
        </p:txBody>
      </p:sp>
      <p:sp>
        <p:nvSpPr>
          <p:cNvPr id="6" name="TextBox 5"/>
          <p:cNvSpPr txBox="1"/>
          <p:nvPr/>
        </p:nvSpPr>
        <p:spPr>
          <a:xfrm>
            <a:off x="2514600" y="3828871"/>
            <a:ext cx="1524000" cy="923330"/>
          </a:xfrm>
          <a:prstGeom prst="rect">
            <a:avLst/>
          </a:prstGeom>
          <a:noFill/>
        </p:spPr>
        <p:txBody>
          <a:bodyPr wrap="square" rtlCol="0">
            <a:spAutoFit/>
          </a:bodyPr>
          <a:lstStyle/>
          <a:p>
            <a:r>
              <a:rPr lang="en-US" dirty="0"/>
              <a:t>Tall plant</a:t>
            </a:r>
          </a:p>
          <a:p>
            <a:r>
              <a:rPr lang="en-US" dirty="0"/>
              <a:t>With yellow</a:t>
            </a:r>
          </a:p>
          <a:p>
            <a:r>
              <a:rPr lang="en-US" dirty="0"/>
              <a:t>Round seeds</a:t>
            </a:r>
          </a:p>
        </p:txBody>
      </p:sp>
      <p:sp>
        <p:nvSpPr>
          <p:cNvPr id="7" name="TextBox 6"/>
          <p:cNvSpPr txBox="1"/>
          <p:nvPr/>
        </p:nvSpPr>
        <p:spPr>
          <a:xfrm>
            <a:off x="4876800" y="3905071"/>
            <a:ext cx="1524000" cy="1200329"/>
          </a:xfrm>
          <a:prstGeom prst="rect">
            <a:avLst/>
          </a:prstGeom>
          <a:noFill/>
        </p:spPr>
        <p:txBody>
          <a:bodyPr wrap="square" rtlCol="0">
            <a:spAutoFit/>
          </a:bodyPr>
          <a:lstStyle/>
          <a:p>
            <a:r>
              <a:rPr lang="en-US" dirty="0"/>
              <a:t>Short plant</a:t>
            </a:r>
          </a:p>
          <a:p>
            <a:r>
              <a:rPr lang="en-US" dirty="0"/>
              <a:t>With  green</a:t>
            </a:r>
          </a:p>
          <a:p>
            <a:r>
              <a:rPr lang="en-US" dirty="0"/>
              <a:t>wrinkled seeds</a:t>
            </a:r>
          </a:p>
        </p:txBody>
      </p:sp>
    </p:spTree>
    <p:extLst>
      <p:ext uri="{BB962C8B-B14F-4D97-AF65-F5344CB8AC3E}">
        <p14:creationId xmlns:p14="http://schemas.microsoft.com/office/powerpoint/2010/main" val="1899821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609600"/>
            <a:ext cx="6858000" cy="461665"/>
          </a:xfrm>
          <a:prstGeom prst="rect">
            <a:avLst/>
          </a:prstGeom>
          <a:noFill/>
        </p:spPr>
        <p:txBody>
          <a:bodyPr wrap="square" rtlCol="0">
            <a:spAutoFit/>
          </a:bodyPr>
          <a:lstStyle/>
          <a:p>
            <a:r>
              <a:rPr lang="en-US" sz="2400" dirty="0"/>
              <a:t>TTYYRR    X    </a:t>
            </a:r>
            <a:r>
              <a:rPr lang="en-US" sz="2400" dirty="0" err="1"/>
              <a:t>ttyyrr</a:t>
            </a:r>
            <a:r>
              <a:rPr lang="en-US" sz="2400" dirty="0"/>
              <a:t>                     </a:t>
            </a:r>
            <a:r>
              <a:rPr lang="en-US" sz="2400" dirty="0" err="1"/>
              <a:t>TtYyRr</a:t>
            </a:r>
            <a:r>
              <a:rPr lang="en-US" sz="2400" dirty="0"/>
              <a:t>  (Self)</a:t>
            </a:r>
          </a:p>
        </p:txBody>
      </p:sp>
      <p:graphicFrame>
        <p:nvGraphicFramePr>
          <p:cNvPr id="5" name="Table 4"/>
          <p:cNvGraphicFramePr>
            <a:graphicFrameLocks noGrp="1"/>
          </p:cNvGraphicFramePr>
          <p:nvPr/>
        </p:nvGraphicFramePr>
        <p:xfrm>
          <a:off x="609600" y="1219200"/>
          <a:ext cx="8001001" cy="3337560"/>
        </p:xfrm>
        <a:graphic>
          <a:graphicData uri="http://schemas.openxmlformats.org/drawingml/2006/table">
            <a:tbl>
              <a:tblPr firstRow="1" bandRow="1">
                <a:tableStyleId>{5C22544A-7EE6-4342-B048-85BDC9FD1C3A}</a:tableStyleId>
              </a:tblPr>
              <a:tblGrid>
                <a:gridCol w="1111921">
                  <a:extLst>
                    <a:ext uri="{9D8B030D-6E8A-4147-A177-3AD203B41FA5}">
                      <a16:colId xmlns:a16="http://schemas.microsoft.com/office/drawing/2014/main" val="20000"/>
                    </a:ext>
                  </a:extLst>
                </a:gridCol>
                <a:gridCol w="658918">
                  <a:extLst>
                    <a:ext uri="{9D8B030D-6E8A-4147-A177-3AD203B41FA5}">
                      <a16:colId xmlns:a16="http://schemas.microsoft.com/office/drawing/2014/main" val="20001"/>
                    </a:ext>
                  </a:extLst>
                </a:gridCol>
                <a:gridCol w="885420">
                  <a:extLst>
                    <a:ext uri="{9D8B030D-6E8A-4147-A177-3AD203B41FA5}">
                      <a16:colId xmlns:a16="http://schemas.microsoft.com/office/drawing/2014/main" val="20002"/>
                    </a:ext>
                  </a:extLst>
                </a:gridCol>
                <a:gridCol w="885420">
                  <a:extLst>
                    <a:ext uri="{9D8B030D-6E8A-4147-A177-3AD203B41FA5}">
                      <a16:colId xmlns:a16="http://schemas.microsoft.com/office/drawing/2014/main" val="20003"/>
                    </a:ext>
                  </a:extLst>
                </a:gridCol>
                <a:gridCol w="885420">
                  <a:extLst>
                    <a:ext uri="{9D8B030D-6E8A-4147-A177-3AD203B41FA5}">
                      <a16:colId xmlns:a16="http://schemas.microsoft.com/office/drawing/2014/main" val="20004"/>
                    </a:ext>
                  </a:extLst>
                </a:gridCol>
                <a:gridCol w="885420">
                  <a:extLst>
                    <a:ext uri="{9D8B030D-6E8A-4147-A177-3AD203B41FA5}">
                      <a16:colId xmlns:a16="http://schemas.microsoft.com/office/drawing/2014/main" val="20005"/>
                    </a:ext>
                  </a:extLst>
                </a:gridCol>
                <a:gridCol w="917642">
                  <a:extLst>
                    <a:ext uri="{9D8B030D-6E8A-4147-A177-3AD203B41FA5}">
                      <a16:colId xmlns:a16="http://schemas.microsoft.com/office/drawing/2014/main" val="20006"/>
                    </a:ext>
                  </a:extLst>
                </a:gridCol>
                <a:gridCol w="885420">
                  <a:extLst>
                    <a:ext uri="{9D8B030D-6E8A-4147-A177-3AD203B41FA5}">
                      <a16:colId xmlns:a16="http://schemas.microsoft.com/office/drawing/2014/main" val="20007"/>
                    </a:ext>
                  </a:extLst>
                </a:gridCol>
                <a:gridCol w="885420">
                  <a:extLst>
                    <a:ext uri="{9D8B030D-6E8A-4147-A177-3AD203B41FA5}">
                      <a16:colId xmlns:a16="http://schemas.microsoft.com/office/drawing/2014/main" val="20008"/>
                    </a:ext>
                  </a:extLst>
                </a:gridCol>
              </a:tblGrid>
              <a:tr h="370840">
                <a:tc>
                  <a:txBody>
                    <a:bodyPr/>
                    <a:lstStyle/>
                    <a:p>
                      <a:r>
                        <a:rPr lang="en-US" dirty="0"/>
                        <a:t>gametes</a:t>
                      </a:r>
                    </a:p>
                  </a:txBody>
                  <a:tcPr/>
                </a:tc>
                <a:tc>
                  <a:txBody>
                    <a:bodyPr/>
                    <a:lstStyle/>
                    <a:p>
                      <a:r>
                        <a:rPr lang="en-US" sz="1200" dirty="0"/>
                        <a:t>TYR</a:t>
                      </a:r>
                    </a:p>
                  </a:txBody>
                  <a:tcPr/>
                </a:tc>
                <a:tc>
                  <a:txBody>
                    <a:bodyPr/>
                    <a:lstStyle/>
                    <a:p>
                      <a:r>
                        <a:rPr lang="en-US" sz="1200" dirty="0" err="1"/>
                        <a:t>TYr</a:t>
                      </a:r>
                      <a:endParaRPr lang="en-US" sz="1200" dirty="0"/>
                    </a:p>
                  </a:txBody>
                  <a:tcPr/>
                </a:tc>
                <a:tc>
                  <a:txBody>
                    <a:bodyPr/>
                    <a:lstStyle/>
                    <a:p>
                      <a:r>
                        <a:rPr lang="en-US" sz="1200" dirty="0" err="1"/>
                        <a:t>TyR</a:t>
                      </a:r>
                      <a:endParaRPr lang="en-US" sz="1200" dirty="0"/>
                    </a:p>
                  </a:txBody>
                  <a:tcPr/>
                </a:tc>
                <a:tc>
                  <a:txBody>
                    <a:bodyPr/>
                    <a:lstStyle/>
                    <a:p>
                      <a:r>
                        <a:rPr lang="en-US" sz="1200" dirty="0"/>
                        <a:t>Tyr</a:t>
                      </a:r>
                    </a:p>
                  </a:txBody>
                  <a:tcPr/>
                </a:tc>
                <a:tc>
                  <a:txBody>
                    <a:bodyPr/>
                    <a:lstStyle/>
                    <a:p>
                      <a:r>
                        <a:rPr lang="en-US" sz="1200" dirty="0" err="1"/>
                        <a:t>tYR</a:t>
                      </a:r>
                      <a:endParaRPr lang="en-US" sz="1200" dirty="0"/>
                    </a:p>
                  </a:txBody>
                  <a:tcPr/>
                </a:tc>
                <a:tc>
                  <a:txBody>
                    <a:bodyPr/>
                    <a:lstStyle/>
                    <a:p>
                      <a:r>
                        <a:rPr lang="en-US" sz="1200" dirty="0" err="1"/>
                        <a:t>tYr</a:t>
                      </a:r>
                      <a:endParaRPr lang="en-US" sz="1200" dirty="0"/>
                    </a:p>
                  </a:txBody>
                  <a:tcPr/>
                </a:tc>
                <a:tc>
                  <a:txBody>
                    <a:bodyPr/>
                    <a:lstStyle/>
                    <a:p>
                      <a:r>
                        <a:rPr lang="en-US" sz="1200" dirty="0" err="1"/>
                        <a:t>tyR</a:t>
                      </a:r>
                      <a:endParaRPr lang="en-US" sz="1200" dirty="0"/>
                    </a:p>
                  </a:txBody>
                  <a:tcPr/>
                </a:tc>
                <a:tc>
                  <a:txBody>
                    <a:bodyPr/>
                    <a:lstStyle/>
                    <a:p>
                      <a:r>
                        <a:rPr lang="en-US" sz="1200" dirty="0" err="1"/>
                        <a:t>tyr</a:t>
                      </a:r>
                      <a:endParaRPr lang="en-US" sz="1200" dirty="0"/>
                    </a:p>
                  </a:txBody>
                  <a:tcPr/>
                </a:tc>
                <a:extLst>
                  <a:ext uri="{0D108BD9-81ED-4DB2-BD59-A6C34878D82A}">
                    <a16:rowId xmlns:a16="http://schemas.microsoft.com/office/drawing/2014/main" val="10000"/>
                  </a:ext>
                </a:extLst>
              </a:tr>
              <a:tr h="370840">
                <a:tc>
                  <a:txBody>
                    <a:bodyPr/>
                    <a:lstStyle/>
                    <a:p>
                      <a:r>
                        <a:rPr lang="en-US" sz="1200" dirty="0"/>
                        <a:t>TYR</a:t>
                      </a:r>
                    </a:p>
                  </a:txBody>
                  <a:tcPr/>
                </a:tc>
                <a:tc>
                  <a:txBody>
                    <a:bodyPr/>
                    <a:lstStyle/>
                    <a:p>
                      <a:r>
                        <a:rPr lang="en-US" sz="1200" dirty="0"/>
                        <a:t>TTYYRR</a:t>
                      </a:r>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TtTTRR</a:t>
                      </a:r>
                      <a:endParaRPr lang="en-US" sz="1200" dirty="0"/>
                    </a:p>
                  </a:txBody>
                  <a:tcPr/>
                </a:tc>
                <a:tc>
                  <a:txBody>
                    <a:bodyPr/>
                    <a:lstStyle/>
                    <a:p>
                      <a:r>
                        <a:rPr lang="en-US" sz="1200" dirty="0" err="1"/>
                        <a:t>TtTTRr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1"/>
                  </a:ext>
                </a:extLst>
              </a:tr>
              <a:tr h="370840">
                <a:tc>
                  <a:txBody>
                    <a:bodyPr/>
                    <a:lstStyle/>
                    <a:p>
                      <a:r>
                        <a:rPr lang="en-US" sz="1200" dirty="0" err="1"/>
                        <a:t>TYr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2"/>
                  </a:ext>
                </a:extLst>
              </a:tr>
              <a:tr h="370840">
                <a:tc>
                  <a:txBody>
                    <a:bodyPr/>
                    <a:lstStyle/>
                    <a:p>
                      <a:r>
                        <a:rPr lang="en-US" sz="1200" dirty="0" err="1"/>
                        <a:t>TyR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3"/>
                  </a:ext>
                </a:extLst>
              </a:tr>
              <a:tr h="370840">
                <a:tc>
                  <a:txBody>
                    <a:bodyPr/>
                    <a:lstStyle/>
                    <a:p>
                      <a:r>
                        <a:rPr lang="en-US" sz="1200" dirty="0"/>
                        <a:t>Tyr</a:t>
                      </a:r>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4"/>
                  </a:ext>
                </a:extLst>
              </a:tr>
              <a:tr h="370840">
                <a:tc>
                  <a:txBody>
                    <a:bodyPr/>
                    <a:lstStyle/>
                    <a:p>
                      <a:r>
                        <a:rPr lang="en-US" sz="1200" dirty="0" err="1"/>
                        <a:t>tYR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5"/>
                  </a:ext>
                </a:extLst>
              </a:tr>
              <a:tr h="370840">
                <a:tc>
                  <a:txBody>
                    <a:bodyPr/>
                    <a:lstStyle/>
                    <a:p>
                      <a:r>
                        <a:rPr lang="en-US" sz="1200" dirty="0" err="1"/>
                        <a:t>tYr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6"/>
                  </a:ext>
                </a:extLst>
              </a:tr>
              <a:tr h="370840">
                <a:tc>
                  <a:txBody>
                    <a:bodyPr/>
                    <a:lstStyle/>
                    <a:p>
                      <a:r>
                        <a:rPr lang="en-US" sz="1200" dirty="0" err="1"/>
                        <a:t>tyR</a:t>
                      </a:r>
                      <a:endParaRPr lang="en-US" sz="1200" dirty="0"/>
                    </a:p>
                  </a:txBody>
                  <a:tcPr/>
                </a:tc>
                <a:tc>
                  <a:txBody>
                    <a:bodyPr/>
                    <a:lstStyle/>
                    <a:p>
                      <a:r>
                        <a:rPr lang="en-US" sz="1200" dirty="0" err="1"/>
                        <a:t>TtYyR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7"/>
                  </a:ext>
                </a:extLst>
              </a:tr>
              <a:tr h="370840">
                <a:tc>
                  <a:txBody>
                    <a:bodyPr/>
                    <a:lstStyle/>
                    <a:p>
                      <a:r>
                        <a:rPr lang="en-US" sz="1200" dirty="0" err="1"/>
                        <a:t>tyr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tc>
                  <a:txBody>
                    <a:bodyPr/>
                    <a:lstStyle/>
                    <a:p>
                      <a:r>
                        <a:rPr lang="en-US" sz="1200" dirty="0" err="1"/>
                        <a:t>ttyyrr</a:t>
                      </a:r>
                      <a:endParaRPr lang="en-US" sz="1200" dirty="0"/>
                    </a:p>
                  </a:txBody>
                  <a:tcPr/>
                </a:tc>
                <a:extLst>
                  <a:ext uri="{0D108BD9-81ED-4DB2-BD59-A6C34878D82A}">
                    <a16:rowId xmlns:a16="http://schemas.microsoft.com/office/drawing/2014/main" val="10008"/>
                  </a:ext>
                </a:extLst>
              </a:tr>
            </a:tbl>
          </a:graphicData>
        </a:graphic>
      </p:graphicFrame>
      <p:sp>
        <p:nvSpPr>
          <p:cNvPr id="6" name="Right Arrow 5"/>
          <p:cNvSpPr/>
          <p:nvPr/>
        </p:nvSpPr>
        <p:spPr>
          <a:xfrm>
            <a:off x="4038600" y="838200"/>
            <a:ext cx="3048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Box 6"/>
          <p:cNvSpPr txBox="1"/>
          <p:nvPr/>
        </p:nvSpPr>
        <p:spPr>
          <a:xfrm>
            <a:off x="685800" y="4648200"/>
            <a:ext cx="4114800" cy="2585323"/>
          </a:xfrm>
          <a:prstGeom prst="rect">
            <a:avLst/>
          </a:prstGeom>
          <a:noFill/>
        </p:spPr>
        <p:txBody>
          <a:bodyPr wrap="square" rtlCol="0">
            <a:spAutoFit/>
          </a:bodyPr>
          <a:lstStyle/>
          <a:p>
            <a:r>
              <a:rPr lang="en-US" dirty="0"/>
              <a:t>Tall, round, yellow-         27</a:t>
            </a:r>
          </a:p>
          <a:p>
            <a:r>
              <a:rPr lang="en-US" dirty="0"/>
              <a:t>Tall , yellow , wrinkled-    9</a:t>
            </a:r>
          </a:p>
          <a:p>
            <a:r>
              <a:rPr lang="en-US" dirty="0"/>
              <a:t>Tall , green, round        -   9</a:t>
            </a:r>
          </a:p>
          <a:p>
            <a:r>
              <a:rPr lang="en-US" dirty="0"/>
              <a:t>Short, yellow, round  -     9</a:t>
            </a:r>
          </a:p>
          <a:p>
            <a:r>
              <a:rPr lang="en-US" dirty="0"/>
              <a:t>Tall, green, wrinkled    -   3</a:t>
            </a:r>
          </a:p>
          <a:p>
            <a:r>
              <a:rPr lang="en-US" dirty="0"/>
              <a:t>Short, yellow, wrinkled-  3</a:t>
            </a:r>
          </a:p>
          <a:p>
            <a:r>
              <a:rPr lang="en-US" dirty="0"/>
              <a:t>Short, green, round       -  3</a:t>
            </a:r>
          </a:p>
          <a:p>
            <a:r>
              <a:rPr lang="en-US" dirty="0"/>
              <a:t>Short, green, wrinkled-    1</a:t>
            </a:r>
          </a:p>
          <a:p>
            <a:endParaRPr lang="en-US" dirty="0"/>
          </a:p>
        </p:txBody>
      </p:sp>
      <p:sp>
        <p:nvSpPr>
          <p:cNvPr id="9" name="Rectangle 8"/>
          <p:cNvSpPr/>
          <p:nvPr/>
        </p:nvSpPr>
        <p:spPr>
          <a:xfrm>
            <a:off x="2971800" y="4648200"/>
            <a:ext cx="762000" cy="266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644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342"/>
            <a:ext cx="8229600" cy="1143000"/>
          </a:xfrm>
        </p:spPr>
        <p:txBody>
          <a:bodyPr/>
          <a:lstStyle/>
          <a:p>
            <a:r>
              <a:rPr lang="en-US" dirty="0"/>
              <a:t>Allele Segregation</a:t>
            </a:r>
          </a:p>
        </p:txBody>
      </p:sp>
      <p:grpSp>
        <p:nvGrpSpPr>
          <p:cNvPr id="89" name="Group 88"/>
          <p:cNvGrpSpPr/>
          <p:nvPr/>
        </p:nvGrpSpPr>
        <p:grpSpPr>
          <a:xfrm>
            <a:off x="3515862" y="923658"/>
            <a:ext cx="2029676" cy="1811418"/>
            <a:chOff x="218096" y="1498124"/>
            <a:chExt cx="2029676" cy="1811418"/>
          </a:xfrm>
        </p:grpSpPr>
        <p:grpSp>
          <p:nvGrpSpPr>
            <p:cNvPr id="28" name="Group 27"/>
            <p:cNvGrpSpPr/>
            <p:nvPr/>
          </p:nvGrpSpPr>
          <p:grpSpPr>
            <a:xfrm>
              <a:off x="1196680" y="1867456"/>
              <a:ext cx="295301" cy="1263030"/>
              <a:chOff x="1196680" y="1867456"/>
              <a:chExt cx="295301" cy="1263030"/>
            </a:xfrm>
          </p:grpSpPr>
          <p:grpSp>
            <p:nvGrpSpPr>
              <p:cNvPr id="23" name="Group 22"/>
              <p:cNvGrpSpPr/>
              <p:nvPr/>
            </p:nvGrpSpPr>
            <p:grpSpPr>
              <a:xfrm>
                <a:off x="1426853" y="1867456"/>
                <a:ext cx="45719" cy="1263030"/>
                <a:chOff x="1426853" y="1867456"/>
                <a:chExt cx="45719" cy="1263030"/>
              </a:xfrm>
            </p:grpSpPr>
            <p:cxnSp>
              <p:nvCxnSpPr>
                <p:cNvPr id="8" name="Curved Connector 7"/>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TextBox 17"/>
              <p:cNvSpPr txBox="1"/>
              <p:nvPr/>
            </p:nvSpPr>
            <p:spPr>
              <a:xfrm>
                <a:off x="1196680" y="2001529"/>
                <a:ext cx="295301" cy="276999"/>
              </a:xfrm>
              <a:prstGeom prst="rect">
                <a:avLst/>
              </a:prstGeom>
              <a:noFill/>
            </p:spPr>
            <p:txBody>
              <a:bodyPr wrap="square" rtlCol="0">
                <a:spAutoFit/>
              </a:bodyPr>
              <a:lstStyle/>
              <a:p>
                <a:r>
                  <a:rPr lang="en-US" sz="1200" dirty="0"/>
                  <a:t>A</a:t>
                </a:r>
              </a:p>
            </p:txBody>
          </p:sp>
        </p:grpSp>
        <p:grpSp>
          <p:nvGrpSpPr>
            <p:cNvPr id="22" name="Group 21"/>
            <p:cNvGrpSpPr/>
            <p:nvPr/>
          </p:nvGrpSpPr>
          <p:grpSpPr>
            <a:xfrm>
              <a:off x="1590847" y="1877115"/>
              <a:ext cx="309358" cy="1263030"/>
              <a:chOff x="1603676" y="1864287"/>
              <a:chExt cx="309358" cy="1263030"/>
            </a:xfrm>
          </p:grpSpPr>
          <p:cxnSp>
            <p:nvCxnSpPr>
              <p:cNvPr id="11" name="Curved Connector 10"/>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1617733" y="1999250"/>
                <a:ext cx="295301" cy="276999"/>
              </a:xfrm>
              <a:prstGeom prst="rect">
                <a:avLst/>
              </a:prstGeom>
              <a:noFill/>
            </p:spPr>
            <p:txBody>
              <a:bodyPr wrap="square" rtlCol="0">
                <a:spAutoFit/>
              </a:bodyPr>
              <a:lstStyle/>
              <a:p>
                <a:r>
                  <a:rPr lang="en-US" sz="1200" dirty="0"/>
                  <a:t>a</a:t>
                </a:r>
              </a:p>
            </p:txBody>
          </p:sp>
        </p:grpSp>
        <p:grpSp>
          <p:nvGrpSpPr>
            <p:cNvPr id="27" name="Group 26"/>
            <p:cNvGrpSpPr/>
            <p:nvPr/>
          </p:nvGrpSpPr>
          <p:grpSpPr>
            <a:xfrm>
              <a:off x="523134" y="1848864"/>
              <a:ext cx="334305" cy="787093"/>
              <a:chOff x="523134" y="1848864"/>
              <a:chExt cx="334305" cy="787093"/>
            </a:xfrm>
          </p:grpSpPr>
          <p:cxnSp>
            <p:nvCxnSpPr>
              <p:cNvPr id="6" name="Curved Connector 5"/>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p:cNvSpPr txBox="1"/>
              <p:nvPr/>
            </p:nvSpPr>
            <p:spPr>
              <a:xfrm>
                <a:off x="523134" y="2178352"/>
                <a:ext cx="295301" cy="276999"/>
              </a:xfrm>
              <a:prstGeom prst="rect">
                <a:avLst/>
              </a:prstGeom>
              <a:noFill/>
            </p:spPr>
            <p:txBody>
              <a:bodyPr wrap="square" rtlCol="0">
                <a:spAutoFit/>
              </a:bodyPr>
              <a:lstStyle/>
              <a:p>
                <a:r>
                  <a:rPr lang="en-US" sz="1200" dirty="0"/>
                  <a:t>B</a:t>
                </a:r>
              </a:p>
            </p:txBody>
          </p:sp>
        </p:grpSp>
        <p:grpSp>
          <p:nvGrpSpPr>
            <p:cNvPr id="47" name="Group 46"/>
            <p:cNvGrpSpPr/>
            <p:nvPr/>
          </p:nvGrpSpPr>
          <p:grpSpPr>
            <a:xfrm>
              <a:off x="913909" y="1845077"/>
              <a:ext cx="311767" cy="787093"/>
              <a:chOff x="939567" y="1857905"/>
              <a:chExt cx="311767" cy="787093"/>
            </a:xfrm>
          </p:grpSpPr>
          <p:grpSp>
            <p:nvGrpSpPr>
              <p:cNvPr id="24" name="Group 23"/>
              <p:cNvGrpSpPr/>
              <p:nvPr/>
            </p:nvGrpSpPr>
            <p:grpSpPr>
              <a:xfrm>
                <a:off x="939567" y="1857905"/>
                <a:ext cx="45719" cy="787093"/>
                <a:chOff x="952396" y="1857905"/>
                <a:chExt cx="45719" cy="787093"/>
              </a:xfrm>
            </p:grpSpPr>
            <p:cxnSp>
              <p:nvCxnSpPr>
                <p:cNvPr id="12" name="Curved Connector 11"/>
                <p:cNvCxnSpPr/>
                <p:nvPr/>
              </p:nvCxnSpPr>
              <p:spPr>
                <a:xfrm rot="5400000">
                  <a:off x="581590" y="2245102"/>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52396" y="2302746"/>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TextBox 20"/>
              <p:cNvSpPr txBox="1"/>
              <p:nvPr/>
            </p:nvSpPr>
            <p:spPr>
              <a:xfrm>
                <a:off x="956033" y="2200496"/>
                <a:ext cx="295301" cy="276999"/>
              </a:xfrm>
              <a:prstGeom prst="rect">
                <a:avLst/>
              </a:prstGeom>
              <a:noFill/>
            </p:spPr>
            <p:txBody>
              <a:bodyPr wrap="square" rtlCol="0">
                <a:spAutoFit/>
              </a:bodyPr>
              <a:lstStyle/>
              <a:p>
                <a:r>
                  <a:rPr lang="en-US" sz="1200" dirty="0"/>
                  <a:t>b</a:t>
                </a:r>
              </a:p>
            </p:txBody>
          </p:sp>
        </p:grpSp>
        <p:sp>
          <p:nvSpPr>
            <p:cNvPr id="25" name="TextBox 24"/>
            <p:cNvSpPr txBox="1"/>
            <p:nvPr/>
          </p:nvSpPr>
          <p:spPr>
            <a:xfrm>
              <a:off x="676704" y="1498124"/>
              <a:ext cx="969653" cy="276999"/>
            </a:xfrm>
            <a:prstGeom prst="rect">
              <a:avLst/>
            </a:prstGeom>
            <a:noFill/>
          </p:spPr>
          <p:txBody>
            <a:bodyPr wrap="square" rtlCol="0">
              <a:spAutoFit/>
            </a:bodyPr>
            <a:lstStyle/>
            <a:p>
              <a:r>
                <a:rPr lang="en-US" sz="1200" dirty="0" err="1"/>
                <a:t>Chr</a:t>
              </a:r>
              <a:r>
                <a:rPr lang="en-US" sz="1200" dirty="0"/>
                <a:t> 1</a:t>
              </a:r>
            </a:p>
          </p:txBody>
        </p:sp>
        <p:sp>
          <p:nvSpPr>
            <p:cNvPr id="26" name="TextBox 25"/>
            <p:cNvSpPr txBox="1"/>
            <p:nvPr/>
          </p:nvSpPr>
          <p:spPr>
            <a:xfrm>
              <a:off x="1278119" y="1522244"/>
              <a:ext cx="969653" cy="276999"/>
            </a:xfrm>
            <a:prstGeom prst="rect">
              <a:avLst/>
            </a:prstGeom>
            <a:noFill/>
          </p:spPr>
          <p:txBody>
            <a:bodyPr wrap="square" rtlCol="0">
              <a:spAutoFit/>
            </a:bodyPr>
            <a:lstStyle/>
            <a:p>
              <a:r>
                <a:rPr lang="en-US" sz="1200" dirty="0" err="1"/>
                <a:t>Chr</a:t>
              </a:r>
              <a:r>
                <a:rPr lang="en-US" sz="1200" dirty="0"/>
                <a:t> 2</a:t>
              </a:r>
            </a:p>
          </p:txBody>
        </p:sp>
        <p:sp>
          <p:nvSpPr>
            <p:cNvPr id="80" name="Rectangle 79"/>
            <p:cNvSpPr/>
            <p:nvPr/>
          </p:nvSpPr>
          <p:spPr>
            <a:xfrm>
              <a:off x="218096" y="1498124"/>
              <a:ext cx="2029676" cy="18114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8" name="Group 87"/>
          <p:cNvGrpSpPr/>
          <p:nvPr/>
        </p:nvGrpSpPr>
        <p:grpSpPr>
          <a:xfrm>
            <a:off x="546071" y="4270314"/>
            <a:ext cx="1038855" cy="1629115"/>
            <a:chOff x="846973" y="3437818"/>
            <a:chExt cx="1038855" cy="1629115"/>
          </a:xfrm>
        </p:grpSpPr>
        <p:grpSp>
          <p:nvGrpSpPr>
            <p:cNvPr id="29" name="Group 28"/>
            <p:cNvGrpSpPr/>
            <p:nvPr/>
          </p:nvGrpSpPr>
          <p:grpSpPr>
            <a:xfrm>
              <a:off x="1576470" y="3684327"/>
              <a:ext cx="309358" cy="1263030"/>
              <a:chOff x="1603676" y="1864287"/>
              <a:chExt cx="309358" cy="1263030"/>
            </a:xfrm>
          </p:grpSpPr>
          <p:cxnSp>
            <p:nvCxnSpPr>
              <p:cNvPr id="30" name="Curved Connector 29"/>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32" name="TextBox 31"/>
              <p:cNvSpPr txBox="1"/>
              <p:nvPr/>
            </p:nvSpPr>
            <p:spPr>
              <a:xfrm>
                <a:off x="1617733" y="1999250"/>
                <a:ext cx="295301" cy="276999"/>
              </a:xfrm>
              <a:prstGeom prst="rect">
                <a:avLst/>
              </a:prstGeom>
              <a:noFill/>
            </p:spPr>
            <p:txBody>
              <a:bodyPr wrap="square" rtlCol="0">
                <a:spAutoFit/>
              </a:bodyPr>
              <a:lstStyle/>
              <a:p>
                <a:pPr algn="dist"/>
                <a:r>
                  <a:rPr lang="en-US" sz="1200" dirty="0"/>
                  <a:t>a</a:t>
                </a:r>
              </a:p>
            </p:txBody>
          </p:sp>
        </p:grpSp>
        <p:grpSp>
          <p:nvGrpSpPr>
            <p:cNvPr id="48" name="Group 47"/>
            <p:cNvGrpSpPr/>
            <p:nvPr/>
          </p:nvGrpSpPr>
          <p:grpSpPr>
            <a:xfrm>
              <a:off x="1336097" y="4151694"/>
              <a:ext cx="311767" cy="787093"/>
              <a:chOff x="939567" y="1857905"/>
              <a:chExt cx="311767" cy="787093"/>
            </a:xfrm>
          </p:grpSpPr>
          <p:grpSp>
            <p:nvGrpSpPr>
              <p:cNvPr id="49" name="Group 48"/>
              <p:cNvGrpSpPr/>
              <p:nvPr/>
            </p:nvGrpSpPr>
            <p:grpSpPr>
              <a:xfrm>
                <a:off x="939567" y="1857905"/>
                <a:ext cx="45719" cy="787093"/>
                <a:chOff x="952396" y="1857905"/>
                <a:chExt cx="45719" cy="787093"/>
              </a:xfrm>
            </p:grpSpPr>
            <p:cxnSp>
              <p:nvCxnSpPr>
                <p:cNvPr id="51" name="Curved Connector 50"/>
                <p:cNvCxnSpPr/>
                <p:nvPr/>
              </p:nvCxnSpPr>
              <p:spPr>
                <a:xfrm rot="5400000">
                  <a:off x="581590" y="2245102"/>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52396" y="2302746"/>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50" name="TextBox 49"/>
              <p:cNvSpPr txBox="1"/>
              <p:nvPr/>
            </p:nvSpPr>
            <p:spPr>
              <a:xfrm>
                <a:off x="956033" y="2200496"/>
                <a:ext cx="295301" cy="276999"/>
              </a:xfrm>
              <a:prstGeom prst="rect">
                <a:avLst/>
              </a:prstGeom>
              <a:noFill/>
            </p:spPr>
            <p:txBody>
              <a:bodyPr wrap="square" rtlCol="0">
                <a:spAutoFit/>
              </a:bodyPr>
              <a:lstStyle/>
              <a:p>
                <a:pPr algn="dist"/>
                <a:r>
                  <a:rPr lang="en-US" sz="1200" dirty="0"/>
                  <a:t>b</a:t>
                </a:r>
              </a:p>
            </p:txBody>
          </p:sp>
        </p:grpSp>
        <p:sp>
          <p:nvSpPr>
            <p:cNvPr id="81" name="Rectangle 80"/>
            <p:cNvSpPr/>
            <p:nvPr/>
          </p:nvSpPr>
          <p:spPr>
            <a:xfrm>
              <a:off x="846973" y="3437818"/>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grpSp>
        <p:nvGrpSpPr>
          <p:cNvPr id="85" name="Group 84"/>
          <p:cNvGrpSpPr/>
          <p:nvPr/>
        </p:nvGrpSpPr>
        <p:grpSpPr>
          <a:xfrm>
            <a:off x="7440774" y="4270314"/>
            <a:ext cx="936283" cy="1629115"/>
            <a:chOff x="1897403" y="3436282"/>
            <a:chExt cx="936283" cy="1629115"/>
          </a:xfrm>
        </p:grpSpPr>
        <p:grpSp>
          <p:nvGrpSpPr>
            <p:cNvPr id="58" name="Group 57"/>
            <p:cNvGrpSpPr/>
            <p:nvPr/>
          </p:nvGrpSpPr>
          <p:grpSpPr>
            <a:xfrm>
              <a:off x="2464706" y="3702631"/>
              <a:ext cx="309358" cy="1263030"/>
              <a:chOff x="1603676" y="1864287"/>
              <a:chExt cx="309358" cy="1263030"/>
            </a:xfrm>
          </p:grpSpPr>
          <p:cxnSp>
            <p:nvCxnSpPr>
              <p:cNvPr id="59" name="Curved Connector 58"/>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61" name="TextBox 60"/>
              <p:cNvSpPr txBox="1"/>
              <p:nvPr/>
            </p:nvSpPr>
            <p:spPr>
              <a:xfrm>
                <a:off x="1617733" y="1999250"/>
                <a:ext cx="295301" cy="276999"/>
              </a:xfrm>
              <a:prstGeom prst="rect">
                <a:avLst/>
              </a:prstGeom>
              <a:noFill/>
            </p:spPr>
            <p:txBody>
              <a:bodyPr wrap="square" rtlCol="0">
                <a:spAutoFit/>
              </a:bodyPr>
              <a:lstStyle/>
              <a:p>
                <a:pPr algn="dist"/>
                <a:r>
                  <a:rPr lang="en-US" sz="1200" dirty="0"/>
                  <a:t>a</a:t>
                </a:r>
              </a:p>
            </p:txBody>
          </p:sp>
        </p:grpSp>
        <p:grpSp>
          <p:nvGrpSpPr>
            <p:cNvPr id="76" name="Group 75"/>
            <p:cNvGrpSpPr/>
            <p:nvPr/>
          </p:nvGrpSpPr>
          <p:grpSpPr>
            <a:xfrm>
              <a:off x="2001689" y="4177332"/>
              <a:ext cx="334305" cy="787093"/>
              <a:chOff x="523134" y="1848864"/>
              <a:chExt cx="334305" cy="787093"/>
            </a:xfrm>
          </p:grpSpPr>
          <p:cxnSp>
            <p:nvCxnSpPr>
              <p:cNvPr id="77" name="Curved Connector 76"/>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79" name="TextBox 78"/>
              <p:cNvSpPr txBox="1"/>
              <p:nvPr/>
            </p:nvSpPr>
            <p:spPr>
              <a:xfrm>
                <a:off x="523134" y="2178352"/>
                <a:ext cx="295301" cy="276999"/>
              </a:xfrm>
              <a:prstGeom prst="rect">
                <a:avLst/>
              </a:prstGeom>
              <a:noFill/>
            </p:spPr>
            <p:txBody>
              <a:bodyPr wrap="square" rtlCol="0">
                <a:spAutoFit/>
              </a:bodyPr>
              <a:lstStyle/>
              <a:p>
                <a:pPr algn="dist"/>
                <a:r>
                  <a:rPr lang="en-US" sz="1200" dirty="0"/>
                  <a:t>B</a:t>
                </a:r>
              </a:p>
            </p:txBody>
          </p:sp>
        </p:grpSp>
        <p:sp>
          <p:nvSpPr>
            <p:cNvPr id="82" name="Rectangle 81"/>
            <p:cNvSpPr/>
            <p:nvPr/>
          </p:nvSpPr>
          <p:spPr>
            <a:xfrm>
              <a:off x="1897403" y="3436282"/>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grpSp>
        <p:nvGrpSpPr>
          <p:cNvPr id="87" name="Group 86"/>
          <p:cNvGrpSpPr/>
          <p:nvPr/>
        </p:nvGrpSpPr>
        <p:grpSpPr>
          <a:xfrm>
            <a:off x="2960531" y="4270314"/>
            <a:ext cx="936283" cy="1629115"/>
            <a:chOff x="843877" y="5183743"/>
            <a:chExt cx="936283" cy="1629115"/>
          </a:xfrm>
        </p:grpSpPr>
        <p:grpSp>
          <p:nvGrpSpPr>
            <p:cNvPr id="42" name="Group 41"/>
            <p:cNvGrpSpPr/>
            <p:nvPr/>
          </p:nvGrpSpPr>
          <p:grpSpPr>
            <a:xfrm>
              <a:off x="1308375" y="5490010"/>
              <a:ext cx="295301" cy="1263030"/>
              <a:chOff x="1196680" y="1867456"/>
              <a:chExt cx="295301" cy="1263030"/>
            </a:xfrm>
          </p:grpSpPr>
          <p:grpSp>
            <p:nvGrpSpPr>
              <p:cNvPr id="43" name="Group 42"/>
              <p:cNvGrpSpPr/>
              <p:nvPr/>
            </p:nvGrpSpPr>
            <p:grpSpPr>
              <a:xfrm>
                <a:off x="1426853" y="1867456"/>
                <a:ext cx="45719" cy="1263030"/>
                <a:chOff x="1426853" y="1867456"/>
                <a:chExt cx="45719" cy="1263030"/>
              </a:xfrm>
            </p:grpSpPr>
            <p:cxnSp>
              <p:nvCxnSpPr>
                <p:cNvPr id="45" name="Curved Connector 44"/>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44" name="TextBox 43"/>
              <p:cNvSpPr txBox="1"/>
              <p:nvPr/>
            </p:nvSpPr>
            <p:spPr>
              <a:xfrm>
                <a:off x="1196680" y="2001529"/>
                <a:ext cx="295301" cy="276999"/>
              </a:xfrm>
              <a:prstGeom prst="rect">
                <a:avLst/>
              </a:prstGeom>
              <a:noFill/>
            </p:spPr>
            <p:txBody>
              <a:bodyPr wrap="square" rtlCol="0">
                <a:spAutoFit/>
              </a:bodyPr>
              <a:lstStyle/>
              <a:p>
                <a:pPr algn="dist"/>
                <a:r>
                  <a:rPr lang="en-US" sz="1200" dirty="0"/>
                  <a:t>A</a:t>
                </a:r>
              </a:p>
            </p:txBody>
          </p:sp>
        </p:grpSp>
        <p:grpSp>
          <p:nvGrpSpPr>
            <p:cNvPr id="72" name="Group 71"/>
            <p:cNvGrpSpPr/>
            <p:nvPr/>
          </p:nvGrpSpPr>
          <p:grpSpPr>
            <a:xfrm>
              <a:off x="1079802" y="5849165"/>
              <a:ext cx="334305" cy="787093"/>
              <a:chOff x="523134" y="1848864"/>
              <a:chExt cx="334305" cy="787093"/>
            </a:xfrm>
          </p:grpSpPr>
          <p:cxnSp>
            <p:nvCxnSpPr>
              <p:cNvPr id="73" name="Curved Connector 72"/>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75" name="TextBox 74"/>
              <p:cNvSpPr txBox="1"/>
              <p:nvPr/>
            </p:nvSpPr>
            <p:spPr>
              <a:xfrm>
                <a:off x="523134" y="2178352"/>
                <a:ext cx="295301" cy="276999"/>
              </a:xfrm>
              <a:prstGeom prst="rect">
                <a:avLst/>
              </a:prstGeom>
              <a:noFill/>
            </p:spPr>
            <p:txBody>
              <a:bodyPr wrap="square" rtlCol="0">
                <a:spAutoFit/>
              </a:bodyPr>
              <a:lstStyle/>
              <a:p>
                <a:pPr algn="dist"/>
                <a:r>
                  <a:rPr lang="en-US" sz="1200" dirty="0"/>
                  <a:t>B</a:t>
                </a:r>
              </a:p>
            </p:txBody>
          </p:sp>
        </p:grpSp>
        <p:sp>
          <p:nvSpPr>
            <p:cNvPr id="84" name="Rectangle 83"/>
            <p:cNvSpPr/>
            <p:nvPr/>
          </p:nvSpPr>
          <p:spPr>
            <a:xfrm>
              <a:off x="843877" y="5183743"/>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cxnSp>
        <p:nvCxnSpPr>
          <p:cNvPr id="92" name="Straight Arrow Connector 91"/>
          <p:cNvCxnSpPr/>
          <p:nvPr/>
        </p:nvCxnSpPr>
        <p:spPr>
          <a:xfrm flipH="1">
            <a:off x="1402990" y="2735076"/>
            <a:ext cx="2549852" cy="1441813"/>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a:off x="3586789" y="2735076"/>
            <a:ext cx="522698" cy="1441813"/>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a:off x="4892909" y="2735076"/>
            <a:ext cx="652629" cy="134303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5397224" y="2735076"/>
            <a:ext cx="2099578" cy="134303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grpSp>
        <p:nvGrpSpPr>
          <p:cNvPr id="101" name="Group 100"/>
          <p:cNvGrpSpPr/>
          <p:nvPr/>
        </p:nvGrpSpPr>
        <p:grpSpPr>
          <a:xfrm>
            <a:off x="5136618" y="4270314"/>
            <a:ext cx="1199515" cy="1629115"/>
            <a:chOff x="5192646" y="4882837"/>
            <a:chExt cx="1199515" cy="1629115"/>
          </a:xfrm>
        </p:grpSpPr>
        <p:grpSp>
          <p:nvGrpSpPr>
            <p:cNvPr id="37" name="Group 36"/>
            <p:cNvGrpSpPr/>
            <p:nvPr/>
          </p:nvGrpSpPr>
          <p:grpSpPr>
            <a:xfrm>
              <a:off x="5619327" y="5142490"/>
              <a:ext cx="295301" cy="1263030"/>
              <a:chOff x="1196680" y="1867456"/>
              <a:chExt cx="295301" cy="1263030"/>
            </a:xfrm>
          </p:grpSpPr>
          <p:grpSp>
            <p:nvGrpSpPr>
              <p:cNvPr id="38" name="Group 37"/>
              <p:cNvGrpSpPr/>
              <p:nvPr/>
            </p:nvGrpSpPr>
            <p:grpSpPr>
              <a:xfrm>
                <a:off x="1426853" y="1867456"/>
                <a:ext cx="45719" cy="1263030"/>
                <a:chOff x="1426853" y="1867456"/>
                <a:chExt cx="45719" cy="1263030"/>
              </a:xfrm>
            </p:grpSpPr>
            <p:cxnSp>
              <p:nvCxnSpPr>
                <p:cNvPr id="40" name="Curved Connector 39"/>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39" name="TextBox 38"/>
              <p:cNvSpPr txBox="1"/>
              <p:nvPr/>
            </p:nvSpPr>
            <p:spPr>
              <a:xfrm>
                <a:off x="1196680" y="2001529"/>
                <a:ext cx="295301" cy="276999"/>
              </a:xfrm>
              <a:prstGeom prst="rect">
                <a:avLst/>
              </a:prstGeom>
              <a:noFill/>
            </p:spPr>
            <p:txBody>
              <a:bodyPr wrap="square" rtlCol="0">
                <a:spAutoFit/>
              </a:bodyPr>
              <a:lstStyle/>
              <a:p>
                <a:pPr algn="dist"/>
                <a:r>
                  <a:rPr lang="en-US" sz="1200" dirty="0"/>
                  <a:t>A</a:t>
                </a:r>
              </a:p>
            </p:txBody>
          </p:sp>
        </p:grpSp>
        <p:cxnSp>
          <p:nvCxnSpPr>
            <p:cNvPr id="70" name="Curved Connector 69"/>
            <p:cNvCxnSpPr/>
            <p:nvPr/>
          </p:nvCxnSpPr>
          <p:spPr>
            <a:xfrm rot="5400000">
              <a:off x="5236668" y="6010074"/>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5607466" y="6067718"/>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69" name="TextBox 68"/>
            <p:cNvSpPr txBox="1"/>
            <p:nvPr/>
          </p:nvSpPr>
          <p:spPr>
            <a:xfrm>
              <a:off x="5393004" y="5945092"/>
              <a:ext cx="295301" cy="276999"/>
            </a:xfrm>
            <a:prstGeom prst="rect">
              <a:avLst/>
            </a:prstGeom>
            <a:noFill/>
          </p:spPr>
          <p:txBody>
            <a:bodyPr wrap="square" rtlCol="0">
              <a:spAutoFit/>
            </a:bodyPr>
            <a:lstStyle/>
            <a:p>
              <a:pPr algn="dist"/>
              <a:r>
                <a:rPr lang="en-US" sz="1200" dirty="0"/>
                <a:t>b</a:t>
              </a:r>
            </a:p>
          </p:txBody>
        </p:sp>
        <p:sp>
          <p:nvSpPr>
            <p:cNvPr id="83" name="Rectangle 82"/>
            <p:cNvSpPr/>
            <p:nvPr/>
          </p:nvSpPr>
          <p:spPr>
            <a:xfrm>
              <a:off x="5192646" y="4882837"/>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100" name="TextBox 99"/>
            <p:cNvSpPr txBox="1"/>
            <p:nvPr/>
          </p:nvSpPr>
          <p:spPr>
            <a:xfrm>
              <a:off x="6207495" y="5963183"/>
              <a:ext cx="184666" cy="369332"/>
            </a:xfrm>
            <a:prstGeom prst="rect">
              <a:avLst/>
            </a:prstGeom>
            <a:noFill/>
          </p:spPr>
          <p:txBody>
            <a:bodyPr wrap="none" rtlCol="0">
              <a:spAutoFit/>
            </a:bodyPr>
            <a:lstStyle/>
            <a:p>
              <a:endParaRPr lang="en-US" dirty="0"/>
            </a:p>
          </p:txBody>
        </p:sp>
      </p:grpSp>
      <p:sp>
        <p:nvSpPr>
          <p:cNvPr id="102" name="TextBox 101"/>
          <p:cNvSpPr txBox="1"/>
          <p:nvPr/>
        </p:nvSpPr>
        <p:spPr>
          <a:xfrm>
            <a:off x="437860" y="5899429"/>
            <a:ext cx="1848555" cy="369332"/>
          </a:xfrm>
          <a:prstGeom prst="rect">
            <a:avLst/>
          </a:prstGeom>
          <a:noFill/>
        </p:spPr>
        <p:txBody>
          <a:bodyPr wrap="square" rtlCol="0">
            <a:spAutoFit/>
          </a:bodyPr>
          <a:lstStyle/>
          <a:p>
            <a:r>
              <a:rPr lang="en-US" dirty="0"/>
              <a:t>GAMETE 1</a:t>
            </a:r>
          </a:p>
        </p:txBody>
      </p:sp>
      <p:sp>
        <p:nvSpPr>
          <p:cNvPr id="103" name="TextBox 102"/>
          <p:cNvSpPr txBox="1"/>
          <p:nvPr/>
        </p:nvSpPr>
        <p:spPr>
          <a:xfrm>
            <a:off x="2932686" y="5924830"/>
            <a:ext cx="1848555" cy="369332"/>
          </a:xfrm>
          <a:prstGeom prst="rect">
            <a:avLst/>
          </a:prstGeom>
          <a:noFill/>
        </p:spPr>
        <p:txBody>
          <a:bodyPr wrap="square" rtlCol="0">
            <a:spAutoFit/>
          </a:bodyPr>
          <a:lstStyle/>
          <a:p>
            <a:r>
              <a:rPr lang="en-US" dirty="0"/>
              <a:t>GAMETE 2</a:t>
            </a:r>
          </a:p>
        </p:txBody>
      </p:sp>
      <p:sp>
        <p:nvSpPr>
          <p:cNvPr id="104" name="TextBox 103"/>
          <p:cNvSpPr txBox="1"/>
          <p:nvPr/>
        </p:nvSpPr>
        <p:spPr>
          <a:xfrm>
            <a:off x="5060626" y="5950231"/>
            <a:ext cx="1848555" cy="369332"/>
          </a:xfrm>
          <a:prstGeom prst="rect">
            <a:avLst/>
          </a:prstGeom>
          <a:noFill/>
        </p:spPr>
        <p:txBody>
          <a:bodyPr wrap="square" rtlCol="0">
            <a:spAutoFit/>
          </a:bodyPr>
          <a:lstStyle/>
          <a:p>
            <a:r>
              <a:rPr lang="en-US" dirty="0"/>
              <a:t>GAMETE 3</a:t>
            </a:r>
          </a:p>
        </p:txBody>
      </p:sp>
      <p:sp>
        <p:nvSpPr>
          <p:cNvPr id="105" name="TextBox 104"/>
          <p:cNvSpPr txBox="1"/>
          <p:nvPr/>
        </p:nvSpPr>
        <p:spPr>
          <a:xfrm>
            <a:off x="7400231" y="5947410"/>
            <a:ext cx="1848555" cy="369332"/>
          </a:xfrm>
          <a:prstGeom prst="rect">
            <a:avLst/>
          </a:prstGeom>
          <a:noFill/>
        </p:spPr>
        <p:txBody>
          <a:bodyPr wrap="square" rtlCol="0">
            <a:spAutoFit/>
          </a:bodyPr>
          <a:lstStyle/>
          <a:p>
            <a:r>
              <a:rPr lang="en-US" dirty="0"/>
              <a:t>GAMETE 4</a:t>
            </a:r>
          </a:p>
        </p:txBody>
      </p:sp>
      <p:sp>
        <p:nvSpPr>
          <p:cNvPr id="106" name="TextBox 105"/>
          <p:cNvSpPr txBox="1"/>
          <p:nvPr/>
        </p:nvSpPr>
        <p:spPr>
          <a:xfrm>
            <a:off x="4352785" y="2706854"/>
            <a:ext cx="722657" cy="369332"/>
          </a:xfrm>
          <a:prstGeom prst="rect">
            <a:avLst/>
          </a:prstGeom>
          <a:noFill/>
        </p:spPr>
        <p:txBody>
          <a:bodyPr wrap="square" rtlCol="0">
            <a:spAutoFit/>
          </a:bodyPr>
          <a:lstStyle/>
          <a:p>
            <a:r>
              <a:rPr lang="en-US" dirty="0"/>
              <a:t>2N</a:t>
            </a:r>
          </a:p>
        </p:txBody>
      </p:sp>
      <p:sp>
        <p:nvSpPr>
          <p:cNvPr id="107" name="TextBox 106"/>
          <p:cNvSpPr txBox="1"/>
          <p:nvPr/>
        </p:nvSpPr>
        <p:spPr>
          <a:xfrm>
            <a:off x="878247" y="3909789"/>
            <a:ext cx="722657" cy="369332"/>
          </a:xfrm>
          <a:prstGeom prst="rect">
            <a:avLst/>
          </a:prstGeom>
          <a:noFill/>
        </p:spPr>
        <p:txBody>
          <a:bodyPr wrap="square" rtlCol="0">
            <a:spAutoFit/>
          </a:bodyPr>
          <a:lstStyle/>
          <a:p>
            <a:r>
              <a:rPr lang="en-US" dirty="0"/>
              <a:t>N</a:t>
            </a:r>
          </a:p>
        </p:txBody>
      </p:sp>
      <p:sp>
        <p:nvSpPr>
          <p:cNvPr id="108" name="TextBox 107"/>
          <p:cNvSpPr txBox="1"/>
          <p:nvPr/>
        </p:nvSpPr>
        <p:spPr>
          <a:xfrm>
            <a:off x="3117347" y="3902865"/>
            <a:ext cx="722657" cy="369332"/>
          </a:xfrm>
          <a:prstGeom prst="rect">
            <a:avLst/>
          </a:prstGeom>
          <a:noFill/>
        </p:spPr>
        <p:txBody>
          <a:bodyPr wrap="square" rtlCol="0">
            <a:spAutoFit/>
          </a:bodyPr>
          <a:lstStyle/>
          <a:p>
            <a:r>
              <a:rPr lang="en-US" dirty="0"/>
              <a:t>N</a:t>
            </a:r>
          </a:p>
        </p:txBody>
      </p:sp>
      <p:sp>
        <p:nvSpPr>
          <p:cNvPr id="109" name="TextBox 108"/>
          <p:cNvSpPr txBox="1"/>
          <p:nvPr/>
        </p:nvSpPr>
        <p:spPr>
          <a:xfrm>
            <a:off x="5215337" y="3924163"/>
            <a:ext cx="722657" cy="369332"/>
          </a:xfrm>
          <a:prstGeom prst="rect">
            <a:avLst/>
          </a:prstGeom>
          <a:noFill/>
        </p:spPr>
        <p:txBody>
          <a:bodyPr wrap="square" rtlCol="0">
            <a:spAutoFit/>
          </a:bodyPr>
          <a:lstStyle/>
          <a:p>
            <a:r>
              <a:rPr lang="en-US" dirty="0"/>
              <a:t>N</a:t>
            </a:r>
          </a:p>
        </p:txBody>
      </p:sp>
      <p:sp>
        <p:nvSpPr>
          <p:cNvPr id="110" name="TextBox 109"/>
          <p:cNvSpPr txBox="1"/>
          <p:nvPr/>
        </p:nvSpPr>
        <p:spPr>
          <a:xfrm>
            <a:off x="7750768" y="3945461"/>
            <a:ext cx="722657" cy="369332"/>
          </a:xfrm>
          <a:prstGeom prst="rect">
            <a:avLst/>
          </a:prstGeom>
          <a:noFill/>
        </p:spPr>
        <p:txBody>
          <a:bodyPr wrap="square" rtlCol="0">
            <a:spAutoFit/>
          </a:bodyPr>
          <a:lstStyle/>
          <a:p>
            <a:r>
              <a:rPr lang="en-US" dirty="0"/>
              <a:t>N</a:t>
            </a:r>
          </a:p>
        </p:txBody>
      </p:sp>
      <p:sp>
        <p:nvSpPr>
          <p:cNvPr id="116" name="TextBox 115"/>
          <p:cNvSpPr txBox="1"/>
          <p:nvPr/>
        </p:nvSpPr>
        <p:spPr>
          <a:xfrm>
            <a:off x="5597157" y="1880885"/>
            <a:ext cx="1947903" cy="369332"/>
          </a:xfrm>
          <a:prstGeom prst="rect">
            <a:avLst/>
          </a:prstGeom>
          <a:noFill/>
        </p:spPr>
        <p:txBody>
          <a:bodyPr wrap="square" rtlCol="0">
            <a:spAutoFit/>
          </a:bodyPr>
          <a:lstStyle/>
          <a:p>
            <a:r>
              <a:rPr lang="en-US" dirty="0" err="1"/>
              <a:t>BbAa</a:t>
            </a:r>
            <a:r>
              <a:rPr lang="en-US" dirty="0"/>
              <a:t>- genotype</a:t>
            </a:r>
          </a:p>
        </p:txBody>
      </p:sp>
      <p:sp>
        <p:nvSpPr>
          <p:cNvPr id="117" name="TextBox 116"/>
          <p:cNvSpPr txBox="1"/>
          <p:nvPr/>
        </p:nvSpPr>
        <p:spPr>
          <a:xfrm>
            <a:off x="341383" y="6291854"/>
            <a:ext cx="1947903" cy="369332"/>
          </a:xfrm>
          <a:prstGeom prst="rect">
            <a:avLst/>
          </a:prstGeom>
          <a:noFill/>
        </p:spPr>
        <p:txBody>
          <a:bodyPr wrap="square" rtlCol="0">
            <a:spAutoFit/>
          </a:bodyPr>
          <a:lstStyle/>
          <a:p>
            <a:r>
              <a:rPr lang="en-US" dirty="0" err="1"/>
              <a:t>ba</a:t>
            </a:r>
            <a:r>
              <a:rPr lang="en-US" dirty="0"/>
              <a:t>- genotype</a:t>
            </a:r>
          </a:p>
        </p:txBody>
      </p:sp>
      <p:sp>
        <p:nvSpPr>
          <p:cNvPr id="118" name="TextBox 117"/>
          <p:cNvSpPr txBox="1"/>
          <p:nvPr/>
        </p:nvSpPr>
        <p:spPr>
          <a:xfrm>
            <a:off x="2517805" y="6294162"/>
            <a:ext cx="1947903" cy="369332"/>
          </a:xfrm>
          <a:prstGeom prst="rect">
            <a:avLst/>
          </a:prstGeom>
          <a:noFill/>
        </p:spPr>
        <p:txBody>
          <a:bodyPr wrap="square" rtlCol="0">
            <a:spAutoFit/>
          </a:bodyPr>
          <a:lstStyle/>
          <a:p>
            <a:r>
              <a:rPr lang="en-US" dirty="0"/>
              <a:t>BA- genotype</a:t>
            </a:r>
          </a:p>
        </p:txBody>
      </p:sp>
      <p:sp>
        <p:nvSpPr>
          <p:cNvPr id="119" name="TextBox 118"/>
          <p:cNvSpPr txBox="1"/>
          <p:nvPr/>
        </p:nvSpPr>
        <p:spPr>
          <a:xfrm>
            <a:off x="4843635" y="6296470"/>
            <a:ext cx="1947903" cy="369332"/>
          </a:xfrm>
          <a:prstGeom prst="rect">
            <a:avLst/>
          </a:prstGeom>
          <a:noFill/>
        </p:spPr>
        <p:txBody>
          <a:bodyPr wrap="square" rtlCol="0">
            <a:spAutoFit/>
          </a:bodyPr>
          <a:lstStyle/>
          <a:p>
            <a:r>
              <a:rPr lang="en-US" dirty="0" err="1"/>
              <a:t>bA</a:t>
            </a:r>
            <a:r>
              <a:rPr lang="en-US" dirty="0"/>
              <a:t>- genotype</a:t>
            </a:r>
          </a:p>
        </p:txBody>
      </p:sp>
      <p:sp>
        <p:nvSpPr>
          <p:cNvPr id="120" name="TextBox 119"/>
          <p:cNvSpPr txBox="1"/>
          <p:nvPr/>
        </p:nvSpPr>
        <p:spPr>
          <a:xfrm>
            <a:off x="7225493" y="6261430"/>
            <a:ext cx="1947903" cy="369332"/>
          </a:xfrm>
          <a:prstGeom prst="rect">
            <a:avLst/>
          </a:prstGeom>
          <a:noFill/>
        </p:spPr>
        <p:txBody>
          <a:bodyPr wrap="square" rtlCol="0">
            <a:spAutoFit/>
          </a:bodyPr>
          <a:lstStyle/>
          <a:p>
            <a:r>
              <a:rPr lang="en-US" dirty="0"/>
              <a:t>Ba- genotype</a:t>
            </a:r>
          </a:p>
        </p:txBody>
      </p:sp>
    </p:spTree>
    <p:extLst>
      <p:ext uri="{BB962C8B-B14F-4D97-AF65-F5344CB8AC3E}">
        <p14:creationId xmlns:p14="http://schemas.microsoft.com/office/powerpoint/2010/main" val="3246840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342"/>
            <a:ext cx="8229600" cy="1143000"/>
          </a:xfrm>
        </p:spPr>
        <p:txBody>
          <a:bodyPr/>
          <a:lstStyle/>
          <a:p>
            <a:r>
              <a:rPr lang="en-US" dirty="0"/>
              <a:t>Allele Segregation</a:t>
            </a:r>
          </a:p>
        </p:txBody>
      </p:sp>
      <p:grpSp>
        <p:nvGrpSpPr>
          <p:cNvPr id="89" name="Group 88"/>
          <p:cNvGrpSpPr/>
          <p:nvPr/>
        </p:nvGrpSpPr>
        <p:grpSpPr>
          <a:xfrm>
            <a:off x="3515862" y="923658"/>
            <a:ext cx="2029676" cy="1811418"/>
            <a:chOff x="218096" y="1498124"/>
            <a:chExt cx="2029676" cy="1811418"/>
          </a:xfrm>
        </p:grpSpPr>
        <p:grpSp>
          <p:nvGrpSpPr>
            <p:cNvPr id="28" name="Group 27"/>
            <p:cNvGrpSpPr/>
            <p:nvPr/>
          </p:nvGrpSpPr>
          <p:grpSpPr>
            <a:xfrm>
              <a:off x="1196680" y="1867456"/>
              <a:ext cx="295301" cy="1263030"/>
              <a:chOff x="1196680" y="1867456"/>
              <a:chExt cx="295301" cy="1263030"/>
            </a:xfrm>
          </p:grpSpPr>
          <p:grpSp>
            <p:nvGrpSpPr>
              <p:cNvPr id="23" name="Group 22"/>
              <p:cNvGrpSpPr/>
              <p:nvPr/>
            </p:nvGrpSpPr>
            <p:grpSpPr>
              <a:xfrm>
                <a:off x="1426853" y="1867456"/>
                <a:ext cx="45719" cy="1263030"/>
                <a:chOff x="1426853" y="1867456"/>
                <a:chExt cx="45719" cy="1263030"/>
              </a:xfrm>
            </p:grpSpPr>
            <p:cxnSp>
              <p:nvCxnSpPr>
                <p:cNvPr id="8" name="Curved Connector 7"/>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TextBox 17"/>
              <p:cNvSpPr txBox="1"/>
              <p:nvPr/>
            </p:nvSpPr>
            <p:spPr>
              <a:xfrm>
                <a:off x="1196680" y="2001529"/>
                <a:ext cx="295301" cy="276999"/>
              </a:xfrm>
              <a:prstGeom prst="rect">
                <a:avLst/>
              </a:prstGeom>
              <a:noFill/>
            </p:spPr>
            <p:txBody>
              <a:bodyPr wrap="square" rtlCol="0">
                <a:spAutoFit/>
              </a:bodyPr>
              <a:lstStyle/>
              <a:p>
                <a:r>
                  <a:rPr lang="en-US" sz="1200" dirty="0"/>
                  <a:t>A</a:t>
                </a:r>
              </a:p>
            </p:txBody>
          </p:sp>
        </p:grpSp>
        <p:grpSp>
          <p:nvGrpSpPr>
            <p:cNvPr id="22" name="Group 21"/>
            <p:cNvGrpSpPr/>
            <p:nvPr/>
          </p:nvGrpSpPr>
          <p:grpSpPr>
            <a:xfrm>
              <a:off x="1590847" y="1877115"/>
              <a:ext cx="309358" cy="1263030"/>
              <a:chOff x="1603676" y="1864287"/>
              <a:chExt cx="309358" cy="1263030"/>
            </a:xfrm>
          </p:grpSpPr>
          <p:cxnSp>
            <p:nvCxnSpPr>
              <p:cNvPr id="11" name="Curved Connector 10"/>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1617733" y="1999250"/>
                <a:ext cx="295301" cy="276999"/>
              </a:xfrm>
              <a:prstGeom prst="rect">
                <a:avLst/>
              </a:prstGeom>
              <a:noFill/>
            </p:spPr>
            <p:txBody>
              <a:bodyPr wrap="square" rtlCol="0">
                <a:spAutoFit/>
              </a:bodyPr>
              <a:lstStyle/>
              <a:p>
                <a:r>
                  <a:rPr lang="en-US" sz="1200" dirty="0"/>
                  <a:t>A</a:t>
                </a:r>
              </a:p>
            </p:txBody>
          </p:sp>
        </p:grpSp>
        <p:grpSp>
          <p:nvGrpSpPr>
            <p:cNvPr id="27" name="Group 26"/>
            <p:cNvGrpSpPr/>
            <p:nvPr/>
          </p:nvGrpSpPr>
          <p:grpSpPr>
            <a:xfrm>
              <a:off x="523134" y="1848864"/>
              <a:ext cx="334305" cy="787093"/>
              <a:chOff x="523134" y="1848864"/>
              <a:chExt cx="334305" cy="787093"/>
            </a:xfrm>
          </p:grpSpPr>
          <p:cxnSp>
            <p:nvCxnSpPr>
              <p:cNvPr id="6" name="Curved Connector 5"/>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p:cNvSpPr txBox="1"/>
              <p:nvPr/>
            </p:nvSpPr>
            <p:spPr>
              <a:xfrm>
                <a:off x="523134" y="2178352"/>
                <a:ext cx="295301" cy="276999"/>
              </a:xfrm>
              <a:prstGeom prst="rect">
                <a:avLst/>
              </a:prstGeom>
              <a:noFill/>
            </p:spPr>
            <p:txBody>
              <a:bodyPr wrap="square" rtlCol="0">
                <a:spAutoFit/>
              </a:bodyPr>
              <a:lstStyle/>
              <a:p>
                <a:r>
                  <a:rPr lang="en-US" sz="1200" dirty="0"/>
                  <a:t>B</a:t>
                </a:r>
              </a:p>
            </p:txBody>
          </p:sp>
        </p:grpSp>
        <p:grpSp>
          <p:nvGrpSpPr>
            <p:cNvPr id="47" name="Group 46"/>
            <p:cNvGrpSpPr/>
            <p:nvPr/>
          </p:nvGrpSpPr>
          <p:grpSpPr>
            <a:xfrm>
              <a:off x="913909" y="1845077"/>
              <a:ext cx="311767" cy="787093"/>
              <a:chOff x="939567" y="1857905"/>
              <a:chExt cx="311767" cy="787093"/>
            </a:xfrm>
          </p:grpSpPr>
          <p:grpSp>
            <p:nvGrpSpPr>
              <p:cNvPr id="24" name="Group 23"/>
              <p:cNvGrpSpPr/>
              <p:nvPr/>
            </p:nvGrpSpPr>
            <p:grpSpPr>
              <a:xfrm>
                <a:off x="939567" y="1857905"/>
                <a:ext cx="45719" cy="787093"/>
                <a:chOff x="952396" y="1857905"/>
                <a:chExt cx="45719" cy="787093"/>
              </a:xfrm>
            </p:grpSpPr>
            <p:cxnSp>
              <p:nvCxnSpPr>
                <p:cNvPr id="12" name="Curved Connector 11"/>
                <p:cNvCxnSpPr/>
                <p:nvPr/>
              </p:nvCxnSpPr>
              <p:spPr>
                <a:xfrm rot="5400000">
                  <a:off x="581590" y="2245102"/>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52396" y="2302746"/>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TextBox 20"/>
              <p:cNvSpPr txBox="1"/>
              <p:nvPr/>
            </p:nvSpPr>
            <p:spPr>
              <a:xfrm>
                <a:off x="956033" y="2200496"/>
                <a:ext cx="295301" cy="276999"/>
              </a:xfrm>
              <a:prstGeom prst="rect">
                <a:avLst/>
              </a:prstGeom>
              <a:noFill/>
            </p:spPr>
            <p:txBody>
              <a:bodyPr wrap="square" rtlCol="0">
                <a:spAutoFit/>
              </a:bodyPr>
              <a:lstStyle/>
              <a:p>
                <a:r>
                  <a:rPr lang="en-US" sz="1200" dirty="0"/>
                  <a:t>b</a:t>
                </a:r>
              </a:p>
            </p:txBody>
          </p:sp>
        </p:grpSp>
        <p:sp>
          <p:nvSpPr>
            <p:cNvPr id="25" name="TextBox 24"/>
            <p:cNvSpPr txBox="1"/>
            <p:nvPr/>
          </p:nvSpPr>
          <p:spPr>
            <a:xfrm>
              <a:off x="676704" y="1498124"/>
              <a:ext cx="969653" cy="276999"/>
            </a:xfrm>
            <a:prstGeom prst="rect">
              <a:avLst/>
            </a:prstGeom>
            <a:noFill/>
          </p:spPr>
          <p:txBody>
            <a:bodyPr wrap="square" rtlCol="0">
              <a:spAutoFit/>
            </a:bodyPr>
            <a:lstStyle/>
            <a:p>
              <a:r>
                <a:rPr lang="en-US" sz="1200" dirty="0" err="1"/>
                <a:t>Chr</a:t>
              </a:r>
              <a:r>
                <a:rPr lang="en-US" sz="1200" dirty="0"/>
                <a:t> 1</a:t>
              </a:r>
            </a:p>
          </p:txBody>
        </p:sp>
        <p:sp>
          <p:nvSpPr>
            <p:cNvPr id="26" name="TextBox 25"/>
            <p:cNvSpPr txBox="1"/>
            <p:nvPr/>
          </p:nvSpPr>
          <p:spPr>
            <a:xfrm>
              <a:off x="1278119" y="1522244"/>
              <a:ext cx="969653" cy="276999"/>
            </a:xfrm>
            <a:prstGeom prst="rect">
              <a:avLst/>
            </a:prstGeom>
            <a:noFill/>
          </p:spPr>
          <p:txBody>
            <a:bodyPr wrap="square" rtlCol="0">
              <a:spAutoFit/>
            </a:bodyPr>
            <a:lstStyle/>
            <a:p>
              <a:r>
                <a:rPr lang="en-US" sz="1200" dirty="0" err="1"/>
                <a:t>Chr</a:t>
              </a:r>
              <a:r>
                <a:rPr lang="en-US" sz="1200" dirty="0"/>
                <a:t> 2</a:t>
              </a:r>
            </a:p>
          </p:txBody>
        </p:sp>
        <p:sp>
          <p:nvSpPr>
            <p:cNvPr id="80" name="Rectangle 79"/>
            <p:cNvSpPr/>
            <p:nvPr/>
          </p:nvSpPr>
          <p:spPr>
            <a:xfrm>
              <a:off x="218096" y="1498124"/>
              <a:ext cx="2029676" cy="18114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8" name="Group 87"/>
          <p:cNvGrpSpPr/>
          <p:nvPr/>
        </p:nvGrpSpPr>
        <p:grpSpPr>
          <a:xfrm>
            <a:off x="546071" y="4270314"/>
            <a:ext cx="1038855" cy="1629115"/>
            <a:chOff x="846973" y="3437818"/>
            <a:chExt cx="1038855" cy="1629115"/>
          </a:xfrm>
        </p:grpSpPr>
        <p:grpSp>
          <p:nvGrpSpPr>
            <p:cNvPr id="29" name="Group 28"/>
            <p:cNvGrpSpPr/>
            <p:nvPr/>
          </p:nvGrpSpPr>
          <p:grpSpPr>
            <a:xfrm>
              <a:off x="1576470" y="3684327"/>
              <a:ext cx="309358" cy="1263030"/>
              <a:chOff x="1603676" y="1864287"/>
              <a:chExt cx="309358" cy="1263030"/>
            </a:xfrm>
          </p:grpSpPr>
          <p:cxnSp>
            <p:nvCxnSpPr>
              <p:cNvPr id="30" name="Curved Connector 29"/>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32" name="TextBox 31"/>
              <p:cNvSpPr txBox="1"/>
              <p:nvPr/>
            </p:nvSpPr>
            <p:spPr>
              <a:xfrm>
                <a:off x="1617733" y="1999250"/>
                <a:ext cx="295301" cy="276999"/>
              </a:xfrm>
              <a:prstGeom prst="rect">
                <a:avLst/>
              </a:prstGeom>
              <a:noFill/>
            </p:spPr>
            <p:txBody>
              <a:bodyPr wrap="square" rtlCol="0">
                <a:spAutoFit/>
              </a:bodyPr>
              <a:lstStyle/>
              <a:p>
                <a:pPr algn="dist"/>
                <a:r>
                  <a:rPr lang="en-US" sz="1200" dirty="0"/>
                  <a:t>A</a:t>
                </a:r>
              </a:p>
            </p:txBody>
          </p:sp>
        </p:grpSp>
        <p:grpSp>
          <p:nvGrpSpPr>
            <p:cNvPr id="48" name="Group 47"/>
            <p:cNvGrpSpPr/>
            <p:nvPr/>
          </p:nvGrpSpPr>
          <p:grpSpPr>
            <a:xfrm>
              <a:off x="1336097" y="4151694"/>
              <a:ext cx="311767" cy="787093"/>
              <a:chOff x="939567" y="1857905"/>
              <a:chExt cx="311767" cy="787093"/>
            </a:xfrm>
          </p:grpSpPr>
          <p:grpSp>
            <p:nvGrpSpPr>
              <p:cNvPr id="49" name="Group 48"/>
              <p:cNvGrpSpPr/>
              <p:nvPr/>
            </p:nvGrpSpPr>
            <p:grpSpPr>
              <a:xfrm>
                <a:off x="939567" y="1857905"/>
                <a:ext cx="45719" cy="787093"/>
                <a:chOff x="952396" y="1857905"/>
                <a:chExt cx="45719" cy="787093"/>
              </a:xfrm>
            </p:grpSpPr>
            <p:cxnSp>
              <p:nvCxnSpPr>
                <p:cNvPr id="51" name="Curved Connector 50"/>
                <p:cNvCxnSpPr/>
                <p:nvPr/>
              </p:nvCxnSpPr>
              <p:spPr>
                <a:xfrm rot="5400000">
                  <a:off x="581590" y="2245102"/>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52396" y="2302746"/>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50" name="TextBox 49"/>
              <p:cNvSpPr txBox="1"/>
              <p:nvPr/>
            </p:nvSpPr>
            <p:spPr>
              <a:xfrm>
                <a:off x="956033" y="2200496"/>
                <a:ext cx="295301" cy="276999"/>
              </a:xfrm>
              <a:prstGeom prst="rect">
                <a:avLst/>
              </a:prstGeom>
              <a:noFill/>
            </p:spPr>
            <p:txBody>
              <a:bodyPr wrap="square" rtlCol="0">
                <a:spAutoFit/>
              </a:bodyPr>
              <a:lstStyle/>
              <a:p>
                <a:pPr algn="dist"/>
                <a:r>
                  <a:rPr lang="en-US" sz="1200" dirty="0"/>
                  <a:t>b</a:t>
                </a:r>
              </a:p>
            </p:txBody>
          </p:sp>
        </p:grpSp>
        <p:sp>
          <p:nvSpPr>
            <p:cNvPr id="81" name="Rectangle 80"/>
            <p:cNvSpPr/>
            <p:nvPr/>
          </p:nvSpPr>
          <p:spPr>
            <a:xfrm>
              <a:off x="846973" y="3437818"/>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grpSp>
        <p:nvGrpSpPr>
          <p:cNvPr id="85" name="Group 84"/>
          <p:cNvGrpSpPr/>
          <p:nvPr/>
        </p:nvGrpSpPr>
        <p:grpSpPr>
          <a:xfrm>
            <a:off x="7440774" y="4270314"/>
            <a:ext cx="936283" cy="1629115"/>
            <a:chOff x="1897403" y="3436282"/>
            <a:chExt cx="936283" cy="1629115"/>
          </a:xfrm>
        </p:grpSpPr>
        <p:grpSp>
          <p:nvGrpSpPr>
            <p:cNvPr id="58" name="Group 57"/>
            <p:cNvGrpSpPr/>
            <p:nvPr/>
          </p:nvGrpSpPr>
          <p:grpSpPr>
            <a:xfrm>
              <a:off x="2464706" y="3702631"/>
              <a:ext cx="309358" cy="1263030"/>
              <a:chOff x="1603676" y="1864287"/>
              <a:chExt cx="309358" cy="1263030"/>
            </a:xfrm>
          </p:grpSpPr>
          <p:cxnSp>
            <p:nvCxnSpPr>
              <p:cNvPr id="59" name="Curved Connector 58"/>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61" name="TextBox 60"/>
              <p:cNvSpPr txBox="1"/>
              <p:nvPr/>
            </p:nvSpPr>
            <p:spPr>
              <a:xfrm>
                <a:off x="1617733" y="1999250"/>
                <a:ext cx="295301" cy="276999"/>
              </a:xfrm>
              <a:prstGeom prst="rect">
                <a:avLst/>
              </a:prstGeom>
              <a:noFill/>
            </p:spPr>
            <p:txBody>
              <a:bodyPr wrap="square" rtlCol="0">
                <a:spAutoFit/>
              </a:bodyPr>
              <a:lstStyle/>
              <a:p>
                <a:pPr algn="dist"/>
                <a:r>
                  <a:rPr lang="en-US" sz="1200" dirty="0"/>
                  <a:t>A</a:t>
                </a:r>
              </a:p>
            </p:txBody>
          </p:sp>
        </p:grpSp>
        <p:grpSp>
          <p:nvGrpSpPr>
            <p:cNvPr id="76" name="Group 75"/>
            <p:cNvGrpSpPr/>
            <p:nvPr/>
          </p:nvGrpSpPr>
          <p:grpSpPr>
            <a:xfrm>
              <a:off x="2001689" y="4177332"/>
              <a:ext cx="334305" cy="787093"/>
              <a:chOff x="523134" y="1848864"/>
              <a:chExt cx="334305" cy="787093"/>
            </a:xfrm>
          </p:grpSpPr>
          <p:cxnSp>
            <p:nvCxnSpPr>
              <p:cNvPr id="77" name="Curved Connector 76"/>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79" name="TextBox 78"/>
              <p:cNvSpPr txBox="1"/>
              <p:nvPr/>
            </p:nvSpPr>
            <p:spPr>
              <a:xfrm>
                <a:off x="523134" y="2178352"/>
                <a:ext cx="295301" cy="276999"/>
              </a:xfrm>
              <a:prstGeom prst="rect">
                <a:avLst/>
              </a:prstGeom>
              <a:noFill/>
            </p:spPr>
            <p:txBody>
              <a:bodyPr wrap="square" rtlCol="0">
                <a:spAutoFit/>
              </a:bodyPr>
              <a:lstStyle/>
              <a:p>
                <a:pPr algn="dist"/>
                <a:r>
                  <a:rPr lang="en-US" sz="1200" dirty="0"/>
                  <a:t>B</a:t>
                </a:r>
              </a:p>
            </p:txBody>
          </p:sp>
        </p:grpSp>
        <p:sp>
          <p:nvSpPr>
            <p:cNvPr id="82" name="Rectangle 81"/>
            <p:cNvSpPr/>
            <p:nvPr/>
          </p:nvSpPr>
          <p:spPr>
            <a:xfrm>
              <a:off x="1897403" y="3436282"/>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grpSp>
        <p:nvGrpSpPr>
          <p:cNvPr id="87" name="Group 86"/>
          <p:cNvGrpSpPr/>
          <p:nvPr/>
        </p:nvGrpSpPr>
        <p:grpSpPr>
          <a:xfrm>
            <a:off x="2960531" y="4270314"/>
            <a:ext cx="936283" cy="1629115"/>
            <a:chOff x="843877" y="5183743"/>
            <a:chExt cx="936283" cy="1629115"/>
          </a:xfrm>
        </p:grpSpPr>
        <p:grpSp>
          <p:nvGrpSpPr>
            <p:cNvPr id="42" name="Group 41"/>
            <p:cNvGrpSpPr/>
            <p:nvPr/>
          </p:nvGrpSpPr>
          <p:grpSpPr>
            <a:xfrm>
              <a:off x="1308375" y="5490010"/>
              <a:ext cx="295301" cy="1263030"/>
              <a:chOff x="1196680" y="1867456"/>
              <a:chExt cx="295301" cy="1263030"/>
            </a:xfrm>
          </p:grpSpPr>
          <p:grpSp>
            <p:nvGrpSpPr>
              <p:cNvPr id="43" name="Group 42"/>
              <p:cNvGrpSpPr/>
              <p:nvPr/>
            </p:nvGrpSpPr>
            <p:grpSpPr>
              <a:xfrm>
                <a:off x="1426853" y="1867456"/>
                <a:ext cx="45719" cy="1263030"/>
                <a:chOff x="1426853" y="1867456"/>
                <a:chExt cx="45719" cy="1263030"/>
              </a:xfrm>
            </p:grpSpPr>
            <p:cxnSp>
              <p:nvCxnSpPr>
                <p:cNvPr id="45" name="Curved Connector 44"/>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44" name="TextBox 43"/>
              <p:cNvSpPr txBox="1"/>
              <p:nvPr/>
            </p:nvSpPr>
            <p:spPr>
              <a:xfrm>
                <a:off x="1196680" y="2001529"/>
                <a:ext cx="295301" cy="276999"/>
              </a:xfrm>
              <a:prstGeom prst="rect">
                <a:avLst/>
              </a:prstGeom>
              <a:noFill/>
            </p:spPr>
            <p:txBody>
              <a:bodyPr wrap="square" rtlCol="0">
                <a:spAutoFit/>
              </a:bodyPr>
              <a:lstStyle/>
              <a:p>
                <a:pPr algn="dist"/>
                <a:r>
                  <a:rPr lang="en-US" sz="1200" dirty="0"/>
                  <a:t>A</a:t>
                </a:r>
              </a:p>
            </p:txBody>
          </p:sp>
        </p:grpSp>
        <p:grpSp>
          <p:nvGrpSpPr>
            <p:cNvPr id="72" name="Group 71"/>
            <p:cNvGrpSpPr/>
            <p:nvPr/>
          </p:nvGrpSpPr>
          <p:grpSpPr>
            <a:xfrm>
              <a:off x="1079802" y="5849165"/>
              <a:ext cx="334305" cy="787093"/>
              <a:chOff x="523134" y="1848864"/>
              <a:chExt cx="334305" cy="787093"/>
            </a:xfrm>
          </p:grpSpPr>
          <p:cxnSp>
            <p:nvCxnSpPr>
              <p:cNvPr id="73" name="Curved Connector 72"/>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75" name="TextBox 74"/>
              <p:cNvSpPr txBox="1"/>
              <p:nvPr/>
            </p:nvSpPr>
            <p:spPr>
              <a:xfrm>
                <a:off x="523134" y="2178352"/>
                <a:ext cx="295301" cy="276999"/>
              </a:xfrm>
              <a:prstGeom prst="rect">
                <a:avLst/>
              </a:prstGeom>
              <a:noFill/>
            </p:spPr>
            <p:txBody>
              <a:bodyPr wrap="square" rtlCol="0">
                <a:spAutoFit/>
              </a:bodyPr>
              <a:lstStyle/>
              <a:p>
                <a:pPr algn="dist"/>
                <a:r>
                  <a:rPr lang="en-US" sz="1200" dirty="0"/>
                  <a:t>B</a:t>
                </a:r>
              </a:p>
            </p:txBody>
          </p:sp>
        </p:grpSp>
        <p:sp>
          <p:nvSpPr>
            <p:cNvPr id="84" name="Rectangle 83"/>
            <p:cNvSpPr/>
            <p:nvPr/>
          </p:nvSpPr>
          <p:spPr>
            <a:xfrm>
              <a:off x="843877" y="5183743"/>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cxnSp>
        <p:nvCxnSpPr>
          <p:cNvPr id="92" name="Straight Arrow Connector 91"/>
          <p:cNvCxnSpPr/>
          <p:nvPr/>
        </p:nvCxnSpPr>
        <p:spPr>
          <a:xfrm flipH="1">
            <a:off x="1402990" y="2735076"/>
            <a:ext cx="2549852" cy="1441813"/>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a:off x="3586789" y="2735076"/>
            <a:ext cx="522698" cy="1441813"/>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a:off x="4892909" y="2735076"/>
            <a:ext cx="652629" cy="134303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5397224" y="2735076"/>
            <a:ext cx="2099578" cy="1343035"/>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grpSp>
        <p:nvGrpSpPr>
          <p:cNvPr id="101" name="Group 100"/>
          <p:cNvGrpSpPr/>
          <p:nvPr/>
        </p:nvGrpSpPr>
        <p:grpSpPr>
          <a:xfrm>
            <a:off x="5136618" y="4270314"/>
            <a:ext cx="1199515" cy="1629115"/>
            <a:chOff x="5192646" y="4882837"/>
            <a:chExt cx="1199515" cy="1629115"/>
          </a:xfrm>
        </p:grpSpPr>
        <p:grpSp>
          <p:nvGrpSpPr>
            <p:cNvPr id="37" name="Group 36"/>
            <p:cNvGrpSpPr/>
            <p:nvPr/>
          </p:nvGrpSpPr>
          <p:grpSpPr>
            <a:xfrm>
              <a:off x="5619327" y="5142490"/>
              <a:ext cx="295301" cy="1263030"/>
              <a:chOff x="1196680" y="1867456"/>
              <a:chExt cx="295301" cy="1263030"/>
            </a:xfrm>
          </p:grpSpPr>
          <p:grpSp>
            <p:nvGrpSpPr>
              <p:cNvPr id="38" name="Group 37"/>
              <p:cNvGrpSpPr/>
              <p:nvPr/>
            </p:nvGrpSpPr>
            <p:grpSpPr>
              <a:xfrm>
                <a:off x="1426853" y="1867456"/>
                <a:ext cx="45719" cy="1263030"/>
                <a:chOff x="1426853" y="1867456"/>
                <a:chExt cx="45719" cy="1263030"/>
              </a:xfrm>
            </p:grpSpPr>
            <p:cxnSp>
              <p:nvCxnSpPr>
                <p:cNvPr id="40" name="Curved Connector 39"/>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grpSp>
          <p:sp>
            <p:nvSpPr>
              <p:cNvPr id="39" name="TextBox 38"/>
              <p:cNvSpPr txBox="1"/>
              <p:nvPr/>
            </p:nvSpPr>
            <p:spPr>
              <a:xfrm>
                <a:off x="1196680" y="2001529"/>
                <a:ext cx="295301" cy="276999"/>
              </a:xfrm>
              <a:prstGeom prst="rect">
                <a:avLst/>
              </a:prstGeom>
              <a:noFill/>
            </p:spPr>
            <p:txBody>
              <a:bodyPr wrap="square" rtlCol="0">
                <a:spAutoFit/>
              </a:bodyPr>
              <a:lstStyle/>
              <a:p>
                <a:pPr algn="dist"/>
                <a:r>
                  <a:rPr lang="en-US" sz="1200" dirty="0"/>
                  <a:t>A</a:t>
                </a:r>
              </a:p>
            </p:txBody>
          </p:sp>
        </p:grpSp>
        <p:cxnSp>
          <p:nvCxnSpPr>
            <p:cNvPr id="70" name="Curved Connector 69"/>
            <p:cNvCxnSpPr/>
            <p:nvPr/>
          </p:nvCxnSpPr>
          <p:spPr>
            <a:xfrm rot="5400000">
              <a:off x="5236668" y="6010074"/>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5607466" y="6067718"/>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69" name="TextBox 68"/>
            <p:cNvSpPr txBox="1"/>
            <p:nvPr/>
          </p:nvSpPr>
          <p:spPr>
            <a:xfrm>
              <a:off x="5393004" y="5945092"/>
              <a:ext cx="295301" cy="276999"/>
            </a:xfrm>
            <a:prstGeom prst="rect">
              <a:avLst/>
            </a:prstGeom>
            <a:noFill/>
          </p:spPr>
          <p:txBody>
            <a:bodyPr wrap="square" rtlCol="0">
              <a:spAutoFit/>
            </a:bodyPr>
            <a:lstStyle/>
            <a:p>
              <a:pPr algn="dist"/>
              <a:r>
                <a:rPr lang="en-US" sz="1200" dirty="0"/>
                <a:t>b</a:t>
              </a:r>
            </a:p>
          </p:txBody>
        </p:sp>
        <p:sp>
          <p:nvSpPr>
            <p:cNvPr id="83" name="Rectangle 82"/>
            <p:cNvSpPr/>
            <p:nvPr/>
          </p:nvSpPr>
          <p:spPr>
            <a:xfrm>
              <a:off x="5192646" y="4882837"/>
              <a:ext cx="936283" cy="162911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dist"/>
              <a:endParaRPr lang="en-US"/>
            </a:p>
          </p:txBody>
        </p:sp>
        <p:sp>
          <p:nvSpPr>
            <p:cNvPr id="100" name="TextBox 99"/>
            <p:cNvSpPr txBox="1"/>
            <p:nvPr/>
          </p:nvSpPr>
          <p:spPr>
            <a:xfrm>
              <a:off x="6207495" y="5963183"/>
              <a:ext cx="184666" cy="369332"/>
            </a:xfrm>
            <a:prstGeom prst="rect">
              <a:avLst/>
            </a:prstGeom>
            <a:noFill/>
          </p:spPr>
          <p:txBody>
            <a:bodyPr wrap="none" rtlCol="0">
              <a:spAutoFit/>
            </a:bodyPr>
            <a:lstStyle/>
            <a:p>
              <a:endParaRPr lang="en-US" dirty="0"/>
            </a:p>
          </p:txBody>
        </p:sp>
      </p:grpSp>
      <p:sp>
        <p:nvSpPr>
          <p:cNvPr id="102" name="TextBox 101"/>
          <p:cNvSpPr txBox="1"/>
          <p:nvPr/>
        </p:nvSpPr>
        <p:spPr>
          <a:xfrm>
            <a:off x="437860" y="5899429"/>
            <a:ext cx="1848555" cy="369332"/>
          </a:xfrm>
          <a:prstGeom prst="rect">
            <a:avLst/>
          </a:prstGeom>
          <a:noFill/>
        </p:spPr>
        <p:txBody>
          <a:bodyPr wrap="square" rtlCol="0">
            <a:spAutoFit/>
          </a:bodyPr>
          <a:lstStyle/>
          <a:p>
            <a:r>
              <a:rPr lang="en-US" dirty="0"/>
              <a:t>GAMETE 1</a:t>
            </a:r>
          </a:p>
        </p:txBody>
      </p:sp>
      <p:sp>
        <p:nvSpPr>
          <p:cNvPr id="103" name="TextBox 102"/>
          <p:cNvSpPr txBox="1"/>
          <p:nvPr/>
        </p:nvSpPr>
        <p:spPr>
          <a:xfrm>
            <a:off x="2932686" y="5924830"/>
            <a:ext cx="1848555" cy="369332"/>
          </a:xfrm>
          <a:prstGeom prst="rect">
            <a:avLst/>
          </a:prstGeom>
          <a:noFill/>
        </p:spPr>
        <p:txBody>
          <a:bodyPr wrap="square" rtlCol="0">
            <a:spAutoFit/>
          </a:bodyPr>
          <a:lstStyle/>
          <a:p>
            <a:r>
              <a:rPr lang="en-US" dirty="0"/>
              <a:t>GAMETE 2</a:t>
            </a:r>
          </a:p>
        </p:txBody>
      </p:sp>
      <p:sp>
        <p:nvSpPr>
          <p:cNvPr id="104" name="TextBox 103"/>
          <p:cNvSpPr txBox="1"/>
          <p:nvPr/>
        </p:nvSpPr>
        <p:spPr>
          <a:xfrm>
            <a:off x="5060626" y="5950231"/>
            <a:ext cx="1848555" cy="369332"/>
          </a:xfrm>
          <a:prstGeom prst="rect">
            <a:avLst/>
          </a:prstGeom>
          <a:noFill/>
        </p:spPr>
        <p:txBody>
          <a:bodyPr wrap="square" rtlCol="0">
            <a:spAutoFit/>
          </a:bodyPr>
          <a:lstStyle/>
          <a:p>
            <a:r>
              <a:rPr lang="en-US" dirty="0"/>
              <a:t>GAMETE 3</a:t>
            </a:r>
          </a:p>
        </p:txBody>
      </p:sp>
      <p:sp>
        <p:nvSpPr>
          <p:cNvPr id="105" name="TextBox 104"/>
          <p:cNvSpPr txBox="1"/>
          <p:nvPr/>
        </p:nvSpPr>
        <p:spPr>
          <a:xfrm>
            <a:off x="7400231" y="5947410"/>
            <a:ext cx="1848555" cy="369332"/>
          </a:xfrm>
          <a:prstGeom prst="rect">
            <a:avLst/>
          </a:prstGeom>
          <a:noFill/>
        </p:spPr>
        <p:txBody>
          <a:bodyPr wrap="square" rtlCol="0">
            <a:spAutoFit/>
          </a:bodyPr>
          <a:lstStyle/>
          <a:p>
            <a:r>
              <a:rPr lang="en-US" dirty="0"/>
              <a:t>GAMETE 4</a:t>
            </a:r>
          </a:p>
        </p:txBody>
      </p:sp>
      <p:sp>
        <p:nvSpPr>
          <p:cNvPr id="106" name="TextBox 105"/>
          <p:cNvSpPr txBox="1"/>
          <p:nvPr/>
        </p:nvSpPr>
        <p:spPr>
          <a:xfrm>
            <a:off x="4352785" y="2706854"/>
            <a:ext cx="722657" cy="369332"/>
          </a:xfrm>
          <a:prstGeom prst="rect">
            <a:avLst/>
          </a:prstGeom>
          <a:noFill/>
        </p:spPr>
        <p:txBody>
          <a:bodyPr wrap="square" rtlCol="0">
            <a:spAutoFit/>
          </a:bodyPr>
          <a:lstStyle/>
          <a:p>
            <a:r>
              <a:rPr lang="en-US" dirty="0"/>
              <a:t>2N</a:t>
            </a:r>
          </a:p>
        </p:txBody>
      </p:sp>
      <p:sp>
        <p:nvSpPr>
          <p:cNvPr id="107" name="TextBox 106"/>
          <p:cNvSpPr txBox="1"/>
          <p:nvPr/>
        </p:nvSpPr>
        <p:spPr>
          <a:xfrm>
            <a:off x="878247" y="3909789"/>
            <a:ext cx="722657" cy="369332"/>
          </a:xfrm>
          <a:prstGeom prst="rect">
            <a:avLst/>
          </a:prstGeom>
          <a:noFill/>
        </p:spPr>
        <p:txBody>
          <a:bodyPr wrap="square" rtlCol="0">
            <a:spAutoFit/>
          </a:bodyPr>
          <a:lstStyle/>
          <a:p>
            <a:r>
              <a:rPr lang="en-US" dirty="0"/>
              <a:t>N</a:t>
            </a:r>
          </a:p>
        </p:txBody>
      </p:sp>
      <p:sp>
        <p:nvSpPr>
          <p:cNvPr id="108" name="TextBox 107"/>
          <p:cNvSpPr txBox="1"/>
          <p:nvPr/>
        </p:nvSpPr>
        <p:spPr>
          <a:xfrm>
            <a:off x="3117347" y="3902865"/>
            <a:ext cx="722657" cy="369332"/>
          </a:xfrm>
          <a:prstGeom prst="rect">
            <a:avLst/>
          </a:prstGeom>
          <a:noFill/>
        </p:spPr>
        <p:txBody>
          <a:bodyPr wrap="square" rtlCol="0">
            <a:spAutoFit/>
          </a:bodyPr>
          <a:lstStyle/>
          <a:p>
            <a:r>
              <a:rPr lang="en-US" dirty="0"/>
              <a:t>N</a:t>
            </a:r>
          </a:p>
        </p:txBody>
      </p:sp>
      <p:sp>
        <p:nvSpPr>
          <p:cNvPr id="109" name="TextBox 108"/>
          <p:cNvSpPr txBox="1"/>
          <p:nvPr/>
        </p:nvSpPr>
        <p:spPr>
          <a:xfrm>
            <a:off x="5215337" y="3924163"/>
            <a:ext cx="722657" cy="369332"/>
          </a:xfrm>
          <a:prstGeom prst="rect">
            <a:avLst/>
          </a:prstGeom>
          <a:noFill/>
        </p:spPr>
        <p:txBody>
          <a:bodyPr wrap="square" rtlCol="0">
            <a:spAutoFit/>
          </a:bodyPr>
          <a:lstStyle/>
          <a:p>
            <a:r>
              <a:rPr lang="en-US" dirty="0"/>
              <a:t>N</a:t>
            </a:r>
          </a:p>
        </p:txBody>
      </p:sp>
      <p:sp>
        <p:nvSpPr>
          <p:cNvPr id="110" name="TextBox 109"/>
          <p:cNvSpPr txBox="1"/>
          <p:nvPr/>
        </p:nvSpPr>
        <p:spPr>
          <a:xfrm>
            <a:off x="7750768" y="3945461"/>
            <a:ext cx="722657" cy="369332"/>
          </a:xfrm>
          <a:prstGeom prst="rect">
            <a:avLst/>
          </a:prstGeom>
          <a:noFill/>
        </p:spPr>
        <p:txBody>
          <a:bodyPr wrap="square" rtlCol="0">
            <a:spAutoFit/>
          </a:bodyPr>
          <a:lstStyle/>
          <a:p>
            <a:r>
              <a:rPr lang="en-US" dirty="0"/>
              <a:t>N</a:t>
            </a:r>
          </a:p>
        </p:txBody>
      </p:sp>
      <p:sp>
        <p:nvSpPr>
          <p:cNvPr id="116" name="TextBox 115"/>
          <p:cNvSpPr txBox="1"/>
          <p:nvPr/>
        </p:nvSpPr>
        <p:spPr>
          <a:xfrm>
            <a:off x="5597157" y="1880885"/>
            <a:ext cx="1947903" cy="369332"/>
          </a:xfrm>
          <a:prstGeom prst="rect">
            <a:avLst/>
          </a:prstGeom>
          <a:noFill/>
        </p:spPr>
        <p:txBody>
          <a:bodyPr wrap="square" rtlCol="0">
            <a:spAutoFit/>
          </a:bodyPr>
          <a:lstStyle/>
          <a:p>
            <a:r>
              <a:rPr lang="en-US" dirty="0" err="1"/>
              <a:t>BbAA</a:t>
            </a:r>
            <a:r>
              <a:rPr lang="en-US" dirty="0"/>
              <a:t>- genotype</a:t>
            </a:r>
          </a:p>
        </p:txBody>
      </p:sp>
      <p:sp>
        <p:nvSpPr>
          <p:cNvPr id="117" name="TextBox 116"/>
          <p:cNvSpPr txBox="1"/>
          <p:nvPr/>
        </p:nvSpPr>
        <p:spPr>
          <a:xfrm>
            <a:off x="341383" y="6291854"/>
            <a:ext cx="1947903" cy="369332"/>
          </a:xfrm>
          <a:prstGeom prst="rect">
            <a:avLst/>
          </a:prstGeom>
          <a:noFill/>
        </p:spPr>
        <p:txBody>
          <a:bodyPr wrap="square" rtlCol="0">
            <a:spAutoFit/>
          </a:bodyPr>
          <a:lstStyle/>
          <a:p>
            <a:r>
              <a:rPr lang="en-US" dirty="0" err="1"/>
              <a:t>bA</a:t>
            </a:r>
            <a:r>
              <a:rPr lang="en-US" dirty="0"/>
              <a:t>- genotype</a:t>
            </a:r>
          </a:p>
        </p:txBody>
      </p:sp>
      <p:sp>
        <p:nvSpPr>
          <p:cNvPr id="118" name="TextBox 117"/>
          <p:cNvSpPr txBox="1"/>
          <p:nvPr/>
        </p:nvSpPr>
        <p:spPr>
          <a:xfrm>
            <a:off x="2517805" y="6294162"/>
            <a:ext cx="1947903" cy="369332"/>
          </a:xfrm>
          <a:prstGeom prst="rect">
            <a:avLst/>
          </a:prstGeom>
          <a:noFill/>
        </p:spPr>
        <p:txBody>
          <a:bodyPr wrap="square" rtlCol="0">
            <a:spAutoFit/>
          </a:bodyPr>
          <a:lstStyle/>
          <a:p>
            <a:r>
              <a:rPr lang="en-US" dirty="0"/>
              <a:t>BA- genotype</a:t>
            </a:r>
          </a:p>
        </p:txBody>
      </p:sp>
      <p:sp>
        <p:nvSpPr>
          <p:cNvPr id="119" name="TextBox 118"/>
          <p:cNvSpPr txBox="1"/>
          <p:nvPr/>
        </p:nvSpPr>
        <p:spPr>
          <a:xfrm>
            <a:off x="4843635" y="6296470"/>
            <a:ext cx="1947903" cy="369332"/>
          </a:xfrm>
          <a:prstGeom prst="rect">
            <a:avLst/>
          </a:prstGeom>
          <a:noFill/>
        </p:spPr>
        <p:txBody>
          <a:bodyPr wrap="square" rtlCol="0">
            <a:spAutoFit/>
          </a:bodyPr>
          <a:lstStyle/>
          <a:p>
            <a:r>
              <a:rPr lang="en-US" dirty="0" err="1"/>
              <a:t>bA</a:t>
            </a:r>
            <a:r>
              <a:rPr lang="en-US" dirty="0"/>
              <a:t>- genotype</a:t>
            </a:r>
          </a:p>
        </p:txBody>
      </p:sp>
      <p:sp>
        <p:nvSpPr>
          <p:cNvPr id="120" name="TextBox 119"/>
          <p:cNvSpPr txBox="1"/>
          <p:nvPr/>
        </p:nvSpPr>
        <p:spPr>
          <a:xfrm>
            <a:off x="7225493" y="6261430"/>
            <a:ext cx="1947903" cy="369332"/>
          </a:xfrm>
          <a:prstGeom prst="rect">
            <a:avLst/>
          </a:prstGeom>
          <a:noFill/>
        </p:spPr>
        <p:txBody>
          <a:bodyPr wrap="square" rtlCol="0">
            <a:spAutoFit/>
          </a:bodyPr>
          <a:lstStyle/>
          <a:p>
            <a:r>
              <a:rPr lang="en-US" dirty="0"/>
              <a:t>BA- genotype</a:t>
            </a:r>
          </a:p>
        </p:txBody>
      </p:sp>
    </p:spTree>
    <p:extLst>
      <p:ext uri="{BB962C8B-B14F-4D97-AF65-F5344CB8AC3E}">
        <p14:creationId xmlns:p14="http://schemas.microsoft.com/office/powerpoint/2010/main" val="1756944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7366"/>
            <a:ext cx="8229600" cy="1143000"/>
          </a:xfrm>
        </p:spPr>
        <p:txBody>
          <a:bodyPr/>
          <a:lstStyle/>
          <a:p>
            <a:r>
              <a:rPr lang="en-US" dirty="0" err="1"/>
              <a:t>Punnett</a:t>
            </a:r>
            <a:r>
              <a:rPr lang="en-US" dirty="0"/>
              <a:t> Square</a:t>
            </a:r>
          </a:p>
        </p:txBody>
      </p:sp>
      <p:grpSp>
        <p:nvGrpSpPr>
          <p:cNvPr id="49" name="Group 48"/>
          <p:cNvGrpSpPr/>
          <p:nvPr/>
        </p:nvGrpSpPr>
        <p:grpSpPr>
          <a:xfrm>
            <a:off x="986118" y="1090489"/>
            <a:ext cx="6654803" cy="4159627"/>
            <a:chOff x="986118" y="1628589"/>
            <a:chExt cx="6654803" cy="4159627"/>
          </a:xfrm>
        </p:grpSpPr>
        <p:sp>
          <p:nvSpPr>
            <p:cNvPr id="4" name="Rectangle 3"/>
            <p:cNvSpPr/>
            <p:nvPr/>
          </p:nvSpPr>
          <p:spPr>
            <a:xfrm>
              <a:off x="986118" y="1628589"/>
              <a:ext cx="6618941" cy="412376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2241176" y="1628589"/>
              <a:ext cx="29883" cy="4123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3603797" y="1661461"/>
              <a:ext cx="29883" cy="4123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4966418" y="1664451"/>
              <a:ext cx="29883" cy="4123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6329039" y="1637559"/>
              <a:ext cx="29883" cy="412376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986118" y="2151529"/>
              <a:ext cx="6618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1018990" y="3036038"/>
              <a:ext cx="6618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1021980" y="3935488"/>
              <a:ext cx="6618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1010029" y="4879761"/>
              <a:ext cx="6618941"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389531" y="2405533"/>
              <a:ext cx="439506" cy="369332"/>
            </a:xfrm>
            <a:prstGeom prst="rect">
              <a:avLst/>
            </a:prstGeom>
            <a:noFill/>
          </p:spPr>
          <p:txBody>
            <a:bodyPr wrap="none" rtlCol="0">
              <a:spAutoFit/>
            </a:bodyPr>
            <a:lstStyle/>
            <a:p>
              <a:r>
                <a:rPr lang="en-US" dirty="0" err="1"/>
                <a:t>bA</a:t>
              </a:r>
              <a:endParaRPr lang="en-US" dirty="0"/>
            </a:p>
          </p:txBody>
        </p:sp>
        <p:sp>
          <p:nvSpPr>
            <p:cNvPr id="17" name="TextBox 16"/>
            <p:cNvSpPr txBox="1"/>
            <p:nvPr/>
          </p:nvSpPr>
          <p:spPr>
            <a:xfrm>
              <a:off x="1392521" y="4216384"/>
              <a:ext cx="439506" cy="369332"/>
            </a:xfrm>
            <a:prstGeom prst="rect">
              <a:avLst/>
            </a:prstGeom>
            <a:noFill/>
          </p:spPr>
          <p:txBody>
            <a:bodyPr wrap="none" rtlCol="0">
              <a:spAutoFit/>
            </a:bodyPr>
            <a:lstStyle/>
            <a:p>
              <a:r>
                <a:rPr lang="en-US" dirty="0" err="1"/>
                <a:t>bA</a:t>
              </a:r>
              <a:endParaRPr lang="en-US" dirty="0"/>
            </a:p>
          </p:txBody>
        </p:sp>
        <p:sp>
          <p:nvSpPr>
            <p:cNvPr id="18" name="TextBox 17"/>
            <p:cNvSpPr txBox="1"/>
            <p:nvPr/>
          </p:nvSpPr>
          <p:spPr>
            <a:xfrm>
              <a:off x="1395511" y="5130775"/>
              <a:ext cx="439506" cy="369332"/>
            </a:xfrm>
            <a:prstGeom prst="rect">
              <a:avLst/>
            </a:prstGeom>
            <a:noFill/>
          </p:spPr>
          <p:txBody>
            <a:bodyPr wrap="none" rtlCol="0">
              <a:spAutoFit/>
            </a:bodyPr>
            <a:lstStyle/>
            <a:p>
              <a:r>
                <a:rPr lang="en-US" dirty="0"/>
                <a:t>BA</a:t>
              </a:r>
            </a:p>
          </p:txBody>
        </p:sp>
        <p:sp>
          <p:nvSpPr>
            <p:cNvPr id="19" name="TextBox 18"/>
            <p:cNvSpPr txBox="1"/>
            <p:nvPr/>
          </p:nvSpPr>
          <p:spPr>
            <a:xfrm>
              <a:off x="1368619" y="3296022"/>
              <a:ext cx="439506" cy="369332"/>
            </a:xfrm>
            <a:prstGeom prst="rect">
              <a:avLst/>
            </a:prstGeom>
            <a:noFill/>
          </p:spPr>
          <p:txBody>
            <a:bodyPr wrap="none" rtlCol="0">
              <a:spAutoFit/>
            </a:bodyPr>
            <a:lstStyle/>
            <a:p>
              <a:r>
                <a:rPr lang="en-US" dirty="0"/>
                <a:t>BA</a:t>
              </a:r>
            </a:p>
          </p:txBody>
        </p:sp>
        <p:sp>
          <p:nvSpPr>
            <p:cNvPr id="20" name="TextBox 19"/>
            <p:cNvSpPr txBox="1"/>
            <p:nvPr/>
          </p:nvSpPr>
          <p:spPr>
            <a:xfrm>
              <a:off x="2689412" y="1643532"/>
              <a:ext cx="416513" cy="369332"/>
            </a:xfrm>
            <a:prstGeom prst="rect">
              <a:avLst/>
            </a:prstGeom>
            <a:noFill/>
          </p:spPr>
          <p:txBody>
            <a:bodyPr wrap="none" rtlCol="0">
              <a:spAutoFit/>
            </a:bodyPr>
            <a:lstStyle/>
            <a:p>
              <a:r>
                <a:rPr lang="en-US" dirty="0" err="1"/>
                <a:t>ba</a:t>
              </a:r>
              <a:endParaRPr lang="en-US" dirty="0"/>
            </a:p>
          </p:txBody>
        </p:sp>
        <p:sp>
          <p:nvSpPr>
            <p:cNvPr id="21" name="TextBox 20"/>
            <p:cNvSpPr txBox="1"/>
            <p:nvPr/>
          </p:nvSpPr>
          <p:spPr>
            <a:xfrm>
              <a:off x="3977328" y="1676404"/>
              <a:ext cx="443789" cy="369332"/>
            </a:xfrm>
            <a:prstGeom prst="rect">
              <a:avLst/>
            </a:prstGeom>
            <a:noFill/>
          </p:spPr>
          <p:txBody>
            <a:bodyPr wrap="none" rtlCol="0">
              <a:spAutoFit/>
            </a:bodyPr>
            <a:lstStyle/>
            <a:p>
              <a:r>
                <a:rPr lang="en-US" dirty="0"/>
                <a:t>BA</a:t>
              </a:r>
            </a:p>
          </p:txBody>
        </p:sp>
        <p:sp>
          <p:nvSpPr>
            <p:cNvPr id="22" name="TextBox 21"/>
            <p:cNvSpPr txBox="1"/>
            <p:nvPr/>
          </p:nvSpPr>
          <p:spPr>
            <a:xfrm>
              <a:off x="5339949" y="1694335"/>
              <a:ext cx="439506" cy="369332"/>
            </a:xfrm>
            <a:prstGeom prst="rect">
              <a:avLst/>
            </a:prstGeom>
            <a:noFill/>
          </p:spPr>
          <p:txBody>
            <a:bodyPr wrap="none" rtlCol="0">
              <a:spAutoFit/>
            </a:bodyPr>
            <a:lstStyle/>
            <a:p>
              <a:r>
                <a:rPr lang="en-US" dirty="0" err="1"/>
                <a:t>bA</a:t>
              </a:r>
              <a:endParaRPr lang="en-US" dirty="0"/>
            </a:p>
          </p:txBody>
        </p:sp>
        <p:sp>
          <p:nvSpPr>
            <p:cNvPr id="23" name="TextBox 22"/>
            <p:cNvSpPr txBox="1"/>
            <p:nvPr/>
          </p:nvSpPr>
          <p:spPr>
            <a:xfrm>
              <a:off x="6657747" y="1712266"/>
              <a:ext cx="420796" cy="369332"/>
            </a:xfrm>
            <a:prstGeom prst="rect">
              <a:avLst/>
            </a:prstGeom>
            <a:noFill/>
          </p:spPr>
          <p:txBody>
            <a:bodyPr wrap="none" rtlCol="0">
              <a:spAutoFit/>
            </a:bodyPr>
            <a:lstStyle/>
            <a:p>
              <a:r>
                <a:rPr lang="en-US" dirty="0"/>
                <a:t>Ba</a:t>
              </a:r>
            </a:p>
          </p:txBody>
        </p:sp>
        <p:sp>
          <p:nvSpPr>
            <p:cNvPr id="24" name="TextBox 23"/>
            <p:cNvSpPr txBox="1"/>
            <p:nvPr/>
          </p:nvSpPr>
          <p:spPr>
            <a:xfrm>
              <a:off x="1126567" y="1712266"/>
              <a:ext cx="1010020" cy="369332"/>
            </a:xfrm>
            <a:prstGeom prst="rect">
              <a:avLst/>
            </a:prstGeom>
            <a:noFill/>
          </p:spPr>
          <p:txBody>
            <a:bodyPr wrap="square" rtlCol="0">
              <a:spAutoFit/>
            </a:bodyPr>
            <a:lstStyle/>
            <a:p>
              <a:r>
                <a:rPr lang="en-US" dirty="0"/>
                <a:t>Gametes</a:t>
              </a:r>
            </a:p>
          </p:txBody>
        </p:sp>
        <p:cxnSp>
          <p:nvCxnSpPr>
            <p:cNvPr id="26" name="Straight Arrow Connector 25"/>
            <p:cNvCxnSpPr/>
            <p:nvPr/>
          </p:nvCxnSpPr>
          <p:spPr>
            <a:xfrm>
              <a:off x="2136587" y="1923218"/>
              <a:ext cx="44823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1598706" y="2032001"/>
              <a:ext cx="0" cy="4034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554944" y="2390590"/>
              <a:ext cx="671353" cy="369332"/>
            </a:xfrm>
            <a:prstGeom prst="rect">
              <a:avLst/>
            </a:prstGeom>
            <a:noFill/>
          </p:spPr>
          <p:txBody>
            <a:bodyPr wrap="none" rtlCol="0">
              <a:spAutoFit/>
            </a:bodyPr>
            <a:lstStyle/>
            <a:p>
              <a:r>
                <a:rPr lang="en-US" dirty="0" err="1"/>
                <a:t>bbAa</a:t>
              </a:r>
              <a:endParaRPr lang="en-US" dirty="0"/>
            </a:p>
          </p:txBody>
        </p:sp>
        <p:sp>
          <p:nvSpPr>
            <p:cNvPr id="34" name="TextBox 33"/>
            <p:cNvSpPr txBox="1"/>
            <p:nvPr/>
          </p:nvSpPr>
          <p:spPr>
            <a:xfrm>
              <a:off x="3947447" y="2423462"/>
              <a:ext cx="698629" cy="369332"/>
            </a:xfrm>
            <a:prstGeom prst="rect">
              <a:avLst/>
            </a:prstGeom>
            <a:noFill/>
          </p:spPr>
          <p:txBody>
            <a:bodyPr wrap="none" rtlCol="0">
              <a:spAutoFit/>
            </a:bodyPr>
            <a:lstStyle/>
            <a:p>
              <a:r>
                <a:rPr lang="en-US" dirty="0" err="1"/>
                <a:t>BbAA</a:t>
              </a:r>
              <a:endParaRPr lang="en-US" dirty="0"/>
            </a:p>
          </p:txBody>
        </p:sp>
        <p:sp>
          <p:nvSpPr>
            <p:cNvPr id="35" name="TextBox 34"/>
            <p:cNvSpPr txBox="1"/>
            <p:nvPr/>
          </p:nvSpPr>
          <p:spPr>
            <a:xfrm>
              <a:off x="5295127" y="2426452"/>
              <a:ext cx="694346" cy="369332"/>
            </a:xfrm>
            <a:prstGeom prst="rect">
              <a:avLst/>
            </a:prstGeom>
            <a:noFill/>
          </p:spPr>
          <p:txBody>
            <a:bodyPr wrap="none" rtlCol="0">
              <a:spAutoFit/>
            </a:bodyPr>
            <a:lstStyle/>
            <a:p>
              <a:r>
                <a:rPr lang="en-US" dirty="0" err="1"/>
                <a:t>bbAA</a:t>
              </a:r>
              <a:endParaRPr lang="en-US" dirty="0"/>
            </a:p>
          </p:txBody>
        </p:sp>
        <p:sp>
          <p:nvSpPr>
            <p:cNvPr id="36" name="TextBox 35"/>
            <p:cNvSpPr txBox="1"/>
            <p:nvPr/>
          </p:nvSpPr>
          <p:spPr>
            <a:xfrm>
              <a:off x="6642807" y="2429442"/>
              <a:ext cx="675636" cy="369332"/>
            </a:xfrm>
            <a:prstGeom prst="rect">
              <a:avLst/>
            </a:prstGeom>
            <a:noFill/>
          </p:spPr>
          <p:txBody>
            <a:bodyPr wrap="none" rtlCol="0">
              <a:spAutoFit/>
            </a:bodyPr>
            <a:lstStyle/>
            <a:p>
              <a:r>
                <a:rPr lang="en-US" dirty="0" err="1"/>
                <a:t>BbAa</a:t>
              </a:r>
              <a:endParaRPr lang="en-US" dirty="0"/>
            </a:p>
          </p:txBody>
        </p:sp>
        <p:sp>
          <p:nvSpPr>
            <p:cNvPr id="37" name="TextBox 36"/>
            <p:cNvSpPr txBox="1"/>
            <p:nvPr/>
          </p:nvSpPr>
          <p:spPr>
            <a:xfrm>
              <a:off x="2617698" y="3319922"/>
              <a:ext cx="675636" cy="369332"/>
            </a:xfrm>
            <a:prstGeom prst="rect">
              <a:avLst/>
            </a:prstGeom>
            <a:noFill/>
          </p:spPr>
          <p:txBody>
            <a:bodyPr wrap="none" rtlCol="0">
              <a:spAutoFit/>
            </a:bodyPr>
            <a:lstStyle/>
            <a:p>
              <a:r>
                <a:rPr lang="en-US" dirty="0" err="1"/>
                <a:t>BbAa</a:t>
              </a:r>
              <a:endParaRPr lang="en-US" dirty="0"/>
            </a:p>
          </p:txBody>
        </p:sp>
        <p:sp>
          <p:nvSpPr>
            <p:cNvPr id="38" name="TextBox 37"/>
            <p:cNvSpPr txBox="1"/>
            <p:nvPr/>
          </p:nvSpPr>
          <p:spPr>
            <a:xfrm>
              <a:off x="2680452" y="4249254"/>
              <a:ext cx="671353" cy="369332"/>
            </a:xfrm>
            <a:prstGeom prst="rect">
              <a:avLst/>
            </a:prstGeom>
            <a:noFill/>
          </p:spPr>
          <p:txBody>
            <a:bodyPr wrap="none" rtlCol="0">
              <a:spAutoFit/>
            </a:bodyPr>
            <a:lstStyle/>
            <a:p>
              <a:r>
                <a:rPr lang="en-US" dirty="0" err="1"/>
                <a:t>bbAa</a:t>
              </a:r>
              <a:endParaRPr lang="en-US" dirty="0"/>
            </a:p>
          </p:txBody>
        </p:sp>
        <p:sp>
          <p:nvSpPr>
            <p:cNvPr id="39" name="TextBox 38"/>
            <p:cNvSpPr txBox="1"/>
            <p:nvPr/>
          </p:nvSpPr>
          <p:spPr>
            <a:xfrm>
              <a:off x="2713324" y="5178586"/>
              <a:ext cx="675636" cy="369332"/>
            </a:xfrm>
            <a:prstGeom prst="rect">
              <a:avLst/>
            </a:prstGeom>
            <a:noFill/>
          </p:spPr>
          <p:txBody>
            <a:bodyPr wrap="none" rtlCol="0">
              <a:spAutoFit/>
            </a:bodyPr>
            <a:lstStyle/>
            <a:p>
              <a:r>
                <a:rPr lang="en-US" dirty="0" err="1"/>
                <a:t>BbAa</a:t>
              </a:r>
              <a:endParaRPr lang="en-US" dirty="0"/>
            </a:p>
          </p:txBody>
        </p:sp>
        <p:sp>
          <p:nvSpPr>
            <p:cNvPr id="40" name="TextBox 39"/>
            <p:cNvSpPr txBox="1"/>
            <p:nvPr/>
          </p:nvSpPr>
          <p:spPr>
            <a:xfrm>
              <a:off x="3980319" y="3293030"/>
              <a:ext cx="702912" cy="369332"/>
            </a:xfrm>
            <a:prstGeom prst="rect">
              <a:avLst/>
            </a:prstGeom>
            <a:noFill/>
          </p:spPr>
          <p:txBody>
            <a:bodyPr wrap="none" rtlCol="0">
              <a:spAutoFit/>
            </a:bodyPr>
            <a:lstStyle/>
            <a:p>
              <a:r>
                <a:rPr lang="en-US" dirty="0"/>
                <a:t>BBAA</a:t>
              </a:r>
            </a:p>
          </p:txBody>
        </p:sp>
        <p:sp>
          <p:nvSpPr>
            <p:cNvPr id="41" name="TextBox 40"/>
            <p:cNvSpPr txBox="1"/>
            <p:nvPr/>
          </p:nvSpPr>
          <p:spPr>
            <a:xfrm>
              <a:off x="3998250" y="4252244"/>
              <a:ext cx="698629" cy="369332"/>
            </a:xfrm>
            <a:prstGeom prst="rect">
              <a:avLst/>
            </a:prstGeom>
            <a:noFill/>
          </p:spPr>
          <p:txBody>
            <a:bodyPr wrap="none" rtlCol="0">
              <a:spAutoFit/>
            </a:bodyPr>
            <a:lstStyle/>
            <a:p>
              <a:r>
                <a:rPr lang="en-US" dirty="0" err="1"/>
                <a:t>BbAA</a:t>
              </a:r>
              <a:endParaRPr lang="en-US" dirty="0"/>
            </a:p>
          </p:txBody>
        </p:sp>
        <p:sp>
          <p:nvSpPr>
            <p:cNvPr id="42" name="TextBox 41"/>
            <p:cNvSpPr txBox="1"/>
            <p:nvPr/>
          </p:nvSpPr>
          <p:spPr>
            <a:xfrm>
              <a:off x="4016181" y="5211458"/>
              <a:ext cx="698629" cy="369332"/>
            </a:xfrm>
            <a:prstGeom prst="rect">
              <a:avLst/>
            </a:prstGeom>
            <a:noFill/>
          </p:spPr>
          <p:txBody>
            <a:bodyPr wrap="none" rtlCol="0">
              <a:spAutoFit/>
            </a:bodyPr>
            <a:lstStyle/>
            <a:p>
              <a:r>
                <a:rPr lang="en-US" dirty="0" err="1"/>
                <a:t>BbAA</a:t>
              </a:r>
              <a:endParaRPr lang="en-US" dirty="0"/>
            </a:p>
          </p:txBody>
        </p:sp>
        <p:sp>
          <p:nvSpPr>
            <p:cNvPr id="43" name="TextBox 42"/>
            <p:cNvSpPr txBox="1"/>
            <p:nvPr/>
          </p:nvSpPr>
          <p:spPr>
            <a:xfrm>
              <a:off x="5290747" y="3300132"/>
              <a:ext cx="698629" cy="369332"/>
            </a:xfrm>
            <a:prstGeom prst="rect">
              <a:avLst/>
            </a:prstGeom>
            <a:noFill/>
          </p:spPr>
          <p:txBody>
            <a:bodyPr wrap="none" rtlCol="0">
              <a:spAutoFit/>
            </a:bodyPr>
            <a:lstStyle/>
            <a:p>
              <a:r>
                <a:rPr lang="en-US" dirty="0" err="1"/>
                <a:t>BbAA</a:t>
              </a:r>
              <a:endParaRPr lang="en-US" dirty="0"/>
            </a:p>
          </p:txBody>
        </p:sp>
        <p:sp>
          <p:nvSpPr>
            <p:cNvPr id="44" name="TextBox 43"/>
            <p:cNvSpPr txBox="1"/>
            <p:nvPr/>
          </p:nvSpPr>
          <p:spPr>
            <a:xfrm>
              <a:off x="5286367" y="4173812"/>
              <a:ext cx="694346" cy="369332"/>
            </a:xfrm>
            <a:prstGeom prst="rect">
              <a:avLst/>
            </a:prstGeom>
            <a:noFill/>
          </p:spPr>
          <p:txBody>
            <a:bodyPr wrap="none" rtlCol="0">
              <a:spAutoFit/>
            </a:bodyPr>
            <a:lstStyle/>
            <a:p>
              <a:r>
                <a:rPr lang="en-US" dirty="0" err="1"/>
                <a:t>bbAA</a:t>
              </a:r>
              <a:endParaRPr lang="en-US" dirty="0"/>
            </a:p>
          </p:txBody>
        </p:sp>
        <p:sp>
          <p:nvSpPr>
            <p:cNvPr id="45" name="TextBox 44"/>
            <p:cNvSpPr txBox="1"/>
            <p:nvPr/>
          </p:nvSpPr>
          <p:spPr>
            <a:xfrm>
              <a:off x="5281987" y="5125892"/>
              <a:ext cx="698629" cy="369332"/>
            </a:xfrm>
            <a:prstGeom prst="rect">
              <a:avLst/>
            </a:prstGeom>
            <a:noFill/>
          </p:spPr>
          <p:txBody>
            <a:bodyPr wrap="none" rtlCol="0">
              <a:spAutoFit/>
            </a:bodyPr>
            <a:lstStyle/>
            <a:p>
              <a:r>
                <a:rPr lang="en-US" dirty="0" err="1"/>
                <a:t>BbAA</a:t>
              </a:r>
              <a:endParaRPr lang="en-US" dirty="0"/>
            </a:p>
          </p:txBody>
        </p:sp>
        <p:sp>
          <p:nvSpPr>
            <p:cNvPr id="46" name="TextBox 45"/>
            <p:cNvSpPr txBox="1"/>
            <p:nvPr/>
          </p:nvSpPr>
          <p:spPr>
            <a:xfrm>
              <a:off x="6638427" y="3303122"/>
              <a:ext cx="679919" cy="369332"/>
            </a:xfrm>
            <a:prstGeom prst="rect">
              <a:avLst/>
            </a:prstGeom>
            <a:noFill/>
          </p:spPr>
          <p:txBody>
            <a:bodyPr wrap="none" rtlCol="0">
              <a:spAutoFit/>
            </a:bodyPr>
            <a:lstStyle/>
            <a:p>
              <a:r>
                <a:rPr lang="en-US" dirty="0" err="1"/>
                <a:t>BBAa</a:t>
              </a:r>
              <a:endParaRPr lang="en-US" dirty="0"/>
            </a:p>
          </p:txBody>
        </p:sp>
        <p:sp>
          <p:nvSpPr>
            <p:cNvPr id="47" name="TextBox 46"/>
            <p:cNvSpPr txBox="1"/>
            <p:nvPr/>
          </p:nvSpPr>
          <p:spPr>
            <a:xfrm>
              <a:off x="6634047" y="4208162"/>
              <a:ext cx="675636" cy="369332"/>
            </a:xfrm>
            <a:prstGeom prst="rect">
              <a:avLst/>
            </a:prstGeom>
            <a:noFill/>
          </p:spPr>
          <p:txBody>
            <a:bodyPr wrap="none" rtlCol="0">
              <a:spAutoFit/>
            </a:bodyPr>
            <a:lstStyle/>
            <a:p>
              <a:r>
                <a:rPr lang="en-US" dirty="0" err="1"/>
                <a:t>BbAa</a:t>
              </a:r>
              <a:endParaRPr lang="en-US" dirty="0"/>
            </a:p>
          </p:txBody>
        </p:sp>
        <p:sp>
          <p:nvSpPr>
            <p:cNvPr id="48" name="TextBox 47"/>
            <p:cNvSpPr txBox="1"/>
            <p:nvPr/>
          </p:nvSpPr>
          <p:spPr>
            <a:xfrm>
              <a:off x="6629667" y="5113202"/>
              <a:ext cx="679919" cy="369332"/>
            </a:xfrm>
            <a:prstGeom prst="rect">
              <a:avLst/>
            </a:prstGeom>
            <a:noFill/>
          </p:spPr>
          <p:txBody>
            <a:bodyPr wrap="none" rtlCol="0">
              <a:spAutoFit/>
            </a:bodyPr>
            <a:lstStyle/>
            <a:p>
              <a:r>
                <a:rPr lang="en-US" dirty="0" err="1"/>
                <a:t>BBAa</a:t>
              </a:r>
              <a:endParaRPr lang="en-US" dirty="0"/>
            </a:p>
          </p:txBody>
        </p:sp>
      </p:grpSp>
      <p:sp>
        <p:nvSpPr>
          <p:cNvPr id="50" name="Rectangle 49"/>
          <p:cNvSpPr/>
          <p:nvPr/>
        </p:nvSpPr>
        <p:spPr>
          <a:xfrm>
            <a:off x="1070822" y="5500400"/>
            <a:ext cx="7088094" cy="1200328"/>
          </a:xfrm>
          <a:prstGeom prst="rect">
            <a:avLst/>
          </a:prstGeom>
        </p:spPr>
        <p:txBody>
          <a:bodyPr wrap="square">
            <a:spAutoFit/>
          </a:bodyPr>
          <a:lstStyle/>
          <a:p>
            <a:r>
              <a:rPr lang="en-US" sz="2400" b="1" dirty="0"/>
              <a:t>The </a:t>
            </a:r>
            <a:r>
              <a:rPr lang="en-US" sz="2400" b="1" dirty="0" err="1"/>
              <a:t>Punnett</a:t>
            </a:r>
            <a:r>
              <a:rPr lang="en-US" sz="2400" b="1" dirty="0"/>
              <a:t> square is a diagram that is used to predict an outcome of a particular cross or breeding experiment.</a:t>
            </a:r>
          </a:p>
        </p:txBody>
      </p:sp>
    </p:spTree>
    <p:extLst>
      <p:ext uri="{BB962C8B-B14F-4D97-AF65-F5344CB8AC3E}">
        <p14:creationId xmlns:p14="http://schemas.microsoft.com/office/powerpoint/2010/main" val="269297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Exercises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What gametes are possible from the individuals with the following alleles? </a:t>
            </a:r>
          </a:p>
          <a:p>
            <a:endParaRPr lang="en-US" dirty="0"/>
          </a:p>
          <a:p>
            <a:r>
              <a:rPr lang="en-US" dirty="0"/>
              <a:t>(a) </a:t>
            </a:r>
            <a:r>
              <a:rPr lang="en-US" dirty="0" err="1"/>
              <a:t>AaBb</a:t>
            </a:r>
            <a:r>
              <a:rPr lang="en-US" dirty="0"/>
              <a:t> </a:t>
            </a:r>
          </a:p>
          <a:p>
            <a:endParaRPr lang="en-US" dirty="0"/>
          </a:p>
          <a:p>
            <a:r>
              <a:rPr lang="en-US" dirty="0"/>
              <a:t>(b) </a:t>
            </a:r>
            <a:r>
              <a:rPr lang="en-US" dirty="0" err="1"/>
              <a:t>CCDd</a:t>
            </a:r>
            <a:r>
              <a:rPr lang="en-US" dirty="0"/>
              <a:t> </a:t>
            </a:r>
          </a:p>
          <a:p>
            <a:endParaRPr lang="en-US" dirty="0"/>
          </a:p>
          <a:p>
            <a:r>
              <a:rPr lang="en-US" dirty="0"/>
              <a:t>(c) </a:t>
            </a:r>
            <a:r>
              <a:rPr lang="en-US" dirty="0" err="1"/>
              <a:t>EeFF</a:t>
            </a:r>
            <a:r>
              <a:rPr lang="en-US" dirty="0"/>
              <a:t> </a:t>
            </a:r>
          </a:p>
          <a:p>
            <a:endParaRPr lang="en-US" dirty="0"/>
          </a:p>
          <a:p>
            <a:r>
              <a:rPr lang="en-US" dirty="0"/>
              <a:t>(d) GGHH </a:t>
            </a:r>
          </a:p>
          <a:p>
            <a:endParaRPr lang="en-US" dirty="0"/>
          </a:p>
          <a:p>
            <a:r>
              <a:rPr lang="en-US" dirty="0"/>
              <a:t>(e) </a:t>
            </a:r>
            <a:r>
              <a:rPr lang="en-US" dirty="0" err="1"/>
              <a:t>JjKk</a:t>
            </a:r>
            <a:r>
              <a:rPr lang="en-US" dirty="0"/>
              <a:t> </a:t>
            </a:r>
          </a:p>
          <a:p>
            <a:endParaRPr lang="en-US" dirty="0"/>
          </a:p>
        </p:txBody>
      </p:sp>
    </p:spTree>
    <p:extLst>
      <p:ext uri="{BB962C8B-B14F-4D97-AF65-F5344CB8AC3E}">
        <p14:creationId xmlns:p14="http://schemas.microsoft.com/office/powerpoint/2010/main" val="162135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In guinea pigs, </a:t>
            </a:r>
            <a:r>
              <a:rPr lang="en-US" dirty="0" err="1"/>
              <a:t>colour</a:t>
            </a:r>
            <a:r>
              <a:rPr lang="en-US" dirty="0"/>
              <a:t> of coat can be determined by three allelic combination of a gene. Yellow coat is  determined by the homozygous genotype YY, white by the homozygous genotype WW, and cream by the heterozygous genotype YW. Determine the expected genotype and phenotype ratio of the F1 generation which would result from a cross between: </a:t>
            </a:r>
          </a:p>
          <a:p>
            <a:endParaRPr lang="en-US" dirty="0"/>
          </a:p>
          <a:p>
            <a:r>
              <a:rPr lang="en-US" dirty="0"/>
              <a:t>(a) Two cream </a:t>
            </a:r>
            <a:r>
              <a:rPr lang="en-US" dirty="0" err="1"/>
              <a:t>coloured</a:t>
            </a:r>
            <a:r>
              <a:rPr lang="en-US" dirty="0"/>
              <a:t> guinea pigs; </a:t>
            </a:r>
          </a:p>
          <a:p>
            <a:endParaRPr lang="en-US" dirty="0"/>
          </a:p>
          <a:p>
            <a:r>
              <a:rPr lang="en-US" dirty="0"/>
              <a:t>(b) A yellow coated and a cream coated anima</a:t>
            </a:r>
          </a:p>
        </p:txBody>
      </p:sp>
    </p:spTree>
    <p:extLst>
      <p:ext uri="{BB962C8B-B14F-4D97-AF65-F5344CB8AC3E}">
        <p14:creationId xmlns:p14="http://schemas.microsoft.com/office/powerpoint/2010/main" val="2739639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humans the allele for albinism is recessive to allele for normal skin </a:t>
            </a:r>
            <a:r>
              <a:rPr lang="en-US" dirty="0" err="1"/>
              <a:t>pigmentation.If</a:t>
            </a:r>
            <a:r>
              <a:rPr lang="en-US" dirty="0"/>
              <a:t> two heterozygotes have children , what is the chance that a child will have normal skin color?</a:t>
            </a:r>
          </a:p>
        </p:txBody>
      </p:sp>
    </p:spTree>
    <p:extLst>
      <p:ext uri="{BB962C8B-B14F-4D97-AF65-F5344CB8AC3E}">
        <p14:creationId xmlns:p14="http://schemas.microsoft.com/office/powerpoint/2010/main" val="670560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a:t>Achondroplasia</a:t>
            </a:r>
            <a:r>
              <a:rPr lang="en-US" dirty="0"/>
              <a:t> (Dwarfism) is caused by a dominant allele. A dwarf man marries a dwarf woman. If homozygous </a:t>
            </a:r>
            <a:r>
              <a:rPr lang="en-US" dirty="0" err="1"/>
              <a:t>Achondroplasia</a:t>
            </a:r>
            <a:r>
              <a:rPr lang="en-US"/>
              <a:t> (dwarfs) </a:t>
            </a:r>
            <a:r>
              <a:rPr lang="en-US" dirty="0"/>
              <a:t>results in death of embryo, list the genotype and phenotype of all potential live birth </a:t>
            </a:r>
            <a:r>
              <a:rPr lang="en-US" dirty="0" err="1"/>
              <a:t>offsprings</a:t>
            </a:r>
            <a:r>
              <a:rPr lang="en-US" dirty="0"/>
              <a:t>?</a:t>
            </a:r>
          </a:p>
        </p:txBody>
      </p:sp>
    </p:spTree>
    <p:extLst>
      <p:ext uri="{BB962C8B-B14F-4D97-AF65-F5344CB8AC3E}">
        <p14:creationId xmlns:p14="http://schemas.microsoft.com/office/powerpoint/2010/main" val="3092892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5187"/>
            <a:ext cx="8229600" cy="1143000"/>
          </a:xfrm>
        </p:spPr>
        <p:txBody>
          <a:bodyPr/>
          <a:lstStyle/>
          <a:p>
            <a:r>
              <a:rPr lang="en-US" dirty="0"/>
              <a:t>Question??</a:t>
            </a:r>
          </a:p>
        </p:txBody>
      </p:sp>
      <p:grpSp>
        <p:nvGrpSpPr>
          <p:cNvPr id="4" name="Group 5"/>
          <p:cNvGrpSpPr>
            <a:grpSpLocks/>
          </p:cNvGrpSpPr>
          <p:nvPr/>
        </p:nvGrpSpPr>
        <p:grpSpPr bwMode="auto">
          <a:xfrm>
            <a:off x="699120" y="1796222"/>
            <a:ext cx="7203476" cy="4184130"/>
            <a:chOff x="2895600" y="2743200"/>
            <a:chExt cx="5791200" cy="3796838"/>
          </a:xfrm>
        </p:grpSpPr>
        <p:pic>
          <p:nvPicPr>
            <p:cNvPr id="5" name="Picture 3" descr="law of independent assortment.gif"/>
            <p:cNvPicPr>
              <a:picLocks noChangeAspect="1"/>
            </p:cNvPicPr>
            <p:nvPr/>
          </p:nvPicPr>
          <p:blipFill>
            <a:blip r:embed="rId2" cstate="print"/>
            <a:srcRect/>
            <a:stretch>
              <a:fillRect/>
            </a:stretch>
          </p:blipFill>
          <p:spPr bwMode="auto">
            <a:xfrm>
              <a:off x="2895600" y="2743200"/>
              <a:ext cx="3600450" cy="3796838"/>
            </a:xfrm>
            <a:prstGeom prst="rect">
              <a:avLst/>
            </a:prstGeom>
            <a:noFill/>
            <a:ln w="9525">
              <a:noFill/>
              <a:miter lim="800000"/>
              <a:headEnd/>
              <a:tailEnd/>
            </a:ln>
          </p:spPr>
        </p:pic>
        <p:sp>
          <p:nvSpPr>
            <p:cNvPr id="6" name="TextBox 4"/>
            <p:cNvSpPr txBox="1">
              <a:spLocks noChangeArrowheads="1"/>
            </p:cNvSpPr>
            <p:nvPr/>
          </p:nvSpPr>
          <p:spPr bwMode="auto">
            <a:xfrm>
              <a:off x="6096000" y="5638800"/>
              <a:ext cx="2590800" cy="369332"/>
            </a:xfrm>
            <a:prstGeom prst="rect">
              <a:avLst/>
            </a:prstGeom>
            <a:noFill/>
            <a:ln w="9525">
              <a:noFill/>
              <a:miter lim="800000"/>
              <a:headEnd/>
              <a:tailEnd/>
            </a:ln>
          </p:spPr>
          <p:txBody>
            <a:bodyPr>
              <a:spAutoFit/>
            </a:bodyPr>
            <a:lstStyle/>
            <a:p>
              <a:r>
                <a:rPr lang="en-US" dirty="0">
                  <a:latin typeface="Calibri" pitchFamily="34" charset="0"/>
                </a:rPr>
                <a:t>F2 Ratio-9:3:3:1</a:t>
              </a:r>
            </a:p>
          </p:txBody>
        </p:sp>
      </p:grpSp>
      <p:sp>
        <p:nvSpPr>
          <p:cNvPr id="7" name="Oval 6"/>
          <p:cNvSpPr/>
          <p:nvPr/>
        </p:nvSpPr>
        <p:spPr>
          <a:xfrm>
            <a:off x="2099128" y="3400078"/>
            <a:ext cx="1146583" cy="291589"/>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1111300" y="4180954"/>
            <a:ext cx="511552" cy="105847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p:nvGrpSpPr>
        <p:grpSpPr>
          <a:xfrm>
            <a:off x="6261307" y="1155783"/>
            <a:ext cx="2029676" cy="1811418"/>
            <a:chOff x="218096" y="1498124"/>
            <a:chExt cx="2029676" cy="1811418"/>
          </a:xfrm>
        </p:grpSpPr>
        <p:grpSp>
          <p:nvGrpSpPr>
            <p:cNvPr id="10" name="Group 9"/>
            <p:cNvGrpSpPr/>
            <p:nvPr/>
          </p:nvGrpSpPr>
          <p:grpSpPr>
            <a:xfrm>
              <a:off x="1196680" y="1867456"/>
              <a:ext cx="295301" cy="1263030"/>
              <a:chOff x="1196680" y="1867456"/>
              <a:chExt cx="295301" cy="1263030"/>
            </a:xfrm>
          </p:grpSpPr>
          <p:grpSp>
            <p:nvGrpSpPr>
              <p:cNvPr id="27" name="Group 26"/>
              <p:cNvGrpSpPr/>
              <p:nvPr/>
            </p:nvGrpSpPr>
            <p:grpSpPr>
              <a:xfrm>
                <a:off x="1426853" y="1867456"/>
                <a:ext cx="45719" cy="1263030"/>
                <a:chOff x="1426853" y="1867456"/>
                <a:chExt cx="45719" cy="1263030"/>
              </a:xfrm>
            </p:grpSpPr>
            <p:cxnSp>
              <p:nvCxnSpPr>
                <p:cNvPr id="29" name="Curved Connector 28"/>
                <p:cNvCxnSpPr/>
                <p:nvPr/>
              </p:nvCxnSpPr>
              <p:spPr>
                <a:xfrm rot="5400000">
                  <a:off x="817971" y="2492620"/>
                  <a:ext cx="1263030" cy="12702"/>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426853" y="2117782"/>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8" name="TextBox 27"/>
              <p:cNvSpPr txBox="1"/>
              <p:nvPr/>
            </p:nvSpPr>
            <p:spPr>
              <a:xfrm>
                <a:off x="1196680" y="2001529"/>
                <a:ext cx="295301" cy="276999"/>
              </a:xfrm>
              <a:prstGeom prst="rect">
                <a:avLst/>
              </a:prstGeom>
              <a:noFill/>
            </p:spPr>
            <p:txBody>
              <a:bodyPr wrap="square" rtlCol="0">
                <a:spAutoFit/>
              </a:bodyPr>
              <a:lstStyle/>
              <a:p>
                <a:r>
                  <a:rPr lang="en-US" sz="1200" dirty="0"/>
                  <a:t>A</a:t>
                </a:r>
              </a:p>
            </p:txBody>
          </p:sp>
        </p:grpSp>
        <p:grpSp>
          <p:nvGrpSpPr>
            <p:cNvPr id="11" name="Group 10"/>
            <p:cNvGrpSpPr/>
            <p:nvPr/>
          </p:nvGrpSpPr>
          <p:grpSpPr>
            <a:xfrm>
              <a:off x="1590847" y="1877115"/>
              <a:ext cx="309358" cy="1263030"/>
              <a:chOff x="1603676" y="1864287"/>
              <a:chExt cx="309358" cy="1263030"/>
            </a:xfrm>
          </p:grpSpPr>
          <p:cxnSp>
            <p:nvCxnSpPr>
              <p:cNvPr id="24" name="Curved Connector 23"/>
              <p:cNvCxnSpPr/>
              <p:nvPr/>
            </p:nvCxnSpPr>
            <p:spPr>
              <a:xfrm rot="5400000">
                <a:off x="982808" y="2489451"/>
                <a:ext cx="1263030" cy="12702"/>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603676" y="2115503"/>
                <a:ext cx="45719" cy="6661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1617733" y="1999250"/>
                <a:ext cx="295301" cy="276999"/>
              </a:xfrm>
              <a:prstGeom prst="rect">
                <a:avLst/>
              </a:prstGeom>
              <a:noFill/>
            </p:spPr>
            <p:txBody>
              <a:bodyPr wrap="square" rtlCol="0">
                <a:spAutoFit/>
              </a:bodyPr>
              <a:lstStyle/>
              <a:p>
                <a:r>
                  <a:rPr lang="en-US" sz="1200" dirty="0"/>
                  <a:t>A</a:t>
                </a:r>
              </a:p>
            </p:txBody>
          </p:sp>
        </p:grpSp>
        <p:grpSp>
          <p:nvGrpSpPr>
            <p:cNvPr id="12" name="Group 11"/>
            <p:cNvGrpSpPr/>
            <p:nvPr/>
          </p:nvGrpSpPr>
          <p:grpSpPr>
            <a:xfrm>
              <a:off x="523134" y="1848864"/>
              <a:ext cx="334305" cy="787093"/>
              <a:chOff x="523134" y="1848864"/>
              <a:chExt cx="334305" cy="787093"/>
            </a:xfrm>
          </p:grpSpPr>
          <p:cxnSp>
            <p:nvCxnSpPr>
              <p:cNvPr id="21" name="Curved Connector 20"/>
              <p:cNvCxnSpPr/>
              <p:nvPr/>
            </p:nvCxnSpPr>
            <p:spPr>
              <a:xfrm rot="5400000">
                <a:off x="447076" y="2236061"/>
                <a:ext cx="787093" cy="127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11720" y="2300467"/>
                <a:ext cx="45719" cy="6661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p:cNvSpPr txBox="1"/>
              <p:nvPr/>
            </p:nvSpPr>
            <p:spPr>
              <a:xfrm>
                <a:off x="523134" y="2178352"/>
                <a:ext cx="295301" cy="276999"/>
              </a:xfrm>
              <a:prstGeom prst="rect">
                <a:avLst/>
              </a:prstGeom>
              <a:noFill/>
            </p:spPr>
            <p:txBody>
              <a:bodyPr wrap="square" rtlCol="0">
                <a:spAutoFit/>
              </a:bodyPr>
              <a:lstStyle/>
              <a:p>
                <a:r>
                  <a:rPr lang="en-US" sz="1200" dirty="0"/>
                  <a:t>B</a:t>
                </a:r>
              </a:p>
            </p:txBody>
          </p:sp>
        </p:grpSp>
        <p:grpSp>
          <p:nvGrpSpPr>
            <p:cNvPr id="13" name="Group 12"/>
            <p:cNvGrpSpPr/>
            <p:nvPr/>
          </p:nvGrpSpPr>
          <p:grpSpPr>
            <a:xfrm>
              <a:off x="913909" y="1845077"/>
              <a:ext cx="311767" cy="787093"/>
              <a:chOff x="939567" y="1857905"/>
              <a:chExt cx="311767" cy="787093"/>
            </a:xfrm>
          </p:grpSpPr>
          <p:grpSp>
            <p:nvGrpSpPr>
              <p:cNvPr id="17" name="Group 16"/>
              <p:cNvGrpSpPr/>
              <p:nvPr/>
            </p:nvGrpSpPr>
            <p:grpSpPr>
              <a:xfrm>
                <a:off x="939567" y="1857905"/>
                <a:ext cx="45719" cy="787093"/>
                <a:chOff x="952396" y="1857905"/>
                <a:chExt cx="45719" cy="787093"/>
              </a:xfrm>
            </p:grpSpPr>
            <p:cxnSp>
              <p:nvCxnSpPr>
                <p:cNvPr id="19" name="Curved Connector 18"/>
                <p:cNvCxnSpPr/>
                <p:nvPr/>
              </p:nvCxnSpPr>
              <p:spPr>
                <a:xfrm rot="5400000">
                  <a:off x="581590" y="2245102"/>
                  <a:ext cx="787093" cy="127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952396" y="2302746"/>
                  <a:ext cx="45719" cy="6661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TextBox 17"/>
              <p:cNvSpPr txBox="1"/>
              <p:nvPr/>
            </p:nvSpPr>
            <p:spPr>
              <a:xfrm>
                <a:off x="956033" y="2200496"/>
                <a:ext cx="295301" cy="276999"/>
              </a:xfrm>
              <a:prstGeom prst="rect">
                <a:avLst/>
              </a:prstGeom>
              <a:noFill/>
            </p:spPr>
            <p:txBody>
              <a:bodyPr wrap="square" rtlCol="0">
                <a:spAutoFit/>
              </a:bodyPr>
              <a:lstStyle/>
              <a:p>
                <a:r>
                  <a:rPr lang="en-US" sz="1200" dirty="0"/>
                  <a:t>b</a:t>
                </a:r>
              </a:p>
            </p:txBody>
          </p:sp>
        </p:grpSp>
        <p:sp>
          <p:nvSpPr>
            <p:cNvPr id="14" name="TextBox 13"/>
            <p:cNvSpPr txBox="1"/>
            <p:nvPr/>
          </p:nvSpPr>
          <p:spPr>
            <a:xfrm>
              <a:off x="676704" y="1498124"/>
              <a:ext cx="969653" cy="276999"/>
            </a:xfrm>
            <a:prstGeom prst="rect">
              <a:avLst/>
            </a:prstGeom>
            <a:noFill/>
          </p:spPr>
          <p:txBody>
            <a:bodyPr wrap="square" rtlCol="0">
              <a:spAutoFit/>
            </a:bodyPr>
            <a:lstStyle/>
            <a:p>
              <a:r>
                <a:rPr lang="en-US" sz="1200" dirty="0" err="1"/>
                <a:t>Chr</a:t>
              </a:r>
              <a:r>
                <a:rPr lang="en-US" sz="1200" dirty="0"/>
                <a:t> 1</a:t>
              </a:r>
            </a:p>
          </p:txBody>
        </p:sp>
        <p:sp>
          <p:nvSpPr>
            <p:cNvPr id="15" name="TextBox 14"/>
            <p:cNvSpPr txBox="1"/>
            <p:nvPr/>
          </p:nvSpPr>
          <p:spPr>
            <a:xfrm>
              <a:off x="1278119" y="1522244"/>
              <a:ext cx="969653" cy="276999"/>
            </a:xfrm>
            <a:prstGeom prst="rect">
              <a:avLst/>
            </a:prstGeom>
            <a:noFill/>
          </p:spPr>
          <p:txBody>
            <a:bodyPr wrap="square" rtlCol="0">
              <a:spAutoFit/>
            </a:bodyPr>
            <a:lstStyle/>
            <a:p>
              <a:r>
                <a:rPr lang="en-US" sz="1200" dirty="0" err="1"/>
                <a:t>Chr</a:t>
              </a:r>
              <a:r>
                <a:rPr lang="en-US" sz="1200" dirty="0"/>
                <a:t> 2</a:t>
              </a:r>
            </a:p>
          </p:txBody>
        </p:sp>
        <p:sp>
          <p:nvSpPr>
            <p:cNvPr id="16" name="Rectangle 15"/>
            <p:cNvSpPr/>
            <p:nvPr/>
          </p:nvSpPr>
          <p:spPr>
            <a:xfrm>
              <a:off x="218096" y="1498124"/>
              <a:ext cx="2029676" cy="18114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295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crossovr.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204" y="1148538"/>
            <a:ext cx="4078455" cy="5437940"/>
          </a:xfrm>
          <a:prstGeom prst="rect">
            <a:avLst/>
          </a:prstGeom>
          <a:ln>
            <a:solidFill>
              <a:srgbClr val="17375E"/>
            </a:solidFill>
          </a:ln>
        </p:spPr>
      </p:pic>
      <p:sp>
        <p:nvSpPr>
          <p:cNvPr id="6" name="TextBox 5"/>
          <p:cNvSpPr txBox="1"/>
          <p:nvPr/>
        </p:nvSpPr>
        <p:spPr>
          <a:xfrm>
            <a:off x="705590" y="317541"/>
            <a:ext cx="8167199" cy="830997"/>
          </a:xfrm>
          <a:prstGeom prst="rect">
            <a:avLst/>
          </a:prstGeom>
          <a:noFill/>
        </p:spPr>
        <p:txBody>
          <a:bodyPr wrap="square" rtlCol="0">
            <a:spAutoFit/>
          </a:bodyPr>
          <a:lstStyle/>
          <a:p>
            <a:pPr algn="ctr"/>
            <a:r>
              <a:rPr lang="en-US" sz="2400" dirty="0">
                <a:latin typeface="Comic Sans MS"/>
                <a:cs typeface="Comic Sans MS"/>
              </a:rPr>
              <a:t>Crossing over results in Recombination of Alleles of different genes</a:t>
            </a:r>
          </a:p>
        </p:txBody>
      </p:sp>
      <p:sp>
        <p:nvSpPr>
          <p:cNvPr id="7" name="TextBox 6"/>
          <p:cNvSpPr txBox="1"/>
          <p:nvPr/>
        </p:nvSpPr>
        <p:spPr>
          <a:xfrm>
            <a:off x="4021843" y="2779048"/>
            <a:ext cx="758509" cy="369332"/>
          </a:xfrm>
          <a:prstGeom prst="rect">
            <a:avLst/>
          </a:prstGeom>
          <a:noFill/>
        </p:spPr>
        <p:txBody>
          <a:bodyPr wrap="square" rtlCol="0">
            <a:spAutoFit/>
          </a:bodyPr>
          <a:lstStyle/>
          <a:p>
            <a:r>
              <a:rPr lang="en-US" dirty="0"/>
              <a:t>A</a:t>
            </a:r>
          </a:p>
        </p:txBody>
      </p:sp>
      <p:sp>
        <p:nvSpPr>
          <p:cNvPr id="8" name="TextBox 7"/>
          <p:cNvSpPr txBox="1"/>
          <p:nvPr/>
        </p:nvSpPr>
        <p:spPr>
          <a:xfrm>
            <a:off x="4615243" y="2843243"/>
            <a:ext cx="758509" cy="369332"/>
          </a:xfrm>
          <a:prstGeom prst="rect">
            <a:avLst/>
          </a:prstGeom>
          <a:noFill/>
        </p:spPr>
        <p:txBody>
          <a:bodyPr wrap="square" rtlCol="0">
            <a:spAutoFit/>
          </a:bodyPr>
          <a:lstStyle/>
          <a:p>
            <a:r>
              <a:rPr lang="en-US" dirty="0"/>
              <a:t>A</a:t>
            </a:r>
          </a:p>
        </p:txBody>
      </p:sp>
      <p:sp>
        <p:nvSpPr>
          <p:cNvPr id="9" name="TextBox 8"/>
          <p:cNvSpPr txBox="1"/>
          <p:nvPr/>
        </p:nvSpPr>
        <p:spPr>
          <a:xfrm>
            <a:off x="5102803" y="2801592"/>
            <a:ext cx="758509" cy="369332"/>
          </a:xfrm>
          <a:prstGeom prst="rect">
            <a:avLst/>
          </a:prstGeom>
          <a:noFill/>
        </p:spPr>
        <p:txBody>
          <a:bodyPr wrap="square" rtlCol="0">
            <a:spAutoFit/>
          </a:bodyPr>
          <a:lstStyle/>
          <a:p>
            <a:r>
              <a:rPr lang="en-US" b="1" i="1" dirty="0">
                <a:solidFill>
                  <a:schemeClr val="bg2"/>
                </a:solidFill>
              </a:rPr>
              <a:t>a</a:t>
            </a:r>
          </a:p>
        </p:txBody>
      </p:sp>
      <p:sp>
        <p:nvSpPr>
          <p:cNvPr id="10" name="TextBox 9"/>
          <p:cNvSpPr txBox="1"/>
          <p:nvPr/>
        </p:nvSpPr>
        <p:spPr>
          <a:xfrm>
            <a:off x="4479043" y="2830505"/>
            <a:ext cx="758509" cy="369332"/>
          </a:xfrm>
          <a:prstGeom prst="rect">
            <a:avLst/>
          </a:prstGeom>
          <a:noFill/>
        </p:spPr>
        <p:txBody>
          <a:bodyPr wrap="square" rtlCol="0">
            <a:spAutoFit/>
          </a:bodyPr>
          <a:lstStyle/>
          <a:p>
            <a:r>
              <a:rPr lang="en-US" b="1" i="1" dirty="0">
                <a:solidFill>
                  <a:schemeClr val="bg2"/>
                </a:solidFill>
              </a:rPr>
              <a:t>a</a:t>
            </a:r>
          </a:p>
        </p:txBody>
      </p:sp>
      <p:sp>
        <p:nvSpPr>
          <p:cNvPr id="11" name="TextBox 10"/>
          <p:cNvSpPr txBox="1"/>
          <p:nvPr/>
        </p:nvSpPr>
        <p:spPr>
          <a:xfrm>
            <a:off x="4684363" y="4535313"/>
            <a:ext cx="758509" cy="369332"/>
          </a:xfrm>
          <a:prstGeom prst="rect">
            <a:avLst/>
          </a:prstGeom>
          <a:noFill/>
        </p:spPr>
        <p:txBody>
          <a:bodyPr wrap="square" rtlCol="0">
            <a:spAutoFit/>
          </a:bodyPr>
          <a:lstStyle/>
          <a:p>
            <a:r>
              <a:rPr lang="en-US" b="1" i="1" dirty="0">
                <a:solidFill>
                  <a:schemeClr val="bg2"/>
                </a:solidFill>
              </a:rPr>
              <a:t>a</a:t>
            </a:r>
          </a:p>
        </p:txBody>
      </p:sp>
      <p:sp>
        <p:nvSpPr>
          <p:cNvPr id="12" name="TextBox 11"/>
          <p:cNvSpPr txBox="1"/>
          <p:nvPr/>
        </p:nvSpPr>
        <p:spPr>
          <a:xfrm>
            <a:off x="4289923" y="6187198"/>
            <a:ext cx="758509" cy="369332"/>
          </a:xfrm>
          <a:prstGeom prst="rect">
            <a:avLst/>
          </a:prstGeom>
          <a:noFill/>
        </p:spPr>
        <p:txBody>
          <a:bodyPr wrap="square" rtlCol="0">
            <a:spAutoFit/>
          </a:bodyPr>
          <a:lstStyle/>
          <a:p>
            <a:r>
              <a:rPr lang="en-US" b="1" i="1" dirty="0">
                <a:solidFill>
                  <a:schemeClr val="bg2"/>
                </a:solidFill>
              </a:rPr>
              <a:t>a</a:t>
            </a:r>
          </a:p>
        </p:txBody>
      </p:sp>
      <p:sp>
        <p:nvSpPr>
          <p:cNvPr id="13" name="TextBox 12"/>
          <p:cNvSpPr txBox="1"/>
          <p:nvPr/>
        </p:nvSpPr>
        <p:spPr>
          <a:xfrm>
            <a:off x="5100337" y="4535313"/>
            <a:ext cx="758509" cy="369332"/>
          </a:xfrm>
          <a:prstGeom prst="rect">
            <a:avLst/>
          </a:prstGeom>
          <a:noFill/>
        </p:spPr>
        <p:txBody>
          <a:bodyPr wrap="square" rtlCol="0">
            <a:spAutoFit/>
          </a:bodyPr>
          <a:lstStyle/>
          <a:p>
            <a:r>
              <a:rPr lang="en-US" b="1" i="1" dirty="0">
                <a:solidFill>
                  <a:schemeClr val="bg2"/>
                </a:solidFill>
              </a:rPr>
              <a:t>a</a:t>
            </a:r>
          </a:p>
        </p:txBody>
      </p:sp>
      <p:sp>
        <p:nvSpPr>
          <p:cNvPr id="14" name="TextBox 13"/>
          <p:cNvSpPr txBox="1"/>
          <p:nvPr/>
        </p:nvSpPr>
        <p:spPr>
          <a:xfrm>
            <a:off x="5469751" y="6217577"/>
            <a:ext cx="758509" cy="369332"/>
          </a:xfrm>
          <a:prstGeom prst="rect">
            <a:avLst/>
          </a:prstGeom>
          <a:noFill/>
        </p:spPr>
        <p:txBody>
          <a:bodyPr wrap="square" rtlCol="0">
            <a:spAutoFit/>
          </a:bodyPr>
          <a:lstStyle/>
          <a:p>
            <a:r>
              <a:rPr lang="en-US" b="1" i="1" dirty="0">
                <a:solidFill>
                  <a:schemeClr val="bg2"/>
                </a:solidFill>
              </a:rPr>
              <a:t>a</a:t>
            </a:r>
          </a:p>
        </p:txBody>
      </p:sp>
      <p:sp>
        <p:nvSpPr>
          <p:cNvPr id="15" name="TextBox 14"/>
          <p:cNvSpPr txBox="1"/>
          <p:nvPr/>
        </p:nvSpPr>
        <p:spPr>
          <a:xfrm>
            <a:off x="4033123" y="4536779"/>
            <a:ext cx="758509" cy="369332"/>
          </a:xfrm>
          <a:prstGeom prst="rect">
            <a:avLst/>
          </a:prstGeom>
          <a:noFill/>
        </p:spPr>
        <p:txBody>
          <a:bodyPr wrap="square" rtlCol="0">
            <a:spAutoFit/>
          </a:bodyPr>
          <a:lstStyle/>
          <a:p>
            <a:r>
              <a:rPr lang="en-US" dirty="0"/>
              <a:t>A</a:t>
            </a:r>
          </a:p>
        </p:txBody>
      </p:sp>
      <p:sp>
        <p:nvSpPr>
          <p:cNvPr id="16" name="TextBox 15"/>
          <p:cNvSpPr txBox="1"/>
          <p:nvPr/>
        </p:nvSpPr>
        <p:spPr>
          <a:xfrm>
            <a:off x="3691603" y="6206305"/>
            <a:ext cx="758509" cy="369332"/>
          </a:xfrm>
          <a:prstGeom prst="rect">
            <a:avLst/>
          </a:prstGeom>
          <a:noFill/>
        </p:spPr>
        <p:txBody>
          <a:bodyPr wrap="square" rtlCol="0">
            <a:spAutoFit/>
          </a:bodyPr>
          <a:lstStyle/>
          <a:p>
            <a:r>
              <a:rPr lang="en-US" dirty="0"/>
              <a:t>A</a:t>
            </a:r>
          </a:p>
        </p:txBody>
      </p:sp>
      <p:sp>
        <p:nvSpPr>
          <p:cNvPr id="17" name="TextBox 16"/>
          <p:cNvSpPr txBox="1"/>
          <p:nvPr/>
        </p:nvSpPr>
        <p:spPr>
          <a:xfrm>
            <a:off x="4485403" y="4548051"/>
            <a:ext cx="758509" cy="369332"/>
          </a:xfrm>
          <a:prstGeom prst="rect">
            <a:avLst/>
          </a:prstGeom>
          <a:noFill/>
        </p:spPr>
        <p:txBody>
          <a:bodyPr wrap="square" rtlCol="0">
            <a:spAutoFit/>
          </a:bodyPr>
          <a:lstStyle/>
          <a:p>
            <a:r>
              <a:rPr lang="en-US" dirty="0"/>
              <a:t>A</a:t>
            </a:r>
          </a:p>
        </p:txBody>
      </p:sp>
      <p:sp>
        <p:nvSpPr>
          <p:cNvPr id="18" name="TextBox 17"/>
          <p:cNvSpPr txBox="1"/>
          <p:nvPr/>
        </p:nvSpPr>
        <p:spPr>
          <a:xfrm>
            <a:off x="4867123" y="6217577"/>
            <a:ext cx="758509" cy="369332"/>
          </a:xfrm>
          <a:prstGeom prst="rect">
            <a:avLst/>
          </a:prstGeom>
          <a:noFill/>
        </p:spPr>
        <p:txBody>
          <a:bodyPr wrap="square" rtlCol="0">
            <a:spAutoFit/>
          </a:bodyPr>
          <a:lstStyle/>
          <a:p>
            <a:r>
              <a:rPr lang="en-US" dirty="0"/>
              <a:t>A</a:t>
            </a:r>
          </a:p>
        </p:txBody>
      </p:sp>
      <p:sp>
        <p:nvSpPr>
          <p:cNvPr id="19" name="TextBox 18"/>
          <p:cNvSpPr txBox="1"/>
          <p:nvPr/>
        </p:nvSpPr>
        <p:spPr>
          <a:xfrm>
            <a:off x="4174243" y="1943552"/>
            <a:ext cx="758509" cy="369332"/>
          </a:xfrm>
          <a:prstGeom prst="rect">
            <a:avLst/>
          </a:prstGeom>
          <a:noFill/>
        </p:spPr>
        <p:txBody>
          <a:bodyPr wrap="square" rtlCol="0">
            <a:spAutoFit/>
          </a:bodyPr>
          <a:lstStyle/>
          <a:p>
            <a:r>
              <a:rPr lang="en-US" dirty="0"/>
              <a:t>B</a:t>
            </a:r>
          </a:p>
        </p:txBody>
      </p:sp>
      <p:sp>
        <p:nvSpPr>
          <p:cNvPr id="20" name="TextBox 19"/>
          <p:cNvSpPr txBox="1"/>
          <p:nvPr/>
        </p:nvSpPr>
        <p:spPr>
          <a:xfrm>
            <a:off x="4467763" y="1954824"/>
            <a:ext cx="758509" cy="369332"/>
          </a:xfrm>
          <a:prstGeom prst="rect">
            <a:avLst/>
          </a:prstGeom>
          <a:noFill/>
        </p:spPr>
        <p:txBody>
          <a:bodyPr wrap="square" rtlCol="0">
            <a:spAutoFit/>
          </a:bodyPr>
          <a:lstStyle/>
          <a:p>
            <a:r>
              <a:rPr lang="en-US" dirty="0"/>
              <a:t>B</a:t>
            </a:r>
          </a:p>
        </p:txBody>
      </p:sp>
      <p:sp>
        <p:nvSpPr>
          <p:cNvPr id="21" name="TextBox 20"/>
          <p:cNvSpPr txBox="1"/>
          <p:nvPr/>
        </p:nvSpPr>
        <p:spPr>
          <a:xfrm>
            <a:off x="4673083" y="1966096"/>
            <a:ext cx="758509" cy="369332"/>
          </a:xfrm>
          <a:prstGeom prst="rect">
            <a:avLst/>
          </a:prstGeom>
          <a:noFill/>
        </p:spPr>
        <p:txBody>
          <a:bodyPr wrap="square" rtlCol="0">
            <a:spAutoFit/>
          </a:bodyPr>
          <a:lstStyle/>
          <a:p>
            <a:r>
              <a:rPr lang="en-US" i="1" dirty="0">
                <a:solidFill>
                  <a:srgbClr val="EEECE1"/>
                </a:solidFill>
              </a:rPr>
              <a:t>b</a:t>
            </a:r>
          </a:p>
        </p:txBody>
      </p:sp>
      <p:sp>
        <p:nvSpPr>
          <p:cNvPr id="22" name="TextBox 21"/>
          <p:cNvSpPr txBox="1"/>
          <p:nvPr/>
        </p:nvSpPr>
        <p:spPr>
          <a:xfrm>
            <a:off x="4948963" y="1959727"/>
            <a:ext cx="758509" cy="369332"/>
          </a:xfrm>
          <a:prstGeom prst="rect">
            <a:avLst/>
          </a:prstGeom>
          <a:noFill/>
        </p:spPr>
        <p:txBody>
          <a:bodyPr wrap="square" rtlCol="0">
            <a:spAutoFit/>
          </a:bodyPr>
          <a:lstStyle/>
          <a:p>
            <a:r>
              <a:rPr lang="en-US" i="1" dirty="0">
                <a:solidFill>
                  <a:srgbClr val="EEECE1"/>
                </a:solidFill>
              </a:rPr>
              <a:t>b</a:t>
            </a:r>
          </a:p>
        </p:txBody>
      </p:sp>
      <p:sp>
        <p:nvSpPr>
          <p:cNvPr id="23" name="TextBox 22"/>
          <p:cNvSpPr txBox="1"/>
          <p:nvPr/>
        </p:nvSpPr>
        <p:spPr>
          <a:xfrm>
            <a:off x="4960243" y="3593971"/>
            <a:ext cx="758509" cy="369332"/>
          </a:xfrm>
          <a:prstGeom prst="rect">
            <a:avLst/>
          </a:prstGeom>
          <a:noFill/>
        </p:spPr>
        <p:txBody>
          <a:bodyPr wrap="square" rtlCol="0">
            <a:spAutoFit/>
          </a:bodyPr>
          <a:lstStyle/>
          <a:p>
            <a:r>
              <a:rPr lang="en-US" i="1" dirty="0">
                <a:solidFill>
                  <a:srgbClr val="EEECE1"/>
                </a:solidFill>
              </a:rPr>
              <a:t>b</a:t>
            </a:r>
          </a:p>
        </p:txBody>
      </p:sp>
      <p:sp>
        <p:nvSpPr>
          <p:cNvPr id="24" name="TextBox 23"/>
          <p:cNvSpPr txBox="1"/>
          <p:nvPr/>
        </p:nvSpPr>
        <p:spPr>
          <a:xfrm>
            <a:off x="5006803" y="5316420"/>
            <a:ext cx="758509" cy="369332"/>
          </a:xfrm>
          <a:prstGeom prst="rect">
            <a:avLst/>
          </a:prstGeom>
          <a:noFill/>
        </p:spPr>
        <p:txBody>
          <a:bodyPr wrap="square" rtlCol="0">
            <a:spAutoFit/>
          </a:bodyPr>
          <a:lstStyle/>
          <a:p>
            <a:r>
              <a:rPr lang="en-US" i="1" dirty="0">
                <a:solidFill>
                  <a:srgbClr val="EEECE1"/>
                </a:solidFill>
              </a:rPr>
              <a:t>b</a:t>
            </a:r>
          </a:p>
        </p:txBody>
      </p:sp>
      <p:sp>
        <p:nvSpPr>
          <p:cNvPr id="25" name="TextBox 24"/>
          <p:cNvSpPr txBox="1"/>
          <p:nvPr/>
        </p:nvSpPr>
        <p:spPr>
          <a:xfrm>
            <a:off x="5282683" y="5327692"/>
            <a:ext cx="758509" cy="369332"/>
          </a:xfrm>
          <a:prstGeom prst="rect">
            <a:avLst/>
          </a:prstGeom>
          <a:noFill/>
        </p:spPr>
        <p:txBody>
          <a:bodyPr wrap="square" rtlCol="0">
            <a:spAutoFit/>
          </a:bodyPr>
          <a:lstStyle/>
          <a:p>
            <a:r>
              <a:rPr lang="en-US" i="1" dirty="0">
                <a:solidFill>
                  <a:srgbClr val="EEECE1"/>
                </a:solidFill>
              </a:rPr>
              <a:t>b</a:t>
            </a:r>
          </a:p>
        </p:txBody>
      </p:sp>
      <p:sp>
        <p:nvSpPr>
          <p:cNvPr id="26" name="TextBox 25"/>
          <p:cNvSpPr txBox="1"/>
          <p:nvPr/>
        </p:nvSpPr>
        <p:spPr>
          <a:xfrm>
            <a:off x="4676563" y="3592505"/>
            <a:ext cx="758509" cy="369332"/>
          </a:xfrm>
          <a:prstGeom prst="rect">
            <a:avLst/>
          </a:prstGeom>
          <a:noFill/>
        </p:spPr>
        <p:txBody>
          <a:bodyPr wrap="square" rtlCol="0">
            <a:spAutoFit/>
          </a:bodyPr>
          <a:lstStyle/>
          <a:p>
            <a:r>
              <a:rPr lang="en-US" i="1" dirty="0">
                <a:solidFill>
                  <a:srgbClr val="EEECE1"/>
                </a:solidFill>
              </a:rPr>
              <a:t>b</a:t>
            </a:r>
          </a:p>
        </p:txBody>
      </p:sp>
      <p:sp>
        <p:nvSpPr>
          <p:cNvPr id="27" name="TextBox 26"/>
          <p:cNvSpPr txBox="1"/>
          <p:nvPr/>
        </p:nvSpPr>
        <p:spPr>
          <a:xfrm>
            <a:off x="4461403" y="3624350"/>
            <a:ext cx="758509" cy="369332"/>
          </a:xfrm>
          <a:prstGeom prst="rect">
            <a:avLst/>
          </a:prstGeom>
          <a:noFill/>
        </p:spPr>
        <p:txBody>
          <a:bodyPr wrap="square" rtlCol="0">
            <a:spAutoFit/>
          </a:bodyPr>
          <a:lstStyle/>
          <a:p>
            <a:r>
              <a:rPr lang="en-US" dirty="0"/>
              <a:t>B</a:t>
            </a:r>
          </a:p>
        </p:txBody>
      </p:sp>
      <p:sp>
        <p:nvSpPr>
          <p:cNvPr id="28" name="TextBox 27"/>
          <p:cNvSpPr txBox="1"/>
          <p:nvPr/>
        </p:nvSpPr>
        <p:spPr>
          <a:xfrm>
            <a:off x="4137523" y="5293876"/>
            <a:ext cx="758509" cy="369332"/>
          </a:xfrm>
          <a:prstGeom prst="rect">
            <a:avLst/>
          </a:prstGeom>
          <a:noFill/>
        </p:spPr>
        <p:txBody>
          <a:bodyPr wrap="square" rtlCol="0">
            <a:spAutoFit/>
          </a:bodyPr>
          <a:lstStyle/>
          <a:p>
            <a:r>
              <a:rPr lang="en-US" dirty="0"/>
              <a:t>B</a:t>
            </a:r>
          </a:p>
        </p:txBody>
      </p:sp>
      <p:sp>
        <p:nvSpPr>
          <p:cNvPr id="29" name="TextBox 28"/>
          <p:cNvSpPr txBox="1"/>
          <p:nvPr/>
        </p:nvSpPr>
        <p:spPr>
          <a:xfrm>
            <a:off x="3831283" y="5287507"/>
            <a:ext cx="758509" cy="369332"/>
          </a:xfrm>
          <a:prstGeom prst="rect">
            <a:avLst/>
          </a:prstGeom>
          <a:noFill/>
        </p:spPr>
        <p:txBody>
          <a:bodyPr wrap="square" rtlCol="0">
            <a:spAutoFit/>
          </a:bodyPr>
          <a:lstStyle/>
          <a:p>
            <a:r>
              <a:rPr lang="en-US" dirty="0"/>
              <a:t>B</a:t>
            </a:r>
          </a:p>
        </p:txBody>
      </p:sp>
      <p:sp>
        <p:nvSpPr>
          <p:cNvPr id="30" name="TextBox 29"/>
          <p:cNvSpPr txBox="1"/>
          <p:nvPr/>
        </p:nvSpPr>
        <p:spPr>
          <a:xfrm>
            <a:off x="4160083" y="3622884"/>
            <a:ext cx="758509"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3160427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b="1" dirty="0">
                <a:solidFill>
                  <a:schemeClr val="tx2">
                    <a:lumMod val="75000"/>
                  </a:schemeClr>
                </a:solidFill>
                <a:latin typeface="Comic Sans MS" pitchFamily="66" charset="0"/>
              </a:rPr>
              <a:t>What is </a:t>
            </a:r>
            <a:r>
              <a:rPr lang="en-US" b="1" dirty="0" err="1">
                <a:solidFill>
                  <a:schemeClr val="tx2">
                    <a:lumMod val="75000"/>
                  </a:schemeClr>
                </a:solidFill>
                <a:latin typeface="Comic Sans MS" pitchFamily="66" charset="0"/>
              </a:rPr>
              <a:t>Epistasis</a:t>
            </a:r>
            <a:r>
              <a:rPr lang="en-US" b="1" dirty="0">
                <a:solidFill>
                  <a:schemeClr val="tx2">
                    <a:lumMod val="75000"/>
                  </a:schemeClr>
                </a:solidFill>
                <a:latin typeface="Comic Sans MS" pitchFamily="66" charset="0"/>
              </a:rPr>
              <a:t>?</a:t>
            </a:r>
          </a:p>
        </p:txBody>
      </p:sp>
      <p:sp>
        <p:nvSpPr>
          <p:cNvPr id="3" name="Content Placeholder 2"/>
          <p:cNvSpPr>
            <a:spLocks noGrp="1"/>
          </p:cNvSpPr>
          <p:nvPr>
            <p:ph idx="1"/>
          </p:nvPr>
        </p:nvSpPr>
        <p:spPr>
          <a:xfrm>
            <a:off x="457200" y="1600200"/>
            <a:ext cx="8229600" cy="5105400"/>
          </a:xfrm>
        </p:spPr>
        <p:txBody>
          <a:bodyPr rtlCol="0">
            <a:normAutofit/>
          </a:bodyPr>
          <a:lstStyle/>
          <a:p>
            <a:pPr>
              <a:defRPr/>
            </a:pPr>
            <a:r>
              <a:rPr lang="en-US" b="1" u="sng" dirty="0"/>
              <a:t>Epistasis</a:t>
            </a:r>
            <a:r>
              <a:rPr lang="en-US" dirty="0"/>
              <a:t> is phenomenon where the effect of one gene (hypostatic) is modified by other gene (</a:t>
            </a:r>
            <a:r>
              <a:rPr lang="en-US" dirty="0" err="1"/>
              <a:t>epistatic</a:t>
            </a:r>
            <a:r>
              <a:rPr lang="en-US" dirty="0"/>
              <a:t>).</a:t>
            </a:r>
          </a:p>
          <a:p>
            <a:pPr>
              <a:defRPr/>
            </a:pPr>
            <a:r>
              <a:rPr lang="en-US" dirty="0"/>
              <a:t>It is </a:t>
            </a:r>
            <a:r>
              <a:rPr lang="en-US" b="1" dirty="0"/>
              <a:t>interaction between different genes </a:t>
            </a:r>
            <a:r>
              <a:rPr lang="en-US" dirty="0"/>
              <a:t>(non alleles)</a:t>
            </a:r>
          </a:p>
          <a:p>
            <a:pPr>
              <a:defRPr/>
            </a:pPr>
            <a:r>
              <a:rPr lang="en-US" dirty="0"/>
              <a:t>While, </a:t>
            </a:r>
            <a:r>
              <a:rPr lang="en-US" b="1" dirty="0"/>
              <a:t>dominance</a:t>
            </a:r>
            <a:r>
              <a:rPr lang="en-US" dirty="0"/>
              <a:t> is interaction between </a:t>
            </a:r>
            <a:r>
              <a:rPr lang="en-US" b="1" dirty="0"/>
              <a:t>different alleles of the same gene</a:t>
            </a:r>
          </a:p>
          <a:p>
            <a:pPr eaLnBrk="1" fontAlgn="auto" hangingPunct="1">
              <a:spcAft>
                <a:spcPts val="0"/>
              </a:spcAft>
              <a:buFont typeface="Arial" pitchFamily="34" charset="0"/>
              <a:buNone/>
              <a:defRPr/>
            </a:pPr>
            <a:r>
              <a:rPr lang="en-US" dirty="0"/>
              <a:t> 	</a:t>
            </a:r>
          </a:p>
        </p:txBody>
      </p:sp>
    </p:spTree>
    <p:extLst>
      <p:ext uri="{BB962C8B-B14F-4D97-AF65-F5344CB8AC3E}">
        <p14:creationId xmlns:p14="http://schemas.microsoft.com/office/powerpoint/2010/main" val="28784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572"/>
            <a:ext cx="8229600" cy="1143000"/>
          </a:xfrm>
        </p:spPr>
        <p:txBody>
          <a:bodyPr/>
          <a:lstStyle/>
          <a:p>
            <a:r>
              <a:rPr lang="en-US" dirty="0"/>
              <a:t>What is the </a:t>
            </a:r>
            <a:r>
              <a:rPr lang="en-US" dirty="0" err="1"/>
              <a:t>dihydrid</a:t>
            </a:r>
            <a:r>
              <a:rPr lang="en-US" dirty="0"/>
              <a:t> ratio?</a:t>
            </a:r>
          </a:p>
        </p:txBody>
      </p:sp>
      <p:sp>
        <p:nvSpPr>
          <p:cNvPr id="3" name="Content Placeholder 2"/>
          <p:cNvSpPr>
            <a:spLocks noGrp="1"/>
          </p:cNvSpPr>
          <p:nvPr>
            <p:ph idx="1"/>
          </p:nvPr>
        </p:nvSpPr>
        <p:spPr>
          <a:xfrm>
            <a:off x="457200" y="760764"/>
            <a:ext cx="8229600" cy="4525963"/>
          </a:xfrm>
        </p:spPr>
        <p:txBody>
          <a:bodyPr>
            <a:normAutofit/>
          </a:bodyPr>
          <a:lstStyle/>
          <a:p>
            <a:pPr marL="3200400" lvl="7" indent="0">
              <a:buNone/>
            </a:pPr>
            <a:r>
              <a:rPr lang="en-US" sz="4000" dirty="0"/>
              <a:t>9:3:3:1</a:t>
            </a:r>
          </a:p>
        </p:txBody>
      </p:sp>
      <p:grpSp>
        <p:nvGrpSpPr>
          <p:cNvPr id="30" name="Group 29"/>
          <p:cNvGrpSpPr/>
          <p:nvPr/>
        </p:nvGrpSpPr>
        <p:grpSpPr>
          <a:xfrm>
            <a:off x="1227095" y="1334462"/>
            <a:ext cx="7916905" cy="3172372"/>
            <a:chOff x="1227095" y="1334462"/>
            <a:chExt cx="7916905" cy="3172372"/>
          </a:xfrm>
        </p:grpSpPr>
        <p:cxnSp>
          <p:nvCxnSpPr>
            <p:cNvPr id="5" name="Straight Arrow Connector 4"/>
            <p:cNvCxnSpPr/>
            <p:nvPr/>
          </p:nvCxnSpPr>
          <p:spPr>
            <a:xfrm flipH="1">
              <a:off x="2152796" y="1399034"/>
              <a:ext cx="1528484" cy="19156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27095" y="3207026"/>
              <a:ext cx="3100025" cy="523220"/>
            </a:xfrm>
            <a:prstGeom prst="rect">
              <a:avLst/>
            </a:prstGeom>
            <a:noFill/>
          </p:spPr>
          <p:txBody>
            <a:bodyPr wrap="square" rtlCol="0">
              <a:spAutoFit/>
            </a:bodyPr>
            <a:lstStyle/>
            <a:p>
              <a:r>
                <a:rPr lang="en-US" sz="2800" dirty="0"/>
                <a:t>Parental type</a:t>
              </a:r>
            </a:p>
          </p:txBody>
        </p:sp>
        <p:cxnSp>
          <p:nvCxnSpPr>
            <p:cNvPr id="8" name="Straight Arrow Connector 7"/>
            <p:cNvCxnSpPr/>
            <p:nvPr/>
          </p:nvCxnSpPr>
          <p:spPr>
            <a:xfrm>
              <a:off x="5231294" y="1334462"/>
              <a:ext cx="1659369" cy="191561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43975" y="3264946"/>
              <a:ext cx="3100025" cy="523220"/>
            </a:xfrm>
            <a:prstGeom prst="rect">
              <a:avLst/>
            </a:prstGeom>
            <a:noFill/>
          </p:spPr>
          <p:txBody>
            <a:bodyPr wrap="square" rtlCol="0">
              <a:spAutoFit/>
            </a:bodyPr>
            <a:lstStyle/>
            <a:p>
              <a:r>
                <a:rPr lang="en-US" sz="2800" dirty="0"/>
                <a:t>Parental type</a:t>
              </a:r>
            </a:p>
          </p:txBody>
        </p:sp>
        <p:cxnSp>
          <p:nvCxnSpPr>
            <p:cNvPr id="14" name="Straight Arrow Connector 13"/>
            <p:cNvCxnSpPr/>
            <p:nvPr/>
          </p:nvCxnSpPr>
          <p:spPr>
            <a:xfrm>
              <a:off x="4219480" y="1442082"/>
              <a:ext cx="0" cy="2539800"/>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4780912" y="1443814"/>
              <a:ext cx="0" cy="2539800"/>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552114" y="3983614"/>
              <a:ext cx="3230909" cy="523220"/>
            </a:xfrm>
            <a:prstGeom prst="rect">
              <a:avLst/>
            </a:prstGeom>
            <a:noFill/>
          </p:spPr>
          <p:txBody>
            <a:bodyPr wrap="square" rtlCol="0">
              <a:spAutoFit/>
            </a:bodyPr>
            <a:lstStyle/>
            <a:p>
              <a:r>
                <a:rPr lang="en-US" sz="2800" dirty="0"/>
                <a:t>Hybrid type</a:t>
              </a:r>
            </a:p>
          </p:txBody>
        </p:sp>
      </p:grpSp>
      <p:grpSp>
        <p:nvGrpSpPr>
          <p:cNvPr id="33" name="Group 32"/>
          <p:cNvGrpSpPr/>
          <p:nvPr/>
        </p:nvGrpSpPr>
        <p:grpSpPr>
          <a:xfrm>
            <a:off x="1566826" y="3794818"/>
            <a:ext cx="5825388" cy="2680751"/>
            <a:chOff x="1566826" y="3794818"/>
            <a:chExt cx="5825388" cy="2680751"/>
          </a:xfrm>
        </p:grpSpPr>
        <p:grpSp>
          <p:nvGrpSpPr>
            <p:cNvPr id="31" name="Group 30"/>
            <p:cNvGrpSpPr/>
            <p:nvPr/>
          </p:nvGrpSpPr>
          <p:grpSpPr>
            <a:xfrm>
              <a:off x="1566826" y="3794818"/>
              <a:ext cx="5825388" cy="2680751"/>
              <a:chOff x="1566826" y="3794818"/>
              <a:chExt cx="5825388" cy="2680751"/>
            </a:xfrm>
          </p:grpSpPr>
          <p:pic>
            <p:nvPicPr>
              <p:cNvPr id="18" name="Picture 3" descr="law of independent assortment.gif"/>
              <p:cNvPicPr>
                <a:picLocks noChangeAspect="1"/>
              </p:cNvPicPr>
              <p:nvPr/>
            </p:nvPicPr>
            <p:blipFill rotWithShape="1">
              <a:blip r:embed="rId2" cstate="print"/>
              <a:srcRect l="16864" t="81155" r="31077" b="4897"/>
              <a:stretch/>
            </p:blipFill>
            <p:spPr bwMode="auto">
              <a:xfrm>
                <a:off x="1566826" y="4829659"/>
                <a:ext cx="5825388" cy="1645910"/>
              </a:xfrm>
              <a:prstGeom prst="rect">
                <a:avLst/>
              </a:prstGeom>
              <a:noFill/>
              <a:ln w="9525">
                <a:noFill/>
                <a:miter lim="800000"/>
                <a:headEnd/>
                <a:tailEnd/>
              </a:ln>
            </p:spPr>
          </p:pic>
          <p:cxnSp>
            <p:nvCxnSpPr>
              <p:cNvPr id="27" name="Straight Arrow Connector 26"/>
              <p:cNvCxnSpPr/>
              <p:nvPr/>
            </p:nvCxnSpPr>
            <p:spPr>
              <a:xfrm>
                <a:off x="2325020" y="3794818"/>
                <a:ext cx="0" cy="77658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6761492" y="3839598"/>
                <a:ext cx="0" cy="77658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32" name="Group 31"/>
            <p:cNvGrpSpPr/>
            <p:nvPr/>
          </p:nvGrpSpPr>
          <p:grpSpPr>
            <a:xfrm>
              <a:off x="1657652" y="5811410"/>
              <a:ext cx="5623918" cy="371099"/>
              <a:chOff x="1657652" y="5811410"/>
              <a:chExt cx="5623918" cy="371099"/>
            </a:xfrm>
          </p:grpSpPr>
          <p:sp>
            <p:nvSpPr>
              <p:cNvPr id="21" name="Rectangle 20"/>
              <p:cNvSpPr/>
              <p:nvPr/>
            </p:nvSpPr>
            <p:spPr>
              <a:xfrm>
                <a:off x="1657652" y="5836363"/>
                <a:ext cx="1334734" cy="340950"/>
              </a:xfrm>
              <a:prstGeom prst="rect">
                <a:avLst/>
              </a:prstGeom>
              <a:solidFill>
                <a:srgbClr val="FFFFFF"/>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3229194" y="5811410"/>
                <a:ext cx="1142688" cy="365903"/>
              </a:xfrm>
              <a:prstGeom prst="rect">
                <a:avLst/>
              </a:prstGeom>
              <a:solidFill>
                <a:srgbClr val="FFFFFF"/>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4524284" y="5814874"/>
                <a:ext cx="1334734" cy="365903"/>
              </a:xfrm>
              <a:prstGeom prst="rect">
                <a:avLst/>
              </a:prstGeom>
              <a:solidFill>
                <a:srgbClr val="FFFFFF"/>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5946836" y="5816606"/>
                <a:ext cx="1334734" cy="365903"/>
              </a:xfrm>
              <a:prstGeom prst="rect">
                <a:avLst/>
              </a:prstGeom>
              <a:solidFill>
                <a:srgbClr val="FFFFFF"/>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
        <p:nvSpPr>
          <p:cNvPr id="25" name="TextBox 24"/>
          <p:cNvSpPr txBox="1"/>
          <p:nvPr/>
        </p:nvSpPr>
        <p:spPr>
          <a:xfrm>
            <a:off x="10677867" y="5294839"/>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8101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ChangeArrowheads="1"/>
          </p:cNvSpPr>
          <p:nvPr/>
        </p:nvSpPr>
        <p:spPr bwMode="auto">
          <a:xfrm>
            <a:off x="533400" y="1570911"/>
            <a:ext cx="8077200" cy="12311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For a trait </a:t>
            </a:r>
            <a:r>
              <a:rPr kumimoji="0" lang="en-US" sz="1600" b="0" i="0" u="none" strike="noStrike" cap="none" normalizeH="0" baseline="0" dirty="0" err="1">
                <a:ln>
                  <a:noFill/>
                </a:ln>
                <a:solidFill>
                  <a:schemeClr val="tx1"/>
                </a:solidFill>
                <a:effectLst/>
                <a:latin typeface="Arial" charset="0"/>
                <a:cs typeface="Arial" charset="0"/>
              </a:rPr>
              <a:t>contolled</a:t>
            </a:r>
            <a:r>
              <a:rPr kumimoji="0" lang="en-US" sz="1600" b="0" i="0" u="none" strike="noStrike" cap="none" normalizeH="0" baseline="0" dirty="0">
                <a:ln>
                  <a:noFill/>
                </a:ln>
                <a:solidFill>
                  <a:schemeClr val="tx1"/>
                </a:solidFill>
                <a:effectLst/>
                <a:latin typeface="Arial" charset="0"/>
                <a:cs typeface="Arial" charset="0"/>
              </a:rPr>
              <a:t> by two genes, these ratios will differ from the 9:3:3:1 that would be expected.  These altered ratios are called </a:t>
            </a:r>
            <a:r>
              <a:rPr kumimoji="0" lang="en-US" sz="1600" b="1" i="0" u="none" strike="noStrike" cap="none" normalizeH="0" baseline="0" dirty="0">
                <a:ln>
                  <a:noFill/>
                </a:ln>
                <a:solidFill>
                  <a:schemeClr val="tx1"/>
                </a:solidFill>
                <a:effectLst/>
                <a:latin typeface="Arial" charset="0"/>
                <a:cs typeface="Arial" charset="0"/>
              </a:rPr>
              <a:t>modified </a:t>
            </a:r>
            <a:r>
              <a:rPr kumimoji="0" lang="en-US" sz="1600" b="1" i="0" u="none" strike="noStrike" cap="none" normalizeH="0" baseline="0" dirty="0" err="1">
                <a:ln>
                  <a:noFill/>
                </a:ln>
                <a:solidFill>
                  <a:schemeClr val="tx1"/>
                </a:solidFill>
                <a:effectLst/>
                <a:latin typeface="Arial" charset="0"/>
                <a:cs typeface="Arial" charset="0"/>
              </a:rPr>
              <a:t>Mendelian</a:t>
            </a:r>
            <a:r>
              <a:rPr kumimoji="0" lang="en-US" sz="1600" b="1" i="0" u="none" strike="noStrike" cap="none" normalizeH="0" baseline="0" dirty="0">
                <a:ln>
                  <a:noFill/>
                </a:ln>
                <a:solidFill>
                  <a:schemeClr val="tx1"/>
                </a:solidFill>
                <a:effectLst/>
                <a:latin typeface="Arial" charset="0"/>
                <a:cs typeface="Arial" charset="0"/>
              </a:rPr>
              <a:t> ratios</a:t>
            </a:r>
            <a:r>
              <a:rPr kumimoji="0" lang="en-US" sz="1600" b="0" i="0" u="none" strike="noStrike" cap="none" normalizeH="0" baseline="0" dirty="0">
                <a:ln>
                  <a:noFill/>
                </a:ln>
                <a:solidFill>
                  <a:schemeClr val="tx1"/>
                </a:solidFill>
                <a:effectLst/>
                <a:latin typeface="Arial" charset="0"/>
                <a:cs typeface="Arial" charset="0"/>
              </a:rPr>
              <a:t>. </a:t>
            </a:r>
            <a:endParaRPr kumimoji="0" lang="en-US" sz="1200" b="0" i="0" u="none" strike="noStrike" cap="none" normalizeH="0" baseline="0" dirty="0">
              <a:ln>
                <a:noFill/>
              </a:ln>
              <a:solidFill>
                <a:schemeClr val="tx1"/>
              </a:solidFill>
              <a:effectLst/>
              <a:latin typeface="Arial" charset="0"/>
              <a:cs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cs typeface="Arial" charset="0"/>
              </a:rPr>
              <a:t>Phenotypes</a:t>
            </a:r>
            <a:r>
              <a:rPr kumimoji="0" lang="en-US" sz="2000" b="0" i="0" u="none" strike="noStrike" cap="none" normalizeH="0" baseline="0" dirty="0">
                <a:ln>
                  <a:noFill/>
                </a:ln>
                <a:solidFill>
                  <a:schemeClr val="tx1"/>
                </a:solidFill>
                <a:effectLst/>
                <a:latin typeface="Arial" charset="0"/>
                <a:cs typeface="Arial" charset="0"/>
              </a:rPr>
              <a:t>: Kernel Color in Wheat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 </a:t>
            </a:r>
            <a:r>
              <a:rPr kumimoji="0" lang="en-US" sz="1800" b="0" i="0" u="none" strike="noStrike" cap="none" normalizeH="0" baseline="0" dirty="0">
                <a:ln>
                  <a:noFill/>
                </a:ln>
                <a:solidFill>
                  <a:schemeClr val="tx1"/>
                </a:solidFill>
                <a:effectLst/>
                <a:latin typeface="Arial" charset="0"/>
                <a:cs typeface="Arial" charset="0"/>
              </a:rPr>
              <a:t>           </a:t>
            </a:r>
            <a:r>
              <a:rPr kumimoji="0" lang="en-US" sz="2200" b="0" i="0" u="none" strike="noStrike" cap="none" normalizeH="0" baseline="0" dirty="0">
                <a:ln>
                  <a:noFill/>
                </a:ln>
                <a:solidFill>
                  <a:schemeClr val="tx1"/>
                </a:solidFill>
                <a:effectLst/>
                <a:latin typeface="Arial" charset="0"/>
                <a:cs typeface="Arial" charset="0"/>
              </a:rPr>
              <a:t> </a:t>
            </a:r>
            <a:r>
              <a:rPr kumimoji="0" lang="en-US" sz="1800" b="0" i="0" u="none" strike="noStrike" cap="none" normalizeH="0" baseline="0" dirty="0">
                <a:ln>
                  <a:noFill/>
                </a:ln>
                <a:solidFill>
                  <a:schemeClr val="tx1"/>
                </a:solidFill>
                <a:effectLst/>
                <a:latin typeface="Arial" charset="0"/>
                <a:cs typeface="Arial" charset="0"/>
              </a:rPr>
              <a:t>    </a:t>
            </a:r>
            <a:endParaRPr kumimoji="0" lang="en-US" sz="2200" b="0" i="0" u="none" strike="noStrike" cap="none" normalizeH="0" baseline="0" dirty="0">
              <a:ln>
                <a:noFill/>
              </a:ln>
              <a:solidFill>
                <a:schemeClr val="tx1"/>
              </a:solidFill>
              <a:effectLst/>
              <a:latin typeface="Arial" charset="0"/>
              <a:cs typeface="Arial" charset="0"/>
            </a:endParaRPr>
          </a:p>
        </p:txBody>
      </p:sp>
      <p:sp>
        <p:nvSpPr>
          <p:cNvPr id="9" name="TextBox 8"/>
          <p:cNvSpPr txBox="1"/>
          <p:nvPr/>
        </p:nvSpPr>
        <p:spPr>
          <a:xfrm>
            <a:off x="685800" y="609600"/>
            <a:ext cx="8001000" cy="584775"/>
          </a:xfrm>
          <a:prstGeom prst="rect">
            <a:avLst/>
          </a:prstGeom>
          <a:noFill/>
        </p:spPr>
        <p:txBody>
          <a:bodyPr wrap="square" rtlCol="0">
            <a:spAutoFit/>
          </a:bodyPr>
          <a:lstStyle/>
          <a:p>
            <a:pPr algn="ctr"/>
            <a:r>
              <a:rPr lang="en-US" sz="3200" dirty="0">
                <a:latin typeface="Comic Sans MS" pitchFamily="66" charset="0"/>
              </a:rPr>
              <a:t>Modified Mendel Ratio in Wheat Kernel</a:t>
            </a:r>
          </a:p>
        </p:txBody>
      </p:sp>
      <p:sp>
        <p:nvSpPr>
          <p:cNvPr id="12" name="TextBox 11"/>
          <p:cNvSpPr txBox="1"/>
          <p:nvPr/>
        </p:nvSpPr>
        <p:spPr>
          <a:xfrm>
            <a:off x="762000" y="3200400"/>
            <a:ext cx="7315200" cy="369332"/>
          </a:xfrm>
          <a:prstGeom prst="rect">
            <a:avLst/>
          </a:prstGeom>
          <a:noFill/>
          <a:ln>
            <a:solidFill>
              <a:schemeClr val="tx1"/>
            </a:solidFill>
          </a:ln>
        </p:spPr>
        <p:txBody>
          <a:bodyPr wrap="square" rtlCol="0">
            <a:spAutoFit/>
          </a:bodyPr>
          <a:lstStyle/>
          <a:p>
            <a:r>
              <a:rPr lang="en-US" dirty="0"/>
              <a:t>Parental Cross-   AABB (</a:t>
            </a:r>
            <a:r>
              <a:rPr lang="en-US" dirty="0" err="1"/>
              <a:t>coloured</a:t>
            </a:r>
            <a:r>
              <a:rPr lang="en-US" dirty="0"/>
              <a:t> kernel)  X    </a:t>
            </a:r>
            <a:r>
              <a:rPr lang="en-US" dirty="0" err="1"/>
              <a:t>aabb</a:t>
            </a:r>
            <a:r>
              <a:rPr lang="en-US" dirty="0"/>
              <a:t> (</a:t>
            </a:r>
            <a:r>
              <a:rPr lang="en-US" dirty="0" err="1"/>
              <a:t>colourless</a:t>
            </a:r>
            <a:r>
              <a:rPr lang="en-US" dirty="0"/>
              <a:t> kernel)</a:t>
            </a:r>
          </a:p>
        </p:txBody>
      </p:sp>
      <p:cxnSp>
        <p:nvCxnSpPr>
          <p:cNvPr id="14" name="Straight Arrow Connector 13"/>
          <p:cNvCxnSpPr/>
          <p:nvPr/>
        </p:nvCxnSpPr>
        <p:spPr>
          <a:xfrm rot="5400000">
            <a:off x="4914900" y="4075906"/>
            <a:ext cx="685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71800" y="4507468"/>
            <a:ext cx="5410200" cy="369332"/>
          </a:xfrm>
          <a:prstGeom prst="rect">
            <a:avLst/>
          </a:prstGeom>
          <a:noFill/>
          <a:ln>
            <a:solidFill>
              <a:schemeClr val="tx1"/>
            </a:solidFill>
          </a:ln>
        </p:spPr>
        <p:txBody>
          <a:bodyPr wrap="square" rtlCol="0">
            <a:spAutoFit/>
          </a:bodyPr>
          <a:lstStyle/>
          <a:p>
            <a:r>
              <a:rPr lang="en-US" dirty="0"/>
              <a:t>    F1  -            </a:t>
            </a:r>
            <a:r>
              <a:rPr lang="en-US" dirty="0" err="1"/>
              <a:t>coloured</a:t>
            </a:r>
            <a:r>
              <a:rPr lang="en-US" dirty="0"/>
              <a:t> kernel (</a:t>
            </a:r>
            <a:r>
              <a:rPr lang="en-US" dirty="0" err="1"/>
              <a:t>AaBb</a:t>
            </a:r>
            <a:r>
              <a:rPr lang="en-US" dirty="0"/>
              <a:t>)</a:t>
            </a:r>
          </a:p>
        </p:txBody>
      </p:sp>
      <p:cxnSp>
        <p:nvCxnSpPr>
          <p:cNvPr id="16" name="Straight Arrow Connector 15"/>
          <p:cNvCxnSpPr/>
          <p:nvPr/>
        </p:nvCxnSpPr>
        <p:spPr>
          <a:xfrm rot="5400000">
            <a:off x="4915694" y="5371306"/>
            <a:ext cx="685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09800" y="5791200"/>
            <a:ext cx="5791200" cy="369332"/>
          </a:xfrm>
          <a:prstGeom prst="rect">
            <a:avLst/>
          </a:prstGeom>
          <a:noFill/>
          <a:ln>
            <a:solidFill>
              <a:schemeClr val="tx1"/>
            </a:solidFill>
          </a:ln>
        </p:spPr>
        <p:txBody>
          <a:bodyPr wrap="square" rtlCol="0">
            <a:spAutoFit/>
          </a:bodyPr>
          <a:lstStyle/>
          <a:p>
            <a:r>
              <a:rPr lang="en-US" dirty="0"/>
              <a:t>    F2  -            15 </a:t>
            </a:r>
            <a:r>
              <a:rPr lang="en-US" dirty="0" err="1"/>
              <a:t>Coloured</a:t>
            </a:r>
            <a:r>
              <a:rPr lang="en-US" dirty="0"/>
              <a:t> kernel:  1 </a:t>
            </a:r>
            <a:r>
              <a:rPr lang="en-US" dirty="0" err="1"/>
              <a:t>Colourless</a:t>
            </a:r>
            <a:r>
              <a:rPr lang="en-US" dirty="0"/>
              <a:t> kernel</a:t>
            </a:r>
          </a:p>
        </p:txBody>
      </p:sp>
    </p:spTree>
    <p:extLst>
      <p:ext uri="{BB962C8B-B14F-4D97-AF65-F5344CB8AC3E}">
        <p14:creationId xmlns:p14="http://schemas.microsoft.com/office/powerpoint/2010/main" val="3677590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Punnett</a:t>
            </a:r>
            <a:r>
              <a:rPr lang="en-US" dirty="0"/>
              <a:t> Square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94349326"/>
              </p:ext>
            </p:extLst>
          </p:nvPr>
        </p:nvGraphicFramePr>
        <p:xfrm>
          <a:off x="1081317" y="1698952"/>
          <a:ext cx="7277443" cy="4344043"/>
        </p:xfrm>
        <a:graphic>
          <a:graphicData uri="http://schemas.openxmlformats.org/drawingml/2006/table">
            <a:tbl>
              <a:tblPr firstRow="1" bandRow="1">
                <a:tableStyleId>{5C22544A-7EE6-4342-B048-85BDC9FD1C3A}</a:tableStyleId>
              </a:tblPr>
              <a:tblGrid>
                <a:gridCol w="1098481">
                  <a:extLst>
                    <a:ext uri="{9D8B030D-6E8A-4147-A177-3AD203B41FA5}">
                      <a16:colId xmlns:a16="http://schemas.microsoft.com/office/drawing/2014/main" val="20000"/>
                    </a:ext>
                  </a:extLst>
                </a:gridCol>
                <a:gridCol w="1726377">
                  <a:extLst>
                    <a:ext uri="{9D8B030D-6E8A-4147-A177-3AD203B41FA5}">
                      <a16:colId xmlns:a16="http://schemas.microsoft.com/office/drawing/2014/main" val="20001"/>
                    </a:ext>
                  </a:extLst>
                </a:gridCol>
                <a:gridCol w="1484195">
                  <a:extLst>
                    <a:ext uri="{9D8B030D-6E8A-4147-A177-3AD203B41FA5}">
                      <a16:colId xmlns:a16="http://schemas.microsoft.com/office/drawing/2014/main" val="20002"/>
                    </a:ext>
                  </a:extLst>
                </a:gridCol>
                <a:gridCol w="1484195">
                  <a:extLst>
                    <a:ext uri="{9D8B030D-6E8A-4147-A177-3AD203B41FA5}">
                      <a16:colId xmlns:a16="http://schemas.microsoft.com/office/drawing/2014/main" val="20003"/>
                    </a:ext>
                  </a:extLst>
                </a:gridCol>
                <a:gridCol w="1484195">
                  <a:extLst>
                    <a:ext uri="{9D8B030D-6E8A-4147-A177-3AD203B41FA5}">
                      <a16:colId xmlns:a16="http://schemas.microsoft.com/office/drawing/2014/main" val="20004"/>
                    </a:ext>
                  </a:extLst>
                </a:gridCol>
              </a:tblGrid>
              <a:tr h="686443">
                <a:tc>
                  <a:txBody>
                    <a:bodyPr/>
                    <a:lstStyle/>
                    <a:p>
                      <a:r>
                        <a:rPr lang="en-US" dirty="0">
                          <a:solidFill>
                            <a:schemeClr val="tx1"/>
                          </a:solidFill>
                        </a:rPr>
                        <a:t>Gametes</a:t>
                      </a:r>
                    </a:p>
                  </a:txBody>
                  <a:tcPr>
                    <a:noFill/>
                  </a:tcPr>
                </a:tc>
                <a:tc>
                  <a:txBody>
                    <a:bodyPr/>
                    <a:lstStyle/>
                    <a:p>
                      <a:r>
                        <a:rPr lang="en-US" dirty="0"/>
                        <a:t>AB</a:t>
                      </a:r>
                    </a:p>
                  </a:txBody>
                  <a:tcPr>
                    <a:solidFill>
                      <a:srgbClr val="3366FF"/>
                    </a:solidFill>
                  </a:tcPr>
                </a:tc>
                <a:tc>
                  <a:txBody>
                    <a:bodyPr/>
                    <a:lstStyle/>
                    <a:p>
                      <a:r>
                        <a:rPr lang="en-US" dirty="0" err="1"/>
                        <a:t>Ab</a:t>
                      </a:r>
                      <a:endParaRPr lang="en-US" dirty="0"/>
                    </a:p>
                  </a:txBody>
                  <a:tcPr>
                    <a:solidFill>
                      <a:srgbClr val="3366FF"/>
                    </a:solidFill>
                  </a:tcPr>
                </a:tc>
                <a:tc>
                  <a:txBody>
                    <a:bodyPr/>
                    <a:lstStyle/>
                    <a:p>
                      <a:r>
                        <a:rPr lang="en-US" dirty="0" err="1"/>
                        <a:t>aB</a:t>
                      </a:r>
                      <a:endParaRPr lang="en-US" dirty="0"/>
                    </a:p>
                  </a:txBody>
                  <a:tcPr>
                    <a:solidFill>
                      <a:srgbClr val="3366FF"/>
                    </a:solidFill>
                  </a:tcPr>
                </a:tc>
                <a:tc>
                  <a:txBody>
                    <a:bodyPr/>
                    <a:lstStyle/>
                    <a:p>
                      <a:r>
                        <a:rPr lang="en-US" dirty="0" err="1"/>
                        <a:t>ab</a:t>
                      </a:r>
                      <a:endParaRPr lang="en-US" dirty="0"/>
                    </a:p>
                  </a:txBody>
                  <a:tcPr>
                    <a:solidFill>
                      <a:srgbClr val="3366FF"/>
                    </a:solidFill>
                  </a:tcPr>
                </a:tc>
                <a:extLst>
                  <a:ext uri="{0D108BD9-81ED-4DB2-BD59-A6C34878D82A}">
                    <a16:rowId xmlns:a16="http://schemas.microsoft.com/office/drawing/2014/main" val="10000"/>
                  </a:ext>
                </a:extLst>
              </a:tr>
              <a:tr h="686443">
                <a:tc>
                  <a:txBody>
                    <a:bodyPr/>
                    <a:lstStyle/>
                    <a:p>
                      <a:r>
                        <a:rPr lang="en-US" dirty="0"/>
                        <a:t>AB</a:t>
                      </a:r>
                    </a:p>
                  </a:txBody>
                  <a:tcPr>
                    <a:solidFill>
                      <a:srgbClr val="FF67D5"/>
                    </a:solidFill>
                  </a:tcPr>
                </a:tc>
                <a:tc>
                  <a:txBody>
                    <a:bodyPr/>
                    <a:lstStyle/>
                    <a:p>
                      <a:r>
                        <a:rPr lang="en-US" dirty="0"/>
                        <a:t>AABB</a:t>
                      </a:r>
                    </a:p>
                    <a:p>
                      <a:r>
                        <a:rPr lang="en-US" dirty="0"/>
                        <a:t>(Colored)</a:t>
                      </a:r>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extLst>
                  <a:ext uri="{0D108BD9-81ED-4DB2-BD59-A6C34878D82A}">
                    <a16:rowId xmlns:a16="http://schemas.microsoft.com/office/drawing/2014/main" val="10001"/>
                  </a:ext>
                </a:extLst>
              </a:tr>
              <a:tr h="686443">
                <a:tc>
                  <a:txBody>
                    <a:bodyPr/>
                    <a:lstStyle/>
                    <a:p>
                      <a:r>
                        <a:rPr lang="en-US" dirty="0" err="1"/>
                        <a:t>Ab</a:t>
                      </a:r>
                      <a:endParaRPr lang="en-US" dirty="0"/>
                    </a:p>
                  </a:txBody>
                  <a:tcPr>
                    <a:solidFill>
                      <a:srgbClr val="FF67D5"/>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extLst>
                  <a:ext uri="{0D108BD9-81ED-4DB2-BD59-A6C34878D82A}">
                    <a16:rowId xmlns:a16="http://schemas.microsoft.com/office/drawing/2014/main" val="10002"/>
                  </a:ext>
                </a:extLst>
              </a:tr>
              <a:tr h="686443">
                <a:tc>
                  <a:txBody>
                    <a:bodyPr/>
                    <a:lstStyle/>
                    <a:p>
                      <a:r>
                        <a:rPr lang="en-US" dirty="0" err="1"/>
                        <a:t>aB</a:t>
                      </a:r>
                      <a:endParaRPr lang="en-US" dirty="0"/>
                    </a:p>
                  </a:txBody>
                  <a:tcPr>
                    <a:solidFill>
                      <a:srgbClr val="FF67D5"/>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extLst>
                  <a:ext uri="{0D108BD9-81ED-4DB2-BD59-A6C34878D82A}">
                    <a16:rowId xmlns:a16="http://schemas.microsoft.com/office/drawing/2014/main" val="10003"/>
                  </a:ext>
                </a:extLst>
              </a:tr>
              <a:tr h="686443">
                <a:tc>
                  <a:txBody>
                    <a:bodyPr/>
                    <a:lstStyle/>
                    <a:p>
                      <a:r>
                        <a:rPr lang="en-US" dirty="0" err="1"/>
                        <a:t>ab</a:t>
                      </a:r>
                      <a:endParaRPr lang="en-US" dirty="0"/>
                    </a:p>
                  </a:txBody>
                  <a:tcPr>
                    <a:solidFill>
                      <a:srgbClr val="FF67D5"/>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FF00"/>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(Colorless)</a:t>
                      </a:r>
                    </a:p>
                    <a:p>
                      <a:endParaRPr lang="en-US" dirty="0"/>
                    </a:p>
                  </a:txBody>
                  <a:tcP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8452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dirty="0">
                <a:latin typeface="Comic Sans MS" pitchFamily="66" charset="0"/>
              </a:rPr>
              <a:t>Biochemical Explanation</a:t>
            </a:r>
          </a:p>
        </p:txBody>
      </p:sp>
      <p:graphicFrame>
        <p:nvGraphicFramePr>
          <p:cNvPr id="4" name="Content Placeholder 3"/>
          <p:cNvGraphicFramePr>
            <a:graphicFrameLocks noGrp="1"/>
          </p:cNvGraphicFramePr>
          <p:nvPr>
            <p:ph idx="1"/>
          </p:nvPr>
        </p:nvGraphicFramePr>
        <p:xfrm>
          <a:off x="2057400" y="2362200"/>
          <a:ext cx="6063679" cy="2186940"/>
        </p:xfrm>
        <a:graphic>
          <a:graphicData uri="http://schemas.openxmlformats.org/drawingml/2006/table">
            <a:tbl>
              <a:tblPr/>
              <a:tblGrid>
                <a:gridCol w="1278001">
                  <a:extLst>
                    <a:ext uri="{9D8B030D-6E8A-4147-A177-3AD203B41FA5}">
                      <a16:colId xmlns:a16="http://schemas.microsoft.com/office/drawing/2014/main" val="20000"/>
                    </a:ext>
                  </a:extLst>
                </a:gridCol>
                <a:gridCol w="2392839">
                  <a:extLst>
                    <a:ext uri="{9D8B030D-6E8A-4147-A177-3AD203B41FA5}">
                      <a16:colId xmlns:a16="http://schemas.microsoft.com/office/drawing/2014/main" val="20001"/>
                    </a:ext>
                  </a:extLst>
                </a:gridCol>
                <a:gridCol w="2392839">
                  <a:extLst>
                    <a:ext uri="{9D8B030D-6E8A-4147-A177-3AD203B41FA5}">
                      <a16:colId xmlns:a16="http://schemas.microsoft.com/office/drawing/2014/main" val="20002"/>
                    </a:ext>
                  </a:extLst>
                </a:gridCol>
              </a:tblGrid>
              <a:tr h="0">
                <a:tc>
                  <a:txBody>
                    <a:bodyPr/>
                    <a:lstStyle/>
                    <a:p>
                      <a:endParaRPr lang="en-US" dirty="0"/>
                    </a:p>
                  </a:txBody>
                  <a:tcPr marL="19050" marR="19050" marT="19050" marB="19050" anchor="ctr">
                    <a:lnL>
                      <a:noFill/>
                    </a:lnL>
                    <a:lnR>
                      <a:noFill/>
                    </a:lnR>
                    <a:lnT>
                      <a:noFill/>
                    </a:lnT>
                    <a:lnB>
                      <a:noFill/>
                    </a:lnB>
                  </a:tcPr>
                </a:tc>
                <a:tc>
                  <a:txBody>
                    <a:bodyPr/>
                    <a:lstStyle/>
                    <a:p>
                      <a:pPr algn="ctr"/>
                      <a:r>
                        <a:rPr lang="en-US"/>
                        <a:t>Gene A </a:t>
                      </a:r>
                    </a:p>
                  </a:txBody>
                  <a:tcPr marL="19050" marR="19050" marT="19050" marB="19050" anchor="ctr">
                    <a:lnL>
                      <a:noFill/>
                    </a:lnL>
                    <a:lnR>
                      <a:noFill/>
                    </a:lnR>
                    <a:lnT>
                      <a:noFill/>
                    </a:lnT>
                    <a:lnB>
                      <a:noFill/>
                    </a:lnB>
                  </a:tcPr>
                </a:tc>
                <a:tc>
                  <a:txBody>
                    <a:bodyPr/>
                    <a:lstStyle/>
                    <a:p>
                      <a:endParaRPr lang="en-US" dirty="0"/>
                    </a:p>
                  </a:txBody>
                  <a:tcPr marL="19050" marR="19050" marT="19050" marB="19050" anchor="ctr">
                    <a:lnL>
                      <a:noFill/>
                    </a:lnL>
                    <a:lnR>
                      <a:noFill/>
                    </a:lnR>
                    <a:lnT>
                      <a:noFill/>
                    </a:lnT>
                    <a:lnB>
                      <a:noFill/>
                    </a:lnB>
                  </a:tcPr>
                </a:tc>
                <a:extLst>
                  <a:ext uri="{0D108BD9-81ED-4DB2-BD59-A6C34878D82A}">
                    <a16:rowId xmlns:a16="http://schemas.microsoft.com/office/drawing/2014/main" val="10000"/>
                  </a:ext>
                </a:extLst>
              </a:tr>
              <a:tr h="0">
                <a:tc>
                  <a:txBody>
                    <a:bodyPr/>
                    <a:lstStyle/>
                    <a:p>
                      <a:endParaRPr lang="en-US"/>
                    </a:p>
                  </a:txBody>
                  <a:tcPr marL="19050" marR="19050" marT="19050" marB="19050" anchor="ctr">
                    <a:lnL>
                      <a:noFill/>
                    </a:lnL>
                    <a:lnR>
                      <a:noFill/>
                    </a:lnR>
                    <a:lnT>
                      <a:noFill/>
                    </a:lnT>
                    <a:lnB>
                      <a:noFill/>
                    </a:lnB>
                  </a:tcPr>
                </a:tc>
                <a:tc>
                  <a:txBody>
                    <a:bodyPr/>
                    <a:lstStyle/>
                    <a:p>
                      <a:pPr algn="ctr"/>
                      <a:endParaRPr lang="en-US"/>
                    </a:p>
                  </a:txBody>
                  <a:tcPr marL="19050" marR="19050" marT="19050" marB="19050" anchor="ctr">
                    <a:lnL>
                      <a:noFill/>
                    </a:lnL>
                    <a:lnR>
                      <a:noFill/>
                    </a:lnR>
                    <a:lnT>
                      <a:noFill/>
                    </a:lnT>
                    <a:lnB>
                      <a:noFill/>
                    </a:lnB>
                  </a:tcPr>
                </a:tc>
                <a:tc>
                  <a:txBody>
                    <a:bodyPr/>
                    <a:lstStyle/>
                    <a:p>
                      <a:endParaRPr lang="en-US"/>
                    </a:p>
                  </a:txBody>
                  <a:tcPr marL="19050" marR="19050" marT="19050" marB="19050" anchor="ctr">
                    <a:lnL>
                      <a:noFill/>
                    </a:lnL>
                    <a:lnR>
                      <a:noFill/>
                    </a:lnR>
                    <a:lnT>
                      <a:noFill/>
                    </a:lnT>
                    <a:lnB>
                      <a:noFill/>
                    </a:lnB>
                  </a:tcPr>
                </a:tc>
                <a:extLst>
                  <a:ext uri="{0D108BD9-81ED-4DB2-BD59-A6C34878D82A}">
                    <a16:rowId xmlns:a16="http://schemas.microsoft.com/office/drawing/2014/main" val="10001"/>
                  </a:ext>
                </a:extLst>
              </a:tr>
              <a:tr h="0">
                <a:tc>
                  <a:txBody>
                    <a:bodyPr/>
                    <a:lstStyle/>
                    <a:p>
                      <a:endParaRPr lang="en-US"/>
                    </a:p>
                  </a:txBody>
                  <a:tcPr marL="19050" marR="19050" marT="19050" marB="19050" anchor="ctr">
                    <a:lnL>
                      <a:noFill/>
                    </a:lnL>
                    <a:lnR>
                      <a:noFill/>
                    </a:lnR>
                    <a:lnT>
                      <a:noFill/>
                    </a:lnT>
                    <a:lnB>
                      <a:noFill/>
                    </a:lnB>
                  </a:tcPr>
                </a:tc>
                <a:tc>
                  <a:txBody>
                    <a:bodyPr/>
                    <a:lstStyle/>
                    <a:p>
                      <a:r>
                        <a:rPr lang="en-US" dirty="0"/>
                        <a:t>           Enzyme A </a:t>
                      </a:r>
                    </a:p>
                  </a:txBody>
                  <a:tcPr marL="19050" marR="19050" marT="19050" marB="19050" anchor="ctr">
                    <a:lnL>
                      <a:noFill/>
                    </a:lnL>
                    <a:lnR>
                      <a:noFill/>
                    </a:lnR>
                    <a:lnT>
                      <a:noFill/>
                    </a:lnT>
                    <a:lnB>
                      <a:noFill/>
                    </a:lnB>
                  </a:tcPr>
                </a:tc>
                <a:tc>
                  <a:txBody>
                    <a:bodyPr/>
                    <a:lstStyle/>
                    <a:p>
                      <a:endParaRPr lang="en-US" dirty="0"/>
                    </a:p>
                  </a:txBody>
                  <a:tcPr marL="19050" marR="19050" marT="19050" marB="19050"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US" dirty="0"/>
                        <a:t>Precursor  </a:t>
                      </a:r>
                    </a:p>
                  </a:txBody>
                  <a:tcPr marL="19050" marR="19050" marT="19050" marB="19050" anchor="ctr">
                    <a:lnL>
                      <a:noFill/>
                    </a:lnL>
                    <a:lnR>
                      <a:noFill/>
                    </a:lnR>
                    <a:lnT>
                      <a:noFill/>
                    </a:lnT>
                    <a:lnB>
                      <a:noFill/>
                    </a:lnB>
                  </a:tcPr>
                </a:tc>
                <a:tc>
                  <a:txBody>
                    <a:bodyPr/>
                    <a:lstStyle/>
                    <a:p>
                      <a:pPr algn="ctr"/>
                      <a:endParaRPr lang="en-US"/>
                    </a:p>
                  </a:txBody>
                  <a:tcPr marL="19050" marR="19050" marT="19050" marB="19050" anchor="ctr">
                    <a:lnL>
                      <a:noFill/>
                    </a:lnL>
                    <a:lnR>
                      <a:noFill/>
                    </a:lnR>
                    <a:lnT>
                      <a:noFill/>
                    </a:lnT>
                    <a:lnB>
                      <a:noFill/>
                    </a:lnB>
                  </a:tcPr>
                </a:tc>
                <a:tc>
                  <a:txBody>
                    <a:bodyPr/>
                    <a:lstStyle/>
                    <a:p>
                      <a:r>
                        <a:rPr lang="en-US" dirty="0"/>
                        <a:t>Product  (kernel </a:t>
                      </a:r>
                      <a:r>
                        <a:rPr lang="en-US" baseline="0" dirty="0" err="1"/>
                        <a:t>colour</a:t>
                      </a:r>
                      <a:r>
                        <a:rPr lang="en-US" baseline="0" dirty="0"/>
                        <a:t>)</a:t>
                      </a:r>
                      <a:endParaRPr lang="en-US" dirty="0"/>
                    </a:p>
                  </a:txBody>
                  <a:tcPr marL="19050" marR="19050" marT="19050" marB="19050" anchor="ctr">
                    <a:lnL>
                      <a:noFill/>
                    </a:lnL>
                    <a:lnR>
                      <a:noFill/>
                    </a:lnR>
                    <a:lnT>
                      <a:noFill/>
                    </a:lnT>
                    <a:lnB>
                      <a:noFill/>
                    </a:lnB>
                  </a:tcPr>
                </a:tc>
                <a:extLst>
                  <a:ext uri="{0D108BD9-81ED-4DB2-BD59-A6C34878D82A}">
                    <a16:rowId xmlns:a16="http://schemas.microsoft.com/office/drawing/2014/main" val="10003"/>
                  </a:ext>
                </a:extLst>
              </a:tr>
              <a:tr h="0">
                <a:tc>
                  <a:txBody>
                    <a:bodyPr/>
                    <a:lstStyle/>
                    <a:p>
                      <a:endParaRPr lang="en-US"/>
                    </a:p>
                  </a:txBody>
                  <a:tcPr marL="19050" marR="19050" marT="19050" marB="19050" anchor="ctr">
                    <a:lnL>
                      <a:noFill/>
                    </a:lnL>
                    <a:lnR>
                      <a:noFill/>
                    </a:lnR>
                    <a:lnT>
                      <a:noFill/>
                    </a:lnT>
                    <a:lnB>
                      <a:noFill/>
                    </a:lnB>
                  </a:tcPr>
                </a:tc>
                <a:tc>
                  <a:txBody>
                    <a:bodyPr/>
                    <a:lstStyle/>
                    <a:p>
                      <a:pPr algn="ctr"/>
                      <a:r>
                        <a:rPr lang="en-US"/>
                        <a:t>Enzyme B </a:t>
                      </a:r>
                    </a:p>
                  </a:txBody>
                  <a:tcPr marL="19050" marR="19050" marT="19050" marB="19050" anchor="ctr">
                    <a:lnL>
                      <a:noFill/>
                    </a:lnL>
                    <a:lnR>
                      <a:noFill/>
                    </a:lnR>
                    <a:lnT>
                      <a:noFill/>
                    </a:lnT>
                    <a:lnB>
                      <a:noFill/>
                    </a:lnB>
                  </a:tcPr>
                </a:tc>
                <a:tc>
                  <a:txBody>
                    <a:bodyPr/>
                    <a:lstStyle/>
                    <a:p>
                      <a:endParaRPr lang="en-US"/>
                    </a:p>
                  </a:txBody>
                  <a:tcPr marL="19050" marR="19050" marT="19050" marB="19050" anchor="ctr">
                    <a:lnL>
                      <a:noFill/>
                    </a:lnL>
                    <a:lnR>
                      <a:noFill/>
                    </a:lnR>
                    <a:lnT>
                      <a:noFill/>
                    </a:lnT>
                    <a:lnB>
                      <a:noFill/>
                    </a:lnB>
                  </a:tcPr>
                </a:tc>
                <a:extLst>
                  <a:ext uri="{0D108BD9-81ED-4DB2-BD59-A6C34878D82A}">
                    <a16:rowId xmlns:a16="http://schemas.microsoft.com/office/drawing/2014/main" val="10004"/>
                  </a:ext>
                </a:extLst>
              </a:tr>
              <a:tr h="0">
                <a:tc>
                  <a:txBody>
                    <a:bodyPr/>
                    <a:lstStyle/>
                    <a:p>
                      <a:endParaRPr lang="en-US"/>
                    </a:p>
                  </a:txBody>
                  <a:tcPr marL="19050" marR="19050" marT="19050" marB="19050" anchor="ctr">
                    <a:lnL>
                      <a:noFill/>
                    </a:lnL>
                    <a:lnR>
                      <a:noFill/>
                    </a:lnR>
                    <a:lnT>
                      <a:noFill/>
                    </a:lnT>
                    <a:lnB>
                      <a:noFill/>
                    </a:lnB>
                  </a:tcPr>
                </a:tc>
                <a:tc>
                  <a:txBody>
                    <a:bodyPr/>
                    <a:lstStyle/>
                    <a:p>
                      <a:pPr algn="ctr"/>
                      <a:endParaRPr lang="en-US"/>
                    </a:p>
                  </a:txBody>
                  <a:tcPr marL="19050" marR="19050" marT="19050" marB="19050" anchor="ctr">
                    <a:lnL>
                      <a:noFill/>
                    </a:lnL>
                    <a:lnR>
                      <a:noFill/>
                    </a:lnR>
                    <a:lnT>
                      <a:noFill/>
                    </a:lnT>
                    <a:lnB>
                      <a:noFill/>
                    </a:lnB>
                  </a:tcPr>
                </a:tc>
                <a:tc>
                  <a:txBody>
                    <a:bodyPr/>
                    <a:lstStyle/>
                    <a:p>
                      <a:endParaRPr lang="en-US"/>
                    </a:p>
                  </a:txBody>
                  <a:tcPr marL="19050" marR="19050" marT="19050" marB="19050" anchor="ctr">
                    <a:lnL>
                      <a:noFill/>
                    </a:lnL>
                    <a:lnR>
                      <a:noFill/>
                    </a:lnR>
                    <a:lnT>
                      <a:noFill/>
                    </a:lnT>
                    <a:lnB>
                      <a:noFill/>
                    </a:lnB>
                  </a:tcPr>
                </a:tc>
                <a:extLst>
                  <a:ext uri="{0D108BD9-81ED-4DB2-BD59-A6C34878D82A}">
                    <a16:rowId xmlns:a16="http://schemas.microsoft.com/office/drawing/2014/main" val="10005"/>
                  </a:ext>
                </a:extLst>
              </a:tr>
              <a:tr h="0">
                <a:tc>
                  <a:txBody>
                    <a:bodyPr/>
                    <a:lstStyle/>
                    <a:p>
                      <a:endParaRPr lang="en-US"/>
                    </a:p>
                  </a:txBody>
                  <a:tcPr marL="19050" marR="19050" marT="19050" marB="19050" anchor="ctr">
                    <a:lnL>
                      <a:noFill/>
                    </a:lnL>
                    <a:lnR>
                      <a:noFill/>
                    </a:lnR>
                    <a:lnT>
                      <a:noFill/>
                    </a:lnT>
                    <a:lnB>
                      <a:noFill/>
                    </a:lnB>
                  </a:tcPr>
                </a:tc>
                <a:tc>
                  <a:txBody>
                    <a:bodyPr/>
                    <a:lstStyle/>
                    <a:p>
                      <a:pPr algn="ctr"/>
                      <a:r>
                        <a:rPr lang="en-US"/>
                        <a:t>Gene B </a:t>
                      </a:r>
                    </a:p>
                  </a:txBody>
                  <a:tcPr marL="19050" marR="19050" marT="19050" marB="19050" anchor="ctr">
                    <a:lnL>
                      <a:noFill/>
                    </a:lnL>
                    <a:lnR>
                      <a:noFill/>
                    </a:lnR>
                    <a:lnT>
                      <a:noFill/>
                    </a:lnT>
                    <a:lnB>
                      <a:noFill/>
                    </a:lnB>
                  </a:tcPr>
                </a:tc>
                <a:tc>
                  <a:txBody>
                    <a:bodyPr/>
                    <a:lstStyle/>
                    <a:p>
                      <a:endParaRPr lang="en-US" dirty="0"/>
                    </a:p>
                  </a:txBody>
                  <a:tcPr marL="19050" marR="19050" marT="19050" marB="19050" anchor="ctr">
                    <a:lnL>
                      <a:noFill/>
                    </a:lnL>
                    <a:lnR>
                      <a:noFill/>
                    </a:lnR>
                    <a:lnT>
                      <a:noFill/>
                    </a:lnT>
                    <a:lnB>
                      <a:noFill/>
                    </a:lnB>
                  </a:tcPr>
                </a:tc>
                <a:extLst>
                  <a:ext uri="{0D108BD9-81ED-4DB2-BD59-A6C34878D82A}">
                    <a16:rowId xmlns:a16="http://schemas.microsoft.com/office/drawing/2014/main" val="10006"/>
                  </a:ext>
                </a:extLst>
              </a:tr>
            </a:tbl>
          </a:graphicData>
        </a:graphic>
      </p:graphicFrame>
      <p:pic>
        <p:nvPicPr>
          <p:cNvPr id="5" name="Picture 5" descr="http://www.ndsu.edu/pubweb/~mcclean/plsc431/overheads/icons/arrow.jpg"/>
          <p:cNvPicPr>
            <a:picLocks noChangeAspect="1" noChangeArrowheads="1"/>
          </p:cNvPicPr>
          <p:nvPr/>
        </p:nvPicPr>
        <p:blipFill>
          <a:blip r:embed="rId2" cstate="print"/>
          <a:srcRect/>
          <a:stretch>
            <a:fillRect/>
          </a:stretch>
        </p:blipFill>
        <p:spPr bwMode="auto">
          <a:xfrm>
            <a:off x="4375721" y="2663349"/>
            <a:ext cx="171450" cy="352425"/>
          </a:xfrm>
          <a:prstGeom prst="rect">
            <a:avLst/>
          </a:prstGeom>
          <a:noFill/>
        </p:spPr>
      </p:pic>
      <p:pic>
        <p:nvPicPr>
          <p:cNvPr id="6" name="Picture 6" descr="http://www.ndsu.edu/pubweb/~mcclean/plsc431/overheads/icons/arrow4.jpg"/>
          <p:cNvPicPr>
            <a:picLocks noChangeAspect="1" noChangeArrowheads="1"/>
          </p:cNvPicPr>
          <p:nvPr/>
        </p:nvPicPr>
        <p:blipFill>
          <a:blip r:embed="rId3" cstate="print"/>
          <a:srcRect/>
          <a:stretch>
            <a:fillRect/>
          </a:stretch>
        </p:blipFill>
        <p:spPr bwMode="auto">
          <a:xfrm>
            <a:off x="4070921" y="3349149"/>
            <a:ext cx="762000" cy="370703"/>
          </a:xfrm>
          <a:prstGeom prst="rect">
            <a:avLst/>
          </a:prstGeom>
          <a:noFill/>
        </p:spPr>
      </p:pic>
      <p:pic>
        <p:nvPicPr>
          <p:cNvPr id="7" name="Picture 7" descr="http://www.ndsu.edu/pubweb/~mcclean/plsc431/overheads/icons/arrow3.jpg"/>
          <p:cNvPicPr>
            <a:picLocks noChangeAspect="1" noChangeArrowheads="1"/>
          </p:cNvPicPr>
          <p:nvPr/>
        </p:nvPicPr>
        <p:blipFill>
          <a:blip r:embed="rId4" cstate="print"/>
          <a:srcRect/>
          <a:stretch>
            <a:fillRect/>
          </a:stretch>
        </p:blipFill>
        <p:spPr bwMode="auto">
          <a:xfrm>
            <a:off x="4375721" y="3958749"/>
            <a:ext cx="171450" cy="352425"/>
          </a:xfrm>
          <a:prstGeom prst="rect">
            <a:avLst/>
          </a:prstGeom>
          <a:noFill/>
        </p:spPr>
      </p:pic>
      <p:sp>
        <p:nvSpPr>
          <p:cNvPr id="8" name="TextBox 7"/>
          <p:cNvSpPr txBox="1"/>
          <p:nvPr/>
        </p:nvSpPr>
        <p:spPr>
          <a:xfrm>
            <a:off x="838200" y="1330220"/>
            <a:ext cx="7467600" cy="523220"/>
          </a:xfrm>
          <a:prstGeom prst="rect">
            <a:avLst/>
          </a:prstGeom>
          <a:noFill/>
        </p:spPr>
        <p:txBody>
          <a:bodyPr wrap="square" rtlCol="0">
            <a:spAutoFit/>
          </a:bodyPr>
          <a:lstStyle/>
          <a:p>
            <a:pPr algn="ctr"/>
            <a:r>
              <a:rPr lang="en-US" sz="2800" dirty="0"/>
              <a:t>Classic example of duplicate gene action </a:t>
            </a:r>
          </a:p>
        </p:txBody>
      </p:sp>
      <p:sp>
        <p:nvSpPr>
          <p:cNvPr id="9" name="Rectangle 8"/>
          <p:cNvSpPr/>
          <p:nvPr/>
        </p:nvSpPr>
        <p:spPr>
          <a:xfrm>
            <a:off x="1676400" y="2133600"/>
            <a:ext cx="6705600" cy="2819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4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6"/>
          <p:cNvSpPr>
            <a:spLocks noChangeArrowheads="1"/>
          </p:cNvSpPr>
          <p:nvPr/>
        </p:nvSpPr>
        <p:spPr bwMode="auto">
          <a:xfrm>
            <a:off x="2916513" y="1702017"/>
            <a:ext cx="8794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dirty="0">
                <a:solidFill>
                  <a:srgbClr val="000000"/>
                </a:solidFill>
                <a:latin typeface="Helvetica" charset="0"/>
              </a:rPr>
              <a:t>White variety #1</a:t>
            </a:r>
          </a:p>
          <a:p>
            <a:r>
              <a:rPr lang="en-US" sz="900" b="1" dirty="0">
                <a:solidFill>
                  <a:srgbClr val="000000"/>
                </a:solidFill>
                <a:latin typeface="Helvetica" charset="0"/>
              </a:rPr>
              <a:t>       </a:t>
            </a:r>
            <a:r>
              <a:rPr lang="en-US" sz="900" b="1" i="1" dirty="0">
                <a:solidFill>
                  <a:srgbClr val="000000"/>
                </a:solidFill>
                <a:latin typeface="Helvetica" charset="0"/>
              </a:rPr>
              <a:t>(</a:t>
            </a:r>
            <a:r>
              <a:rPr lang="en-US" sz="900" b="1" i="1" dirty="0" err="1">
                <a:solidFill>
                  <a:srgbClr val="000000"/>
                </a:solidFill>
                <a:latin typeface="Helvetica" charset="0"/>
              </a:rPr>
              <a:t>CCpp</a:t>
            </a:r>
            <a:r>
              <a:rPr lang="en-US" sz="900" b="1" i="1" dirty="0">
                <a:solidFill>
                  <a:srgbClr val="000000"/>
                </a:solidFill>
                <a:latin typeface="Helvetica" charset="0"/>
              </a:rPr>
              <a:t>)</a:t>
            </a:r>
            <a:endParaRPr lang="en-US" sz="900" b="1" i="1" dirty="0"/>
          </a:p>
        </p:txBody>
      </p:sp>
      <p:sp>
        <p:nvSpPr>
          <p:cNvPr id="17412" name="Rectangle 56"/>
          <p:cNvSpPr>
            <a:spLocks noChangeArrowheads="1"/>
          </p:cNvSpPr>
          <p:nvPr/>
        </p:nvSpPr>
        <p:spPr bwMode="auto">
          <a:xfrm>
            <a:off x="4238143" y="2452547"/>
            <a:ext cx="127000" cy="153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000" b="1" dirty="0">
                <a:solidFill>
                  <a:srgbClr val="000000"/>
                </a:solidFill>
                <a:latin typeface="Helvetica" charset="0"/>
              </a:rPr>
              <a:t>F</a:t>
            </a:r>
            <a:r>
              <a:rPr lang="en-US" sz="1000" b="1" baseline="-25000" dirty="0">
                <a:solidFill>
                  <a:srgbClr val="000000"/>
                </a:solidFill>
                <a:latin typeface="Helvetica" charset="0"/>
              </a:rPr>
              <a:t>1</a:t>
            </a:r>
            <a:endParaRPr lang="en-US" sz="900" b="1" dirty="0"/>
          </a:p>
        </p:txBody>
      </p:sp>
      <p:sp>
        <p:nvSpPr>
          <p:cNvPr id="17413" name="Rectangle 68"/>
          <p:cNvSpPr>
            <a:spLocks noChangeArrowheads="1"/>
          </p:cNvSpPr>
          <p:nvPr/>
        </p:nvSpPr>
        <p:spPr bwMode="auto">
          <a:xfrm>
            <a:off x="3310213" y="3309938"/>
            <a:ext cx="139700"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100" b="1">
                <a:solidFill>
                  <a:srgbClr val="000000"/>
                </a:solidFill>
                <a:latin typeface="Helvetica" charset="0"/>
              </a:rPr>
              <a:t>F</a:t>
            </a:r>
            <a:r>
              <a:rPr lang="en-US" sz="1100" b="1" baseline="-25000">
                <a:solidFill>
                  <a:srgbClr val="000000"/>
                </a:solidFill>
                <a:latin typeface="Helvetica" charset="0"/>
              </a:rPr>
              <a:t>2</a:t>
            </a:r>
            <a:endParaRPr lang="en-US" sz="900" b="1"/>
          </a:p>
        </p:txBody>
      </p:sp>
      <p:sp>
        <p:nvSpPr>
          <p:cNvPr id="17414" name="Rectangle 80"/>
          <p:cNvSpPr>
            <a:spLocks noChangeArrowheads="1"/>
          </p:cNvSpPr>
          <p:nvPr/>
        </p:nvSpPr>
        <p:spPr bwMode="auto">
          <a:xfrm>
            <a:off x="4013475" y="2559050"/>
            <a:ext cx="531813"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gn="ctr"/>
            <a:r>
              <a:rPr lang="en-US" sz="900" b="1" dirty="0">
                <a:solidFill>
                  <a:srgbClr val="000000"/>
                </a:solidFill>
                <a:latin typeface="Helvetica" charset="0"/>
              </a:rPr>
              <a:t>All purple</a:t>
            </a:r>
          </a:p>
          <a:p>
            <a:pPr algn="ctr"/>
            <a:r>
              <a:rPr lang="en-US" sz="900" i="1" dirty="0">
                <a:solidFill>
                  <a:srgbClr val="000000"/>
                </a:solidFill>
                <a:latin typeface="Helvetica" charset="0"/>
              </a:rPr>
              <a:t>(</a:t>
            </a:r>
            <a:r>
              <a:rPr lang="en-US" sz="900" b="1" i="1" dirty="0" err="1">
                <a:solidFill>
                  <a:srgbClr val="000000"/>
                </a:solidFill>
                <a:latin typeface="Helvetica" charset="0"/>
              </a:rPr>
              <a:t>CcPp</a:t>
            </a:r>
            <a:r>
              <a:rPr lang="en-US" sz="900" i="1" dirty="0">
                <a:solidFill>
                  <a:srgbClr val="000000"/>
                </a:solidFill>
                <a:latin typeface="Helvetica" charset="0"/>
              </a:rPr>
              <a:t>)</a:t>
            </a:r>
            <a:endParaRPr lang="en-US" sz="900" i="1" dirty="0"/>
          </a:p>
        </p:txBody>
      </p:sp>
      <p:sp>
        <p:nvSpPr>
          <p:cNvPr id="17415" name="Rectangle 95"/>
          <p:cNvSpPr>
            <a:spLocks noChangeArrowheads="1"/>
          </p:cNvSpPr>
          <p:nvPr/>
        </p:nvSpPr>
        <p:spPr bwMode="auto">
          <a:xfrm>
            <a:off x="4381775" y="3033713"/>
            <a:ext cx="865188"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a:solidFill>
                  <a:srgbClr val="000000"/>
                </a:solidFill>
                <a:latin typeface="Helvetica" charset="0"/>
              </a:rPr>
              <a:t>Self-fertilization</a:t>
            </a:r>
            <a:endParaRPr lang="en-US" sz="900" b="1"/>
          </a:p>
        </p:txBody>
      </p:sp>
      <p:sp>
        <p:nvSpPr>
          <p:cNvPr id="17418" name="Rectangle 467"/>
          <p:cNvSpPr>
            <a:spLocks noChangeArrowheads="1"/>
          </p:cNvSpPr>
          <p:nvPr/>
        </p:nvSpPr>
        <p:spPr bwMode="auto">
          <a:xfrm>
            <a:off x="4242075" y="1008063"/>
            <a:ext cx="57150"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dirty="0">
                <a:solidFill>
                  <a:srgbClr val="000000"/>
                </a:solidFill>
                <a:latin typeface="Helvetica" charset="0"/>
              </a:rPr>
              <a:t>x</a:t>
            </a:r>
            <a:endParaRPr lang="en-US" sz="900" dirty="0"/>
          </a:p>
        </p:txBody>
      </p:sp>
      <p:sp>
        <p:nvSpPr>
          <p:cNvPr id="17419" name="Rectangle 468"/>
          <p:cNvSpPr>
            <a:spLocks noChangeArrowheads="1"/>
          </p:cNvSpPr>
          <p:nvPr/>
        </p:nvSpPr>
        <p:spPr bwMode="auto">
          <a:xfrm>
            <a:off x="4712091" y="1800689"/>
            <a:ext cx="877888"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gn="ctr"/>
            <a:r>
              <a:rPr lang="en-US" sz="900" b="1" dirty="0">
                <a:solidFill>
                  <a:srgbClr val="000000"/>
                </a:solidFill>
                <a:latin typeface="Helvetica" charset="0"/>
              </a:rPr>
              <a:t>White variety #2</a:t>
            </a:r>
          </a:p>
          <a:p>
            <a:pPr algn="ctr"/>
            <a:r>
              <a:rPr lang="en-US" sz="900" b="1" i="1" dirty="0">
                <a:solidFill>
                  <a:srgbClr val="000000"/>
                </a:solidFill>
                <a:latin typeface="Helvetica" charset="0"/>
              </a:rPr>
              <a:t>(</a:t>
            </a:r>
            <a:r>
              <a:rPr lang="en-US" sz="900" b="1" i="1" dirty="0" err="1">
                <a:solidFill>
                  <a:srgbClr val="000000"/>
                </a:solidFill>
                <a:latin typeface="Helvetica" charset="0"/>
              </a:rPr>
              <a:t>ccPP</a:t>
            </a:r>
            <a:r>
              <a:rPr lang="en-US" sz="900" b="1" i="1" dirty="0">
                <a:solidFill>
                  <a:srgbClr val="000000"/>
                </a:solidFill>
                <a:latin typeface="Helvetica" charset="0"/>
              </a:rPr>
              <a:t> )</a:t>
            </a:r>
            <a:endParaRPr lang="en-US" sz="900" b="1" i="1" dirty="0"/>
          </a:p>
        </p:txBody>
      </p:sp>
      <p:grpSp>
        <p:nvGrpSpPr>
          <p:cNvPr id="5" name="Group 4"/>
          <p:cNvGrpSpPr/>
          <p:nvPr/>
        </p:nvGrpSpPr>
        <p:grpSpPr>
          <a:xfrm>
            <a:off x="4234138" y="1949348"/>
            <a:ext cx="82550" cy="1498702"/>
            <a:chOff x="5468938" y="1949348"/>
            <a:chExt cx="82550" cy="1498702"/>
          </a:xfrm>
        </p:grpSpPr>
        <p:sp>
          <p:nvSpPr>
            <p:cNvPr id="17452" name="Line 488"/>
            <p:cNvSpPr>
              <a:spLocks noChangeShapeType="1"/>
            </p:cNvSpPr>
            <p:nvPr/>
          </p:nvSpPr>
          <p:spPr bwMode="auto">
            <a:xfrm>
              <a:off x="5508882" y="1949348"/>
              <a:ext cx="1331" cy="447723"/>
            </a:xfrm>
            <a:prstGeom prst="line">
              <a:avLst/>
            </a:prstGeom>
            <a:noFill/>
            <a:ln w="1333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53" name="Freeform 489"/>
            <p:cNvSpPr>
              <a:spLocks/>
            </p:cNvSpPr>
            <p:nvPr/>
          </p:nvSpPr>
          <p:spPr bwMode="auto">
            <a:xfrm>
              <a:off x="5468938" y="2332340"/>
              <a:ext cx="82550" cy="145645"/>
            </a:xfrm>
            <a:custGeom>
              <a:avLst/>
              <a:gdLst>
                <a:gd name="T0" fmla="*/ 2147483647 w 62"/>
                <a:gd name="T1" fmla="*/ 0 h 108"/>
                <a:gd name="T2" fmla="*/ 2147483647 w 62"/>
                <a:gd name="T3" fmla="*/ 2147483647 h 108"/>
                <a:gd name="T4" fmla="*/ 0 w 62"/>
                <a:gd name="T5" fmla="*/ 0 h 108"/>
                <a:gd name="T6" fmla="*/ 2147483647 w 62"/>
                <a:gd name="T7" fmla="*/ 2147483647 h 108"/>
                <a:gd name="T8" fmla="*/ 2147483647 w 62"/>
                <a:gd name="T9" fmla="*/ 0 h 108"/>
                <a:gd name="T10" fmla="*/ 0 60000 65536"/>
                <a:gd name="T11" fmla="*/ 0 60000 65536"/>
                <a:gd name="T12" fmla="*/ 0 60000 65536"/>
                <a:gd name="T13" fmla="*/ 0 60000 65536"/>
                <a:gd name="T14" fmla="*/ 0 60000 65536"/>
                <a:gd name="T15" fmla="*/ 0 w 62"/>
                <a:gd name="T16" fmla="*/ 0 h 108"/>
                <a:gd name="T17" fmla="*/ 62 w 62"/>
                <a:gd name="T18" fmla="*/ 108 h 108"/>
              </a:gdLst>
              <a:ahLst/>
              <a:cxnLst>
                <a:cxn ang="T10">
                  <a:pos x="T0" y="T1"/>
                </a:cxn>
                <a:cxn ang="T11">
                  <a:pos x="T2" y="T3"/>
                </a:cxn>
                <a:cxn ang="T12">
                  <a:pos x="T4" y="T5"/>
                </a:cxn>
                <a:cxn ang="T13">
                  <a:pos x="T6" y="T7"/>
                </a:cxn>
                <a:cxn ang="T14">
                  <a:pos x="T8" y="T9"/>
                </a:cxn>
              </a:cxnLst>
              <a:rect l="T15" t="T16" r="T17" b="T18"/>
              <a:pathLst>
                <a:path w="62" h="108">
                  <a:moveTo>
                    <a:pt x="62" y="0"/>
                  </a:moveTo>
                  <a:lnTo>
                    <a:pt x="30" y="14"/>
                  </a:lnTo>
                  <a:lnTo>
                    <a:pt x="0" y="0"/>
                  </a:lnTo>
                  <a:lnTo>
                    <a:pt x="30" y="108"/>
                  </a:lnTo>
                  <a:lnTo>
                    <a:pt x="6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450" name="Line 490"/>
            <p:cNvSpPr>
              <a:spLocks noChangeShapeType="1"/>
            </p:cNvSpPr>
            <p:nvPr/>
          </p:nvSpPr>
          <p:spPr bwMode="auto">
            <a:xfrm>
              <a:off x="5508882" y="2933700"/>
              <a:ext cx="1331" cy="433137"/>
            </a:xfrm>
            <a:prstGeom prst="line">
              <a:avLst/>
            </a:prstGeom>
            <a:noFill/>
            <a:ln w="1333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51" name="Freeform 491"/>
            <p:cNvSpPr>
              <a:spLocks/>
            </p:cNvSpPr>
            <p:nvPr/>
          </p:nvSpPr>
          <p:spPr bwMode="auto">
            <a:xfrm>
              <a:off x="5468938" y="3304573"/>
              <a:ext cx="82550" cy="143477"/>
            </a:xfrm>
            <a:custGeom>
              <a:avLst/>
              <a:gdLst>
                <a:gd name="T0" fmla="*/ 2147483647 w 62"/>
                <a:gd name="T1" fmla="*/ 0 h 106"/>
                <a:gd name="T2" fmla="*/ 2147483647 w 62"/>
                <a:gd name="T3" fmla="*/ 2147483647 h 106"/>
                <a:gd name="T4" fmla="*/ 0 w 62"/>
                <a:gd name="T5" fmla="*/ 0 h 106"/>
                <a:gd name="T6" fmla="*/ 2147483647 w 62"/>
                <a:gd name="T7" fmla="*/ 2147483647 h 106"/>
                <a:gd name="T8" fmla="*/ 2147483647 w 62"/>
                <a:gd name="T9" fmla="*/ 0 h 106"/>
                <a:gd name="T10" fmla="*/ 0 60000 65536"/>
                <a:gd name="T11" fmla="*/ 0 60000 65536"/>
                <a:gd name="T12" fmla="*/ 0 60000 65536"/>
                <a:gd name="T13" fmla="*/ 0 60000 65536"/>
                <a:gd name="T14" fmla="*/ 0 60000 65536"/>
                <a:gd name="T15" fmla="*/ 0 w 62"/>
                <a:gd name="T16" fmla="*/ 0 h 106"/>
                <a:gd name="T17" fmla="*/ 62 w 62"/>
                <a:gd name="T18" fmla="*/ 106 h 106"/>
              </a:gdLst>
              <a:ahLst/>
              <a:cxnLst>
                <a:cxn ang="T10">
                  <a:pos x="T0" y="T1"/>
                </a:cxn>
                <a:cxn ang="T11">
                  <a:pos x="T2" y="T3"/>
                </a:cxn>
                <a:cxn ang="T12">
                  <a:pos x="T4" y="T5"/>
                </a:cxn>
                <a:cxn ang="T13">
                  <a:pos x="T6" y="T7"/>
                </a:cxn>
                <a:cxn ang="T14">
                  <a:pos x="T8" y="T9"/>
                </a:cxn>
              </a:cxnLst>
              <a:rect l="T15" t="T16" r="T17" b="T18"/>
              <a:pathLst>
                <a:path w="62" h="106">
                  <a:moveTo>
                    <a:pt x="62" y="0"/>
                  </a:moveTo>
                  <a:lnTo>
                    <a:pt x="30" y="12"/>
                  </a:lnTo>
                  <a:lnTo>
                    <a:pt x="0" y="0"/>
                  </a:lnTo>
                  <a:lnTo>
                    <a:pt x="30" y="106"/>
                  </a:lnTo>
                  <a:lnTo>
                    <a:pt x="62"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3" name="Group 2"/>
          <p:cNvGrpSpPr/>
          <p:nvPr/>
        </p:nvGrpSpPr>
        <p:grpSpPr>
          <a:xfrm>
            <a:off x="1879627" y="3609366"/>
            <a:ext cx="5065987" cy="7441065"/>
            <a:chOff x="2721250" y="3603625"/>
            <a:chExt cx="2979737" cy="6443975"/>
          </a:xfrm>
        </p:grpSpPr>
        <p:pic>
          <p:nvPicPr>
            <p:cNvPr id="17410" name="Picture 148" descr="bro25332_05_14.jpg"/>
            <p:cNvPicPr>
              <a:picLocks noChangeAspect="1"/>
            </p:cNvPicPr>
            <p:nvPr/>
          </p:nvPicPr>
          <p:blipFill rotWithShape="1">
            <a:blip r:embed="rId2">
              <a:extLst>
                <a:ext uri="{28A0092B-C50C-407E-A947-70E740481C1C}">
                  <a14:useLocalDpi xmlns:a14="http://schemas.microsoft.com/office/drawing/2010/main" val="0"/>
                </a:ext>
              </a:extLst>
            </a:blip>
            <a:srcRect t="58890" b="-60094"/>
            <a:stretch/>
          </p:blipFill>
          <p:spPr bwMode="auto">
            <a:xfrm>
              <a:off x="2721250" y="3848400"/>
              <a:ext cx="2979737" cy="619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 name="Group 1"/>
            <p:cNvGrpSpPr/>
            <p:nvPr/>
          </p:nvGrpSpPr>
          <p:grpSpPr>
            <a:xfrm>
              <a:off x="2721250" y="3603625"/>
              <a:ext cx="2593975" cy="2489200"/>
              <a:chOff x="2721250" y="3603625"/>
              <a:chExt cx="2593975" cy="2489200"/>
            </a:xfrm>
          </p:grpSpPr>
          <p:sp>
            <p:nvSpPr>
              <p:cNvPr id="17422" name="Rectangle 494"/>
              <p:cNvSpPr>
                <a:spLocks noChangeArrowheads="1"/>
              </p:cNvSpPr>
              <p:nvPr/>
            </p:nvSpPr>
            <p:spPr bwMode="auto">
              <a:xfrm>
                <a:off x="2737125" y="4176713"/>
                <a:ext cx="160338"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23" name="Rectangle 498"/>
              <p:cNvSpPr>
                <a:spLocks noChangeArrowheads="1"/>
              </p:cNvSpPr>
              <p:nvPr/>
            </p:nvSpPr>
            <p:spPr bwMode="auto">
              <a:xfrm>
                <a:off x="2726013" y="4681538"/>
                <a:ext cx="153987"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24" name="Rectangle 502"/>
              <p:cNvSpPr>
                <a:spLocks noChangeArrowheads="1"/>
              </p:cNvSpPr>
              <p:nvPr/>
            </p:nvSpPr>
            <p:spPr bwMode="auto">
              <a:xfrm>
                <a:off x="2732363" y="5186363"/>
                <a:ext cx="141287"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25" name="Rectangle 506"/>
              <p:cNvSpPr>
                <a:spLocks noChangeArrowheads="1"/>
              </p:cNvSpPr>
              <p:nvPr/>
            </p:nvSpPr>
            <p:spPr bwMode="auto">
              <a:xfrm>
                <a:off x="2721250" y="5684838"/>
                <a:ext cx="134938" cy="13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26" name="Rectangle 508"/>
              <p:cNvSpPr>
                <a:spLocks noChangeArrowheads="1"/>
              </p:cNvSpPr>
              <p:nvPr/>
            </p:nvSpPr>
            <p:spPr bwMode="auto">
              <a:xfrm>
                <a:off x="3081613" y="4083050"/>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dirty="0">
                    <a:solidFill>
                      <a:srgbClr val="000000"/>
                    </a:solidFill>
                    <a:latin typeface="Helvetica" charset="0"/>
                  </a:rPr>
                  <a:t>CCPP</a:t>
                </a:r>
              </a:p>
              <a:p>
                <a:r>
                  <a:rPr lang="en-US" sz="900" b="1" dirty="0">
                    <a:solidFill>
                      <a:srgbClr val="000000"/>
                    </a:solidFill>
                    <a:latin typeface="Helvetica" charset="0"/>
                  </a:rPr>
                  <a:t>Purple</a:t>
                </a:r>
                <a:endParaRPr lang="en-US" sz="900" b="1" dirty="0"/>
              </a:p>
            </p:txBody>
          </p:sp>
          <p:sp>
            <p:nvSpPr>
              <p:cNvPr id="17427" name="Rectangle 512"/>
              <p:cNvSpPr>
                <a:spLocks noChangeArrowheads="1"/>
              </p:cNvSpPr>
              <p:nvPr/>
            </p:nvSpPr>
            <p:spPr bwMode="auto">
              <a:xfrm>
                <a:off x="3710263" y="4081463"/>
                <a:ext cx="358775" cy="277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28" name="Rectangle 516"/>
              <p:cNvSpPr>
                <a:spLocks noChangeArrowheads="1"/>
              </p:cNvSpPr>
              <p:nvPr/>
            </p:nvSpPr>
            <p:spPr bwMode="auto">
              <a:xfrm>
                <a:off x="4356375" y="4068763"/>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dirty="0" err="1">
                    <a:solidFill>
                      <a:srgbClr val="000000"/>
                    </a:solidFill>
                    <a:latin typeface="Helvetica" charset="0"/>
                  </a:rPr>
                  <a:t>CcPP</a:t>
                </a:r>
                <a:endParaRPr lang="en-US" sz="900" b="1" i="1" dirty="0">
                  <a:solidFill>
                    <a:srgbClr val="000000"/>
                  </a:solidFill>
                  <a:latin typeface="Helvetica" charset="0"/>
                </a:endParaRPr>
              </a:p>
              <a:p>
                <a:r>
                  <a:rPr lang="en-US" sz="900" b="1" dirty="0">
                    <a:solidFill>
                      <a:srgbClr val="000000"/>
                    </a:solidFill>
                    <a:latin typeface="Helvetica" charset="0"/>
                  </a:rPr>
                  <a:t>Purple</a:t>
                </a:r>
                <a:endParaRPr lang="en-US" sz="900" b="1" dirty="0"/>
              </a:p>
            </p:txBody>
          </p:sp>
          <p:sp>
            <p:nvSpPr>
              <p:cNvPr id="17429" name="Rectangle 520"/>
              <p:cNvSpPr>
                <a:spLocks noChangeArrowheads="1"/>
              </p:cNvSpPr>
              <p:nvPr/>
            </p:nvSpPr>
            <p:spPr bwMode="auto">
              <a:xfrm>
                <a:off x="4956450" y="4068763"/>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30" name="Rectangle 524"/>
              <p:cNvSpPr>
                <a:spLocks noChangeArrowheads="1"/>
              </p:cNvSpPr>
              <p:nvPr/>
            </p:nvSpPr>
            <p:spPr bwMode="auto">
              <a:xfrm>
                <a:off x="3138763" y="4656138"/>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31" name="Rectangle 528"/>
              <p:cNvSpPr>
                <a:spLocks noChangeArrowheads="1"/>
              </p:cNvSpPr>
              <p:nvPr/>
            </p:nvSpPr>
            <p:spPr bwMode="auto">
              <a:xfrm>
                <a:off x="3730900" y="4638675"/>
                <a:ext cx="314325" cy="277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32" name="Rectangle 532"/>
              <p:cNvSpPr>
                <a:spLocks noChangeArrowheads="1"/>
              </p:cNvSpPr>
              <p:nvPr/>
            </p:nvSpPr>
            <p:spPr bwMode="auto">
              <a:xfrm>
                <a:off x="4378600" y="4638675"/>
                <a:ext cx="358775" cy="277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33" name="Rectangle 536"/>
              <p:cNvSpPr>
                <a:spLocks noChangeArrowheads="1"/>
              </p:cNvSpPr>
              <p:nvPr/>
            </p:nvSpPr>
            <p:spPr bwMode="auto">
              <a:xfrm>
                <a:off x="4978675" y="4638675"/>
                <a:ext cx="314325" cy="277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dirty="0" err="1">
                    <a:solidFill>
                      <a:srgbClr val="000000"/>
                    </a:solidFill>
                    <a:latin typeface="Helvetica" charset="0"/>
                  </a:rPr>
                  <a:t>Ccpp</a:t>
                </a:r>
                <a:endParaRPr lang="en-US" sz="900" b="1" i="1" dirty="0">
                  <a:solidFill>
                    <a:srgbClr val="000000"/>
                  </a:solidFill>
                  <a:latin typeface="Helvetica" charset="0"/>
                </a:endParaRPr>
              </a:p>
              <a:p>
                <a:r>
                  <a:rPr lang="en-US" sz="900" b="1" dirty="0">
                    <a:solidFill>
                      <a:srgbClr val="000000"/>
                    </a:solidFill>
                    <a:latin typeface="Helvetica" charset="0"/>
                  </a:rPr>
                  <a:t>White</a:t>
                </a:r>
                <a:endParaRPr lang="en-US" sz="900" b="1" dirty="0"/>
              </a:p>
            </p:txBody>
          </p:sp>
          <p:sp>
            <p:nvSpPr>
              <p:cNvPr id="17434" name="Rectangle 540"/>
              <p:cNvSpPr>
                <a:spLocks noChangeArrowheads="1"/>
              </p:cNvSpPr>
              <p:nvPr/>
            </p:nvSpPr>
            <p:spPr bwMode="auto">
              <a:xfrm>
                <a:off x="3081613" y="5278438"/>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35" name="Rectangle 548"/>
              <p:cNvSpPr>
                <a:spLocks noChangeArrowheads="1"/>
              </p:cNvSpPr>
              <p:nvPr/>
            </p:nvSpPr>
            <p:spPr bwMode="auto">
              <a:xfrm>
                <a:off x="4394475" y="5291138"/>
                <a:ext cx="31432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36" name="Rectangle 552"/>
              <p:cNvSpPr>
                <a:spLocks noChangeArrowheads="1"/>
              </p:cNvSpPr>
              <p:nvPr/>
            </p:nvSpPr>
            <p:spPr bwMode="auto">
              <a:xfrm>
                <a:off x="4962800" y="5291138"/>
                <a:ext cx="31432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37" name="Rectangle 556"/>
              <p:cNvSpPr>
                <a:spLocks noChangeArrowheads="1"/>
              </p:cNvSpPr>
              <p:nvPr/>
            </p:nvSpPr>
            <p:spPr bwMode="auto">
              <a:xfrm>
                <a:off x="3081613" y="5788025"/>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38" name="Rectangle 560"/>
              <p:cNvSpPr>
                <a:spLocks noChangeArrowheads="1"/>
              </p:cNvSpPr>
              <p:nvPr/>
            </p:nvSpPr>
            <p:spPr bwMode="auto">
              <a:xfrm>
                <a:off x="3778525" y="5792788"/>
                <a:ext cx="31432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39" name="Rectangle 564"/>
              <p:cNvSpPr>
                <a:spLocks noChangeArrowheads="1"/>
              </p:cNvSpPr>
              <p:nvPr/>
            </p:nvSpPr>
            <p:spPr bwMode="auto">
              <a:xfrm>
                <a:off x="4378600" y="5816600"/>
                <a:ext cx="31432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40" name="Rectangle 568"/>
              <p:cNvSpPr>
                <a:spLocks noChangeArrowheads="1"/>
              </p:cNvSpPr>
              <p:nvPr/>
            </p:nvSpPr>
            <p:spPr bwMode="auto">
              <a:xfrm>
                <a:off x="4931050" y="5816600"/>
                <a:ext cx="31432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White</a:t>
                </a:r>
                <a:endParaRPr lang="en-US" sz="900" b="1"/>
              </a:p>
            </p:txBody>
          </p:sp>
          <p:sp>
            <p:nvSpPr>
              <p:cNvPr id="17442" name="Rectangle 540"/>
              <p:cNvSpPr>
                <a:spLocks noChangeArrowheads="1"/>
              </p:cNvSpPr>
              <p:nvPr/>
            </p:nvSpPr>
            <p:spPr bwMode="auto">
              <a:xfrm>
                <a:off x="3749950" y="5276850"/>
                <a:ext cx="358775"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CcPp</a:t>
                </a:r>
              </a:p>
              <a:p>
                <a:r>
                  <a:rPr lang="en-US" sz="900" b="1">
                    <a:solidFill>
                      <a:srgbClr val="000000"/>
                    </a:solidFill>
                    <a:latin typeface="Helvetica" charset="0"/>
                  </a:rPr>
                  <a:t>Purple</a:t>
                </a:r>
                <a:endParaRPr lang="en-US" sz="900" b="1"/>
              </a:p>
            </p:txBody>
          </p:sp>
          <p:sp>
            <p:nvSpPr>
              <p:cNvPr id="17444" name="Rectangle 494"/>
              <p:cNvSpPr>
                <a:spLocks noChangeArrowheads="1"/>
              </p:cNvSpPr>
              <p:nvPr/>
            </p:nvSpPr>
            <p:spPr bwMode="auto">
              <a:xfrm>
                <a:off x="3230838" y="3613150"/>
                <a:ext cx="160337" cy="138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45" name="Rectangle 498"/>
              <p:cNvSpPr>
                <a:spLocks noChangeArrowheads="1"/>
              </p:cNvSpPr>
              <p:nvPr/>
            </p:nvSpPr>
            <p:spPr bwMode="auto">
              <a:xfrm>
                <a:off x="3846788" y="3608388"/>
                <a:ext cx="152400" cy="139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46" name="Rectangle 502"/>
              <p:cNvSpPr>
                <a:spLocks noChangeArrowheads="1"/>
              </p:cNvSpPr>
              <p:nvPr/>
            </p:nvSpPr>
            <p:spPr bwMode="auto">
              <a:xfrm>
                <a:off x="4497663" y="3603625"/>
                <a:ext cx="141287" cy="139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sp>
            <p:nvSpPr>
              <p:cNvPr id="17447" name="Rectangle 502"/>
              <p:cNvSpPr>
                <a:spLocks noChangeArrowheads="1"/>
              </p:cNvSpPr>
              <p:nvPr/>
            </p:nvSpPr>
            <p:spPr bwMode="auto">
              <a:xfrm>
                <a:off x="4986613" y="3609975"/>
                <a:ext cx="134937" cy="139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b="1" i="1">
                    <a:solidFill>
                      <a:srgbClr val="000000"/>
                    </a:solidFill>
                    <a:latin typeface="Helvetica" charset="0"/>
                  </a:rPr>
                  <a:t>cp</a:t>
                </a:r>
                <a:endParaRPr lang="en-US" sz="900" b="1"/>
              </a:p>
            </p:txBody>
          </p:sp>
        </p:grpSp>
      </p:grpSp>
      <p:pic>
        <p:nvPicPr>
          <p:cNvPr id="48" name="Picture 47" descr="purple_sweet_pea.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9812" y="2088008"/>
            <a:ext cx="1012190" cy="1016000"/>
          </a:xfrm>
          <a:prstGeom prst="rect">
            <a:avLst/>
          </a:prstGeom>
        </p:spPr>
      </p:pic>
      <p:pic>
        <p:nvPicPr>
          <p:cNvPr id="4" name="Picture 3" descr="White-Sweet-Peas.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8056" y="953396"/>
            <a:ext cx="563880" cy="762000"/>
          </a:xfrm>
          <a:prstGeom prst="rect">
            <a:avLst/>
          </a:prstGeom>
        </p:spPr>
      </p:pic>
      <p:pic>
        <p:nvPicPr>
          <p:cNvPr id="52" name="Picture 51" descr="White-Sweet-Peas.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8271" y="912300"/>
            <a:ext cx="563880" cy="762000"/>
          </a:xfrm>
          <a:prstGeom prst="rect">
            <a:avLst/>
          </a:prstGeom>
        </p:spPr>
      </p:pic>
      <p:sp>
        <p:nvSpPr>
          <p:cNvPr id="6" name="TextBox 5">
            <a:extLst>
              <a:ext uri="{FF2B5EF4-FFF2-40B4-BE49-F238E27FC236}">
                <a16:creationId xmlns:a16="http://schemas.microsoft.com/office/drawing/2014/main" id="{04DD9713-300D-C751-18EF-477A5594A4B2}"/>
              </a:ext>
            </a:extLst>
          </p:cNvPr>
          <p:cNvSpPr txBox="1"/>
          <p:nvPr/>
        </p:nvSpPr>
        <p:spPr>
          <a:xfrm>
            <a:off x="2589460" y="115614"/>
            <a:ext cx="4462981" cy="584775"/>
          </a:xfrm>
          <a:prstGeom prst="rect">
            <a:avLst/>
          </a:prstGeom>
          <a:noFill/>
        </p:spPr>
        <p:txBody>
          <a:bodyPr wrap="square" rtlCol="0">
            <a:spAutoFit/>
          </a:bodyPr>
          <a:lstStyle/>
          <a:p>
            <a:pPr algn="ctr"/>
            <a:r>
              <a:rPr lang="en-US" sz="3200" dirty="0"/>
              <a:t>9:7 F2 ratio</a:t>
            </a:r>
          </a:p>
        </p:txBody>
      </p:sp>
    </p:spTree>
    <p:extLst>
      <p:ext uri="{BB962C8B-B14F-4D97-AF65-F5344CB8AC3E}">
        <p14:creationId xmlns:p14="http://schemas.microsoft.com/office/powerpoint/2010/main" val="1823048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633210"/>
            <a:ext cx="8229600" cy="1143000"/>
          </a:xfrm>
        </p:spPr>
        <p:txBody>
          <a:bodyPr>
            <a:noAutofit/>
          </a:bodyPr>
          <a:lstStyle/>
          <a:p>
            <a:r>
              <a:rPr lang="en-US" sz="5400" dirty="0"/>
              <a:t>Possible biochemical </a:t>
            </a:r>
            <a:br>
              <a:rPr lang="en-US" sz="5400" dirty="0"/>
            </a:br>
            <a:r>
              <a:rPr lang="en-US" sz="5400" dirty="0"/>
              <a:t>mechanism?</a:t>
            </a:r>
          </a:p>
        </p:txBody>
      </p:sp>
    </p:spTree>
    <p:extLst>
      <p:ext uri="{BB962C8B-B14F-4D97-AF65-F5344CB8AC3E}">
        <p14:creationId xmlns:p14="http://schemas.microsoft.com/office/powerpoint/2010/main" val="3154553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105400"/>
          </a:xfrm>
        </p:spPr>
        <p:txBody>
          <a:bodyPr rtlCol="0">
            <a:normAutofit/>
          </a:bodyPr>
          <a:lstStyle/>
          <a:p>
            <a:pPr marL="0" indent="0" eaLnBrk="1" fontAlgn="auto" hangingPunct="1">
              <a:spcAft>
                <a:spcPts val="0"/>
              </a:spcAft>
              <a:buNone/>
              <a:defRPr/>
            </a:pPr>
            <a:r>
              <a:rPr lang="en-US" dirty="0"/>
              <a:t>										Precursor (white)</a:t>
            </a:r>
          </a:p>
          <a:p>
            <a:pPr eaLnBrk="1" fontAlgn="auto" hangingPunct="1">
              <a:spcAft>
                <a:spcPts val="0"/>
              </a:spcAft>
              <a:buFont typeface="Arial" pitchFamily="34" charset="0"/>
              <a:buNone/>
              <a:defRPr/>
            </a:pPr>
            <a:r>
              <a:rPr lang="en-US" dirty="0"/>
              <a:t>Gene C 	          Enzyme C</a:t>
            </a:r>
          </a:p>
          <a:p>
            <a:pPr eaLnBrk="1" fontAlgn="auto" hangingPunct="1">
              <a:spcAft>
                <a:spcPts val="0"/>
              </a:spcAft>
              <a:buFont typeface="Arial" pitchFamily="34" charset="0"/>
              <a:buNone/>
              <a:defRPr/>
            </a:pPr>
            <a:r>
              <a:rPr lang="en-US" dirty="0"/>
              <a:t>(Allele C) 																	                             Intermediate (white)</a:t>
            </a:r>
          </a:p>
          <a:p>
            <a:pPr eaLnBrk="1" fontAlgn="auto" hangingPunct="1">
              <a:spcAft>
                <a:spcPts val="0"/>
              </a:spcAft>
              <a:buFont typeface="Arial" pitchFamily="34" charset="0"/>
              <a:buNone/>
              <a:defRPr/>
            </a:pPr>
            <a:r>
              <a:rPr lang="en-US" dirty="0"/>
              <a:t>Gene A             Enzyme A</a:t>
            </a:r>
          </a:p>
          <a:p>
            <a:pPr eaLnBrk="1" fontAlgn="auto" hangingPunct="1">
              <a:spcAft>
                <a:spcPts val="0"/>
              </a:spcAft>
              <a:buFont typeface="Arial" pitchFamily="34" charset="0"/>
              <a:buNone/>
              <a:defRPr/>
            </a:pPr>
            <a:r>
              <a:rPr lang="en-US" dirty="0"/>
              <a:t> (Allele P) 							</a:t>
            </a:r>
          </a:p>
          <a:p>
            <a:pPr eaLnBrk="1" fontAlgn="auto" hangingPunct="1">
              <a:spcAft>
                <a:spcPts val="0"/>
              </a:spcAft>
              <a:buFont typeface="Arial" pitchFamily="34" charset="0"/>
              <a:buNone/>
              <a:defRPr/>
            </a:pPr>
            <a:r>
              <a:rPr lang="en-US" dirty="0"/>
              <a:t>                                        </a:t>
            </a:r>
            <a:r>
              <a:rPr lang="en-US" i="1" dirty="0">
                <a:solidFill>
                  <a:srgbClr val="660066"/>
                </a:solidFill>
              </a:rPr>
              <a:t>Product (colored pigment)</a:t>
            </a:r>
          </a:p>
        </p:txBody>
      </p:sp>
      <p:grpSp>
        <p:nvGrpSpPr>
          <p:cNvPr id="10" name="Group 9"/>
          <p:cNvGrpSpPr/>
          <p:nvPr/>
        </p:nvGrpSpPr>
        <p:grpSpPr>
          <a:xfrm>
            <a:off x="1957417" y="2456840"/>
            <a:ext cx="3811589" cy="2267503"/>
            <a:chOff x="1975560" y="2456840"/>
            <a:chExt cx="3811589" cy="2267503"/>
          </a:xfrm>
        </p:grpSpPr>
        <p:cxnSp>
          <p:nvCxnSpPr>
            <p:cNvPr id="5" name="Straight Arrow Connector 4"/>
            <p:cNvCxnSpPr/>
            <p:nvPr/>
          </p:nvCxnSpPr>
          <p:spPr bwMode="auto">
            <a:xfrm>
              <a:off x="1975560" y="2607653"/>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bwMode="auto">
            <a:xfrm>
              <a:off x="2051760" y="4130064"/>
              <a:ext cx="762000" cy="158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bwMode="auto">
            <a:xfrm rot="5400000">
              <a:off x="5403768" y="2837046"/>
              <a:ext cx="761999" cy="158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bwMode="auto">
            <a:xfrm rot="5400000">
              <a:off x="5405355" y="4342550"/>
              <a:ext cx="761999"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7" name="Title 6"/>
          <p:cNvSpPr>
            <a:spLocks noGrp="1"/>
          </p:cNvSpPr>
          <p:nvPr>
            <p:ph type="title"/>
          </p:nvPr>
        </p:nvSpPr>
        <p:spPr>
          <a:xfrm>
            <a:off x="457200" y="0"/>
            <a:ext cx="8229600" cy="1143000"/>
          </a:xfrm>
        </p:spPr>
        <p:txBody>
          <a:bodyPr/>
          <a:lstStyle/>
          <a:p>
            <a:r>
              <a:rPr lang="en-US" dirty="0"/>
              <a:t>Possible biochemical mechanism</a:t>
            </a:r>
          </a:p>
        </p:txBody>
      </p:sp>
      <p:sp>
        <p:nvSpPr>
          <p:cNvPr id="2" name="TextBox 1"/>
          <p:cNvSpPr txBox="1"/>
          <p:nvPr/>
        </p:nvSpPr>
        <p:spPr>
          <a:xfrm>
            <a:off x="1384392" y="776722"/>
            <a:ext cx="7811448" cy="707886"/>
          </a:xfrm>
          <a:prstGeom prst="rect">
            <a:avLst/>
          </a:prstGeom>
          <a:noFill/>
        </p:spPr>
        <p:txBody>
          <a:bodyPr wrap="square" rtlCol="0">
            <a:spAutoFit/>
          </a:bodyPr>
          <a:lstStyle/>
          <a:p>
            <a:r>
              <a:rPr lang="en-US" sz="4000" dirty="0">
                <a:solidFill>
                  <a:srgbClr val="FF0000"/>
                </a:solidFill>
              </a:rPr>
              <a:t>Complementary Gene Action</a:t>
            </a:r>
          </a:p>
        </p:txBody>
      </p:sp>
    </p:spTree>
    <p:extLst>
      <p:ext uri="{BB962C8B-B14F-4D97-AF65-F5344CB8AC3E}">
        <p14:creationId xmlns:p14="http://schemas.microsoft.com/office/powerpoint/2010/main" val="2257057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Complementary gene action</a:t>
            </a:r>
          </a:p>
        </p:txBody>
      </p:sp>
      <p:sp>
        <p:nvSpPr>
          <p:cNvPr id="3" name="Content Placeholder 2"/>
          <p:cNvSpPr>
            <a:spLocks noGrp="1"/>
          </p:cNvSpPr>
          <p:nvPr>
            <p:ph idx="1"/>
          </p:nvPr>
        </p:nvSpPr>
        <p:spPr>
          <a:xfrm>
            <a:off x="337054" y="1537765"/>
            <a:ext cx="8229600" cy="4525963"/>
          </a:xfrm>
        </p:spPr>
        <p:txBody>
          <a:bodyPr/>
          <a:lstStyle/>
          <a:p>
            <a:r>
              <a:rPr lang="en-US" dirty="0"/>
              <a:t>A gene or genotype at one locus may produce a phenotype virtually identical to gene or genotype in another locus. </a:t>
            </a:r>
          </a:p>
        </p:txBody>
      </p:sp>
      <p:grpSp>
        <p:nvGrpSpPr>
          <p:cNvPr id="12" name="Group 11"/>
          <p:cNvGrpSpPr/>
          <p:nvPr/>
        </p:nvGrpSpPr>
        <p:grpSpPr>
          <a:xfrm>
            <a:off x="457200" y="4271060"/>
            <a:ext cx="8448725" cy="839210"/>
            <a:chOff x="457200" y="4271060"/>
            <a:chExt cx="8448725" cy="839210"/>
          </a:xfrm>
        </p:grpSpPr>
        <p:sp>
          <p:nvSpPr>
            <p:cNvPr id="5" name="TextBox 4"/>
            <p:cNvSpPr txBox="1"/>
            <p:nvPr/>
          </p:nvSpPr>
          <p:spPr>
            <a:xfrm>
              <a:off x="5999026" y="4648605"/>
              <a:ext cx="2906899" cy="461665"/>
            </a:xfrm>
            <a:prstGeom prst="rect">
              <a:avLst/>
            </a:prstGeom>
            <a:noFill/>
          </p:spPr>
          <p:txBody>
            <a:bodyPr wrap="square" rtlCol="0">
              <a:spAutoFit/>
            </a:bodyPr>
            <a:lstStyle/>
            <a:p>
              <a:r>
                <a:rPr lang="en-US" sz="2400" dirty="0"/>
                <a:t>Colored Product</a:t>
              </a:r>
            </a:p>
          </p:txBody>
        </p:sp>
        <p:grpSp>
          <p:nvGrpSpPr>
            <p:cNvPr id="11" name="Group 10"/>
            <p:cNvGrpSpPr/>
            <p:nvPr/>
          </p:nvGrpSpPr>
          <p:grpSpPr>
            <a:xfrm>
              <a:off x="457200" y="4271060"/>
              <a:ext cx="5805537" cy="839210"/>
              <a:chOff x="457200" y="4271060"/>
              <a:chExt cx="5805537" cy="839210"/>
            </a:xfrm>
          </p:grpSpPr>
          <p:sp>
            <p:nvSpPr>
              <p:cNvPr id="4" name="TextBox 3"/>
              <p:cNvSpPr txBox="1"/>
              <p:nvPr/>
            </p:nvSpPr>
            <p:spPr>
              <a:xfrm>
                <a:off x="457200" y="4633493"/>
                <a:ext cx="2906899" cy="461665"/>
              </a:xfrm>
              <a:prstGeom prst="rect">
                <a:avLst/>
              </a:prstGeom>
              <a:noFill/>
            </p:spPr>
            <p:txBody>
              <a:bodyPr wrap="square" rtlCol="0">
                <a:spAutoFit/>
              </a:bodyPr>
              <a:lstStyle/>
              <a:p>
                <a:r>
                  <a:rPr lang="en-US" sz="2400" dirty="0"/>
                  <a:t>Precursor</a:t>
                </a:r>
              </a:p>
            </p:txBody>
          </p:sp>
          <p:sp>
            <p:nvSpPr>
              <p:cNvPr id="6" name="TextBox 5"/>
              <p:cNvSpPr txBox="1"/>
              <p:nvPr/>
            </p:nvSpPr>
            <p:spPr>
              <a:xfrm>
                <a:off x="3147770" y="4648605"/>
                <a:ext cx="2906899" cy="461665"/>
              </a:xfrm>
              <a:prstGeom prst="rect">
                <a:avLst/>
              </a:prstGeom>
              <a:noFill/>
            </p:spPr>
            <p:txBody>
              <a:bodyPr wrap="square" rtlCol="0">
                <a:spAutoFit/>
              </a:bodyPr>
              <a:lstStyle/>
              <a:p>
                <a:r>
                  <a:rPr lang="en-US" sz="2400" dirty="0"/>
                  <a:t>Intermediate</a:t>
                </a:r>
              </a:p>
            </p:txBody>
          </p:sp>
          <p:sp>
            <p:nvSpPr>
              <p:cNvPr id="7" name="Right Arrow 6"/>
              <p:cNvSpPr/>
              <p:nvPr/>
            </p:nvSpPr>
            <p:spPr>
              <a:xfrm>
                <a:off x="2008165" y="4805113"/>
                <a:ext cx="875352" cy="2402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5026953" y="4820225"/>
                <a:ext cx="875352" cy="2402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1870852" y="4273109"/>
                <a:ext cx="1493245" cy="369332"/>
              </a:xfrm>
              <a:prstGeom prst="rect">
                <a:avLst/>
              </a:prstGeom>
              <a:noFill/>
            </p:spPr>
            <p:txBody>
              <a:bodyPr wrap="square" rtlCol="0">
                <a:spAutoFit/>
              </a:bodyPr>
              <a:lstStyle/>
              <a:p>
                <a:r>
                  <a:rPr lang="en-US" dirty="0"/>
                  <a:t>Enzyme C</a:t>
                </a:r>
              </a:p>
            </p:txBody>
          </p:sp>
          <p:sp>
            <p:nvSpPr>
              <p:cNvPr id="10" name="TextBox 9"/>
              <p:cNvSpPr txBox="1"/>
              <p:nvPr/>
            </p:nvSpPr>
            <p:spPr>
              <a:xfrm>
                <a:off x="4769492" y="4271060"/>
                <a:ext cx="1493245" cy="369332"/>
              </a:xfrm>
              <a:prstGeom prst="rect">
                <a:avLst/>
              </a:prstGeom>
              <a:noFill/>
            </p:spPr>
            <p:txBody>
              <a:bodyPr wrap="square" rtlCol="0">
                <a:spAutoFit/>
              </a:bodyPr>
              <a:lstStyle/>
              <a:p>
                <a:r>
                  <a:rPr lang="en-US" dirty="0"/>
                  <a:t>Enzyme P</a:t>
                </a:r>
              </a:p>
            </p:txBody>
          </p:sp>
        </p:grpSp>
      </p:grpSp>
    </p:spTree>
    <p:extLst>
      <p:ext uri="{BB962C8B-B14F-4D97-AF65-F5344CB8AC3E}">
        <p14:creationId xmlns:p14="http://schemas.microsoft.com/office/powerpoint/2010/main" val="180559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48342" y="2362200"/>
            <a:ext cx="8229600" cy="1143000"/>
          </a:xfrm>
        </p:spPr>
        <p:txBody>
          <a:bodyPr>
            <a:normAutofit fontScale="90000"/>
          </a:bodyPr>
          <a:lstStyle/>
          <a:p>
            <a:pPr eaLnBrk="1" hangingPunct="1"/>
            <a:r>
              <a:rPr lang="en-US" dirty="0"/>
              <a:t>Modified Mendel Ratio’s</a:t>
            </a:r>
            <a:br>
              <a:rPr lang="en-US" dirty="0"/>
            </a:br>
            <a:br>
              <a:rPr lang="en-US" dirty="0"/>
            </a:br>
            <a:r>
              <a:rPr lang="en-US" dirty="0"/>
              <a:t>(9:7)</a:t>
            </a:r>
            <a:br>
              <a:rPr lang="en-US" dirty="0"/>
            </a:br>
            <a:r>
              <a:rPr lang="en-US" dirty="0"/>
              <a:t>(15:1)</a:t>
            </a:r>
            <a:br>
              <a:rPr lang="en-US" dirty="0"/>
            </a:br>
            <a:r>
              <a:rPr lang="en-US" dirty="0"/>
              <a:t>(13:3)</a:t>
            </a:r>
            <a:br>
              <a:rPr lang="en-US" dirty="0"/>
            </a:br>
            <a:r>
              <a:rPr lang="en-US" dirty="0"/>
              <a:t>(9:3:4)</a:t>
            </a:r>
          </a:p>
        </p:txBody>
      </p:sp>
      <p:sp>
        <p:nvSpPr>
          <p:cNvPr id="8" name="Left Arrow 7"/>
          <p:cNvSpPr/>
          <p:nvPr/>
        </p:nvSpPr>
        <p:spPr>
          <a:xfrm>
            <a:off x="5116285" y="2485571"/>
            <a:ext cx="725714" cy="308429"/>
          </a:xfrm>
          <a:prstGeom prst="leftArrow">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Left Arrow 9"/>
          <p:cNvSpPr/>
          <p:nvPr/>
        </p:nvSpPr>
        <p:spPr>
          <a:xfrm>
            <a:off x="5196113" y="3127832"/>
            <a:ext cx="725714" cy="308429"/>
          </a:xfrm>
          <a:prstGeom prst="leftArrow">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533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Comic Sans MS" pitchFamily="66" charset="0"/>
              </a:rPr>
              <a:t>Modified Mendel Ratio in </a:t>
            </a:r>
            <a:r>
              <a:rPr lang="en-US" i="1" dirty="0" err="1">
                <a:latin typeface="Comic Sans MS" pitchFamily="66" charset="0"/>
              </a:rPr>
              <a:t>Primula</a:t>
            </a:r>
            <a:endParaRPr lang="en-US" i="1" dirty="0">
              <a:latin typeface="Comic Sans MS" pitchFamily="66" charset="0"/>
            </a:endParaRPr>
          </a:p>
        </p:txBody>
      </p:sp>
      <p:sp>
        <p:nvSpPr>
          <p:cNvPr id="3" name="Rectangle 2"/>
          <p:cNvSpPr/>
          <p:nvPr/>
        </p:nvSpPr>
        <p:spPr>
          <a:xfrm>
            <a:off x="2362200" y="1676400"/>
            <a:ext cx="4698722" cy="369332"/>
          </a:xfrm>
          <a:prstGeom prst="rect">
            <a:avLst/>
          </a:prstGeom>
        </p:spPr>
        <p:txBody>
          <a:bodyPr wrap="none">
            <a:spAutoFit/>
          </a:bodyPr>
          <a:lstStyle/>
          <a:p>
            <a:r>
              <a:rPr lang="en-US" b="1" dirty="0">
                <a:latin typeface="Arial" charset="0"/>
                <a:cs typeface="Arial" charset="0"/>
              </a:rPr>
              <a:t>Phenotypes</a:t>
            </a:r>
            <a:r>
              <a:rPr lang="en-US" dirty="0">
                <a:latin typeface="Arial" charset="0"/>
                <a:cs typeface="Arial" charset="0"/>
              </a:rPr>
              <a:t>: </a:t>
            </a:r>
            <a:r>
              <a:rPr lang="en-US" dirty="0" err="1">
                <a:latin typeface="Arial" charset="0"/>
                <a:cs typeface="Arial" charset="0"/>
              </a:rPr>
              <a:t>Maldivin</a:t>
            </a:r>
            <a:r>
              <a:rPr lang="en-US" dirty="0">
                <a:latin typeface="Arial" charset="0"/>
                <a:cs typeface="Arial" charset="0"/>
              </a:rPr>
              <a:t> production in </a:t>
            </a:r>
            <a:r>
              <a:rPr lang="en-US" i="1" dirty="0" err="1">
                <a:latin typeface="Arial" charset="0"/>
                <a:cs typeface="Arial" charset="0"/>
              </a:rPr>
              <a:t>Primula</a:t>
            </a:r>
            <a:endParaRPr lang="en-US" i="1" dirty="0"/>
          </a:p>
        </p:txBody>
      </p:sp>
      <p:sp>
        <p:nvSpPr>
          <p:cNvPr id="4" name="TextBox 3"/>
          <p:cNvSpPr txBox="1"/>
          <p:nvPr/>
        </p:nvSpPr>
        <p:spPr>
          <a:xfrm>
            <a:off x="304800" y="3048000"/>
            <a:ext cx="8458200" cy="369332"/>
          </a:xfrm>
          <a:prstGeom prst="rect">
            <a:avLst/>
          </a:prstGeom>
          <a:noFill/>
          <a:ln>
            <a:solidFill>
              <a:schemeClr val="tx1"/>
            </a:solidFill>
          </a:ln>
        </p:spPr>
        <p:txBody>
          <a:bodyPr wrap="square" rtlCol="0">
            <a:spAutoFit/>
          </a:bodyPr>
          <a:lstStyle/>
          <a:p>
            <a:r>
              <a:rPr lang="en-US" dirty="0"/>
              <a:t>Parental Cross-   </a:t>
            </a:r>
            <a:r>
              <a:rPr lang="en-US" dirty="0" err="1"/>
              <a:t>Aabb</a:t>
            </a:r>
            <a:r>
              <a:rPr lang="en-US" dirty="0"/>
              <a:t> (</a:t>
            </a:r>
            <a:r>
              <a:rPr lang="en-US" dirty="0" err="1"/>
              <a:t>Maldivin</a:t>
            </a:r>
            <a:r>
              <a:rPr lang="en-US" dirty="0"/>
              <a:t> producer)  X    </a:t>
            </a:r>
            <a:r>
              <a:rPr lang="en-US" dirty="0" err="1"/>
              <a:t>aaBB</a:t>
            </a:r>
            <a:r>
              <a:rPr lang="en-US" dirty="0"/>
              <a:t>(</a:t>
            </a:r>
            <a:r>
              <a:rPr lang="en-US" dirty="0" err="1"/>
              <a:t>Maldivin</a:t>
            </a:r>
            <a:r>
              <a:rPr lang="en-US" dirty="0"/>
              <a:t> non Producer)</a:t>
            </a:r>
          </a:p>
        </p:txBody>
      </p:sp>
      <p:cxnSp>
        <p:nvCxnSpPr>
          <p:cNvPr id="5" name="Straight Arrow Connector 4"/>
          <p:cNvCxnSpPr/>
          <p:nvPr/>
        </p:nvCxnSpPr>
        <p:spPr>
          <a:xfrm rot="5400000">
            <a:off x="4914900" y="3771900"/>
            <a:ext cx="685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048000" y="4126468"/>
            <a:ext cx="5410200" cy="369332"/>
          </a:xfrm>
          <a:prstGeom prst="rect">
            <a:avLst/>
          </a:prstGeom>
          <a:noFill/>
          <a:ln>
            <a:solidFill>
              <a:schemeClr val="tx1"/>
            </a:solidFill>
          </a:ln>
        </p:spPr>
        <p:txBody>
          <a:bodyPr wrap="square" rtlCol="0">
            <a:spAutoFit/>
          </a:bodyPr>
          <a:lstStyle/>
          <a:p>
            <a:r>
              <a:rPr lang="en-US" dirty="0"/>
              <a:t>    F1  - </a:t>
            </a:r>
            <a:r>
              <a:rPr lang="en-US" dirty="0" err="1"/>
              <a:t>Maldivin</a:t>
            </a:r>
            <a:r>
              <a:rPr lang="en-US" dirty="0"/>
              <a:t> non Producer (</a:t>
            </a:r>
            <a:r>
              <a:rPr lang="en-US" dirty="0" err="1"/>
              <a:t>AaBb</a:t>
            </a:r>
            <a:r>
              <a:rPr lang="en-US" dirty="0"/>
              <a:t>)</a:t>
            </a:r>
          </a:p>
        </p:txBody>
      </p:sp>
      <p:sp>
        <p:nvSpPr>
          <p:cNvPr id="7" name="TextBox 6"/>
          <p:cNvSpPr txBox="1"/>
          <p:nvPr/>
        </p:nvSpPr>
        <p:spPr>
          <a:xfrm>
            <a:off x="609600" y="5562600"/>
            <a:ext cx="7848600" cy="369332"/>
          </a:xfrm>
          <a:prstGeom prst="rect">
            <a:avLst/>
          </a:prstGeom>
          <a:noFill/>
          <a:ln>
            <a:solidFill>
              <a:schemeClr val="tx1"/>
            </a:solidFill>
          </a:ln>
        </p:spPr>
        <p:txBody>
          <a:bodyPr wrap="square" rtlCol="0">
            <a:spAutoFit/>
          </a:bodyPr>
          <a:lstStyle/>
          <a:p>
            <a:r>
              <a:rPr lang="en-US" dirty="0"/>
              <a:t>    F2  </a:t>
            </a:r>
            <a:r>
              <a:rPr lang="en-US"/>
              <a:t>-            13 </a:t>
            </a:r>
            <a:r>
              <a:rPr lang="en-US" dirty="0" err="1"/>
              <a:t>Maldivin</a:t>
            </a:r>
            <a:r>
              <a:rPr lang="en-US" dirty="0"/>
              <a:t> non Producer :  3 </a:t>
            </a:r>
            <a:r>
              <a:rPr lang="en-US" dirty="0" err="1"/>
              <a:t>Maldivin</a:t>
            </a:r>
            <a:r>
              <a:rPr lang="en-US" dirty="0"/>
              <a:t> Producer</a:t>
            </a:r>
          </a:p>
        </p:txBody>
      </p:sp>
      <p:cxnSp>
        <p:nvCxnSpPr>
          <p:cNvPr id="8" name="Straight Arrow Connector 7"/>
          <p:cNvCxnSpPr/>
          <p:nvPr/>
        </p:nvCxnSpPr>
        <p:spPr>
          <a:xfrm rot="5400000">
            <a:off x="4915694" y="5066506"/>
            <a:ext cx="685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 name="Picture 9" descr="primula_cortusoides3.jpg"/>
          <p:cNvPicPr>
            <a:picLocks noChangeAspect="1"/>
          </p:cNvPicPr>
          <p:nvPr/>
        </p:nvPicPr>
        <p:blipFill>
          <a:blip r:embed="rId2" cstate="print"/>
          <a:stretch>
            <a:fillRect/>
          </a:stretch>
        </p:blipFill>
        <p:spPr>
          <a:xfrm>
            <a:off x="3429000" y="2286000"/>
            <a:ext cx="1028700" cy="685800"/>
          </a:xfrm>
          <a:prstGeom prst="rect">
            <a:avLst/>
          </a:prstGeom>
          <a:ln>
            <a:solidFill>
              <a:schemeClr val="tx1"/>
            </a:solidFill>
          </a:ln>
        </p:spPr>
      </p:pic>
      <p:pic>
        <p:nvPicPr>
          <p:cNvPr id="11" name="Picture 10" descr="primula1.jpg"/>
          <p:cNvPicPr>
            <a:picLocks noChangeAspect="1"/>
          </p:cNvPicPr>
          <p:nvPr/>
        </p:nvPicPr>
        <p:blipFill>
          <a:blip r:embed="rId3" cstate="print"/>
          <a:stretch>
            <a:fillRect/>
          </a:stretch>
        </p:blipFill>
        <p:spPr>
          <a:xfrm flipV="1">
            <a:off x="5715000" y="2286000"/>
            <a:ext cx="838200" cy="684054"/>
          </a:xfrm>
          <a:prstGeom prst="rect">
            <a:avLst/>
          </a:prstGeom>
          <a:ln>
            <a:solidFill>
              <a:schemeClr val="tx1"/>
            </a:solidFill>
          </a:ln>
        </p:spPr>
      </p:pic>
      <p:pic>
        <p:nvPicPr>
          <p:cNvPr id="12" name="Picture 11" descr="primula1.jpg"/>
          <p:cNvPicPr>
            <a:picLocks noChangeAspect="1"/>
          </p:cNvPicPr>
          <p:nvPr/>
        </p:nvPicPr>
        <p:blipFill>
          <a:blip r:embed="rId3" cstate="print"/>
          <a:stretch>
            <a:fillRect/>
          </a:stretch>
        </p:blipFill>
        <p:spPr>
          <a:xfrm flipV="1">
            <a:off x="5410200" y="4573746"/>
            <a:ext cx="838200" cy="684054"/>
          </a:xfrm>
          <a:prstGeom prst="rect">
            <a:avLst/>
          </a:prstGeom>
          <a:ln>
            <a:solidFill>
              <a:schemeClr val="tx1"/>
            </a:solidFill>
          </a:ln>
        </p:spPr>
      </p:pic>
      <p:pic>
        <p:nvPicPr>
          <p:cNvPr id="13" name="Picture 12" descr="primula1.jpg"/>
          <p:cNvPicPr>
            <a:picLocks noChangeAspect="1"/>
          </p:cNvPicPr>
          <p:nvPr/>
        </p:nvPicPr>
        <p:blipFill>
          <a:blip r:embed="rId3" cstate="print"/>
          <a:stretch>
            <a:fillRect/>
          </a:stretch>
        </p:blipFill>
        <p:spPr>
          <a:xfrm flipV="1">
            <a:off x="3962400" y="6019800"/>
            <a:ext cx="838200" cy="684054"/>
          </a:xfrm>
          <a:prstGeom prst="rect">
            <a:avLst/>
          </a:prstGeom>
          <a:ln>
            <a:solidFill>
              <a:schemeClr val="tx1"/>
            </a:solidFill>
          </a:ln>
        </p:spPr>
      </p:pic>
      <p:pic>
        <p:nvPicPr>
          <p:cNvPr id="14" name="Picture 13" descr="primula_cortusoides3.jpg"/>
          <p:cNvPicPr>
            <a:picLocks noChangeAspect="1"/>
          </p:cNvPicPr>
          <p:nvPr/>
        </p:nvPicPr>
        <p:blipFill>
          <a:blip r:embed="rId2" cstate="print"/>
          <a:stretch>
            <a:fillRect/>
          </a:stretch>
        </p:blipFill>
        <p:spPr>
          <a:xfrm>
            <a:off x="6057900" y="6019800"/>
            <a:ext cx="1028700" cy="685800"/>
          </a:xfrm>
          <a:prstGeom prst="rect">
            <a:avLst/>
          </a:prstGeom>
          <a:ln>
            <a:solidFill>
              <a:schemeClr val="tx1"/>
            </a:solidFill>
          </a:ln>
        </p:spPr>
      </p:pic>
    </p:spTree>
    <p:extLst>
      <p:ext uri="{BB962C8B-B14F-4D97-AF65-F5344CB8AC3E}">
        <p14:creationId xmlns:p14="http://schemas.microsoft.com/office/powerpoint/2010/main" val="163151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054" y="5594637"/>
            <a:ext cx="8229600" cy="1143000"/>
          </a:xfrm>
        </p:spPr>
        <p:txBody>
          <a:bodyPr/>
          <a:lstStyle/>
          <a:p>
            <a:r>
              <a:rPr lang="en-US" dirty="0"/>
              <a:t>(Ratio: 13:3)</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2727371"/>
              </p:ext>
            </p:extLst>
          </p:nvPr>
        </p:nvGraphicFramePr>
        <p:xfrm>
          <a:off x="989277" y="343229"/>
          <a:ext cx="7420975" cy="5441323"/>
        </p:xfrm>
        <a:graphic>
          <a:graphicData uri="http://schemas.openxmlformats.org/drawingml/2006/table">
            <a:tbl>
              <a:tblPr firstRow="1" bandRow="1">
                <a:tableStyleId>{5C22544A-7EE6-4342-B048-85BDC9FD1C3A}</a:tableStyleId>
              </a:tblPr>
              <a:tblGrid>
                <a:gridCol w="1484195">
                  <a:extLst>
                    <a:ext uri="{9D8B030D-6E8A-4147-A177-3AD203B41FA5}">
                      <a16:colId xmlns:a16="http://schemas.microsoft.com/office/drawing/2014/main" val="20000"/>
                    </a:ext>
                  </a:extLst>
                </a:gridCol>
                <a:gridCol w="1484195">
                  <a:extLst>
                    <a:ext uri="{9D8B030D-6E8A-4147-A177-3AD203B41FA5}">
                      <a16:colId xmlns:a16="http://schemas.microsoft.com/office/drawing/2014/main" val="20001"/>
                    </a:ext>
                  </a:extLst>
                </a:gridCol>
                <a:gridCol w="1484195">
                  <a:extLst>
                    <a:ext uri="{9D8B030D-6E8A-4147-A177-3AD203B41FA5}">
                      <a16:colId xmlns:a16="http://schemas.microsoft.com/office/drawing/2014/main" val="20002"/>
                    </a:ext>
                  </a:extLst>
                </a:gridCol>
                <a:gridCol w="1484195">
                  <a:extLst>
                    <a:ext uri="{9D8B030D-6E8A-4147-A177-3AD203B41FA5}">
                      <a16:colId xmlns:a16="http://schemas.microsoft.com/office/drawing/2014/main" val="20003"/>
                    </a:ext>
                  </a:extLst>
                </a:gridCol>
                <a:gridCol w="1484195">
                  <a:extLst>
                    <a:ext uri="{9D8B030D-6E8A-4147-A177-3AD203B41FA5}">
                      <a16:colId xmlns:a16="http://schemas.microsoft.com/office/drawing/2014/main" val="20004"/>
                    </a:ext>
                  </a:extLst>
                </a:gridCol>
              </a:tblGrid>
              <a:tr h="686443">
                <a:tc>
                  <a:txBody>
                    <a:bodyPr/>
                    <a:lstStyle/>
                    <a:p>
                      <a:r>
                        <a:rPr lang="en-US" dirty="0">
                          <a:solidFill>
                            <a:schemeClr val="tx1"/>
                          </a:solidFill>
                        </a:rPr>
                        <a:t>Gametes</a:t>
                      </a:r>
                    </a:p>
                  </a:txBody>
                  <a:tcPr>
                    <a:noFill/>
                  </a:tcPr>
                </a:tc>
                <a:tc>
                  <a:txBody>
                    <a:bodyPr/>
                    <a:lstStyle/>
                    <a:p>
                      <a:r>
                        <a:rPr lang="en-US" dirty="0"/>
                        <a:t>AB</a:t>
                      </a:r>
                    </a:p>
                  </a:txBody>
                  <a:tcPr>
                    <a:solidFill>
                      <a:srgbClr val="3366FF"/>
                    </a:solidFill>
                  </a:tcPr>
                </a:tc>
                <a:tc>
                  <a:txBody>
                    <a:bodyPr/>
                    <a:lstStyle/>
                    <a:p>
                      <a:r>
                        <a:rPr lang="en-US" dirty="0" err="1"/>
                        <a:t>Ab</a:t>
                      </a:r>
                      <a:endParaRPr lang="en-US" dirty="0"/>
                    </a:p>
                  </a:txBody>
                  <a:tcPr>
                    <a:solidFill>
                      <a:srgbClr val="3366FF"/>
                    </a:solidFill>
                  </a:tcPr>
                </a:tc>
                <a:tc>
                  <a:txBody>
                    <a:bodyPr/>
                    <a:lstStyle/>
                    <a:p>
                      <a:r>
                        <a:rPr lang="en-US" dirty="0" err="1"/>
                        <a:t>aB</a:t>
                      </a:r>
                      <a:endParaRPr lang="en-US" dirty="0"/>
                    </a:p>
                  </a:txBody>
                  <a:tcPr>
                    <a:solidFill>
                      <a:srgbClr val="3366FF"/>
                    </a:solidFill>
                  </a:tcPr>
                </a:tc>
                <a:tc>
                  <a:txBody>
                    <a:bodyPr/>
                    <a:lstStyle/>
                    <a:p>
                      <a:r>
                        <a:rPr lang="en-US" dirty="0" err="1"/>
                        <a:t>ab</a:t>
                      </a:r>
                      <a:endParaRPr lang="en-US" dirty="0"/>
                    </a:p>
                  </a:txBody>
                  <a:tcPr>
                    <a:solidFill>
                      <a:srgbClr val="3366FF"/>
                    </a:solidFill>
                  </a:tcPr>
                </a:tc>
                <a:extLst>
                  <a:ext uri="{0D108BD9-81ED-4DB2-BD59-A6C34878D82A}">
                    <a16:rowId xmlns:a16="http://schemas.microsoft.com/office/drawing/2014/main" val="10000"/>
                  </a:ext>
                </a:extLst>
              </a:tr>
              <a:tr h="686443">
                <a:tc>
                  <a:txBody>
                    <a:bodyPr/>
                    <a:lstStyle/>
                    <a:p>
                      <a:r>
                        <a:rPr lang="en-US" dirty="0"/>
                        <a:t>AB</a:t>
                      </a:r>
                    </a:p>
                  </a:txBody>
                  <a:tcPr>
                    <a:solidFill>
                      <a:srgbClr val="FF6600"/>
                    </a:solidFill>
                  </a:tcPr>
                </a:tc>
                <a:tc>
                  <a:txBody>
                    <a:bodyPr/>
                    <a:lstStyle/>
                    <a:p>
                      <a:r>
                        <a:rPr lang="en-US" dirty="0"/>
                        <a:t>AABB</a:t>
                      </a:r>
                    </a:p>
                    <a:p>
                      <a:r>
                        <a:rPr lang="en-US" dirty="0"/>
                        <a:t>(</a:t>
                      </a:r>
                      <a:r>
                        <a:rPr lang="en-US" dirty="0" err="1"/>
                        <a:t>Maldivin</a:t>
                      </a:r>
                      <a:r>
                        <a:rPr lang="en-US" dirty="0"/>
                        <a:t> absent)</a:t>
                      </a:r>
                    </a:p>
                  </a:txBody>
                  <a:tcPr>
                    <a:solidFill>
                      <a:srgbClr val="EEE47E"/>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r>
                        <a:rPr lang="en-US"/>
                        <a:t>(Maldivin </a:t>
                      </a:r>
                      <a:r>
                        <a:rPr lang="en-US" dirty="0"/>
                        <a:t>absent)</a:t>
                      </a:r>
                    </a:p>
                    <a:p>
                      <a:endParaRPr lang="en-US" dirty="0"/>
                    </a:p>
                  </a:txBody>
                  <a:tcPr>
                    <a:solidFill>
                      <a:srgbClr val="EEE47E"/>
                    </a:solidFill>
                  </a:tcPr>
                </a:tc>
                <a:extLst>
                  <a:ext uri="{0D108BD9-81ED-4DB2-BD59-A6C34878D82A}">
                    <a16:rowId xmlns:a16="http://schemas.microsoft.com/office/drawing/2014/main" val="10001"/>
                  </a:ext>
                </a:extLst>
              </a:tr>
              <a:tr h="686443">
                <a:tc>
                  <a:txBody>
                    <a:bodyPr/>
                    <a:lstStyle/>
                    <a:p>
                      <a:r>
                        <a:rPr lang="en-US" dirty="0" err="1"/>
                        <a:t>Ab</a:t>
                      </a:r>
                      <a:endParaRPr lang="en-US" dirty="0"/>
                    </a:p>
                  </a:txBody>
                  <a:tcPr>
                    <a:solidFill>
                      <a:srgbClr val="FF6600"/>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67D5"/>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67D5"/>
                    </a:solidFill>
                  </a:tcPr>
                </a:tc>
                <a:extLst>
                  <a:ext uri="{0D108BD9-81ED-4DB2-BD59-A6C34878D82A}">
                    <a16:rowId xmlns:a16="http://schemas.microsoft.com/office/drawing/2014/main" val="10002"/>
                  </a:ext>
                </a:extLst>
              </a:tr>
              <a:tr h="686443">
                <a:tc>
                  <a:txBody>
                    <a:bodyPr/>
                    <a:lstStyle/>
                    <a:p>
                      <a:r>
                        <a:rPr lang="en-US" dirty="0" err="1"/>
                        <a:t>aB</a:t>
                      </a:r>
                      <a:endParaRPr lang="en-US" dirty="0"/>
                    </a:p>
                  </a:txBody>
                  <a:tcPr>
                    <a:solidFill>
                      <a:srgbClr val="FF6600"/>
                    </a:solidFill>
                  </a:tcPr>
                </a:tc>
                <a:tc>
                  <a:txBody>
                    <a:bodyPr/>
                    <a:lstStyle/>
                    <a:p>
                      <a:r>
                        <a:rPr lang="en-US" dirty="0" err="1"/>
                        <a:t>AaBB</a:t>
                      </a:r>
                      <a:endParaRPr lang="en-US" dirty="0"/>
                    </a:p>
                    <a:p>
                      <a:r>
                        <a:rPr lang="en-US"/>
                        <a:t>(Maldivin </a:t>
                      </a:r>
                      <a:r>
                        <a:rPr lang="en-US" dirty="0"/>
                        <a:t>absent)</a:t>
                      </a:r>
                    </a:p>
                    <a:p>
                      <a:endParaRPr lang="en-US" dirty="0"/>
                    </a:p>
                  </a:txBody>
                  <a:tcPr>
                    <a:solidFill>
                      <a:srgbClr val="EEE47E"/>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extLst>
                  <a:ext uri="{0D108BD9-81ED-4DB2-BD59-A6C34878D82A}">
                    <a16:rowId xmlns:a16="http://schemas.microsoft.com/office/drawing/2014/main" val="10003"/>
                  </a:ext>
                </a:extLst>
              </a:tr>
              <a:tr h="686443">
                <a:tc>
                  <a:txBody>
                    <a:bodyPr/>
                    <a:lstStyle/>
                    <a:p>
                      <a:r>
                        <a:rPr lang="en-US" dirty="0" err="1"/>
                        <a:t>ab</a:t>
                      </a:r>
                      <a:endParaRPr lang="en-US" dirty="0"/>
                    </a:p>
                  </a:txBody>
                  <a:tcPr>
                    <a:solidFill>
                      <a:srgbClr val="FF6600"/>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(Colored)</a:t>
                      </a:r>
                    </a:p>
                    <a:p>
                      <a:endParaRPr lang="en-US" dirty="0"/>
                    </a:p>
                  </a:txBody>
                  <a:tcPr>
                    <a:solidFill>
                      <a:srgbClr val="FF67D5"/>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tc>
                  <a:txBody>
                    <a:bodyPr/>
                    <a:lstStyle/>
                    <a:p>
                      <a:r>
                        <a:rPr lang="en-US" dirty="0" err="1"/>
                        <a:t>aabb</a:t>
                      </a:r>
                      <a:endParaRPr lang="en-US" dirty="0"/>
                    </a:p>
                    <a:p>
                      <a:r>
                        <a:rPr lang="en-US" dirty="0"/>
                        <a:t>(</a:t>
                      </a:r>
                      <a:r>
                        <a:rPr lang="en-US" dirty="0" err="1"/>
                        <a:t>Maldivin</a:t>
                      </a:r>
                      <a:r>
                        <a:rPr lang="en-US" dirty="0"/>
                        <a:t> absent)</a:t>
                      </a:r>
                    </a:p>
                    <a:p>
                      <a:endParaRPr lang="en-US" dirty="0"/>
                    </a:p>
                  </a:txBody>
                  <a:tcPr>
                    <a:solidFill>
                      <a:srgbClr val="EEE47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84135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mic Sans MS" pitchFamily="66" charset="0"/>
              </a:rPr>
              <a:t>How can you explain this?</a:t>
            </a:r>
          </a:p>
        </p:txBody>
      </p:sp>
      <p:sp>
        <p:nvSpPr>
          <p:cNvPr id="3" name="TextBox 2"/>
          <p:cNvSpPr txBox="1"/>
          <p:nvPr/>
        </p:nvSpPr>
        <p:spPr>
          <a:xfrm>
            <a:off x="990600" y="1828800"/>
            <a:ext cx="6934200" cy="923330"/>
          </a:xfrm>
          <a:prstGeom prst="rect">
            <a:avLst/>
          </a:prstGeom>
          <a:noFill/>
        </p:spPr>
        <p:txBody>
          <a:bodyPr wrap="square" rtlCol="0">
            <a:spAutoFit/>
          </a:bodyPr>
          <a:lstStyle/>
          <a:p>
            <a:r>
              <a:rPr lang="en-US" dirty="0"/>
              <a:t>It is a classic example of </a:t>
            </a:r>
            <a:r>
              <a:rPr lang="en-US" b="1" dirty="0"/>
              <a:t>dominant suppression epistasis.</a:t>
            </a:r>
          </a:p>
          <a:p>
            <a:endParaRPr lang="en-US" b="1" dirty="0"/>
          </a:p>
          <a:p>
            <a:r>
              <a:rPr lang="en-US" dirty="0"/>
              <a:t>Dominant </a:t>
            </a:r>
            <a:r>
              <a:rPr lang="en-US" b="1" dirty="0"/>
              <a:t>B allele masks the genes at the A locus</a:t>
            </a:r>
          </a:p>
        </p:txBody>
      </p:sp>
      <p:graphicFrame>
        <p:nvGraphicFramePr>
          <p:cNvPr id="4" name="Table 3"/>
          <p:cNvGraphicFramePr>
            <a:graphicFrameLocks noGrp="1"/>
          </p:cNvGraphicFramePr>
          <p:nvPr>
            <p:extLst>
              <p:ext uri="{D42A27DB-BD31-4B8C-83A1-F6EECF244321}">
                <p14:modId xmlns:p14="http://schemas.microsoft.com/office/powerpoint/2010/main" val="1094910880"/>
              </p:ext>
            </p:extLst>
          </p:nvPr>
        </p:nvGraphicFramePr>
        <p:xfrm>
          <a:off x="1219200" y="2971800"/>
          <a:ext cx="6705600" cy="3482340"/>
        </p:xfrm>
        <a:graphic>
          <a:graphicData uri="http://schemas.openxmlformats.org/drawingml/2006/table">
            <a:tbl>
              <a:tblPr/>
              <a:tblGrid>
                <a:gridCol w="15240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0">
                <a:tc>
                  <a:txBody>
                    <a:bodyPr/>
                    <a:lstStyle/>
                    <a:p>
                      <a:r>
                        <a:rPr lang="en-US" b="1" dirty="0"/>
                        <a:t>Genotype </a:t>
                      </a:r>
                    </a:p>
                  </a:txBody>
                  <a:tcPr marL="19050" marR="19050" marT="19050" marB="19050" anchor="ctr">
                    <a:lnL>
                      <a:noFill/>
                    </a:lnL>
                    <a:lnR>
                      <a:noFill/>
                    </a:lnR>
                    <a:lnT>
                      <a:noFill/>
                    </a:lnT>
                    <a:lnB>
                      <a:noFill/>
                    </a:lnB>
                  </a:tcPr>
                </a:tc>
                <a:tc>
                  <a:txBody>
                    <a:bodyPr/>
                    <a:lstStyle/>
                    <a:p>
                      <a:r>
                        <a:rPr lang="en-US" b="1" dirty="0" err="1"/>
                        <a:t>Malvidin</a:t>
                      </a:r>
                      <a:r>
                        <a:rPr lang="en-US" b="1" dirty="0"/>
                        <a:t> Production</a:t>
                      </a:r>
                    </a:p>
                  </a:txBody>
                  <a:tcPr marL="19050" marR="19050" marT="19050" marB="19050" anchor="ctr">
                    <a:lnL>
                      <a:noFill/>
                    </a:lnL>
                    <a:lnR>
                      <a:noFill/>
                    </a:lnR>
                    <a:lnT>
                      <a:noFill/>
                    </a:lnT>
                    <a:lnB>
                      <a:noFill/>
                    </a:lnB>
                  </a:tcPr>
                </a:tc>
                <a:tc>
                  <a:txBody>
                    <a:bodyPr/>
                    <a:lstStyle/>
                    <a:p>
                      <a:r>
                        <a:rPr lang="en-US" b="1" dirty="0"/>
                        <a:t>Gene actions </a:t>
                      </a:r>
                    </a:p>
                  </a:txBody>
                  <a:tcPr marL="19050" marR="19050" marT="19050" marB="19050"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dirty="0"/>
                        <a:t>9 </a:t>
                      </a:r>
                      <a:r>
                        <a:rPr lang="en-US" i="1" dirty="0"/>
                        <a:t>A_B_ </a:t>
                      </a:r>
                      <a:endParaRPr lang="en-US" dirty="0"/>
                    </a:p>
                  </a:txBody>
                  <a:tcPr marL="19050" marR="19050" marT="19050" marB="19050" anchor="ctr">
                    <a:lnL>
                      <a:noFill/>
                    </a:lnL>
                    <a:lnR>
                      <a:noFill/>
                    </a:lnR>
                    <a:lnT>
                      <a:noFill/>
                    </a:lnT>
                    <a:lnB>
                      <a:noFill/>
                    </a:lnB>
                  </a:tcPr>
                </a:tc>
                <a:tc>
                  <a:txBody>
                    <a:bodyPr/>
                    <a:lstStyle/>
                    <a:p>
                      <a:r>
                        <a:rPr lang="en-US" dirty="0"/>
                        <a:t>No </a:t>
                      </a:r>
                      <a:r>
                        <a:rPr lang="en-US" dirty="0" err="1"/>
                        <a:t>malvidin</a:t>
                      </a:r>
                      <a:r>
                        <a:rPr lang="en-US" dirty="0"/>
                        <a:t> </a:t>
                      </a:r>
                    </a:p>
                  </a:txBody>
                  <a:tcPr marL="19050" marR="19050" marT="19050" marB="19050" anchor="ctr">
                    <a:lnL>
                      <a:noFill/>
                    </a:lnL>
                    <a:lnR>
                      <a:noFill/>
                    </a:lnR>
                    <a:lnT>
                      <a:noFill/>
                    </a:lnT>
                    <a:lnB>
                      <a:noFill/>
                    </a:lnB>
                  </a:tcPr>
                </a:tc>
                <a:tc>
                  <a:txBody>
                    <a:bodyPr/>
                    <a:lstStyle/>
                    <a:p>
                      <a:r>
                        <a:rPr lang="en-US" dirty="0"/>
                        <a:t>no </a:t>
                      </a:r>
                      <a:r>
                        <a:rPr lang="en-US" dirty="0" err="1"/>
                        <a:t>malvidin</a:t>
                      </a:r>
                      <a:r>
                        <a:rPr lang="en-US" dirty="0"/>
                        <a:t> because dominant B allele is present </a:t>
                      </a:r>
                    </a:p>
                  </a:txBody>
                  <a:tcPr marL="19050" marR="19050" marT="19050" marB="19050"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US" dirty="0"/>
                        <a:t>3 </a:t>
                      </a:r>
                      <a:r>
                        <a:rPr lang="en-US" i="1" dirty="0" err="1"/>
                        <a:t>A_bb</a:t>
                      </a:r>
                      <a:r>
                        <a:rPr lang="en-US" dirty="0"/>
                        <a:t> </a:t>
                      </a:r>
                    </a:p>
                  </a:txBody>
                  <a:tcPr marL="19050" marR="19050" marT="19050" marB="19050" anchor="ctr">
                    <a:lnL>
                      <a:noFill/>
                    </a:lnL>
                    <a:lnR>
                      <a:noFill/>
                    </a:lnR>
                    <a:lnT>
                      <a:noFill/>
                    </a:lnT>
                    <a:lnB>
                      <a:noFill/>
                    </a:lnB>
                  </a:tcPr>
                </a:tc>
                <a:tc>
                  <a:txBody>
                    <a:bodyPr/>
                    <a:lstStyle/>
                    <a:p>
                      <a:r>
                        <a:rPr lang="en-US"/>
                        <a:t>Malvidin </a:t>
                      </a:r>
                    </a:p>
                  </a:txBody>
                  <a:tcPr marL="19050" marR="19050" marT="19050" marB="19050" anchor="ctr">
                    <a:lnL>
                      <a:noFill/>
                    </a:lnL>
                    <a:lnR>
                      <a:noFill/>
                    </a:lnR>
                    <a:lnT>
                      <a:noFill/>
                    </a:lnT>
                    <a:lnB>
                      <a:noFill/>
                    </a:lnB>
                  </a:tcPr>
                </a:tc>
                <a:tc>
                  <a:txBody>
                    <a:bodyPr/>
                    <a:lstStyle/>
                    <a:p>
                      <a:r>
                        <a:rPr lang="en-US" dirty="0" err="1"/>
                        <a:t>malvidin</a:t>
                      </a:r>
                      <a:r>
                        <a:rPr lang="en-US" dirty="0"/>
                        <a:t> productions because dominant A allele present </a:t>
                      </a:r>
                    </a:p>
                  </a:txBody>
                  <a:tcPr marL="19050" marR="19050" marT="19050" marB="19050"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US" dirty="0"/>
                        <a:t>3 </a:t>
                      </a:r>
                      <a:r>
                        <a:rPr lang="en-US" i="1" dirty="0" err="1"/>
                        <a:t>aaB</a:t>
                      </a:r>
                      <a:r>
                        <a:rPr lang="en-US" i="1" dirty="0"/>
                        <a:t>_ </a:t>
                      </a:r>
                      <a:endParaRPr lang="en-US" dirty="0"/>
                    </a:p>
                  </a:txBody>
                  <a:tcPr marL="19050" marR="19050" marT="19050" marB="19050" anchor="ctr">
                    <a:lnL>
                      <a:noFill/>
                    </a:lnL>
                    <a:lnR>
                      <a:noFill/>
                    </a:lnR>
                    <a:lnT>
                      <a:noFill/>
                    </a:lnT>
                    <a:lnB>
                      <a:noFill/>
                    </a:lnB>
                  </a:tcPr>
                </a:tc>
                <a:tc>
                  <a:txBody>
                    <a:bodyPr/>
                    <a:lstStyle/>
                    <a:p>
                      <a:r>
                        <a:rPr lang="en-US"/>
                        <a:t>No malvidin </a:t>
                      </a:r>
                    </a:p>
                  </a:txBody>
                  <a:tcPr marL="19050" marR="19050" marT="19050" marB="19050" anchor="ctr">
                    <a:lnL>
                      <a:noFill/>
                    </a:lnL>
                    <a:lnR>
                      <a:noFill/>
                    </a:lnR>
                    <a:lnT>
                      <a:noFill/>
                    </a:lnT>
                    <a:lnB>
                      <a:noFill/>
                    </a:lnB>
                  </a:tcPr>
                </a:tc>
                <a:tc>
                  <a:txBody>
                    <a:bodyPr/>
                    <a:lstStyle/>
                    <a:p>
                      <a:r>
                        <a:rPr lang="en-US" dirty="0"/>
                        <a:t>no </a:t>
                      </a:r>
                      <a:r>
                        <a:rPr lang="en-US" dirty="0" err="1"/>
                        <a:t>malvidin</a:t>
                      </a:r>
                      <a:r>
                        <a:rPr lang="en-US" dirty="0"/>
                        <a:t> because </a:t>
                      </a:r>
                      <a:r>
                        <a:rPr lang="en-US" dirty="0" err="1"/>
                        <a:t>recessiveaand</a:t>
                      </a:r>
                      <a:r>
                        <a:rPr lang="en-US" dirty="0"/>
                        <a:t> dominant B alleles present </a:t>
                      </a:r>
                    </a:p>
                  </a:txBody>
                  <a:tcPr marL="19050" marR="19050" marT="19050" marB="19050"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US" dirty="0"/>
                        <a:t>1 </a:t>
                      </a:r>
                      <a:r>
                        <a:rPr lang="en-US" i="1" dirty="0" err="1"/>
                        <a:t>aabb</a:t>
                      </a:r>
                      <a:endParaRPr lang="en-US" dirty="0"/>
                    </a:p>
                  </a:txBody>
                  <a:tcPr marL="19050" marR="19050" marT="19050" marB="19050" anchor="ctr">
                    <a:lnL>
                      <a:noFill/>
                    </a:lnL>
                    <a:lnR>
                      <a:noFill/>
                    </a:lnR>
                    <a:lnT>
                      <a:noFill/>
                    </a:lnT>
                    <a:lnB>
                      <a:noFill/>
                    </a:lnB>
                  </a:tcPr>
                </a:tc>
                <a:tc>
                  <a:txBody>
                    <a:bodyPr/>
                    <a:lstStyle/>
                    <a:p>
                      <a:r>
                        <a:rPr lang="en-US"/>
                        <a:t>No malvidin </a:t>
                      </a:r>
                    </a:p>
                  </a:txBody>
                  <a:tcPr marL="19050" marR="19050" marT="19050" marB="19050" anchor="ctr">
                    <a:lnL>
                      <a:noFill/>
                    </a:lnL>
                    <a:lnR>
                      <a:noFill/>
                    </a:lnR>
                    <a:lnT>
                      <a:noFill/>
                    </a:lnT>
                    <a:lnB>
                      <a:noFill/>
                    </a:lnB>
                  </a:tcPr>
                </a:tc>
                <a:tc>
                  <a:txBody>
                    <a:bodyPr/>
                    <a:lstStyle/>
                    <a:p>
                      <a:r>
                        <a:rPr lang="en-US" dirty="0"/>
                        <a:t>no </a:t>
                      </a:r>
                      <a:r>
                        <a:rPr lang="en-US" dirty="0" err="1"/>
                        <a:t>malvidin</a:t>
                      </a:r>
                      <a:r>
                        <a:rPr lang="en-US" dirty="0"/>
                        <a:t> because recessive a allele present </a:t>
                      </a:r>
                    </a:p>
                  </a:txBody>
                  <a:tcPr marL="19050" marR="19050" marT="19050" marB="19050"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0043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mechanism</a:t>
            </a:r>
          </a:p>
        </p:txBody>
      </p:sp>
      <p:sp>
        <p:nvSpPr>
          <p:cNvPr id="5" name="TextBox 4"/>
          <p:cNvSpPr txBox="1"/>
          <p:nvPr/>
        </p:nvSpPr>
        <p:spPr>
          <a:xfrm>
            <a:off x="1201464" y="4170140"/>
            <a:ext cx="3175306" cy="1754327"/>
          </a:xfrm>
          <a:prstGeom prst="rect">
            <a:avLst/>
          </a:prstGeom>
          <a:noFill/>
        </p:spPr>
        <p:txBody>
          <a:bodyPr wrap="square" rtlCol="0">
            <a:spAutoFit/>
          </a:bodyPr>
          <a:lstStyle/>
          <a:p>
            <a:r>
              <a:rPr lang="en-US" sz="3600" dirty="0"/>
              <a:t>		X</a:t>
            </a:r>
          </a:p>
          <a:p>
            <a:r>
              <a:rPr lang="en-US" sz="3600" dirty="0"/>
              <a:t>(Precursor: White color)</a:t>
            </a:r>
          </a:p>
        </p:txBody>
      </p:sp>
      <p:sp>
        <p:nvSpPr>
          <p:cNvPr id="6" name="TextBox 5"/>
          <p:cNvSpPr txBox="1"/>
          <p:nvPr/>
        </p:nvSpPr>
        <p:spPr>
          <a:xfrm>
            <a:off x="5524674" y="4170140"/>
            <a:ext cx="3846745" cy="1754327"/>
          </a:xfrm>
          <a:prstGeom prst="rect">
            <a:avLst/>
          </a:prstGeom>
          <a:noFill/>
        </p:spPr>
        <p:txBody>
          <a:bodyPr wrap="square" rtlCol="0">
            <a:spAutoFit/>
          </a:bodyPr>
          <a:lstStyle/>
          <a:p>
            <a:r>
              <a:rPr lang="en-US" sz="3600" dirty="0"/>
              <a:t>Y </a:t>
            </a:r>
          </a:p>
          <a:p>
            <a:r>
              <a:rPr lang="en-US" sz="3600" dirty="0"/>
              <a:t>(</a:t>
            </a:r>
            <a:r>
              <a:rPr lang="en-US" sz="3600" dirty="0" err="1"/>
              <a:t>Maldivin</a:t>
            </a:r>
            <a:r>
              <a:rPr lang="en-US" sz="3600" dirty="0"/>
              <a:t>: colored Product)</a:t>
            </a:r>
          </a:p>
        </p:txBody>
      </p:sp>
      <p:sp>
        <p:nvSpPr>
          <p:cNvPr id="7" name="Right Arrow 6"/>
          <p:cNvSpPr/>
          <p:nvPr/>
        </p:nvSpPr>
        <p:spPr>
          <a:xfrm>
            <a:off x="2935011" y="4479039"/>
            <a:ext cx="2521008" cy="1544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3241895" y="3567456"/>
            <a:ext cx="2456473" cy="646331"/>
          </a:xfrm>
          <a:prstGeom prst="rect">
            <a:avLst/>
          </a:prstGeom>
          <a:noFill/>
        </p:spPr>
        <p:txBody>
          <a:bodyPr wrap="square" rtlCol="0">
            <a:spAutoFit/>
          </a:bodyPr>
          <a:lstStyle/>
          <a:p>
            <a:r>
              <a:rPr lang="en-US" sz="3600" dirty="0"/>
              <a:t>Enzyme A</a:t>
            </a:r>
          </a:p>
        </p:txBody>
      </p:sp>
      <p:sp>
        <p:nvSpPr>
          <p:cNvPr id="9" name="TextBox 8"/>
          <p:cNvSpPr txBox="1"/>
          <p:nvPr/>
        </p:nvSpPr>
        <p:spPr>
          <a:xfrm>
            <a:off x="3274147" y="2141044"/>
            <a:ext cx="2456473" cy="646331"/>
          </a:xfrm>
          <a:prstGeom prst="rect">
            <a:avLst/>
          </a:prstGeom>
          <a:noFill/>
        </p:spPr>
        <p:txBody>
          <a:bodyPr wrap="square" rtlCol="0">
            <a:spAutoFit/>
          </a:bodyPr>
          <a:lstStyle/>
          <a:p>
            <a:r>
              <a:rPr lang="en-US" sz="3600" dirty="0"/>
              <a:t>Gene A</a:t>
            </a:r>
          </a:p>
        </p:txBody>
      </p:sp>
      <p:sp>
        <p:nvSpPr>
          <p:cNvPr id="10" name="Down Arrow 9"/>
          <p:cNvSpPr/>
          <p:nvPr/>
        </p:nvSpPr>
        <p:spPr>
          <a:xfrm>
            <a:off x="4050650" y="2787375"/>
            <a:ext cx="205966" cy="95374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9" name="Group 18"/>
          <p:cNvGrpSpPr/>
          <p:nvPr/>
        </p:nvGrpSpPr>
        <p:grpSpPr>
          <a:xfrm>
            <a:off x="972096" y="2156156"/>
            <a:ext cx="2168883" cy="646331"/>
            <a:chOff x="972096" y="2156156"/>
            <a:chExt cx="2168883" cy="646331"/>
          </a:xfrm>
        </p:grpSpPr>
        <p:grpSp>
          <p:nvGrpSpPr>
            <p:cNvPr id="17" name="Group 16"/>
            <p:cNvGrpSpPr/>
            <p:nvPr/>
          </p:nvGrpSpPr>
          <p:grpSpPr>
            <a:xfrm>
              <a:off x="2076819" y="2248103"/>
              <a:ext cx="1064160" cy="522111"/>
              <a:chOff x="2076819" y="2248103"/>
              <a:chExt cx="1064160" cy="522111"/>
            </a:xfrm>
          </p:grpSpPr>
          <p:cxnSp>
            <p:nvCxnSpPr>
              <p:cNvPr id="12" name="Straight Connector 11"/>
              <p:cNvCxnSpPr/>
              <p:nvPr/>
            </p:nvCxnSpPr>
            <p:spPr>
              <a:xfrm>
                <a:off x="2076819" y="2505519"/>
                <a:ext cx="106416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140979" y="2248103"/>
                <a:ext cx="0" cy="5221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15" name="TextBox 14"/>
            <p:cNvSpPr txBox="1"/>
            <p:nvPr/>
          </p:nvSpPr>
          <p:spPr>
            <a:xfrm>
              <a:off x="972096" y="2156156"/>
              <a:ext cx="1499496" cy="646331"/>
            </a:xfrm>
            <a:prstGeom prst="rect">
              <a:avLst/>
            </a:prstGeom>
            <a:noFill/>
            <a:ln>
              <a:noFill/>
            </a:ln>
          </p:spPr>
          <p:txBody>
            <a:bodyPr wrap="square" rtlCol="0">
              <a:spAutoFit/>
            </a:bodyPr>
            <a:lstStyle/>
            <a:p>
              <a:pPr algn="ctr"/>
              <a:r>
                <a:rPr lang="en-US" sz="3600" dirty="0"/>
                <a:t>B</a:t>
              </a:r>
            </a:p>
          </p:txBody>
        </p:sp>
      </p:grpSp>
      <p:grpSp>
        <p:nvGrpSpPr>
          <p:cNvPr id="16" name="Group 15"/>
          <p:cNvGrpSpPr/>
          <p:nvPr/>
        </p:nvGrpSpPr>
        <p:grpSpPr>
          <a:xfrm>
            <a:off x="1868714" y="2770214"/>
            <a:ext cx="1441719" cy="1007189"/>
            <a:chOff x="1868714" y="2770214"/>
            <a:chExt cx="1441719" cy="1007189"/>
          </a:xfrm>
        </p:grpSpPr>
        <p:cxnSp>
          <p:nvCxnSpPr>
            <p:cNvPr id="4" name="Straight Connector 3"/>
            <p:cNvCxnSpPr/>
            <p:nvPr/>
          </p:nvCxnSpPr>
          <p:spPr>
            <a:xfrm>
              <a:off x="1868714" y="2770214"/>
              <a:ext cx="1373181" cy="7972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H="1">
              <a:off x="3177265" y="3392715"/>
              <a:ext cx="133168" cy="3846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1966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Dominant Epistasis</a:t>
            </a:r>
          </a:p>
        </p:txBody>
      </p:sp>
      <p:pic>
        <p:nvPicPr>
          <p:cNvPr id="4" name="Picture 3" descr="summersquash.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20" y="1667478"/>
            <a:ext cx="5461000" cy="3454400"/>
          </a:xfrm>
          <a:prstGeom prst="rect">
            <a:avLst/>
          </a:prstGeom>
        </p:spPr>
      </p:pic>
      <p:cxnSp>
        <p:nvCxnSpPr>
          <p:cNvPr id="6" name="Straight Arrow Connector 5"/>
          <p:cNvCxnSpPr/>
          <p:nvPr/>
        </p:nvCxnSpPr>
        <p:spPr>
          <a:xfrm flipH="1">
            <a:off x="4582712" y="2127974"/>
            <a:ext cx="1905178" cy="720765"/>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39380" y="1839088"/>
            <a:ext cx="1853705" cy="830997"/>
          </a:xfrm>
          <a:prstGeom prst="rect">
            <a:avLst/>
          </a:prstGeom>
          <a:noFill/>
        </p:spPr>
        <p:txBody>
          <a:bodyPr wrap="square" rtlCol="0">
            <a:spAutoFit/>
          </a:bodyPr>
          <a:lstStyle/>
          <a:p>
            <a:r>
              <a:rPr lang="en-US" sz="2400" dirty="0"/>
              <a:t>White (WWYY)</a:t>
            </a:r>
          </a:p>
        </p:txBody>
      </p:sp>
      <p:cxnSp>
        <p:nvCxnSpPr>
          <p:cNvPr id="10" name="Straight Arrow Connector 9"/>
          <p:cNvCxnSpPr/>
          <p:nvPr/>
        </p:nvCxnSpPr>
        <p:spPr>
          <a:xfrm flipH="1">
            <a:off x="4752276" y="2898170"/>
            <a:ext cx="1905178" cy="720765"/>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657454" y="2689149"/>
            <a:ext cx="1495341" cy="830997"/>
          </a:xfrm>
          <a:prstGeom prst="rect">
            <a:avLst/>
          </a:prstGeom>
          <a:noFill/>
        </p:spPr>
        <p:txBody>
          <a:bodyPr wrap="square" rtlCol="0">
            <a:spAutoFit/>
          </a:bodyPr>
          <a:lstStyle/>
          <a:p>
            <a:r>
              <a:rPr lang="en-US" sz="2400" dirty="0"/>
              <a:t>yellow (</a:t>
            </a:r>
            <a:r>
              <a:rPr lang="en-US" sz="2400" dirty="0" err="1"/>
              <a:t>wwY</a:t>
            </a:r>
            <a:r>
              <a:rPr lang="en-US" sz="2400" dirty="0"/>
              <a:t>_)</a:t>
            </a:r>
          </a:p>
        </p:txBody>
      </p:sp>
      <p:cxnSp>
        <p:nvCxnSpPr>
          <p:cNvPr id="12" name="Straight Arrow Connector 11"/>
          <p:cNvCxnSpPr/>
          <p:nvPr/>
        </p:nvCxnSpPr>
        <p:spPr>
          <a:xfrm flipH="1">
            <a:off x="4134372" y="3944991"/>
            <a:ext cx="2284862" cy="720765"/>
          </a:xfrm>
          <a:prstGeom prst="straightConnector1">
            <a:avLst/>
          </a:prstGeom>
          <a:ln>
            <a:solidFill>
              <a:srgbClr val="FFFF00"/>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85812" y="3656105"/>
            <a:ext cx="1426687" cy="830997"/>
          </a:xfrm>
          <a:prstGeom prst="rect">
            <a:avLst/>
          </a:prstGeom>
          <a:noFill/>
        </p:spPr>
        <p:txBody>
          <a:bodyPr wrap="square" rtlCol="0">
            <a:spAutoFit/>
          </a:bodyPr>
          <a:lstStyle/>
          <a:p>
            <a:r>
              <a:rPr lang="en-US" sz="2400" dirty="0"/>
              <a:t>Green (</a:t>
            </a:r>
            <a:r>
              <a:rPr lang="en-US" sz="2400" dirty="0" err="1"/>
              <a:t>wwyy</a:t>
            </a:r>
            <a:r>
              <a:rPr lang="en-US" sz="2400" dirty="0"/>
              <a:t>)</a:t>
            </a:r>
          </a:p>
        </p:txBody>
      </p:sp>
    </p:spTree>
    <p:extLst>
      <p:ext uri="{BB962C8B-B14F-4D97-AF65-F5344CB8AC3E}">
        <p14:creationId xmlns:p14="http://schemas.microsoft.com/office/powerpoint/2010/main" val="2378207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758_dominant epistatsi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83" y="0"/>
            <a:ext cx="5249294" cy="6918424"/>
          </a:xfrm>
          <a:prstGeom prst="rect">
            <a:avLst/>
          </a:prstGeom>
          <a:ln>
            <a:solidFill>
              <a:schemeClr val="tx1"/>
            </a:solidFill>
          </a:ln>
        </p:spPr>
      </p:pic>
      <p:sp>
        <p:nvSpPr>
          <p:cNvPr id="5" name="Rectangle 4"/>
          <p:cNvSpPr/>
          <p:nvPr/>
        </p:nvSpPr>
        <p:spPr>
          <a:xfrm>
            <a:off x="5581444" y="576363"/>
            <a:ext cx="3326554" cy="4524315"/>
          </a:xfrm>
          <a:prstGeom prst="rect">
            <a:avLst/>
          </a:prstGeom>
        </p:spPr>
        <p:txBody>
          <a:bodyPr wrap="square">
            <a:spAutoFit/>
          </a:bodyPr>
          <a:lstStyle/>
          <a:p>
            <a:r>
              <a:rPr lang="en-US" sz="2400" dirty="0"/>
              <a:t>At the first gene locus white colored squash is dominant to colored squash, and the gene symbols are W=white and w=colored. </a:t>
            </a:r>
          </a:p>
          <a:p>
            <a:endParaRPr lang="en-US" sz="2400" dirty="0"/>
          </a:p>
          <a:p>
            <a:r>
              <a:rPr lang="en-US" sz="2400" dirty="0"/>
              <a:t>At the second gene yellow is dominant to green, and the symbols used are Y=yellow, y=green.</a:t>
            </a:r>
          </a:p>
        </p:txBody>
      </p:sp>
    </p:spTree>
    <p:extLst>
      <p:ext uri="{BB962C8B-B14F-4D97-AF65-F5344CB8AC3E}">
        <p14:creationId xmlns:p14="http://schemas.microsoft.com/office/powerpoint/2010/main" val="158890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533400" y="3810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0000" lnSpcReduction="20000"/>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Comic Sans MS" pitchFamily="66" charset="0"/>
                <a:ea typeface="+mj-ea"/>
                <a:cs typeface="+mj-cs"/>
              </a:rPr>
              <a:t>Modified Mendel Ratio in </a:t>
            </a:r>
            <a:r>
              <a:rPr kumimoji="0" lang="en-US" sz="4400" b="0" i="1" u="none" strike="noStrike" kern="1200" cap="none" spc="0" normalizeH="0" baseline="0" noProof="0" dirty="0">
                <a:ln>
                  <a:noFill/>
                </a:ln>
                <a:solidFill>
                  <a:schemeClr val="tx1"/>
                </a:solidFill>
                <a:effectLst/>
                <a:uLnTx/>
                <a:uFillTx/>
                <a:latin typeface="Comic Sans MS" pitchFamily="66" charset="0"/>
                <a:ea typeface="+mj-ea"/>
                <a:cs typeface="+mj-cs"/>
              </a:rPr>
              <a:t>Coat color of mice</a:t>
            </a:r>
          </a:p>
        </p:txBody>
      </p:sp>
      <p:pic>
        <p:nvPicPr>
          <p:cNvPr id="8" name="Picture 7" descr="062.png"/>
          <p:cNvPicPr>
            <a:picLocks noChangeAspect="1"/>
          </p:cNvPicPr>
          <p:nvPr/>
        </p:nvPicPr>
        <p:blipFill>
          <a:blip r:embed="rId2" cstate="print"/>
          <a:stretch>
            <a:fillRect/>
          </a:stretch>
        </p:blipFill>
        <p:spPr>
          <a:xfrm>
            <a:off x="1371600" y="2133600"/>
            <a:ext cx="5638800" cy="4040170"/>
          </a:xfrm>
          <a:prstGeom prst="rect">
            <a:avLst/>
          </a:prstGeom>
        </p:spPr>
      </p:pic>
      <p:pic>
        <p:nvPicPr>
          <p:cNvPr id="9" name="Picture 8" descr="agouti.jpg"/>
          <p:cNvPicPr>
            <a:picLocks noChangeAspect="1"/>
          </p:cNvPicPr>
          <p:nvPr/>
        </p:nvPicPr>
        <p:blipFill>
          <a:blip r:embed="rId3" cstate="print"/>
          <a:srcRect l="13333" t="10667" r="16000" b="37333"/>
          <a:stretch>
            <a:fillRect/>
          </a:stretch>
        </p:blipFill>
        <p:spPr>
          <a:xfrm>
            <a:off x="2057400" y="1447800"/>
            <a:ext cx="1453903" cy="802386"/>
          </a:xfrm>
          <a:prstGeom prst="rect">
            <a:avLst/>
          </a:prstGeom>
        </p:spPr>
      </p:pic>
      <p:pic>
        <p:nvPicPr>
          <p:cNvPr id="11" name="Picture 10" descr="agouti.jpg"/>
          <p:cNvPicPr>
            <a:picLocks noChangeAspect="1"/>
          </p:cNvPicPr>
          <p:nvPr/>
        </p:nvPicPr>
        <p:blipFill>
          <a:blip r:embed="rId3" cstate="print"/>
          <a:srcRect l="13333" t="10667" r="16000" b="37333"/>
          <a:stretch>
            <a:fillRect/>
          </a:stretch>
        </p:blipFill>
        <p:spPr>
          <a:xfrm>
            <a:off x="1371600" y="5943600"/>
            <a:ext cx="1453903" cy="802386"/>
          </a:xfrm>
          <a:prstGeom prst="rect">
            <a:avLst/>
          </a:prstGeom>
        </p:spPr>
      </p:pic>
      <p:pic>
        <p:nvPicPr>
          <p:cNvPr id="12" name="Picture 11" descr="albino.png"/>
          <p:cNvPicPr>
            <a:picLocks noChangeAspect="1"/>
          </p:cNvPicPr>
          <p:nvPr/>
        </p:nvPicPr>
        <p:blipFill>
          <a:blip r:embed="rId4" cstate="print"/>
          <a:srcRect l="11905" t="17007" r="14286" b="6803"/>
          <a:stretch>
            <a:fillRect/>
          </a:stretch>
        </p:blipFill>
        <p:spPr>
          <a:xfrm>
            <a:off x="6019800" y="5867400"/>
            <a:ext cx="1295400" cy="936031"/>
          </a:xfrm>
          <a:prstGeom prst="rect">
            <a:avLst/>
          </a:prstGeom>
        </p:spPr>
      </p:pic>
      <p:pic>
        <p:nvPicPr>
          <p:cNvPr id="13" name="Picture 12" descr="c57black.jpg"/>
          <p:cNvPicPr>
            <a:picLocks noChangeAspect="1"/>
          </p:cNvPicPr>
          <p:nvPr/>
        </p:nvPicPr>
        <p:blipFill>
          <a:blip r:embed="rId5" cstate="print"/>
          <a:stretch>
            <a:fillRect/>
          </a:stretch>
        </p:blipFill>
        <p:spPr>
          <a:xfrm>
            <a:off x="3886200" y="5898218"/>
            <a:ext cx="990600" cy="959782"/>
          </a:xfrm>
          <a:prstGeom prst="rect">
            <a:avLst/>
          </a:prstGeom>
        </p:spPr>
      </p:pic>
      <p:sp>
        <p:nvSpPr>
          <p:cNvPr id="14" name="TextBox 13"/>
          <p:cNvSpPr txBox="1"/>
          <p:nvPr/>
        </p:nvSpPr>
        <p:spPr>
          <a:xfrm>
            <a:off x="2438400" y="2743200"/>
            <a:ext cx="1447800" cy="369332"/>
          </a:xfrm>
          <a:prstGeom prst="rect">
            <a:avLst/>
          </a:prstGeom>
          <a:noFill/>
        </p:spPr>
        <p:txBody>
          <a:bodyPr wrap="square" rtlCol="0">
            <a:spAutoFit/>
          </a:bodyPr>
          <a:lstStyle/>
          <a:p>
            <a:r>
              <a:rPr lang="en-US" dirty="0"/>
              <a:t>AACC</a:t>
            </a:r>
          </a:p>
        </p:txBody>
      </p:sp>
      <p:sp>
        <p:nvSpPr>
          <p:cNvPr id="15" name="TextBox 14"/>
          <p:cNvSpPr txBox="1"/>
          <p:nvPr/>
        </p:nvSpPr>
        <p:spPr>
          <a:xfrm>
            <a:off x="4648200" y="2667000"/>
            <a:ext cx="1447800" cy="369332"/>
          </a:xfrm>
          <a:prstGeom prst="rect">
            <a:avLst/>
          </a:prstGeom>
          <a:noFill/>
        </p:spPr>
        <p:txBody>
          <a:bodyPr wrap="square" rtlCol="0">
            <a:spAutoFit/>
          </a:bodyPr>
          <a:lstStyle/>
          <a:p>
            <a:r>
              <a:rPr lang="en-US" dirty="0" err="1"/>
              <a:t>aacc</a:t>
            </a:r>
            <a:endParaRPr lang="en-US" dirty="0"/>
          </a:p>
        </p:txBody>
      </p:sp>
      <p:sp>
        <p:nvSpPr>
          <p:cNvPr id="16" name="TextBox 15"/>
          <p:cNvSpPr txBox="1"/>
          <p:nvPr/>
        </p:nvSpPr>
        <p:spPr>
          <a:xfrm>
            <a:off x="2590800" y="3962400"/>
            <a:ext cx="1447800" cy="369332"/>
          </a:xfrm>
          <a:prstGeom prst="rect">
            <a:avLst/>
          </a:prstGeom>
          <a:noFill/>
        </p:spPr>
        <p:txBody>
          <a:bodyPr wrap="square" rtlCol="0">
            <a:spAutoFit/>
          </a:bodyPr>
          <a:lstStyle/>
          <a:p>
            <a:r>
              <a:rPr lang="en-US" dirty="0" err="1"/>
              <a:t>AaCc</a:t>
            </a:r>
            <a:endParaRPr lang="en-US" dirty="0"/>
          </a:p>
        </p:txBody>
      </p:sp>
      <p:sp>
        <p:nvSpPr>
          <p:cNvPr id="17" name="TextBox 16"/>
          <p:cNvSpPr txBox="1"/>
          <p:nvPr/>
        </p:nvSpPr>
        <p:spPr>
          <a:xfrm>
            <a:off x="5105400" y="3886200"/>
            <a:ext cx="1447800" cy="369332"/>
          </a:xfrm>
          <a:prstGeom prst="rect">
            <a:avLst/>
          </a:prstGeom>
          <a:noFill/>
        </p:spPr>
        <p:txBody>
          <a:bodyPr wrap="square" rtlCol="0">
            <a:spAutoFit/>
          </a:bodyPr>
          <a:lstStyle/>
          <a:p>
            <a:r>
              <a:rPr lang="en-US" dirty="0" err="1"/>
              <a:t>AaCc</a:t>
            </a:r>
            <a:endParaRPr lang="en-US" dirty="0"/>
          </a:p>
        </p:txBody>
      </p:sp>
      <p:sp>
        <p:nvSpPr>
          <p:cNvPr id="18" name="TextBox 17"/>
          <p:cNvSpPr txBox="1"/>
          <p:nvPr/>
        </p:nvSpPr>
        <p:spPr>
          <a:xfrm>
            <a:off x="533400" y="5410200"/>
            <a:ext cx="1143000" cy="381000"/>
          </a:xfrm>
          <a:prstGeom prst="rect">
            <a:avLst/>
          </a:prstGeom>
          <a:noFill/>
        </p:spPr>
        <p:txBody>
          <a:bodyPr wrap="square" rtlCol="0">
            <a:spAutoFit/>
          </a:bodyPr>
          <a:lstStyle/>
          <a:p>
            <a:r>
              <a:rPr lang="en-US" dirty="0"/>
              <a:t>A_C_</a:t>
            </a:r>
          </a:p>
        </p:txBody>
      </p:sp>
      <p:sp>
        <p:nvSpPr>
          <p:cNvPr id="19" name="TextBox 18"/>
          <p:cNvSpPr txBox="1"/>
          <p:nvPr/>
        </p:nvSpPr>
        <p:spPr>
          <a:xfrm>
            <a:off x="7010400" y="5257800"/>
            <a:ext cx="1143000" cy="381000"/>
          </a:xfrm>
          <a:prstGeom prst="rect">
            <a:avLst/>
          </a:prstGeom>
          <a:noFill/>
        </p:spPr>
        <p:txBody>
          <a:bodyPr wrap="square" rtlCol="0">
            <a:spAutoFit/>
          </a:bodyPr>
          <a:lstStyle/>
          <a:p>
            <a:r>
              <a:rPr lang="en-US" dirty="0" err="1"/>
              <a:t>A_cc</a:t>
            </a:r>
            <a:r>
              <a:rPr lang="en-US" dirty="0"/>
              <a:t>, </a:t>
            </a:r>
          </a:p>
        </p:txBody>
      </p:sp>
      <p:sp>
        <p:nvSpPr>
          <p:cNvPr id="20" name="TextBox 19"/>
          <p:cNvSpPr txBox="1"/>
          <p:nvPr/>
        </p:nvSpPr>
        <p:spPr>
          <a:xfrm>
            <a:off x="7772400" y="5257800"/>
            <a:ext cx="1143000" cy="381000"/>
          </a:xfrm>
          <a:prstGeom prst="rect">
            <a:avLst/>
          </a:prstGeom>
          <a:noFill/>
        </p:spPr>
        <p:txBody>
          <a:bodyPr wrap="square" rtlCol="0">
            <a:spAutoFit/>
          </a:bodyPr>
          <a:lstStyle/>
          <a:p>
            <a:r>
              <a:rPr lang="en-US" dirty="0" err="1"/>
              <a:t>aacc</a:t>
            </a:r>
            <a:endParaRPr lang="en-US" dirty="0"/>
          </a:p>
        </p:txBody>
      </p:sp>
      <p:sp>
        <p:nvSpPr>
          <p:cNvPr id="21" name="TextBox 20"/>
          <p:cNvSpPr txBox="1"/>
          <p:nvPr/>
        </p:nvSpPr>
        <p:spPr>
          <a:xfrm>
            <a:off x="4648200" y="5421868"/>
            <a:ext cx="1447800" cy="369332"/>
          </a:xfrm>
          <a:prstGeom prst="rect">
            <a:avLst/>
          </a:prstGeom>
          <a:noFill/>
        </p:spPr>
        <p:txBody>
          <a:bodyPr wrap="square" rtlCol="0">
            <a:spAutoFit/>
          </a:bodyPr>
          <a:lstStyle/>
          <a:p>
            <a:r>
              <a:rPr lang="en-US" dirty="0" err="1"/>
              <a:t>aaC</a:t>
            </a:r>
            <a:r>
              <a:rPr lang="en-US" dirty="0"/>
              <a:t>_</a:t>
            </a:r>
          </a:p>
        </p:txBody>
      </p:sp>
      <p:pic>
        <p:nvPicPr>
          <p:cNvPr id="22" name="Picture 21" descr="albino.png"/>
          <p:cNvPicPr>
            <a:picLocks noChangeAspect="1"/>
          </p:cNvPicPr>
          <p:nvPr/>
        </p:nvPicPr>
        <p:blipFill>
          <a:blip r:embed="rId4" cstate="print"/>
          <a:srcRect l="11905" t="17007" r="14286" b="6803"/>
          <a:stretch>
            <a:fillRect/>
          </a:stretch>
        </p:blipFill>
        <p:spPr>
          <a:xfrm>
            <a:off x="4724400" y="1378577"/>
            <a:ext cx="1295400" cy="936031"/>
          </a:xfrm>
          <a:prstGeom prst="rect">
            <a:avLst/>
          </a:prstGeom>
        </p:spPr>
      </p:pic>
    </p:spTree>
    <p:extLst>
      <p:ext uri="{BB962C8B-B14F-4D97-AF65-F5344CB8AC3E}">
        <p14:creationId xmlns:p14="http://schemas.microsoft.com/office/powerpoint/2010/main" val="617378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98656709"/>
              </p:ext>
            </p:extLst>
          </p:nvPr>
        </p:nvGraphicFramePr>
        <p:xfrm>
          <a:off x="989277" y="1676215"/>
          <a:ext cx="7420975" cy="4344043"/>
        </p:xfrm>
        <a:graphic>
          <a:graphicData uri="http://schemas.openxmlformats.org/drawingml/2006/table">
            <a:tbl>
              <a:tblPr firstRow="1" bandRow="1">
                <a:tableStyleId>{5C22544A-7EE6-4342-B048-85BDC9FD1C3A}</a:tableStyleId>
              </a:tblPr>
              <a:tblGrid>
                <a:gridCol w="1484195">
                  <a:extLst>
                    <a:ext uri="{9D8B030D-6E8A-4147-A177-3AD203B41FA5}">
                      <a16:colId xmlns:a16="http://schemas.microsoft.com/office/drawing/2014/main" val="20000"/>
                    </a:ext>
                  </a:extLst>
                </a:gridCol>
                <a:gridCol w="1484195">
                  <a:extLst>
                    <a:ext uri="{9D8B030D-6E8A-4147-A177-3AD203B41FA5}">
                      <a16:colId xmlns:a16="http://schemas.microsoft.com/office/drawing/2014/main" val="20001"/>
                    </a:ext>
                  </a:extLst>
                </a:gridCol>
                <a:gridCol w="1484195">
                  <a:extLst>
                    <a:ext uri="{9D8B030D-6E8A-4147-A177-3AD203B41FA5}">
                      <a16:colId xmlns:a16="http://schemas.microsoft.com/office/drawing/2014/main" val="20002"/>
                    </a:ext>
                  </a:extLst>
                </a:gridCol>
                <a:gridCol w="1484195">
                  <a:extLst>
                    <a:ext uri="{9D8B030D-6E8A-4147-A177-3AD203B41FA5}">
                      <a16:colId xmlns:a16="http://schemas.microsoft.com/office/drawing/2014/main" val="20003"/>
                    </a:ext>
                  </a:extLst>
                </a:gridCol>
                <a:gridCol w="1484195">
                  <a:extLst>
                    <a:ext uri="{9D8B030D-6E8A-4147-A177-3AD203B41FA5}">
                      <a16:colId xmlns:a16="http://schemas.microsoft.com/office/drawing/2014/main" val="20004"/>
                    </a:ext>
                  </a:extLst>
                </a:gridCol>
              </a:tblGrid>
              <a:tr h="686443">
                <a:tc>
                  <a:txBody>
                    <a:bodyPr/>
                    <a:lstStyle/>
                    <a:p>
                      <a:r>
                        <a:rPr lang="en-US" dirty="0">
                          <a:solidFill>
                            <a:schemeClr val="tx1"/>
                          </a:solidFill>
                        </a:rPr>
                        <a:t>Gametes</a:t>
                      </a:r>
                    </a:p>
                  </a:txBody>
                  <a:tcPr>
                    <a:noFill/>
                  </a:tcPr>
                </a:tc>
                <a:tc>
                  <a:txBody>
                    <a:bodyPr/>
                    <a:lstStyle/>
                    <a:p>
                      <a:r>
                        <a:rPr lang="en-US" dirty="0"/>
                        <a:t>AC</a:t>
                      </a:r>
                    </a:p>
                  </a:txBody>
                  <a:tcPr>
                    <a:solidFill>
                      <a:srgbClr val="3366FF"/>
                    </a:solidFill>
                  </a:tcPr>
                </a:tc>
                <a:tc>
                  <a:txBody>
                    <a:bodyPr/>
                    <a:lstStyle/>
                    <a:p>
                      <a:r>
                        <a:rPr lang="en-US" dirty="0"/>
                        <a:t>Ac</a:t>
                      </a:r>
                    </a:p>
                  </a:txBody>
                  <a:tcPr>
                    <a:solidFill>
                      <a:srgbClr val="3366FF"/>
                    </a:solidFill>
                  </a:tcPr>
                </a:tc>
                <a:tc>
                  <a:txBody>
                    <a:bodyPr/>
                    <a:lstStyle/>
                    <a:p>
                      <a:r>
                        <a:rPr lang="en-US" dirty="0" err="1"/>
                        <a:t>aC</a:t>
                      </a:r>
                      <a:endParaRPr lang="en-US" dirty="0"/>
                    </a:p>
                  </a:txBody>
                  <a:tcPr>
                    <a:solidFill>
                      <a:srgbClr val="3366FF"/>
                    </a:solidFill>
                  </a:tcPr>
                </a:tc>
                <a:tc>
                  <a:txBody>
                    <a:bodyPr/>
                    <a:lstStyle/>
                    <a:p>
                      <a:r>
                        <a:rPr lang="en-US" dirty="0"/>
                        <a:t>ac</a:t>
                      </a:r>
                    </a:p>
                  </a:txBody>
                  <a:tcPr>
                    <a:solidFill>
                      <a:srgbClr val="3366FF"/>
                    </a:solidFill>
                  </a:tcPr>
                </a:tc>
                <a:extLst>
                  <a:ext uri="{0D108BD9-81ED-4DB2-BD59-A6C34878D82A}">
                    <a16:rowId xmlns:a16="http://schemas.microsoft.com/office/drawing/2014/main" val="10000"/>
                  </a:ext>
                </a:extLst>
              </a:tr>
              <a:tr h="686443">
                <a:tc>
                  <a:txBody>
                    <a:bodyPr/>
                    <a:lstStyle/>
                    <a:p>
                      <a:r>
                        <a:rPr lang="en-US" dirty="0"/>
                        <a:t>AC</a:t>
                      </a:r>
                    </a:p>
                  </a:txBody>
                  <a:tcPr>
                    <a:solidFill>
                      <a:srgbClr val="FF6600"/>
                    </a:solidFill>
                  </a:tcPr>
                </a:tc>
                <a:tc>
                  <a:txBody>
                    <a:bodyPr/>
                    <a:lstStyle/>
                    <a:p>
                      <a:r>
                        <a:rPr lang="en-US" dirty="0"/>
                        <a:t>AACC</a:t>
                      </a:r>
                    </a:p>
                    <a:p>
                      <a:r>
                        <a:rPr lang="en-US" dirty="0"/>
                        <a:t>(Agouti)</a:t>
                      </a:r>
                    </a:p>
                  </a:txBody>
                  <a:tcPr>
                    <a:solidFill>
                      <a:schemeClr val="accent6">
                        <a:lumMod val="75000"/>
                      </a:schemeClr>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chemeClr val="accent6">
                        <a:lumMod val="75000"/>
                      </a:schemeClr>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chemeClr val="accent6">
                        <a:lumMod val="75000"/>
                      </a:schemeClr>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chemeClr val="accent6">
                        <a:lumMod val="75000"/>
                      </a:schemeClr>
                    </a:solidFill>
                  </a:tcPr>
                </a:tc>
                <a:extLst>
                  <a:ext uri="{0D108BD9-81ED-4DB2-BD59-A6C34878D82A}">
                    <a16:rowId xmlns:a16="http://schemas.microsoft.com/office/drawing/2014/main" val="10001"/>
                  </a:ext>
                </a:extLst>
              </a:tr>
              <a:tr h="686443">
                <a:tc>
                  <a:txBody>
                    <a:bodyPr/>
                    <a:lstStyle/>
                    <a:p>
                      <a:r>
                        <a:rPr lang="en-US" dirty="0"/>
                        <a:t>Ac</a:t>
                      </a:r>
                    </a:p>
                  </a:txBody>
                  <a:tcPr>
                    <a:solidFill>
                      <a:srgbClr val="FF6600"/>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rgbClr val="E46C0A"/>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(albino)</a:t>
                      </a:r>
                    </a:p>
                    <a:p>
                      <a:endParaRPr lang="en-US" dirty="0"/>
                    </a:p>
                  </a:txBody>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rgbClr val="E46C0A"/>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(albino)</a:t>
                      </a:r>
                    </a:p>
                    <a:p>
                      <a:endParaRPr lang="en-US" dirty="0"/>
                    </a:p>
                  </a:txBody>
                  <a:tcPr/>
                </a:tc>
                <a:extLst>
                  <a:ext uri="{0D108BD9-81ED-4DB2-BD59-A6C34878D82A}">
                    <a16:rowId xmlns:a16="http://schemas.microsoft.com/office/drawing/2014/main" val="10002"/>
                  </a:ext>
                </a:extLst>
              </a:tr>
              <a:tr h="686443">
                <a:tc>
                  <a:txBody>
                    <a:bodyPr/>
                    <a:lstStyle/>
                    <a:p>
                      <a:r>
                        <a:rPr lang="en-US" dirty="0" err="1"/>
                        <a:t>aC</a:t>
                      </a:r>
                      <a:endParaRPr lang="en-US" dirty="0"/>
                    </a:p>
                  </a:txBody>
                  <a:tcPr>
                    <a:solidFill>
                      <a:srgbClr val="FF6600"/>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rgbClr val="E46C0A"/>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rgbClr val="E46C0A"/>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(Black)</a:t>
                      </a:r>
                    </a:p>
                    <a:p>
                      <a:endParaRPr lang="en-US" dirty="0"/>
                    </a:p>
                  </a:txBody>
                  <a:tcPr>
                    <a:solidFill>
                      <a:schemeClr val="tx1">
                        <a:lumMod val="65000"/>
                        <a:lumOff val="35000"/>
                      </a:schemeClr>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(Black)</a:t>
                      </a:r>
                    </a:p>
                    <a:p>
                      <a:endParaRPr lang="en-US" dirty="0"/>
                    </a:p>
                  </a:txBody>
                  <a:tcPr>
                    <a:solidFill>
                      <a:schemeClr val="tx1">
                        <a:lumMod val="65000"/>
                        <a:lumOff val="35000"/>
                      </a:schemeClr>
                    </a:solidFill>
                  </a:tcPr>
                </a:tc>
                <a:extLst>
                  <a:ext uri="{0D108BD9-81ED-4DB2-BD59-A6C34878D82A}">
                    <a16:rowId xmlns:a16="http://schemas.microsoft.com/office/drawing/2014/main" val="10003"/>
                  </a:ext>
                </a:extLst>
              </a:tr>
              <a:tr h="686443">
                <a:tc>
                  <a:txBody>
                    <a:bodyPr/>
                    <a:lstStyle/>
                    <a:p>
                      <a:r>
                        <a:rPr lang="en-US" dirty="0"/>
                        <a:t>ac</a:t>
                      </a:r>
                    </a:p>
                  </a:txBody>
                  <a:tcPr>
                    <a:solidFill>
                      <a:srgbClr val="FF6600"/>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(Agouti)</a:t>
                      </a:r>
                    </a:p>
                    <a:p>
                      <a:endParaRPr lang="en-US" dirty="0"/>
                    </a:p>
                  </a:txBody>
                  <a:tcPr>
                    <a:solidFill>
                      <a:srgbClr val="E46C0A"/>
                    </a:solidFill>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(albino)</a:t>
                      </a:r>
                    </a:p>
                    <a:p>
                      <a:endParaRPr lang="en-US" dirty="0"/>
                    </a:p>
                  </a:txBody>
                  <a:tcPr/>
                </a:tc>
                <a:tc>
                  <a:txBody>
                    <a:bodyPr/>
                    <a:lstStyle/>
                    <a:p>
                      <a:r>
                        <a:rPr lang="en-US" dirty="0" err="1"/>
                        <a:t>aaCC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(Black)</a:t>
                      </a:r>
                    </a:p>
                    <a:p>
                      <a:endParaRPr lang="en-US" dirty="0"/>
                    </a:p>
                  </a:txBody>
                  <a:tcPr>
                    <a:solidFill>
                      <a:srgbClr val="595959"/>
                    </a:solidFill>
                  </a:tcPr>
                </a:tc>
                <a:tc>
                  <a:txBody>
                    <a:bodyPr/>
                    <a:lstStyle/>
                    <a:p>
                      <a:r>
                        <a:rPr lang="en-US" dirty="0" err="1"/>
                        <a:t>a</a:t>
                      </a:r>
                      <a:r>
                        <a:rPr lang="en-US"/>
                        <a:t>acc</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(albino)</a:t>
                      </a:r>
                    </a:p>
                    <a:p>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19810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Recessive </a:t>
            </a:r>
            <a:r>
              <a:rPr lang="en-US" dirty="0" err="1"/>
              <a:t>Epistasis</a:t>
            </a:r>
            <a:endParaRPr lang="en-US" dirty="0"/>
          </a:p>
        </p:txBody>
      </p:sp>
      <p:sp>
        <p:nvSpPr>
          <p:cNvPr id="3" name="Rectangle 2"/>
          <p:cNvSpPr/>
          <p:nvPr/>
        </p:nvSpPr>
        <p:spPr>
          <a:xfrm>
            <a:off x="609600" y="1524000"/>
            <a:ext cx="7772400" cy="646331"/>
          </a:xfrm>
          <a:prstGeom prst="rect">
            <a:avLst/>
          </a:prstGeom>
        </p:spPr>
        <p:txBody>
          <a:bodyPr wrap="square">
            <a:spAutoFit/>
          </a:bodyPr>
          <a:lstStyle/>
          <a:p>
            <a:r>
              <a:rPr lang="en-US" dirty="0"/>
              <a:t>In rodents, coat </a:t>
            </a:r>
            <a:r>
              <a:rPr lang="en-US" dirty="0" err="1"/>
              <a:t>colour</a:t>
            </a:r>
            <a:r>
              <a:rPr lang="en-US" dirty="0"/>
              <a:t> is determined by a pair of alleles at different genetic loci.</a:t>
            </a:r>
          </a:p>
        </p:txBody>
      </p:sp>
      <p:sp>
        <p:nvSpPr>
          <p:cNvPr id="27649" name="Rectangle 1"/>
          <p:cNvSpPr>
            <a:spLocks noChangeArrowheads="1"/>
          </p:cNvSpPr>
          <p:nvPr/>
        </p:nvSpPr>
        <p:spPr bwMode="auto">
          <a:xfrm>
            <a:off x="533400" y="2376101"/>
            <a:ext cx="8229600"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At one locus, the </a:t>
            </a:r>
            <a:r>
              <a:rPr kumimoji="0" lang="en-US" b="1" i="0" u="none" strike="noStrike" cap="none" normalizeH="0" baseline="0" dirty="0">
                <a:ln>
                  <a:noFill/>
                </a:ln>
                <a:solidFill>
                  <a:schemeClr val="tx1"/>
                </a:solidFill>
                <a:effectLst/>
                <a:latin typeface="Arial" pitchFamily="34" charset="0"/>
                <a:ea typeface="Calibri" pitchFamily="34" charset="0"/>
                <a:cs typeface="Arial" pitchFamily="34" charset="0"/>
              </a:rPr>
              <a:t>dominant allele </a:t>
            </a:r>
            <a:r>
              <a:rPr kumimoji="0" lang="en-US" b="1" i="1" u="none" strike="noStrike" cap="none" normalizeH="0" baseline="0" dirty="0">
                <a:ln>
                  <a:noFill/>
                </a:ln>
                <a:solidFill>
                  <a:schemeClr val="tx1"/>
                </a:solidFill>
                <a:effectLst/>
                <a:latin typeface="Arial" pitchFamily="34" charset="0"/>
                <a:ea typeface="Calibri" pitchFamily="34" charset="0"/>
                <a:cs typeface="Arial" pitchFamily="34" charset="0"/>
              </a:rPr>
              <a:t>C </a:t>
            </a:r>
            <a:r>
              <a:rPr kumimoji="0" lang="en-US" b="1" i="0" u="none" strike="noStrike" cap="none" normalizeH="0" baseline="0" dirty="0">
                <a:ln>
                  <a:noFill/>
                </a:ln>
                <a:solidFill>
                  <a:schemeClr val="tx1"/>
                </a:solidFill>
                <a:effectLst/>
                <a:latin typeface="Arial" pitchFamily="34" charset="0"/>
                <a:ea typeface="Calibri" pitchFamily="34" charset="0"/>
                <a:cs typeface="Arial" pitchFamily="34" charset="0"/>
              </a:rPr>
              <a:t>allows pigment formation </a:t>
            </a:r>
            <a:r>
              <a:rPr kumimoji="0" lang="en-US" b="0" i="0" u="none" strike="noStrike" cap="none" normalizeH="0" baseline="0" dirty="0" err="1">
                <a:ln>
                  <a:noFill/>
                </a:ln>
                <a:solidFill>
                  <a:schemeClr val="tx1"/>
                </a:solidFill>
                <a:effectLst/>
                <a:latin typeface="Arial" pitchFamily="34" charset="0"/>
                <a:ea typeface="Calibri" pitchFamily="34" charset="0"/>
                <a:cs typeface="Arial" pitchFamily="34" charset="0"/>
              </a:rPr>
              <a:t>ie</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development of </a:t>
            </a:r>
            <a:r>
              <a:rPr kumimoji="0" lang="en-US" b="0" i="0" u="none" strike="noStrike" cap="none" normalizeH="0" baseline="0" dirty="0" err="1">
                <a:ln>
                  <a:noFill/>
                </a:ln>
                <a:solidFill>
                  <a:schemeClr val="tx1"/>
                </a:solidFill>
                <a:effectLst/>
                <a:latin typeface="Arial" pitchFamily="34" charset="0"/>
                <a:ea typeface="Calibri" pitchFamily="34" charset="0"/>
                <a:cs typeface="Arial" pitchFamily="34" charset="0"/>
              </a:rPr>
              <a:t>colour</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a:t>
            </a:r>
            <a:r>
              <a:rPr lang="en-US" dirty="0">
                <a:latin typeface="Arial" pitchFamily="34" charset="0"/>
                <a:cs typeface="Arial" pitchFamily="34" charset="0"/>
              </a:rPr>
              <a:t>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the recessive allele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c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when homozygous prevents pigment formation regardless of the</a:t>
            </a:r>
            <a:r>
              <a:rPr lang="en-US" dirty="0">
                <a:latin typeface="Arial" pitchFamily="34" charset="0"/>
                <a:cs typeface="Arial" pitchFamily="34" charset="0"/>
              </a:rPr>
              <a:t>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genotype of other coat </a:t>
            </a:r>
            <a:r>
              <a:rPr kumimoji="0" lang="en-US" b="0" i="0" u="none" strike="noStrike" cap="none" normalizeH="0" baseline="0" dirty="0" err="1">
                <a:ln>
                  <a:noFill/>
                </a:ln>
                <a:solidFill>
                  <a:schemeClr val="tx1"/>
                </a:solidFill>
                <a:effectLst/>
                <a:latin typeface="Arial" pitchFamily="34" charset="0"/>
                <a:ea typeface="Calibri" pitchFamily="34" charset="0"/>
                <a:cs typeface="Arial" pitchFamily="34" charset="0"/>
              </a:rPr>
              <a:t>colour</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genes.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Black mice are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C/-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albinos are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c/c</a:t>
            </a:r>
            <a:r>
              <a:rPr kumimoji="0" lang="en-US" sz="1000" b="0" i="0" u="none" strike="noStrike" cap="none" normalizeH="0" baseline="0" dirty="0">
                <a:ln>
                  <a:noFill/>
                </a:ln>
                <a:solidFill>
                  <a:schemeClr val="tx1"/>
                </a:solidFill>
                <a:effectLst/>
                <a:latin typeface="Arial" pitchFamily="34" charset="0"/>
                <a:ea typeface="Calibri" pitchFamily="34" charset="0"/>
                <a:cs typeface="Arial" pitchFamily="34" charset="0"/>
              </a:rPr>
              <a:t>.</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7650" name="Rectangle 2"/>
          <p:cNvSpPr>
            <a:spLocks noChangeArrowheads="1"/>
          </p:cNvSpPr>
          <p:nvPr/>
        </p:nvSpPr>
        <p:spPr bwMode="auto">
          <a:xfrm>
            <a:off x="381000" y="4343400"/>
            <a:ext cx="8802410" cy="92333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At the other locus, </a:t>
            </a:r>
            <a:r>
              <a:rPr kumimoji="0" lang="en-US" b="1" i="0" u="none" strike="noStrike" cap="none" normalizeH="0" baseline="0" dirty="0">
                <a:ln>
                  <a:noFill/>
                </a:ln>
                <a:solidFill>
                  <a:schemeClr val="tx1"/>
                </a:solidFill>
                <a:effectLst/>
                <a:latin typeface="Arial" pitchFamily="34" charset="0"/>
                <a:ea typeface="Calibri" pitchFamily="34" charset="0"/>
                <a:cs typeface="Arial" pitchFamily="34" charset="0"/>
              </a:rPr>
              <a:t>the dominant allele </a:t>
            </a:r>
            <a:r>
              <a:rPr kumimoji="0" lang="en-US" b="1" i="1" u="none" strike="noStrike" cap="none" normalizeH="0" baseline="0" dirty="0">
                <a:ln>
                  <a:noFill/>
                </a:ln>
                <a:solidFill>
                  <a:schemeClr val="tx1"/>
                </a:solidFill>
                <a:effectLst/>
                <a:latin typeface="Arial" pitchFamily="34" charset="0"/>
                <a:ea typeface="Calibri" pitchFamily="34" charset="0"/>
                <a:cs typeface="Arial" pitchFamily="34" charset="0"/>
              </a:rPr>
              <a:t>A </a:t>
            </a:r>
            <a:r>
              <a:rPr kumimoji="0" lang="en-US" b="1" i="0" u="none" strike="noStrike" cap="none" normalizeH="0" baseline="0" dirty="0">
                <a:ln>
                  <a:noFill/>
                </a:ln>
                <a:solidFill>
                  <a:schemeClr val="tx1"/>
                </a:solidFill>
                <a:effectLst/>
                <a:latin typeface="Arial" pitchFamily="34" charset="0"/>
                <a:ea typeface="Calibri" pitchFamily="34" charset="0"/>
                <a:cs typeface="Arial" pitchFamily="34" charset="0"/>
              </a:rPr>
              <a:t>determines agouti pattern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a:t>
            </a:r>
            <a:r>
              <a:rPr kumimoji="0" lang="en-US" b="0" i="0" u="none" strike="noStrike" cap="none" normalizeH="0" baseline="0" dirty="0" err="1">
                <a:ln>
                  <a:noFill/>
                </a:ln>
                <a:solidFill>
                  <a:schemeClr val="tx1"/>
                </a:solidFill>
                <a:effectLst/>
                <a:latin typeface="Arial" pitchFamily="34" charset="0"/>
                <a:ea typeface="Calibri" pitchFamily="34" charset="0"/>
                <a:cs typeface="Arial" pitchFamily="34" charset="0"/>
              </a:rPr>
              <a:t>ie</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yellow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Banding</a:t>
            </a:r>
            <a:r>
              <a:rPr lang="en-US" dirty="0">
                <a:latin typeface="Arial" pitchFamily="34" charset="0"/>
                <a:cs typeface="Arial" pitchFamily="34" charset="0"/>
              </a:rPr>
              <a:t>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of hairs) and the recessive allele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a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when homozygous produces non agouti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mice. Thus,</a:t>
            </a:r>
            <a:r>
              <a:rPr lang="en-US" dirty="0">
                <a:latin typeface="Arial" pitchFamily="34" charset="0"/>
                <a:cs typeface="Arial" pitchFamily="34" charset="0"/>
              </a:rPr>
              <a:t>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A/-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mice are agouti; </a:t>
            </a:r>
            <a:r>
              <a:rPr kumimoji="0" lang="en-US" b="0" i="1" u="none" strike="noStrike" cap="none" normalizeH="0" baseline="0" dirty="0">
                <a:ln>
                  <a:noFill/>
                </a:ln>
                <a:solidFill>
                  <a:schemeClr val="tx1"/>
                </a:solidFill>
                <a:effectLst/>
                <a:latin typeface="Arial" pitchFamily="34" charset="0"/>
                <a:ea typeface="Calibri" pitchFamily="34" charset="0"/>
                <a:cs typeface="Arial" pitchFamily="34" charset="0"/>
              </a:rPr>
              <a:t>a/a </a:t>
            </a: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mice are non agouti</a:t>
            </a:r>
            <a:r>
              <a:rPr kumimoji="0" lang="en-US" sz="1000" b="0" i="0" u="none" strike="noStrike" cap="none" normalizeH="0" baseline="0" dirty="0">
                <a:ln>
                  <a:noFill/>
                </a:ln>
                <a:solidFill>
                  <a:schemeClr val="tx1"/>
                </a:solidFill>
                <a:effectLst/>
                <a:latin typeface="Arial" pitchFamily="34" charset="0"/>
                <a:ea typeface="Calibri" pitchFamily="34" charset="0"/>
                <a:cs typeface="Arial" pitchFamily="34" charset="0"/>
              </a:rPr>
              <a:t>.</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96655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13340</TotalTime>
  <Words>1686</Words>
  <Application>Microsoft Office PowerPoint</Application>
  <PresentationFormat>On-screen Show (4:3)</PresentationFormat>
  <Paragraphs>530</Paragraphs>
  <Slides>35</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Comic Sans MS</vt:lpstr>
      <vt:lpstr>Helvetica</vt:lpstr>
      <vt:lpstr>Office Theme</vt:lpstr>
      <vt:lpstr>PowerPoint Presentation</vt:lpstr>
      <vt:lpstr>Monohybrid vs Dihybrid Cross</vt:lpstr>
      <vt:lpstr>Law of Independent Assortment</vt:lpstr>
      <vt:lpstr>Law of Independent Assortment</vt:lpstr>
      <vt:lpstr>Law of independent assortment</vt:lpstr>
      <vt:lpstr>What is the Trihybrid ratio (in F2)? </vt:lpstr>
      <vt:lpstr>PowerPoint Presentation</vt:lpstr>
      <vt:lpstr>Allele Segregation</vt:lpstr>
      <vt:lpstr>Allele Segregation</vt:lpstr>
      <vt:lpstr>Punnett Square</vt:lpstr>
      <vt:lpstr>Exercises </vt:lpstr>
      <vt:lpstr>PowerPoint Presentation</vt:lpstr>
      <vt:lpstr>PowerPoint Presentation</vt:lpstr>
      <vt:lpstr>PowerPoint Presentation</vt:lpstr>
      <vt:lpstr>Question??</vt:lpstr>
      <vt:lpstr>PowerPoint Presentation</vt:lpstr>
      <vt:lpstr>What is Epistasis?</vt:lpstr>
      <vt:lpstr>What is the dihydrid ratio?</vt:lpstr>
      <vt:lpstr>PowerPoint Presentation</vt:lpstr>
      <vt:lpstr>Punnett Square</vt:lpstr>
      <vt:lpstr>Biochemical Explanation</vt:lpstr>
      <vt:lpstr>PowerPoint Presentation</vt:lpstr>
      <vt:lpstr>Possible biochemical  mechanism?</vt:lpstr>
      <vt:lpstr>Possible biochemical mechanism</vt:lpstr>
      <vt:lpstr>Complementary gene action</vt:lpstr>
      <vt:lpstr>Modified Mendel Ratio’s  (9:7) (15:1) (13:3) (9:3:4)</vt:lpstr>
      <vt:lpstr>Modified Mendel Ratio in Primula</vt:lpstr>
      <vt:lpstr>(Ratio: 13:3)</vt:lpstr>
      <vt:lpstr>How can you explain this?</vt:lpstr>
      <vt:lpstr>Possible mechanism</vt:lpstr>
      <vt:lpstr>Dominant Epistasis</vt:lpstr>
      <vt:lpstr>PowerPoint Presentation</vt:lpstr>
      <vt:lpstr>PowerPoint Presentation</vt:lpstr>
      <vt:lpstr>PowerPoint Presentation</vt:lpstr>
      <vt:lpstr>Recessive Epistasis</vt:lpstr>
    </vt:vector>
  </TitlesOfParts>
  <Company>iiser Kolkata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mohit prasad</dc:creator>
  <cp:lastModifiedBy>Arya Basak</cp:lastModifiedBy>
  <cp:revision>183</cp:revision>
  <dcterms:created xsi:type="dcterms:W3CDTF">2013-01-03T11:32:44Z</dcterms:created>
  <dcterms:modified xsi:type="dcterms:W3CDTF">2024-02-09T05:21:37Z</dcterms:modified>
</cp:coreProperties>
</file>