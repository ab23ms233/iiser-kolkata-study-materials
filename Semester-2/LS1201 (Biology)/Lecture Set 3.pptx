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72" r:id="rId3"/>
    <p:sldId id="309" r:id="rId4"/>
    <p:sldId id="311" r:id="rId5"/>
    <p:sldId id="310" r:id="rId6"/>
    <p:sldId id="352" r:id="rId7"/>
    <p:sldId id="392" r:id="rId8"/>
    <p:sldId id="312" r:id="rId9"/>
    <p:sldId id="393" r:id="rId10"/>
    <p:sldId id="394" r:id="rId11"/>
    <p:sldId id="395" r:id="rId12"/>
    <p:sldId id="398" r:id="rId13"/>
    <p:sldId id="420" r:id="rId14"/>
    <p:sldId id="421" r:id="rId15"/>
    <p:sldId id="422" r:id="rId16"/>
    <p:sldId id="423" r:id="rId17"/>
    <p:sldId id="424" r:id="rId18"/>
    <p:sldId id="425" r:id="rId19"/>
    <p:sldId id="426" r:id="rId20"/>
    <p:sldId id="427" r:id="rId21"/>
    <p:sldId id="428" r:id="rId22"/>
    <p:sldId id="429" r:id="rId23"/>
    <p:sldId id="430" r:id="rId24"/>
    <p:sldId id="431" r:id="rId25"/>
    <p:sldId id="432" r:id="rId26"/>
    <p:sldId id="433" r:id="rId27"/>
    <p:sldId id="434" r:id="rId28"/>
    <p:sldId id="435" r:id="rId29"/>
    <p:sldId id="436" r:id="rId30"/>
    <p:sldId id="437" r:id="rId31"/>
    <p:sldId id="438" r:id="rId32"/>
    <p:sldId id="440" r:id="rId33"/>
    <p:sldId id="441" r:id="rId34"/>
    <p:sldId id="442" r:id="rId35"/>
    <p:sldId id="443" r:id="rId36"/>
    <p:sldId id="444"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5946"/>
  </p:normalViewPr>
  <p:slideViewPr>
    <p:cSldViewPr snapToGrid="0">
      <p:cViewPr varScale="1">
        <p:scale>
          <a:sx n="115" d="100"/>
          <a:sy n="115" d="100"/>
        </p:scale>
        <p:origin x="47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68BFCA-BADF-6E4D-B1AF-915B85A27D24}" type="datetimeFigureOut">
              <a:rPr lang="en-US" smtClean="0"/>
              <a:t>1/10/24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4EBE3E-0093-C341-8383-427769530601}" type="slidenum">
              <a:rPr lang="en-US" smtClean="0"/>
              <a:t>‹#›</a:t>
            </a:fld>
            <a:endParaRPr lang="en-US"/>
          </a:p>
        </p:txBody>
      </p:sp>
    </p:spTree>
    <p:extLst>
      <p:ext uri="{BB962C8B-B14F-4D97-AF65-F5344CB8AC3E}">
        <p14:creationId xmlns:p14="http://schemas.microsoft.com/office/powerpoint/2010/main" val="4174638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E0A45C5-347D-4722-8262-F592D77EF69E}" type="slidenum">
              <a:rPr lang="en-US" smtClean="0"/>
              <a:pPr>
                <a:defRPr/>
              </a:pPr>
              <a:t>2</a:t>
            </a:fld>
            <a:endParaRPr lang="en-US"/>
          </a:p>
        </p:txBody>
      </p:sp>
    </p:spTree>
    <p:extLst>
      <p:ext uri="{BB962C8B-B14F-4D97-AF65-F5344CB8AC3E}">
        <p14:creationId xmlns:p14="http://schemas.microsoft.com/office/powerpoint/2010/main" val="3442901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0DD8ADA-E408-4FE9-B167-212AC33EB680}" type="slidenum">
              <a:rPr lang="x-none" smtClean="0"/>
              <a:pPr fontAlgn="base">
                <a:spcBef>
                  <a:spcPct val="0"/>
                </a:spcBef>
                <a:spcAft>
                  <a:spcPct val="0"/>
                </a:spcAft>
                <a:defRPr/>
              </a:pPr>
              <a:t>3</a:t>
            </a:fld>
            <a:endParaRPr lang="en-US"/>
          </a:p>
        </p:txBody>
      </p:sp>
      <p:sp>
        <p:nvSpPr>
          <p:cNvPr id="4096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09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cs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7A09957-531B-43C6-909D-A996AD1B082A}" type="slidenum">
              <a:rPr lang="x-none" smtClean="0"/>
              <a:pPr fontAlgn="base">
                <a:spcBef>
                  <a:spcPct val="0"/>
                </a:spcBef>
                <a:spcAft>
                  <a:spcPct val="0"/>
                </a:spcAft>
                <a:defRPr/>
              </a:pPr>
              <a:t>4</a:t>
            </a:fld>
            <a:endParaRPr lang="en-US"/>
          </a:p>
        </p:txBody>
      </p:sp>
      <p:sp>
        <p:nvSpPr>
          <p:cNvPr id="4198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198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cs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0DD8ADA-E408-4FE9-B167-212AC33EB680}" type="slidenum">
              <a:rPr lang="x-none" smtClean="0"/>
              <a:pPr fontAlgn="base">
                <a:spcBef>
                  <a:spcPct val="0"/>
                </a:spcBef>
                <a:spcAft>
                  <a:spcPct val="0"/>
                </a:spcAft>
                <a:defRPr/>
              </a:pPr>
              <a:t>9</a:t>
            </a:fld>
            <a:endParaRPr lang="en-US"/>
          </a:p>
        </p:txBody>
      </p:sp>
      <p:sp>
        <p:nvSpPr>
          <p:cNvPr id="4096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09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cs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7A09957-531B-43C6-909D-A996AD1B082A}" type="slidenum">
              <a:rPr lang="x-none" smtClean="0"/>
              <a:pPr fontAlgn="base">
                <a:spcBef>
                  <a:spcPct val="0"/>
                </a:spcBef>
                <a:spcAft>
                  <a:spcPct val="0"/>
                </a:spcAft>
                <a:defRPr/>
              </a:pPr>
              <a:t>10</a:t>
            </a:fld>
            <a:endParaRPr lang="en-US"/>
          </a:p>
        </p:txBody>
      </p:sp>
      <p:sp>
        <p:nvSpPr>
          <p:cNvPr id="4198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198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cs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14025692-F23C-4A9C-B7C3-30AAD5367B69}" type="slidenum">
              <a:rPr lang="x-none"/>
              <a:pPr/>
              <a:t>20</a:t>
            </a:fld>
            <a:endParaRPr lang="en-US"/>
          </a:p>
        </p:txBody>
      </p:sp>
      <p:sp>
        <p:nvSpPr>
          <p:cNvPr id="3789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789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cs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E5C75E90-A57B-C14A-A910-A4E19CD39E75}" type="slidenum">
              <a:rPr lang="en-US"/>
              <a:pPr/>
              <a:t>27</a:t>
            </a:fld>
            <a:endParaRPr lang="en-US"/>
          </a:p>
        </p:txBody>
      </p:sp>
      <p:sp>
        <p:nvSpPr>
          <p:cNvPr id="20787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20787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4914A2BE-418B-3340-9D33-E18A0BF1E80B}" type="slidenum">
              <a:rPr lang="en-US"/>
              <a:pPr/>
              <a:t>28</a:t>
            </a:fld>
            <a:endParaRPr lang="en-US"/>
          </a:p>
        </p:txBody>
      </p:sp>
      <p:sp>
        <p:nvSpPr>
          <p:cNvPr id="58880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588803"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05F34-DCE0-C291-0B6E-D525DA75BEA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C4C4ECF4-C138-83D0-C22E-A0A7D011E6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1E571CB-A6C3-1B86-C980-869E3D78A4DE}"/>
              </a:ext>
            </a:extLst>
          </p:cNvPr>
          <p:cNvSpPr>
            <a:spLocks noGrp="1"/>
          </p:cNvSpPr>
          <p:nvPr>
            <p:ph type="dt" sz="half" idx="10"/>
          </p:nvPr>
        </p:nvSpPr>
        <p:spPr/>
        <p:txBody>
          <a:bodyPr/>
          <a:lstStyle/>
          <a:p>
            <a:fld id="{FEA67970-3808-664E-B83B-66F1E3D586DA}" type="datetimeFigureOut">
              <a:rPr lang="en-US" smtClean="0"/>
              <a:t>1/10/24</a:t>
            </a:fld>
            <a:endParaRPr lang="en-US"/>
          </a:p>
        </p:txBody>
      </p:sp>
      <p:sp>
        <p:nvSpPr>
          <p:cNvPr id="5" name="Footer Placeholder 4">
            <a:extLst>
              <a:ext uri="{FF2B5EF4-FFF2-40B4-BE49-F238E27FC236}">
                <a16:creationId xmlns:a16="http://schemas.microsoft.com/office/drawing/2014/main" id="{BF6502D3-7E33-29B4-DFD1-E10B751E74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69A9DD-9E41-3EDF-59F6-CCAEEDF0EFB3}"/>
              </a:ext>
            </a:extLst>
          </p:cNvPr>
          <p:cNvSpPr>
            <a:spLocks noGrp="1"/>
          </p:cNvSpPr>
          <p:nvPr>
            <p:ph type="sldNum" sz="quarter" idx="12"/>
          </p:nvPr>
        </p:nvSpPr>
        <p:spPr/>
        <p:txBody>
          <a:bodyPr/>
          <a:lstStyle/>
          <a:p>
            <a:fld id="{9173FB21-BE8C-E348-9D31-0615D07CDEEB}" type="slidenum">
              <a:rPr lang="en-US" smtClean="0"/>
              <a:t>‹#›</a:t>
            </a:fld>
            <a:endParaRPr lang="en-US"/>
          </a:p>
        </p:txBody>
      </p:sp>
    </p:spTree>
    <p:extLst>
      <p:ext uri="{BB962C8B-B14F-4D97-AF65-F5344CB8AC3E}">
        <p14:creationId xmlns:p14="http://schemas.microsoft.com/office/powerpoint/2010/main" val="3805804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C0568-6C61-D4B7-36C9-17C244A1A7D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31BA83D-977F-9395-DA87-CCD7EAACF66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FF75E7E-1F1E-7F64-6F32-5B296041E329}"/>
              </a:ext>
            </a:extLst>
          </p:cNvPr>
          <p:cNvSpPr>
            <a:spLocks noGrp="1"/>
          </p:cNvSpPr>
          <p:nvPr>
            <p:ph type="dt" sz="half" idx="10"/>
          </p:nvPr>
        </p:nvSpPr>
        <p:spPr/>
        <p:txBody>
          <a:bodyPr/>
          <a:lstStyle/>
          <a:p>
            <a:fld id="{FEA67970-3808-664E-B83B-66F1E3D586DA}" type="datetimeFigureOut">
              <a:rPr lang="en-US" smtClean="0"/>
              <a:t>1/10/24</a:t>
            </a:fld>
            <a:endParaRPr lang="en-US"/>
          </a:p>
        </p:txBody>
      </p:sp>
      <p:sp>
        <p:nvSpPr>
          <p:cNvPr id="5" name="Footer Placeholder 4">
            <a:extLst>
              <a:ext uri="{FF2B5EF4-FFF2-40B4-BE49-F238E27FC236}">
                <a16:creationId xmlns:a16="http://schemas.microsoft.com/office/drawing/2014/main" id="{6F3E391E-8FDD-7609-28A2-4F53C9190C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EDC2EA-0955-AE16-0778-625E32720B3D}"/>
              </a:ext>
            </a:extLst>
          </p:cNvPr>
          <p:cNvSpPr>
            <a:spLocks noGrp="1"/>
          </p:cNvSpPr>
          <p:nvPr>
            <p:ph type="sldNum" sz="quarter" idx="12"/>
          </p:nvPr>
        </p:nvSpPr>
        <p:spPr/>
        <p:txBody>
          <a:bodyPr/>
          <a:lstStyle/>
          <a:p>
            <a:fld id="{9173FB21-BE8C-E348-9D31-0615D07CDEEB}" type="slidenum">
              <a:rPr lang="en-US" smtClean="0"/>
              <a:t>‹#›</a:t>
            </a:fld>
            <a:endParaRPr lang="en-US"/>
          </a:p>
        </p:txBody>
      </p:sp>
    </p:spTree>
    <p:extLst>
      <p:ext uri="{BB962C8B-B14F-4D97-AF65-F5344CB8AC3E}">
        <p14:creationId xmlns:p14="http://schemas.microsoft.com/office/powerpoint/2010/main" val="4098961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8C2F1-0F33-8D37-1385-0DB2CCF6FAC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E539295F-9A14-D4D3-34F5-0860AF33AF9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F26DD88-6607-BC57-E0B3-C55D371E021C}"/>
              </a:ext>
            </a:extLst>
          </p:cNvPr>
          <p:cNvSpPr>
            <a:spLocks noGrp="1"/>
          </p:cNvSpPr>
          <p:nvPr>
            <p:ph type="dt" sz="half" idx="10"/>
          </p:nvPr>
        </p:nvSpPr>
        <p:spPr/>
        <p:txBody>
          <a:bodyPr/>
          <a:lstStyle/>
          <a:p>
            <a:fld id="{FEA67970-3808-664E-B83B-66F1E3D586DA}" type="datetimeFigureOut">
              <a:rPr lang="en-US" smtClean="0"/>
              <a:t>1/10/24</a:t>
            </a:fld>
            <a:endParaRPr lang="en-US"/>
          </a:p>
        </p:txBody>
      </p:sp>
      <p:sp>
        <p:nvSpPr>
          <p:cNvPr id="5" name="Footer Placeholder 4">
            <a:extLst>
              <a:ext uri="{FF2B5EF4-FFF2-40B4-BE49-F238E27FC236}">
                <a16:creationId xmlns:a16="http://schemas.microsoft.com/office/drawing/2014/main" id="{DA20AEB8-BBA9-5E7C-D10A-73ED1C2597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425A7A-FD30-E202-75FA-C4829C11F509}"/>
              </a:ext>
            </a:extLst>
          </p:cNvPr>
          <p:cNvSpPr>
            <a:spLocks noGrp="1"/>
          </p:cNvSpPr>
          <p:nvPr>
            <p:ph type="sldNum" sz="quarter" idx="12"/>
          </p:nvPr>
        </p:nvSpPr>
        <p:spPr/>
        <p:txBody>
          <a:bodyPr/>
          <a:lstStyle/>
          <a:p>
            <a:fld id="{9173FB21-BE8C-E348-9D31-0615D07CDEEB}" type="slidenum">
              <a:rPr lang="en-US" smtClean="0"/>
              <a:t>‹#›</a:t>
            </a:fld>
            <a:endParaRPr lang="en-US"/>
          </a:p>
        </p:txBody>
      </p:sp>
    </p:spTree>
    <p:extLst>
      <p:ext uri="{BB962C8B-B14F-4D97-AF65-F5344CB8AC3E}">
        <p14:creationId xmlns:p14="http://schemas.microsoft.com/office/powerpoint/2010/main" val="1530511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D2ACD-986E-941C-F9A0-70CD90CDDD9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75C2463-EAA5-C1B7-D422-0E444723E12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56757C7-3CDF-0901-7D5A-5C8ADEB1526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4ADBA58-99CE-45B6-8049-2F39A0779CD8}"/>
              </a:ext>
            </a:extLst>
          </p:cNvPr>
          <p:cNvSpPr>
            <a:spLocks noGrp="1"/>
          </p:cNvSpPr>
          <p:nvPr>
            <p:ph type="dt" sz="half" idx="10"/>
          </p:nvPr>
        </p:nvSpPr>
        <p:spPr/>
        <p:txBody>
          <a:bodyPr/>
          <a:lstStyle/>
          <a:p>
            <a:fld id="{FEA67970-3808-664E-B83B-66F1E3D586DA}" type="datetimeFigureOut">
              <a:rPr lang="en-US" smtClean="0"/>
              <a:t>1/10/24</a:t>
            </a:fld>
            <a:endParaRPr lang="en-US"/>
          </a:p>
        </p:txBody>
      </p:sp>
      <p:sp>
        <p:nvSpPr>
          <p:cNvPr id="6" name="Footer Placeholder 5">
            <a:extLst>
              <a:ext uri="{FF2B5EF4-FFF2-40B4-BE49-F238E27FC236}">
                <a16:creationId xmlns:a16="http://schemas.microsoft.com/office/drawing/2014/main" id="{089C96D6-72D8-379D-133E-6A311C0016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9E7886-A667-A840-DC77-DA3A2E11195D}"/>
              </a:ext>
            </a:extLst>
          </p:cNvPr>
          <p:cNvSpPr>
            <a:spLocks noGrp="1"/>
          </p:cNvSpPr>
          <p:nvPr>
            <p:ph type="sldNum" sz="quarter" idx="12"/>
          </p:nvPr>
        </p:nvSpPr>
        <p:spPr/>
        <p:txBody>
          <a:bodyPr/>
          <a:lstStyle/>
          <a:p>
            <a:fld id="{9173FB21-BE8C-E348-9D31-0615D07CDEEB}" type="slidenum">
              <a:rPr lang="en-US" smtClean="0"/>
              <a:t>‹#›</a:t>
            </a:fld>
            <a:endParaRPr lang="en-US"/>
          </a:p>
        </p:txBody>
      </p:sp>
    </p:spTree>
    <p:extLst>
      <p:ext uri="{BB962C8B-B14F-4D97-AF65-F5344CB8AC3E}">
        <p14:creationId xmlns:p14="http://schemas.microsoft.com/office/powerpoint/2010/main" val="2954213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FB050-6667-26F2-DE25-EC080615581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020B7FB-7C8F-8B78-57E8-2D20394DE4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5D30E0D-9B48-DDE6-0DB9-8C289CE9406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4C97BFF-5D46-F538-FA55-7C48F96FE5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5E9E53F-AFC9-557C-6ED5-328DE8CF306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FA1842C-96C1-8FAC-E377-53282B45B6BB}"/>
              </a:ext>
            </a:extLst>
          </p:cNvPr>
          <p:cNvSpPr>
            <a:spLocks noGrp="1"/>
          </p:cNvSpPr>
          <p:nvPr>
            <p:ph type="dt" sz="half" idx="10"/>
          </p:nvPr>
        </p:nvSpPr>
        <p:spPr/>
        <p:txBody>
          <a:bodyPr/>
          <a:lstStyle/>
          <a:p>
            <a:fld id="{FEA67970-3808-664E-B83B-66F1E3D586DA}" type="datetimeFigureOut">
              <a:rPr lang="en-US" smtClean="0"/>
              <a:t>1/10/24</a:t>
            </a:fld>
            <a:endParaRPr lang="en-US"/>
          </a:p>
        </p:txBody>
      </p:sp>
      <p:sp>
        <p:nvSpPr>
          <p:cNvPr id="8" name="Footer Placeholder 7">
            <a:extLst>
              <a:ext uri="{FF2B5EF4-FFF2-40B4-BE49-F238E27FC236}">
                <a16:creationId xmlns:a16="http://schemas.microsoft.com/office/drawing/2014/main" id="{D2629C58-20B9-0D70-CC65-811D07D9A3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AB8E398-EB1C-2A5C-1BDD-C33D474FC271}"/>
              </a:ext>
            </a:extLst>
          </p:cNvPr>
          <p:cNvSpPr>
            <a:spLocks noGrp="1"/>
          </p:cNvSpPr>
          <p:nvPr>
            <p:ph type="sldNum" sz="quarter" idx="12"/>
          </p:nvPr>
        </p:nvSpPr>
        <p:spPr/>
        <p:txBody>
          <a:bodyPr/>
          <a:lstStyle/>
          <a:p>
            <a:fld id="{9173FB21-BE8C-E348-9D31-0615D07CDEEB}" type="slidenum">
              <a:rPr lang="en-US" smtClean="0"/>
              <a:t>‹#›</a:t>
            </a:fld>
            <a:endParaRPr lang="en-US"/>
          </a:p>
        </p:txBody>
      </p:sp>
    </p:spTree>
    <p:extLst>
      <p:ext uri="{BB962C8B-B14F-4D97-AF65-F5344CB8AC3E}">
        <p14:creationId xmlns:p14="http://schemas.microsoft.com/office/powerpoint/2010/main" val="2701229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7088F-FE8E-6B12-0F12-2937AD757F8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CAC3A5B-49C0-1FB4-EA9C-82C911B123AB}"/>
              </a:ext>
            </a:extLst>
          </p:cNvPr>
          <p:cNvSpPr>
            <a:spLocks noGrp="1"/>
          </p:cNvSpPr>
          <p:nvPr>
            <p:ph type="dt" sz="half" idx="10"/>
          </p:nvPr>
        </p:nvSpPr>
        <p:spPr/>
        <p:txBody>
          <a:bodyPr/>
          <a:lstStyle/>
          <a:p>
            <a:fld id="{FEA67970-3808-664E-B83B-66F1E3D586DA}" type="datetimeFigureOut">
              <a:rPr lang="en-US" smtClean="0"/>
              <a:t>1/10/24</a:t>
            </a:fld>
            <a:endParaRPr lang="en-US"/>
          </a:p>
        </p:txBody>
      </p:sp>
      <p:sp>
        <p:nvSpPr>
          <p:cNvPr id="4" name="Footer Placeholder 3">
            <a:extLst>
              <a:ext uri="{FF2B5EF4-FFF2-40B4-BE49-F238E27FC236}">
                <a16:creationId xmlns:a16="http://schemas.microsoft.com/office/drawing/2014/main" id="{1C00D839-84DD-88D6-A830-5FCB98EB6FF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C429E4-E46D-4CF1-6EDD-8FAE372E99D5}"/>
              </a:ext>
            </a:extLst>
          </p:cNvPr>
          <p:cNvSpPr>
            <a:spLocks noGrp="1"/>
          </p:cNvSpPr>
          <p:nvPr>
            <p:ph type="sldNum" sz="quarter" idx="12"/>
          </p:nvPr>
        </p:nvSpPr>
        <p:spPr/>
        <p:txBody>
          <a:bodyPr/>
          <a:lstStyle/>
          <a:p>
            <a:fld id="{9173FB21-BE8C-E348-9D31-0615D07CDEEB}" type="slidenum">
              <a:rPr lang="en-US" smtClean="0"/>
              <a:t>‹#›</a:t>
            </a:fld>
            <a:endParaRPr lang="en-US"/>
          </a:p>
        </p:txBody>
      </p:sp>
    </p:spTree>
    <p:extLst>
      <p:ext uri="{BB962C8B-B14F-4D97-AF65-F5344CB8AC3E}">
        <p14:creationId xmlns:p14="http://schemas.microsoft.com/office/powerpoint/2010/main" val="2820278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1C8BE1-BC4B-E425-B73C-11704B34F4A3}"/>
              </a:ext>
            </a:extLst>
          </p:cNvPr>
          <p:cNvSpPr>
            <a:spLocks noGrp="1"/>
          </p:cNvSpPr>
          <p:nvPr>
            <p:ph type="dt" sz="half" idx="10"/>
          </p:nvPr>
        </p:nvSpPr>
        <p:spPr/>
        <p:txBody>
          <a:bodyPr/>
          <a:lstStyle/>
          <a:p>
            <a:fld id="{FEA67970-3808-664E-B83B-66F1E3D586DA}" type="datetimeFigureOut">
              <a:rPr lang="en-US" smtClean="0"/>
              <a:t>1/10/24</a:t>
            </a:fld>
            <a:endParaRPr lang="en-US"/>
          </a:p>
        </p:txBody>
      </p:sp>
      <p:sp>
        <p:nvSpPr>
          <p:cNvPr id="3" name="Footer Placeholder 2">
            <a:extLst>
              <a:ext uri="{FF2B5EF4-FFF2-40B4-BE49-F238E27FC236}">
                <a16:creationId xmlns:a16="http://schemas.microsoft.com/office/drawing/2014/main" id="{3A1D1884-803E-F16D-3960-1D87F6644CB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7FB20B-4655-FE16-56B1-F1E37F9195E7}"/>
              </a:ext>
            </a:extLst>
          </p:cNvPr>
          <p:cNvSpPr>
            <a:spLocks noGrp="1"/>
          </p:cNvSpPr>
          <p:nvPr>
            <p:ph type="sldNum" sz="quarter" idx="12"/>
          </p:nvPr>
        </p:nvSpPr>
        <p:spPr/>
        <p:txBody>
          <a:bodyPr/>
          <a:lstStyle/>
          <a:p>
            <a:fld id="{9173FB21-BE8C-E348-9D31-0615D07CDEEB}" type="slidenum">
              <a:rPr lang="en-US" smtClean="0"/>
              <a:t>‹#›</a:t>
            </a:fld>
            <a:endParaRPr lang="en-US"/>
          </a:p>
        </p:txBody>
      </p:sp>
    </p:spTree>
    <p:extLst>
      <p:ext uri="{BB962C8B-B14F-4D97-AF65-F5344CB8AC3E}">
        <p14:creationId xmlns:p14="http://schemas.microsoft.com/office/powerpoint/2010/main" val="1234862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F0D0E-3C47-0FA1-3B47-6D0E64D74F0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C8ECEE9-CD5D-04B2-DDE3-7E8460E481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3DDEAB2-C201-ACFF-08FC-3F62459BAE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C63FE63-EC7C-7952-3D10-40A22B979D2B}"/>
              </a:ext>
            </a:extLst>
          </p:cNvPr>
          <p:cNvSpPr>
            <a:spLocks noGrp="1"/>
          </p:cNvSpPr>
          <p:nvPr>
            <p:ph type="dt" sz="half" idx="10"/>
          </p:nvPr>
        </p:nvSpPr>
        <p:spPr/>
        <p:txBody>
          <a:bodyPr/>
          <a:lstStyle/>
          <a:p>
            <a:fld id="{FEA67970-3808-664E-B83B-66F1E3D586DA}" type="datetimeFigureOut">
              <a:rPr lang="en-US" smtClean="0"/>
              <a:t>1/10/24</a:t>
            </a:fld>
            <a:endParaRPr lang="en-US"/>
          </a:p>
        </p:txBody>
      </p:sp>
      <p:sp>
        <p:nvSpPr>
          <p:cNvPr id="6" name="Footer Placeholder 5">
            <a:extLst>
              <a:ext uri="{FF2B5EF4-FFF2-40B4-BE49-F238E27FC236}">
                <a16:creationId xmlns:a16="http://schemas.microsoft.com/office/drawing/2014/main" id="{3949EDA3-6C04-C5A5-0604-E1752A0724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46406C-2C47-4CC6-A908-FCFDD9881C63}"/>
              </a:ext>
            </a:extLst>
          </p:cNvPr>
          <p:cNvSpPr>
            <a:spLocks noGrp="1"/>
          </p:cNvSpPr>
          <p:nvPr>
            <p:ph type="sldNum" sz="quarter" idx="12"/>
          </p:nvPr>
        </p:nvSpPr>
        <p:spPr/>
        <p:txBody>
          <a:bodyPr/>
          <a:lstStyle/>
          <a:p>
            <a:fld id="{9173FB21-BE8C-E348-9D31-0615D07CDEEB}" type="slidenum">
              <a:rPr lang="en-US" smtClean="0"/>
              <a:t>‹#›</a:t>
            </a:fld>
            <a:endParaRPr lang="en-US"/>
          </a:p>
        </p:txBody>
      </p:sp>
    </p:spTree>
    <p:extLst>
      <p:ext uri="{BB962C8B-B14F-4D97-AF65-F5344CB8AC3E}">
        <p14:creationId xmlns:p14="http://schemas.microsoft.com/office/powerpoint/2010/main" val="2195644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C95C4-FB38-8DC3-EDE9-DF2B2FC94B1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53ACC1A-61B3-28E5-3E39-4E2DB5A8C0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333DEB-3880-AC77-4205-3DAD077B32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501E8C8-CC0E-41BB-0E76-78ED2C92E509}"/>
              </a:ext>
            </a:extLst>
          </p:cNvPr>
          <p:cNvSpPr>
            <a:spLocks noGrp="1"/>
          </p:cNvSpPr>
          <p:nvPr>
            <p:ph type="dt" sz="half" idx="10"/>
          </p:nvPr>
        </p:nvSpPr>
        <p:spPr/>
        <p:txBody>
          <a:bodyPr/>
          <a:lstStyle/>
          <a:p>
            <a:fld id="{FEA67970-3808-664E-B83B-66F1E3D586DA}" type="datetimeFigureOut">
              <a:rPr lang="en-US" smtClean="0"/>
              <a:t>1/10/24</a:t>
            </a:fld>
            <a:endParaRPr lang="en-US"/>
          </a:p>
        </p:txBody>
      </p:sp>
      <p:sp>
        <p:nvSpPr>
          <p:cNvPr id="6" name="Footer Placeholder 5">
            <a:extLst>
              <a:ext uri="{FF2B5EF4-FFF2-40B4-BE49-F238E27FC236}">
                <a16:creationId xmlns:a16="http://schemas.microsoft.com/office/drawing/2014/main" id="{5DEBC8C0-1FB8-D3A2-B9A4-5419DB43C9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629EE3-E1E1-8A6A-11B3-F50793606B69}"/>
              </a:ext>
            </a:extLst>
          </p:cNvPr>
          <p:cNvSpPr>
            <a:spLocks noGrp="1"/>
          </p:cNvSpPr>
          <p:nvPr>
            <p:ph type="sldNum" sz="quarter" idx="12"/>
          </p:nvPr>
        </p:nvSpPr>
        <p:spPr/>
        <p:txBody>
          <a:bodyPr/>
          <a:lstStyle/>
          <a:p>
            <a:fld id="{9173FB21-BE8C-E348-9D31-0615D07CDEEB}" type="slidenum">
              <a:rPr lang="en-US" smtClean="0"/>
              <a:t>‹#›</a:t>
            </a:fld>
            <a:endParaRPr lang="en-US"/>
          </a:p>
        </p:txBody>
      </p:sp>
    </p:spTree>
    <p:extLst>
      <p:ext uri="{BB962C8B-B14F-4D97-AF65-F5344CB8AC3E}">
        <p14:creationId xmlns:p14="http://schemas.microsoft.com/office/powerpoint/2010/main" val="1334165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B189D-D9E4-4717-88D8-6365B04E75EC}"/>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7373375-3045-6800-5EDE-B99FBC72C6D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94A0051-3385-C4C3-3165-FF570F84BAE4}"/>
              </a:ext>
            </a:extLst>
          </p:cNvPr>
          <p:cNvSpPr>
            <a:spLocks noGrp="1"/>
          </p:cNvSpPr>
          <p:nvPr>
            <p:ph type="dt" sz="half" idx="10"/>
          </p:nvPr>
        </p:nvSpPr>
        <p:spPr/>
        <p:txBody>
          <a:bodyPr/>
          <a:lstStyle/>
          <a:p>
            <a:fld id="{FEA67970-3808-664E-B83B-66F1E3D586DA}" type="datetimeFigureOut">
              <a:rPr lang="en-US" smtClean="0"/>
              <a:t>1/10/24</a:t>
            </a:fld>
            <a:endParaRPr lang="en-US"/>
          </a:p>
        </p:txBody>
      </p:sp>
      <p:sp>
        <p:nvSpPr>
          <p:cNvPr id="5" name="Footer Placeholder 4">
            <a:extLst>
              <a:ext uri="{FF2B5EF4-FFF2-40B4-BE49-F238E27FC236}">
                <a16:creationId xmlns:a16="http://schemas.microsoft.com/office/drawing/2014/main" id="{072B250C-53AD-C708-3ECC-2121311832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294E5C-8633-AA69-2DE8-95374A071A6C}"/>
              </a:ext>
            </a:extLst>
          </p:cNvPr>
          <p:cNvSpPr>
            <a:spLocks noGrp="1"/>
          </p:cNvSpPr>
          <p:nvPr>
            <p:ph type="sldNum" sz="quarter" idx="12"/>
          </p:nvPr>
        </p:nvSpPr>
        <p:spPr/>
        <p:txBody>
          <a:bodyPr/>
          <a:lstStyle/>
          <a:p>
            <a:fld id="{9173FB21-BE8C-E348-9D31-0615D07CDEEB}" type="slidenum">
              <a:rPr lang="en-US" smtClean="0"/>
              <a:t>‹#›</a:t>
            </a:fld>
            <a:endParaRPr lang="en-US"/>
          </a:p>
        </p:txBody>
      </p:sp>
    </p:spTree>
    <p:extLst>
      <p:ext uri="{BB962C8B-B14F-4D97-AF65-F5344CB8AC3E}">
        <p14:creationId xmlns:p14="http://schemas.microsoft.com/office/powerpoint/2010/main" val="1808810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1CEF8E-AB9D-2D1F-6C45-17C04D07A08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ED96713-B5E1-96A7-CA34-0C4D88E1495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24F6DCB-32E5-A7D7-9035-502B59A4CB59}"/>
              </a:ext>
            </a:extLst>
          </p:cNvPr>
          <p:cNvSpPr>
            <a:spLocks noGrp="1"/>
          </p:cNvSpPr>
          <p:nvPr>
            <p:ph type="dt" sz="half" idx="10"/>
          </p:nvPr>
        </p:nvSpPr>
        <p:spPr/>
        <p:txBody>
          <a:bodyPr/>
          <a:lstStyle/>
          <a:p>
            <a:fld id="{FEA67970-3808-664E-B83B-66F1E3D586DA}" type="datetimeFigureOut">
              <a:rPr lang="en-US" smtClean="0"/>
              <a:t>1/10/24</a:t>
            </a:fld>
            <a:endParaRPr lang="en-US"/>
          </a:p>
        </p:txBody>
      </p:sp>
      <p:sp>
        <p:nvSpPr>
          <p:cNvPr id="5" name="Footer Placeholder 4">
            <a:extLst>
              <a:ext uri="{FF2B5EF4-FFF2-40B4-BE49-F238E27FC236}">
                <a16:creationId xmlns:a16="http://schemas.microsoft.com/office/drawing/2014/main" id="{7118B5A3-95EE-234B-7BA1-1CF2E771D0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400E9C-407D-D683-0ED1-EF432575DE78}"/>
              </a:ext>
            </a:extLst>
          </p:cNvPr>
          <p:cNvSpPr>
            <a:spLocks noGrp="1"/>
          </p:cNvSpPr>
          <p:nvPr>
            <p:ph type="sldNum" sz="quarter" idx="12"/>
          </p:nvPr>
        </p:nvSpPr>
        <p:spPr/>
        <p:txBody>
          <a:bodyPr/>
          <a:lstStyle/>
          <a:p>
            <a:fld id="{9173FB21-BE8C-E348-9D31-0615D07CDEEB}" type="slidenum">
              <a:rPr lang="en-US" smtClean="0"/>
              <a:t>‹#›</a:t>
            </a:fld>
            <a:endParaRPr lang="en-US"/>
          </a:p>
        </p:txBody>
      </p:sp>
    </p:spTree>
    <p:extLst>
      <p:ext uri="{BB962C8B-B14F-4D97-AF65-F5344CB8AC3E}">
        <p14:creationId xmlns:p14="http://schemas.microsoft.com/office/powerpoint/2010/main" val="12519623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6197600" y="1981200"/>
            <a:ext cx="5080000" cy="4114800"/>
          </a:xfrm>
        </p:spPr>
        <p:txBody>
          <a:bodyPr/>
          <a:lstStyle/>
          <a:p>
            <a:pPr lvl="0"/>
            <a:endParaRPr lang="en-US" noProof="0"/>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FA0406C0-B280-4AC3-86B3-1DEA3D8A16AB}" type="slidenum">
              <a:rPr lang="x-none"/>
              <a:pPr>
                <a:defRPr/>
              </a:pPr>
              <a:t>‹#›</a:t>
            </a:fld>
            <a:endParaRPr lang="en-US"/>
          </a:p>
        </p:txBody>
      </p:sp>
    </p:spTree>
    <p:extLst>
      <p:ext uri="{BB962C8B-B14F-4D97-AF65-F5344CB8AC3E}">
        <p14:creationId xmlns:p14="http://schemas.microsoft.com/office/powerpoint/2010/main" val="4225682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769D93-408B-EDF1-809B-21D832B714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9354372-0DFF-5C92-FACF-0C06989210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4E63FBB-66D7-3263-AB3C-252D7CA0C7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A67970-3808-664E-B83B-66F1E3D586DA}" type="datetimeFigureOut">
              <a:rPr lang="en-US" smtClean="0"/>
              <a:t>1/10/24</a:t>
            </a:fld>
            <a:endParaRPr lang="en-US"/>
          </a:p>
        </p:txBody>
      </p:sp>
      <p:sp>
        <p:nvSpPr>
          <p:cNvPr id="5" name="Footer Placeholder 4">
            <a:extLst>
              <a:ext uri="{FF2B5EF4-FFF2-40B4-BE49-F238E27FC236}">
                <a16:creationId xmlns:a16="http://schemas.microsoft.com/office/drawing/2014/main" id="{C3949C54-1209-74EC-A30B-1413376035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94130F8-EFFF-3F48-78DF-5AB12926B3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73FB21-BE8C-E348-9D31-0615D07CDEEB}" type="slidenum">
              <a:rPr lang="en-US" smtClean="0"/>
              <a:t>‹#›</a:t>
            </a:fld>
            <a:endParaRPr lang="en-US"/>
          </a:p>
        </p:txBody>
      </p:sp>
    </p:spTree>
    <p:extLst>
      <p:ext uri="{BB962C8B-B14F-4D97-AF65-F5344CB8AC3E}">
        <p14:creationId xmlns:p14="http://schemas.microsoft.com/office/powerpoint/2010/main" val="27392199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8.gif"/></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file://localhost/%1B08-17ab_MutationTypes_1.jpg%20%20%20%20%20%20%20%20%20%20%20%20%20%20%20%20%20%20%20%20%20%20%20%20%20%20%20%20%20%20%20%20%20%20%20%20000163BE%0CMacintosh%20HD%20%20%20%20%20%20%20%20%20%20%20%20%20%20%20%20%20%20%20ABA78158" TargetMode="External"/><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2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CECDB-2EC3-E7A7-FCB5-632B89B473DA}"/>
              </a:ext>
            </a:extLst>
          </p:cNvPr>
          <p:cNvSpPr>
            <a:spLocks noGrp="1"/>
          </p:cNvSpPr>
          <p:nvPr>
            <p:ph type="ctrTitle"/>
          </p:nvPr>
        </p:nvSpPr>
        <p:spPr/>
        <p:txBody>
          <a:bodyPr/>
          <a:lstStyle/>
          <a:p>
            <a:r>
              <a:rPr lang="en-US" dirty="0"/>
              <a:t>Lecture set 2LS 1201</a:t>
            </a:r>
            <a:br>
              <a:rPr lang="en-US" dirty="0"/>
            </a:br>
            <a:endParaRPr lang="en-US" dirty="0"/>
          </a:p>
        </p:txBody>
      </p:sp>
      <p:sp>
        <p:nvSpPr>
          <p:cNvPr id="3" name="Subtitle 2">
            <a:extLst>
              <a:ext uri="{FF2B5EF4-FFF2-40B4-BE49-F238E27FC236}">
                <a16:creationId xmlns:a16="http://schemas.microsoft.com/office/drawing/2014/main" id="{5ADE832F-010D-F19A-893F-336B4A8045E2}"/>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422417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57400" y="1371600"/>
            <a:ext cx="8229600" cy="3262432"/>
          </a:xfrm>
          <a:prstGeom prst="rect">
            <a:avLst/>
          </a:prstGeom>
          <a:noFill/>
        </p:spPr>
        <p:txBody>
          <a:bodyPr wrap="square" rtlCol="0">
            <a:spAutoFit/>
          </a:bodyPr>
          <a:lstStyle/>
          <a:p>
            <a:r>
              <a:rPr lang="en-US" sz="2000" b="1" dirty="0">
                <a:solidFill>
                  <a:srgbClr val="00B0F0"/>
                </a:solidFill>
                <a:latin typeface="Comic Sans MS"/>
                <a:cs typeface="Comic Sans MS"/>
              </a:rPr>
              <a:t>Wild type </a:t>
            </a:r>
            <a:r>
              <a:rPr lang="en-US" sz="2000" dirty="0">
                <a:latin typeface="Comic Sans MS"/>
                <a:cs typeface="Comic Sans MS"/>
              </a:rPr>
              <a:t>(or </a:t>
            </a:r>
            <a:r>
              <a:rPr lang="en-US" sz="2000" dirty="0" err="1">
                <a:latin typeface="Comic Sans MS"/>
                <a:cs typeface="Comic Sans MS"/>
              </a:rPr>
              <a:t>wildtype</a:t>
            </a:r>
            <a:r>
              <a:rPr lang="en-US" sz="2000" dirty="0">
                <a:latin typeface="Comic Sans MS"/>
                <a:cs typeface="Comic Sans MS"/>
              </a:rPr>
              <a:t> abbreviated wt) </a:t>
            </a:r>
            <a:r>
              <a:rPr lang="en-US" sz="2000" i="1" dirty="0">
                <a:solidFill>
                  <a:schemeClr val="tx2"/>
                </a:solidFill>
                <a:latin typeface="Comic Sans MS"/>
                <a:cs typeface="Comic Sans MS"/>
              </a:rPr>
              <a:t>refers to the phenotype of the typical form of a species as it occurs in nature</a:t>
            </a:r>
            <a:r>
              <a:rPr lang="en-US" sz="2000" dirty="0">
                <a:latin typeface="Comic Sans MS"/>
                <a:cs typeface="Comic Sans MS"/>
              </a:rPr>
              <a:t>. </a:t>
            </a:r>
          </a:p>
          <a:p>
            <a:endParaRPr lang="en-US" dirty="0"/>
          </a:p>
          <a:p>
            <a:r>
              <a:rPr lang="en-US" sz="2000" b="1" dirty="0">
                <a:solidFill>
                  <a:srgbClr val="3366FF"/>
                </a:solidFill>
                <a:latin typeface="Comic Sans MS"/>
                <a:cs typeface="Comic Sans MS"/>
              </a:rPr>
              <a:t>Large number </a:t>
            </a:r>
            <a:r>
              <a:rPr lang="en-US" sz="2000" dirty="0">
                <a:latin typeface="Comic Sans MS"/>
                <a:cs typeface="Comic Sans MS"/>
              </a:rPr>
              <a:t>in the population.</a:t>
            </a:r>
          </a:p>
          <a:p>
            <a:endParaRPr lang="en-US" dirty="0"/>
          </a:p>
          <a:p>
            <a:endParaRPr lang="en-US" dirty="0"/>
          </a:p>
          <a:p>
            <a:endParaRPr lang="en-US" dirty="0"/>
          </a:p>
          <a:p>
            <a:r>
              <a:rPr lang="en-US" dirty="0">
                <a:latin typeface="Comic Sans MS"/>
                <a:cs typeface="Comic Sans MS"/>
              </a:rPr>
              <a:t>A </a:t>
            </a:r>
            <a:r>
              <a:rPr lang="en-US" dirty="0">
                <a:solidFill>
                  <a:srgbClr val="FF0000"/>
                </a:solidFill>
                <a:latin typeface="Comic Sans MS"/>
                <a:cs typeface="Comic Sans MS"/>
              </a:rPr>
              <a:t>mutant</a:t>
            </a:r>
            <a:r>
              <a:rPr lang="en-US" dirty="0">
                <a:latin typeface="Comic Sans MS"/>
                <a:cs typeface="Comic Sans MS"/>
              </a:rPr>
              <a:t> is an individual, organism</a:t>
            </a:r>
            <a:r>
              <a:rPr lang="en-US" dirty="0">
                <a:solidFill>
                  <a:srgbClr val="FF0000"/>
                </a:solidFill>
                <a:latin typeface="Comic Sans MS"/>
                <a:cs typeface="Comic Sans MS"/>
              </a:rPr>
              <a:t> that exhibits a new character or trait not found in the wild type.</a:t>
            </a:r>
          </a:p>
          <a:p>
            <a:endParaRPr lang="en-US" dirty="0"/>
          </a:p>
          <a:p>
            <a:r>
              <a:rPr lang="en-US" sz="2000" b="1" dirty="0">
                <a:solidFill>
                  <a:srgbClr val="FF0000"/>
                </a:solidFill>
                <a:latin typeface="Comic Sans MS"/>
                <a:cs typeface="Comic Sans MS"/>
              </a:rPr>
              <a:t>Less frequent </a:t>
            </a:r>
            <a:r>
              <a:rPr lang="en-US" sz="2000" dirty="0">
                <a:latin typeface="Comic Sans MS"/>
                <a:cs typeface="Comic Sans MS"/>
              </a:rPr>
              <a:t>in the population</a:t>
            </a:r>
          </a:p>
        </p:txBody>
      </p:sp>
      <p:sp>
        <p:nvSpPr>
          <p:cNvPr id="4" name="Rectangle 3"/>
          <p:cNvSpPr/>
          <p:nvPr/>
        </p:nvSpPr>
        <p:spPr>
          <a:xfrm>
            <a:off x="2996064" y="304800"/>
            <a:ext cx="6099170" cy="923330"/>
          </a:xfrm>
          <a:prstGeom prst="rect">
            <a:avLst/>
          </a:prstGeom>
          <a:noFill/>
        </p:spPr>
        <p:txBody>
          <a:bodyPr wrap="none" lIns="91440" tIns="45720" rIns="91440" bIns="45720">
            <a:spAutoFit/>
          </a:bodyPr>
          <a:lstStyle/>
          <a:p>
            <a:pPr algn="ctr"/>
            <a:r>
              <a:rPr lang="en-US" sz="5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Wild type Vs Mutant</a:t>
            </a:r>
          </a:p>
        </p:txBody>
      </p:sp>
      <p:sp>
        <p:nvSpPr>
          <p:cNvPr id="2" name="Rectangle 1"/>
          <p:cNvSpPr/>
          <p:nvPr/>
        </p:nvSpPr>
        <p:spPr>
          <a:xfrm>
            <a:off x="2133600" y="4876800"/>
            <a:ext cx="7696200" cy="1477328"/>
          </a:xfrm>
          <a:prstGeom prst="rect">
            <a:avLst/>
          </a:prstGeom>
        </p:spPr>
        <p:txBody>
          <a:bodyPr wrap="square">
            <a:spAutoFit/>
          </a:bodyPr>
          <a:lstStyle/>
          <a:p>
            <a:r>
              <a:rPr lang="en-US" b="1" dirty="0"/>
              <a:t>In genetics, the wild-type organisms serve as the original parent strain before a deliberate mutation is introduced (for research) so that geneticists can use them as reference to compare the naturally occurring genotypes and phenotypes of a given species against those of the deliberately mutated counterparts.</a:t>
            </a:r>
          </a:p>
        </p:txBody>
      </p:sp>
      <p:pic>
        <p:nvPicPr>
          <p:cNvPr id="5" name="Picture 4" descr="C:\Users\Admin\Desktop\white eye.jpg"/>
          <p:cNvPicPr>
            <a:picLocks noChangeAspect="1" noChangeArrowheads="1"/>
          </p:cNvPicPr>
          <p:nvPr/>
        </p:nvPicPr>
        <p:blipFill>
          <a:blip r:embed="rId3"/>
          <a:srcRect/>
          <a:stretch>
            <a:fillRect/>
          </a:stretch>
        </p:blipFill>
        <p:spPr bwMode="auto">
          <a:xfrm>
            <a:off x="8839200" y="3733800"/>
            <a:ext cx="1600200" cy="1219200"/>
          </a:xfrm>
          <a:prstGeom prst="rect">
            <a:avLst/>
          </a:prstGeom>
          <a:noFill/>
          <a:ln w="9525">
            <a:noFill/>
            <a:miter lim="800000"/>
            <a:headEnd/>
            <a:tailEnd/>
          </a:ln>
        </p:spPr>
      </p:pic>
      <p:pic>
        <p:nvPicPr>
          <p:cNvPr id="6" name="Picture 7" descr="C:\Users\Admin\Desktop\wt eye.jpg"/>
          <p:cNvPicPr>
            <a:picLocks noChangeAspect="1" noChangeArrowheads="1"/>
          </p:cNvPicPr>
          <p:nvPr/>
        </p:nvPicPr>
        <p:blipFill>
          <a:blip r:embed="rId4"/>
          <a:srcRect/>
          <a:stretch>
            <a:fillRect/>
          </a:stretch>
        </p:blipFill>
        <p:spPr bwMode="auto">
          <a:xfrm>
            <a:off x="8077201" y="1905000"/>
            <a:ext cx="1960563" cy="14478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6"/>
          <p:cNvSpPr>
            <a:spLocks noGrp="1"/>
          </p:cNvSpPr>
          <p:nvPr>
            <p:ph type="sldNum" sz="quarter" idx="12"/>
          </p:nvPr>
        </p:nvSpPr>
        <p:spPr/>
        <p:txBody>
          <a:bodyPr/>
          <a:lstStyle/>
          <a:p>
            <a:pPr>
              <a:defRPr/>
            </a:pPr>
            <a:fld id="{2D05221D-437B-443F-BDA1-19C9EEF09392}" type="slidenum">
              <a:rPr lang="x-none"/>
              <a:pPr>
                <a:defRPr/>
              </a:pPr>
              <a:t>3</a:t>
            </a:fld>
            <a:endParaRPr lang="en-US"/>
          </a:p>
        </p:txBody>
      </p:sp>
      <p:sp>
        <p:nvSpPr>
          <p:cNvPr id="3075" name="Rectangle 2"/>
          <p:cNvSpPr>
            <a:spLocks noGrp="1" noChangeArrowheads="1"/>
          </p:cNvSpPr>
          <p:nvPr>
            <p:ph type="title"/>
          </p:nvPr>
        </p:nvSpPr>
        <p:spPr>
          <a:xfrm>
            <a:off x="2209800" y="304800"/>
            <a:ext cx="7772400" cy="1143000"/>
          </a:xfrm>
        </p:spPr>
        <p:txBody>
          <a:bodyPr rtlCol="0">
            <a:normAutofit/>
          </a:bodyPr>
          <a:lstStyle/>
          <a:p>
            <a:pPr>
              <a:defRPr/>
            </a:pPr>
            <a:r>
              <a:rPr lang="en-US" b="1" dirty="0">
                <a:solidFill>
                  <a:schemeClr val="tx2">
                    <a:lumMod val="75000"/>
                  </a:schemeClr>
                </a:solidFill>
                <a:latin typeface="Comic Sans MS" pitchFamily="66" charset="0"/>
              </a:rPr>
              <a:t>Genetic Information</a:t>
            </a:r>
          </a:p>
        </p:txBody>
      </p:sp>
      <p:sp>
        <p:nvSpPr>
          <p:cNvPr id="6147" name="Rectangle 3"/>
          <p:cNvSpPr>
            <a:spLocks noGrp="1" noChangeArrowheads="1"/>
          </p:cNvSpPr>
          <p:nvPr>
            <p:ph type="body" sz="half" idx="1"/>
          </p:nvPr>
        </p:nvSpPr>
        <p:spPr>
          <a:xfrm>
            <a:off x="1905000" y="1676400"/>
            <a:ext cx="5334000" cy="4876800"/>
          </a:xfrm>
        </p:spPr>
        <p:txBody>
          <a:bodyPr rtlCol="0">
            <a:normAutofit fontScale="92500" lnSpcReduction="10000"/>
          </a:bodyPr>
          <a:lstStyle/>
          <a:p>
            <a:pPr marL="0" indent="0">
              <a:lnSpc>
                <a:spcPct val="80000"/>
              </a:lnSpc>
              <a:buNone/>
              <a:defRPr/>
            </a:pPr>
            <a:endParaRPr lang="en-US" sz="2400" i="1" dirty="0">
              <a:latin typeface="Comic Sans MS" pitchFamily="66" charset="0"/>
            </a:endParaRPr>
          </a:p>
          <a:p>
            <a:pPr>
              <a:lnSpc>
                <a:spcPct val="80000"/>
              </a:lnSpc>
              <a:defRPr/>
            </a:pPr>
            <a:r>
              <a:rPr lang="en-US" sz="2400" b="1" dirty="0">
                <a:solidFill>
                  <a:schemeClr val="tx2">
                    <a:lumMod val="75000"/>
                  </a:schemeClr>
                </a:solidFill>
                <a:latin typeface="Comic Sans MS" pitchFamily="66" charset="0"/>
              </a:rPr>
              <a:t>Genome</a:t>
            </a:r>
            <a:r>
              <a:rPr lang="en-US" sz="2400" dirty="0">
                <a:latin typeface="Comic Sans MS" pitchFamily="66" charset="0"/>
              </a:rPr>
              <a:t> – the collection of genetic information.</a:t>
            </a:r>
          </a:p>
          <a:p>
            <a:pPr>
              <a:lnSpc>
                <a:spcPct val="80000"/>
              </a:lnSpc>
              <a:defRPr/>
            </a:pPr>
            <a:endParaRPr lang="en-US" sz="2400" dirty="0">
              <a:latin typeface="Comic Sans MS" pitchFamily="66" charset="0"/>
            </a:endParaRPr>
          </a:p>
          <a:p>
            <a:pPr>
              <a:lnSpc>
                <a:spcPct val="80000"/>
              </a:lnSpc>
              <a:defRPr/>
            </a:pPr>
            <a:r>
              <a:rPr lang="en-US" sz="2400" b="1" dirty="0">
                <a:solidFill>
                  <a:schemeClr val="tx2">
                    <a:lumMod val="75000"/>
                  </a:schemeClr>
                </a:solidFill>
                <a:latin typeface="Comic Sans MS" pitchFamily="66" charset="0"/>
              </a:rPr>
              <a:t>Chromosomes</a:t>
            </a:r>
            <a:r>
              <a:rPr lang="en-US" sz="2400" dirty="0">
                <a:latin typeface="Comic Sans MS" pitchFamily="66" charset="0"/>
              </a:rPr>
              <a:t> – storage units of </a:t>
            </a:r>
            <a:r>
              <a:rPr lang="en-US" sz="2400" i="1" dirty="0">
                <a:latin typeface="Comic Sans MS" pitchFamily="66" charset="0"/>
              </a:rPr>
              <a:t>genes</a:t>
            </a:r>
            <a:r>
              <a:rPr lang="en-US" sz="2400" dirty="0">
                <a:latin typeface="Comic Sans MS" pitchFamily="66" charset="0"/>
              </a:rPr>
              <a:t>.</a:t>
            </a:r>
          </a:p>
          <a:p>
            <a:pPr>
              <a:lnSpc>
                <a:spcPct val="80000"/>
              </a:lnSpc>
              <a:defRPr/>
            </a:pPr>
            <a:endParaRPr lang="en-US" sz="2400" dirty="0">
              <a:latin typeface="Comic Sans MS" pitchFamily="66" charset="0"/>
            </a:endParaRPr>
          </a:p>
          <a:p>
            <a:pPr>
              <a:lnSpc>
                <a:spcPct val="80000"/>
              </a:lnSpc>
              <a:defRPr/>
            </a:pPr>
            <a:r>
              <a:rPr lang="en-US" sz="2400" b="1" dirty="0">
                <a:solidFill>
                  <a:schemeClr val="tx2">
                    <a:lumMod val="75000"/>
                  </a:schemeClr>
                </a:solidFill>
                <a:latin typeface="Comic Sans MS" pitchFamily="66" charset="0"/>
              </a:rPr>
              <a:t>Gene</a:t>
            </a:r>
            <a:r>
              <a:rPr lang="en-US" sz="2400" dirty="0">
                <a:latin typeface="Comic Sans MS" pitchFamily="66" charset="0"/>
              </a:rPr>
              <a:t> – basic unit of genetic information. Genes determine the inherited characters.</a:t>
            </a:r>
          </a:p>
          <a:p>
            <a:pPr>
              <a:lnSpc>
                <a:spcPct val="80000"/>
              </a:lnSpc>
              <a:defRPr/>
            </a:pPr>
            <a:endParaRPr lang="en-US" sz="2400" dirty="0">
              <a:latin typeface="Comic Sans MS" pitchFamily="66" charset="0"/>
            </a:endParaRPr>
          </a:p>
          <a:p>
            <a:pPr>
              <a:lnSpc>
                <a:spcPct val="80000"/>
              </a:lnSpc>
              <a:defRPr/>
            </a:pPr>
            <a:r>
              <a:rPr lang="en-US" sz="2400" b="1" dirty="0">
                <a:solidFill>
                  <a:schemeClr val="tx2">
                    <a:lumMod val="75000"/>
                  </a:schemeClr>
                </a:solidFill>
                <a:effectLst>
                  <a:outerShdw blurRad="38100" dist="38100" dir="2700000" algn="tl">
                    <a:srgbClr val="C0C0C0"/>
                  </a:outerShdw>
                </a:effectLst>
                <a:latin typeface="Comic Sans MS" pitchFamily="66" charset="0"/>
              </a:rPr>
              <a:t>DNA</a:t>
            </a:r>
            <a:r>
              <a:rPr lang="en-US" sz="2400" dirty="0">
                <a:latin typeface="Comic Sans MS" pitchFamily="66" charset="0"/>
              </a:rPr>
              <a:t> -</a:t>
            </a:r>
            <a:r>
              <a:rPr lang="en-US" sz="2400" b="1" dirty="0">
                <a:latin typeface="Comic Sans MS" pitchFamily="66" charset="0"/>
              </a:rPr>
              <a:t> </a:t>
            </a:r>
            <a:r>
              <a:rPr lang="en-US" sz="2400" dirty="0">
                <a:latin typeface="Comic Sans MS" pitchFamily="66" charset="0"/>
              </a:rPr>
              <a:t> is a nucleic acid that contains the genetic instructions specifying the biological development of all cellular forms of life </a:t>
            </a:r>
          </a:p>
        </p:txBody>
      </p:sp>
      <p:pic>
        <p:nvPicPr>
          <p:cNvPr id="11269" name="Picture 6" descr="genes"/>
          <p:cNvPicPr>
            <a:picLocks noChangeAspect="1" noChangeArrowheads="1"/>
          </p:cNvPicPr>
          <p:nvPr/>
        </p:nvPicPr>
        <p:blipFill>
          <a:blip r:embed="rId3" cstate="print"/>
          <a:srcRect/>
          <a:stretch>
            <a:fillRect/>
          </a:stretch>
        </p:blipFill>
        <p:spPr bwMode="auto">
          <a:xfrm>
            <a:off x="7086600" y="1752600"/>
            <a:ext cx="3581400" cy="4438650"/>
          </a:xfrm>
          <a:prstGeom prst="rect">
            <a:avLst/>
          </a:prstGeom>
          <a:noFill/>
          <a:ln w="9525">
            <a:noFill/>
            <a:miter lim="800000"/>
            <a:headEnd/>
            <a:tailEnd/>
          </a:ln>
        </p:spPr>
      </p:pic>
      <p:sp>
        <p:nvSpPr>
          <p:cNvPr id="6" name="Rectangle 5"/>
          <p:cNvSpPr/>
          <p:nvPr/>
        </p:nvSpPr>
        <p:spPr>
          <a:xfrm>
            <a:off x="7848600" y="6172200"/>
            <a:ext cx="2207656" cy="230832"/>
          </a:xfrm>
          <a:prstGeom prst="rect">
            <a:avLst/>
          </a:prstGeom>
        </p:spPr>
        <p:txBody>
          <a:bodyPr wrap="none">
            <a:spAutoFit/>
          </a:bodyPr>
          <a:lstStyle/>
          <a:p>
            <a:r>
              <a:rPr lang="en-US" sz="900" dirty="0"/>
              <a:t>http://www.accessexcellence.com/AB/GG/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7" dur="500"/>
                                        <p:tgtEl>
                                          <p:spTgt spid="614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147">
                                            <p:txEl>
                                              <p:pRg st="3" end="3"/>
                                            </p:txEl>
                                          </p:spTgt>
                                        </p:tgtEl>
                                        <p:attrNameLst>
                                          <p:attrName>style.visibility</p:attrName>
                                        </p:attrNameLst>
                                      </p:cBhvr>
                                      <p:to>
                                        <p:strVal val="visible"/>
                                      </p:to>
                                    </p:set>
                                    <p:animEffect transition="in" filter="checkerboard(across)">
                                      <p:cBhvr>
                                        <p:cTn id="12" dur="500"/>
                                        <p:tgtEl>
                                          <p:spTgt spid="614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6147">
                                            <p:txEl>
                                              <p:pRg st="5" end="5"/>
                                            </p:txEl>
                                          </p:spTgt>
                                        </p:tgtEl>
                                        <p:attrNameLst>
                                          <p:attrName>style.visibility</p:attrName>
                                        </p:attrNameLst>
                                      </p:cBhvr>
                                      <p:to>
                                        <p:strVal val="visible"/>
                                      </p:to>
                                    </p:set>
                                    <p:animEffect transition="in" filter="checkerboard(across)">
                                      <p:cBhvr>
                                        <p:cTn id="17" dur="500"/>
                                        <p:tgtEl>
                                          <p:spTgt spid="6147">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147">
                                            <p:txEl>
                                              <p:pRg st="7" end="7"/>
                                            </p:txEl>
                                          </p:spTgt>
                                        </p:tgtEl>
                                        <p:attrNameLst>
                                          <p:attrName>style.visibility</p:attrName>
                                        </p:attrNameLst>
                                      </p:cBhvr>
                                      <p:to>
                                        <p:strVal val="visible"/>
                                      </p:to>
                                    </p:set>
                                    <p:animEffect transition="in" filter="dissolve">
                                      <p:cBhvr>
                                        <p:cTn id="22" dur="500"/>
                                        <p:tgtEl>
                                          <p:spTgt spid="614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6"/>
          <p:cNvSpPr>
            <a:spLocks noGrp="1"/>
          </p:cNvSpPr>
          <p:nvPr>
            <p:ph type="sldNum" sz="quarter" idx="12"/>
          </p:nvPr>
        </p:nvSpPr>
        <p:spPr/>
        <p:txBody>
          <a:bodyPr/>
          <a:lstStyle/>
          <a:p>
            <a:pPr>
              <a:defRPr/>
            </a:pPr>
            <a:fld id="{0DC434EB-7815-4952-8021-21AC38DA87E6}" type="slidenum">
              <a:rPr lang="x-none"/>
              <a:pPr>
                <a:defRPr/>
              </a:pPr>
              <a:t>4</a:t>
            </a:fld>
            <a:endParaRPr lang="en-US"/>
          </a:p>
        </p:txBody>
      </p:sp>
      <p:sp>
        <p:nvSpPr>
          <p:cNvPr id="4099" name="Rectangle 2"/>
          <p:cNvSpPr>
            <a:spLocks noGrp="1" noChangeArrowheads="1"/>
          </p:cNvSpPr>
          <p:nvPr>
            <p:ph type="title"/>
          </p:nvPr>
        </p:nvSpPr>
        <p:spPr>
          <a:xfrm>
            <a:off x="2209800" y="188913"/>
            <a:ext cx="7772400" cy="1143000"/>
          </a:xfrm>
        </p:spPr>
        <p:txBody>
          <a:bodyPr rtlCol="0">
            <a:normAutofit/>
          </a:bodyPr>
          <a:lstStyle/>
          <a:p>
            <a:pPr>
              <a:defRPr/>
            </a:pPr>
            <a:r>
              <a:rPr lang="en-US" sz="4000" b="1" dirty="0">
                <a:solidFill>
                  <a:schemeClr val="tx2">
                    <a:lumMod val="75000"/>
                  </a:schemeClr>
                </a:solidFill>
                <a:latin typeface="Comic Sans MS" pitchFamily="66" charset="0"/>
              </a:rPr>
              <a:t>Chromosome Logical Structure</a:t>
            </a:r>
          </a:p>
        </p:txBody>
      </p:sp>
      <p:sp>
        <p:nvSpPr>
          <p:cNvPr id="4100" name="Rectangle 3"/>
          <p:cNvSpPr>
            <a:spLocks noGrp="1" noChangeArrowheads="1"/>
          </p:cNvSpPr>
          <p:nvPr>
            <p:ph type="body" sz="half" idx="1"/>
          </p:nvPr>
        </p:nvSpPr>
        <p:spPr>
          <a:xfrm>
            <a:off x="1631950" y="1484314"/>
            <a:ext cx="6229350" cy="2333625"/>
          </a:xfrm>
        </p:spPr>
        <p:txBody>
          <a:bodyPr rtlCol="0">
            <a:normAutofit/>
          </a:bodyPr>
          <a:lstStyle/>
          <a:p>
            <a:pPr>
              <a:defRPr/>
            </a:pPr>
            <a:r>
              <a:rPr lang="en-US" b="1" dirty="0">
                <a:solidFill>
                  <a:schemeClr val="tx2">
                    <a:lumMod val="75000"/>
                  </a:schemeClr>
                </a:solidFill>
                <a:latin typeface="Comic Sans MS" pitchFamily="66" charset="0"/>
              </a:rPr>
              <a:t>Locus</a:t>
            </a:r>
            <a:r>
              <a:rPr lang="en-US" dirty="0">
                <a:solidFill>
                  <a:schemeClr val="tx2">
                    <a:lumMod val="75000"/>
                  </a:schemeClr>
                </a:solidFill>
                <a:latin typeface="Comic Sans MS" pitchFamily="66" charset="0"/>
              </a:rPr>
              <a:t> </a:t>
            </a:r>
            <a:r>
              <a:rPr lang="en-US" dirty="0">
                <a:latin typeface="Comic Sans MS" pitchFamily="66" charset="0"/>
              </a:rPr>
              <a:t>– location of a </a:t>
            </a:r>
            <a:r>
              <a:rPr lang="en-US" i="1" dirty="0">
                <a:latin typeface="Comic Sans MS" pitchFamily="66" charset="0"/>
              </a:rPr>
              <a:t>gene/marker</a:t>
            </a:r>
            <a:r>
              <a:rPr lang="en-US" dirty="0">
                <a:latin typeface="Comic Sans MS" pitchFamily="66" charset="0"/>
              </a:rPr>
              <a:t> on the chromosome.</a:t>
            </a:r>
          </a:p>
          <a:p>
            <a:pPr>
              <a:defRPr/>
            </a:pPr>
            <a:endParaRPr lang="en-US" dirty="0">
              <a:latin typeface="Comic Sans MS" pitchFamily="66" charset="0"/>
            </a:endParaRPr>
          </a:p>
          <a:p>
            <a:pPr>
              <a:defRPr/>
            </a:pPr>
            <a:r>
              <a:rPr lang="en-US" b="1" dirty="0">
                <a:solidFill>
                  <a:schemeClr val="tx2">
                    <a:lumMod val="75000"/>
                  </a:schemeClr>
                </a:solidFill>
                <a:latin typeface="Comic Sans MS" pitchFamily="66" charset="0"/>
              </a:rPr>
              <a:t>Allele</a:t>
            </a:r>
            <a:r>
              <a:rPr lang="en-US" dirty="0">
                <a:latin typeface="Comic Sans MS" pitchFamily="66" charset="0"/>
              </a:rPr>
              <a:t> –variants of a gene/marker at a particular </a:t>
            </a:r>
            <a:r>
              <a:rPr lang="en-US" i="1" dirty="0">
                <a:latin typeface="Comic Sans MS" pitchFamily="66" charset="0"/>
              </a:rPr>
              <a:t>locus</a:t>
            </a:r>
            <a:r>
              <a:rPr lang="en-US" dirty="0">
                <a:latin typeface="Comic Sans MS" pitchFamily="66" charset="0"/>
              </a:rPr>
              <a:t>.</a:t>
            </a:r>
            <a:endParaRPr lang="en-US" i="1" dirty="0">
              <a:latin typeface="Comic Sans MS" pitchFamily="66" charset="0"/>
            </a:endParaRPr>
          </a:p>
        </p:txBody>
      </p:sp>
      <p:grpSp>
        <p:nvGrpSpPr>
          <p:cNvPr id="2" name="Group 4"/>
          <p:cNvGrpSpPr>
            <a:grpSpLocks/>
          </p:cNvGrpSpPr>
          <p:nvPr/>
        </p:nvGrpSpPr>
        <p:grpSpPr bwMode="auto">
          <a:xfrm>
            <a:off x="4154489" y="2109788"/>
            <a:ext cx="6118225" cy="4343400"/>
            <a:chOff x="1474" y="1248"/>
            <a:chExt cx="3854" cy="2736"/>
          </a:xfrm>
        </p:grpSpPr>
        <p:pic>
          <p:nvPicPr>
            <p:cNvPr id="12294" name="Picture 5" descr="genes_2"/>
            <p:cNvPicPr>
              <a:picLocks noChangeAspect="1" noChangeArrowheads="1"/>
            </p:cNvPicPr>
            <p:nvPr/>
          </p:nvPicPr>
          <p:blipFill>
            <a:blip r:embed="rId3" cstate="print"/>
            <a:srcRect r="53334" b="24001"/>
            <a:stretch>
              <a:fillRect/>
            </a:stretch>
          </p:blipFill>
          <p:spPr bwMode="auto">
            <a:xfrm>
              <a:off x="4320" y="1248"/>
              <a:ext cx="1008" cy="2736"/>
            </a:xfrm>
            <a:prstGeom prst="rect">
              <a:avLst/>
            </a:prstGeom>
            <a:noFill/>
            <a:ln w="9525">
              <a:noFill/>
              <a:miter lim="800000"/>
              <a:headEnd/>
              <a:tailEnd/>
            </a:ln>
          </p:spPr>
        </p:pic>
        <p:sp>
          <p:nvSpPr>
            <p:cNvPr id="12295" name="AutoShape 6"/>
            <p:cNvSpPr>
              <a:spLocks noChangeArrowheads="1"/>
            </p:cNvSpPr>
            <p:nvPr/>
          </p:nvSpPr>
          <p:spPr bwMode="auto">
            <a:xfrm>
              <a:off x="1728" y="2640"/>
              <a:ext cx="2208" cy="480"/>
            </a:xfrm>
            <a:prstGeom prst="wedgeRoundRectCallout">
              <a:avLst>
                <a:gd name="adj1" fmla="val 67528"/>
                <a:gd name="adj2" fmla="val -191458"/>
                <a:gd name="adj3" fmla="val 16667"/>
              </a:avLst>
            </a:prstGeom>
            <a:solidFill>
              <a:srgbClr val="FFFF00"/>
            </a:solidFill>
            <a:ln w="28575">
              <a:solidFill>
                <a:schemeClr val="tx1"/>
              </a:solidFill>
              <a:miter lim="800000"/>
              <a:headEnd/>
              <a:tailEnd/>
            </a:ln>
          </p:spPr>
          <p:txBody>
            <a:bodyPr/>
            <a:lstStyle/>
            <a:p>
              <a:pPr rtl="1"/>
              <a:r>
                <a:rPr lang="en-US" sz="2000" b="1">
                  <a:latin typeface="Calibri" pitchFamily="34" charset="0"/>
                </a:rPr>
                <a:t>Locus1</a:t>
              </a:r>
            </a:p>
            <a:p>
              <a:r>
                <a:rPr lang="en-US" sz="2000" b="1">
                  <a:latin typeface="Calibri" pitchFamily="34" charset="0"/>
                </a:rPr>
                <a:t>Possible Alleles: A1,A2</a:t>
              </a:r>
            </a:p>
            <a:p>
              <a:pPr algn="ctr" rtl="1"/>
              <a:endParaRPr lang="en-US" sz="2000" b="1">
                <a:latin typeface="Calibri" pitchFamily="34" charset="0"/>
              </a:endParaRPr>
            </a:p>
          </p:txBody>
        </p:sp>
        <p:sp>
          <p:nvSpPr>
            <p:cNvPr id="12296" name="AutoShape 7"/>
            <p:cNvSpPr>
              <a:spLocks noChangeArrowheads="1"/>
            </p:cNvSpPr>
            <p:nvPr/>
          </p:nvSpPr>
          <p:spPr bwMode="auto">
            <a:xfrm>
              <a:off x="1474" y="3408"/>
              <a:ext cx="2462" cy="480"/>
            </a:xfrm>
            <a:prstGeom prst="wedgeRoundRectCallout">
              <a:avLst>
                <a:gd name="adj1" fmla="val 65718"/>
                <a:gd name="adj2" fmla="val -112708"/>
                <a:gd name="adj3" fmla="val 16667"/>
              </a:avLst>
            </a:prstGeom>
            <a:solidFill>
              <a:srgbClr val="FFFF00"/>
            </a:solidFill>
            <a:ln w="28575">
              <a:solidFill>
                <a:schemeClr val="tx1"/>
              </a:solidFill>
              <a:miter lim="800000"/>
              <a:headEnd/>
              <a:tailEnd/>
            </a:ln>
          </p:spPr>
          <p:txBody>
            <a:bodyPr/>
            <a:lstStyle/>
            <a:p>
              <a:pPr rtl="1"/>
              <a:r>
                <a:rPr lang="en-US" sz="2000" b="1">
                  <a:latin typeface="Calibri" pitchFamily="34" charset="0"/>
                </a:rPr>
                <a:t>Locus2</a:t>
              </a:r>
            </a:p>
            <a:p>
              <a:r>
                <a:rPr lang="en-US" sz="2000" b="1">
                  <a:latin typeface="Calibri" pitchFamily="34" charset="0"/>
                </a:rPr>
                <a:t>Possible Alleles: B1,B2,B3</a:t>
              </a:r>
            </a:p>
          </p:txBody>
        </p:sp>
      </p:gr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0" y="2627294"/>
            <a:ext cx="7924800" cy="954107"/>
          </a:xfrm>
          <a:prstGeom prst="rect">
            <a:avLst/>
          </a:prstGeom>
        </p:spPr>
        <p:txBody>
          <a:bodyPr wrap="square">
            <a:spAutoFit/>
          </a:bodyPr>
          <a:lstStyle/>
          <a:p>
            <a:r>
              <a:rPr lang="en-US" sz="2800" dirty="0"/>
              <a:t>An allele is </a:t>
            </a:r>
            <a:r>
              <a:rPr lang="en-US" sz="2800" u="sng" dirty="0"/>
              <a:t>different forms of the DNA sequence </a:t>
            </a:r>
            <a:r>
              <a:rPr lang="en-US" sz="2800" dirty="0"/>
              <a:t>of a particular gene. (variants of a gene)</a:t>
            </a:r>
          </a:p>
        </p:txBody>
      </p:sp>
      <p:sp>
        <p:nvSpPr>
          <p:cNvPr id="5" name="Rectangle 4"/>
          <p:cNvSpPr/>
          <p:nvPr/>
        </p:nvSpPr>
        <p:spPr>
          <a:xfrm>
            <a:off x="3210500" y="753070"/>
            <a:ext cx="5493812" cy="923330"/>
          </a:xfrm>
          <a:prstGeom prst="rect">
            <a:avLst/>
          </a:prstGeom>
          <a:noFill/>
        </p:spPr>
        <p:txBody>
          <a:bodyPr wrap="none" lIns="91440" tIns="45720" rIns="91440" bIns="45720">
            <a:spAutoFit/>
          </a:bodyPr>
          <a:lstStyle/>
          <a:p>
            <a:pPr algn="ctr"/>
            <a:r>
              <a:rPr lang="en-US" sz="5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What is an Allele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1143000"/>
          </a:xfrm>
        </p:spPr>
        <p:txBody>
          <a:bodyPr/>
          <a:lstStyle/>
          <a:p>
            <a:r>
              <a:rPr lang="en-US" dirty="0" err="1"/>
              <a:t>Wildtype</a:t>
            </a:r>
            <a:r>
              <a:rPr lang="en-US" dirty="0"/>
              <a:t> and mutant allele</a:t>
            </a:r>
          </a:p>
        </p:txBody>
      </p:sp>
      <p:sp>
        <p:nvSpPr>
          <p:cNvPr id="14" name="TextBox 13"/>
          <p:cNvSpPr txBox="1"/>
          <p:nvPr/>
        </p:nvSpPr>
        <p:spPr>
          <a:xfrm>
            <a:off x="1752600" y="2514601"/>
            <a:ext cx="8686800" cy="830997"/>
          </a:xfrm>
          <a:prstGeom prst="rect">
            <a:avLst/>
          </a:prstGeom>
          <a:noFill/>
        </p:spPr>
        <p:txBody>
          <a:bodyPr wrap="square" rtlCol="0">
            <a:spAutoFit/>
          </a:bodyPr>
          <a:lstStyle/>
          <a:p>
            <a:r>
              <a:rPr lang="en-US" sz="2400" dirty="0"/>
              <a:t>Any form of an allele </a:t>
            </a:r>
            <a:r>
              <a:rPr lang="en-US" sz="2400" b="1" dirty="0"/>
              <a:t>other than the wild type </a:t>
            </a:r>
            <a:r>
              <a:rPr lang="en-US" sz="2400" dirty="0"/>
              <a:t>is known as a </a:t>
            </a:r>
            <a:r>
              <a:rPr lang="en-US" sz="2400" b="1" dirty="0"/>
              <a:t>mutant</a:t>
            </a:r>
            <a:r>
              <a:rPr lang="en-US" sz="2400" dirty="0"/>
              <a:t> form of that allele.</a:t>
            </a:r>
          </a:p>
        </p:txBody>
      </p:sp>
      <p:sp>
        <p:nvSpPr>
          <p:cNvPr id="13" name="TextBox 12"/>
          <p:cNvSpPr txBox="1"/>
          <p:nvPr/>
        </p:nvSpPr>
        <p:spPr>
          <a:xfrm>
            <a:off x="1828800" y="792540"/>
            <a:ext cx="9829800" cy="1569660"/>
          </a:xfrm>
          <a:prstGeom prst="rect">
            <a:avLst/>
          </a:prstGeom>
          <a:noFill/>
        </p:spPr>
        <p:txBody>
          <a:bodyPr wrap="square" rtlCol="0">
            <a:spAutoFit/>
          </a:bodyPr>
          <a:lstStyle/>
          <a:p>
            <a:r>
              <a:rPr lang="en-US" sz="2400" dirty="0"/>
              <a:t>The allele that encodes the phenotype most common in a </a:t>
            </a:r>
          </a:p>
          <a:p>
            <a:r>
              <a:rPr lang="en-US" sz="2400" dirty="0"/>
              <a:t>particular natural  population is known as the </a:t>
            </a:r>
            <a:r>
              <a:rPr lang="en-US" sz="2400" b="1" dirty="0"/>
              <a:t>wild type</a:t>
            </a:r>
            <a:r>
              <a:rPr lang="en-US" sz="2400" dirty="0"/>
              <a:t> allele. </a:t>
            </a:r>
          </a:p>
          <a:p>
            <a:endParaRPr lang="en-US" sz="2400" dirty="0"/>
          </a:p>
          <a:p>
            <a:r>
              <a:rPr lang="en-US" sz="2400" dirty="0"/>
              <a:t>It is often designated, in genetic shorthand, as "+” or WT</a:t>
            </a:r>
          </a:p>
        </p:txBody>
      </p:sp>
      <p:grpSp>
        <p:nvGrpSpPr>
          <p:cNvPr id="19" name="Group 18"/>
          <p:cNvGrpSpPr/>
          <p:nvPr/>
        </p:nvGrpSpPr>
        <p:grpSpPr>
          <a:xfrm>
            <a:off x="1869600" y="3581400"/>
            <a:ext cx="2210400" cy="3188732"/>
            <a:chOff x="345600" y="3581400"/>
            <a:chExt cx="2210400" cy="3188732"/>
          </a:xfrm>
        </p:grpSpPr>
        <p:pic>
          <p:nvPicPr>
            <p:cNvPr id="4" name="Picture 3" descr="tiger_composite.jpg"/>
            <p:cNvPicPr>
              <a:picLocks noChangeAspect="1"/>
            </p:cNvPicPr>
            <p:nvPr/>
          </p:nvPicPr>
          <p:blipFill rotWithShape="1">
            <a:blip r:embed="rId2">
              <a:extLst>
                <a:ext uri="{28A0092B-C50C-407E-A947-70E740481C1C}">
                  <a14:useLocalDpi xmlns:a14="http://schemas.microsoft.com/office/drawing/2010/main" val="0"/>
                </a:ext>
              </a:extLst>
            </a:blip>
            <a:srcRect l="-417" r="73661"/>
            <a:stretch/>
          </p:blipFill>
          <p:spPr>
            <a:xfrm>
              <a:off x="345600" y="3581400"/>
              <a:ext cx="2210400" cy="2853774"/>
            </a:xfrm>
            <a:prstGeom prst="rect">
              <a:avLst/>
            </a:prstGeom>
          </p:spPr>
        </p:pic>
        <p:sp>
          <p:nvSpPr>
            <p:cNvPr id="11" name="TextBox 10"/>
            <p:cNvSpPr txBox="1"/>
            <p:nvPr/>
          </p:nvSpPr>
          <p:spPr>
            <a:xfrm>
              <a:off x="609600" y="6400800"/>
              <a:ext cx="1676400" cy="369332"/>
            </a:xfrm>
            <a:prstGeom prst="rect">
              <a:avLst/>
            </a:prstGeom>
            <a:noFill/>
          </p:spPr>
          <p:txBody>
            <a:bodyPr wrap="square" rtlCol="0">
              <a:spAutoFit/>
            </a:bodyPr>
            <a:lstStyle/>
            <a:p>
              <a:r>
                <a:rPr lang="en-US" dirty="0" err="1"/>
                <a:t>Wildtype</a:t>
              </a:r>
              <a:r>
                <a:rPr lang="en-US" dirty="0"/>
                <a:t> / +</a:t>
              </a:r>
            </a:p>
          </p:txBody>
        </p:sp>
      </p:grpSp>
      <p:grpSp>
        <p:nvGrpSpPr>
          <p:cNvPr id="22" name="Group 21"/>
          <p:cNvGrpSpPr/>
          <p:nvPr/>
        </p:nvGrpSpPr>
        <p:grpSpPr>
          <a:xfrm>
            <a:off x="4343400" y="3623226"/>
            <a:ext cx="6400800" cy="3146906"/>
            <a:chOff x="2819400" y="3623226"/>
            <a:chExt cx="6400800" cy="3146906"/>
          </a:xfrm>
        </p:grpSpPr>
        <p:pic>
          <p:nvPicPr>
            <p:cNvPr id="18" name="Picture 17" descr="tiger_composite.jpg"/>
            <p:cNvPicPr>
              <a:picLocks noChangeAspect="1"/>
            </p:cNvPicPr>
            <p:nvPr/>
          </p:nvPicPr>
          <p:blipFill rotWithShape="1">
            <a:blip r:embed="rId2">
              <a:extLst>
                <a:ext uri="{28A0092B-C50C-407E-A947-70E740481C1C}">
                  <a14:useLocalDpi xmlns:a14="http://schemas.microsoft.com/office/drawing/2010/main" val="0"/>
                </a:ext>
              </a:extLst>
            </a:blip>
            <a:srcRect l="26621" r="432"/>
            <a:stretch/>
          </p:blipFill>
          <p:spPr>
            <a:xfrm>
              <a:off x="2819400" y="3623226"/>
              <a:ext cx="6026400" cy="2853774"/>
            </a:xfrm>
            <a:prstGeom prst="rect">
              <a:avLst/>
            </a:prstGeom>
          </p:spPr>
        </p:pic>
        <p:sp>
          <p:nvSpPr>
            <p:cNvPr id="20" name="TextBox 19"/>
            <p:cNvSpPr txBox="1"/>
            <p:nvPr/>
          </p:nvSpPr>
          <p:spPr>
            <a:xfrm>
              <a:off x="3276600" y="6400800"/>
              <a:ext cx="2438400" cy="369332"/>
            </a:xfrm>
            <a:prstGeom prst="rect">
              <a:avLst/>
            </a:prstGeom>
            <a:noFill/>
          </p:spPr>
          <p:txBody>
            <a:bodyPr wrap="square" rtlCol="0">
              <a:spAutoFit/>
            </a:bodyPr>
            <a:lstStyle/>
            <a:p>
              <a:r>
                <a:rPr lang="en-US" dirty="0"/>
                <a:t>white tiger</a:t>
              </a:r>
            </a:p>
          </p:txBody>
        </p:sp>
        <p:sp>
          <p:nvSpPr>
            <p:cNvPr id="21" name="TextBox 20"/>
            <p:cNvSpPr txBox="1"/>
            <p:nvPr/>
          </p:nvSpPr>
          <p:spPr>
            <a:xfrm>
              <a:off x="6781800" y="6400800"/>
              <a:ext cx="2438400" cy="369332"/>
            </a:xfrm>
            <a:prstGeom prst="rect">
              <a:avLst/>
            </a:prstGeom>
            <a:noFill/>
          </p:spPr>
          <p:txBody>
            <a:bodyPr wrap="square" rtlCol="0">
              <a:spAutoFit/>
            </a:bodyPr>
            <a:lstStyle/>
            <a:p>
              <a:r>
                <a:rPr lang="en-US" dirty="0"/>
                <a:t>albino tiger</a:t>
              </a:r>
            </a:p>
          </p:txBody>
        </p:sp>
      </p:grpSp>
    </p:spTree>
    <p:extLst>
      <p:ext uri="{BB962C8B-B14F-4D97-AF65-F5344CB8AC3E}">
        <p14:creationId xmlns:p14="http://schemas.microsoft.com/office/powerpoint/2010/main" val="1899304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descr="Screen Shot 2015-01-07 at 7.24.57 AM.png"/>
          <p:cNvPicPr>
            <a:picLocks noChangeAspect="1"/>
          </p:cNvPicPr>
          <p:nvPr/>
        </p:nvPicPr>
        <p:blipFill rotWithShape="1">
          <a:blip r:embed="rId2">
            <a:extLst>
              <a:ext uri="{28A0092B-C50C-407E-A947-70E740481C1C}">
                <a14:useLocalDpi xmlns:a14="http://schemas.microsoft.com/office/drawing/2010/main" val="0"/>
              </a:ext>
            </a:extLst>
          </a:blip>
          <a:srcRect l="9418" t="14526" r="11719" b="16044"/>
          <a:stretch/>
        </p:blipFill>
        <p:spPr>
          <a:xfrm>
            <a:off x="1524000" y="152400"/>
            <a:ext cx="9552464" cy="5256600"/>
          </a:xfrm>
          <a:prstGeom prst="rect">
            <a:avLst/>
          </a:prstGeom>
        </p:spPr>
      </p:pic>
      <p:sp>
        <p:nvSpPr>
          <p:cNvPr id="4" name="Rectangle 3"/>
          <p:cNvSpPr/>
          <p:nvPr/>
        </p:nvSpPr>
        <p:spPr>
          <a:xfrm>
            <a:off x="1502834" y="5715000"/>
            <a:ext cx="9165167" cy="923330"/>
          </a:xfrm>
          <a:prstGeom prst="rect">
            <a:avLst/>
          </a:prstGeom>
        </p:spPr>
        <p:txBody>
          <a:bodyPr wrap="square">
            <a:spAutoFit/>
          </a:bodyPr>
          <a:lstStyle/>
          <a:p>
            <a:r>
              <a:rPr lang="en-US" dirty="0"/>
              <a:t>The gene variant found in the white tiger primarily inhibits the synthesis of red and yellow pigments but has little to no effect on black, which explains why white tigers still show characteristic dark stripes.</a:t>
            </a:r>
          </a:p>
        </p:txBody>
      </p:sp>
    </p:spTree>
    <p:extLst>
      <p:ext uri="{BB962C8B-B14F-4D97-AF65-F5344CB8AC3E}">
        <p14:creationId xmlns:p14="http://schemas.microsoft.com/office/powerpoint/2010/main" val="3128292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a:t>Symbols And Terminology</a:t>
            </a:r>
          </a:p>
        </p:txBody>
      </p:sp>
      <p:sp>
        <p:nvSpPr>
          <p:cNvPr id="32771" name="Content Placeholder 2"/>
          <p:cNvSpPr>
            <a:spLocks noGrp="1"/>
          </p:cNvSpPr>
          <p:nvPr>
            <p:ph idx="1"/>
          </p:nvPr>
        </p:nvSpPr>
        <p:spPr>
          <a:xfrm>
            <a:off x="2133600" y="1447801"/>
            <a:ext cx="8001000" cy="4525963"/>
          </a:xfrm>
        </p:spPr>
        <p:txBody>
          <a:bodyPr/>
          <a:lstStyle/>
          <a:p>
            <a:pPr eaLnBrk="1" hangingPunct="1">
              <a:buFont typeface="Arial" charset="0"/>
              <a:buNone/>
            </a:pPr>
            <a:r>
              <a:rPr lang="en-US" i="1" u="sng" dirty="0"/>
              <a:t>Wild type</a:t>
            </a:r>
            <a:r>
              <a:rPr lang="en-US" i="1" dirty="0"/>
              <a:t>- For a given pair of alternate trait that is more </a:t>
            </a:r>
            <a:r>
              <a:rPr lang="en-US" b="1" i="1" dirty="0"/>
              <a:t>frequent</a:t>
            </a:r>
            <a:r>
              <a:rPr lang="en-US" i="1" dirty="0"/>
              <a:t> in a population (+/+)</a:t>
            </a:r>
          </a:p>
          <a:p>
            <a:pPr eaLnBrk="1" hangingPunct="1">
              <a:buFont typeface="Arial" charset="0"/>
              <a:buNone/>
            </a:pPr>
            <a:endParaRPr lang="en-US" i="1" dirty="0"/>
          </a:p>
          <a:p>
            <a:pPr eaLnBrk="1" hangingPunct="1">
              <a:buFont typeface="Arial" charset="0"/>
              <a:buNone/>
            </a:pPr>
            <a:r>
              <a:rPr lang="en-US" i="1" u="sng" dirty="0"/>
              <a:t>Mutant</a:t>
            </a:r>
            <a:r>
              <a:rPr lang="en-US" i="1" dirty="0"/>
              <a:t>- Alternate form of trait </a:t>
            </a:r>
            <a:r>
              <a:rPr lang="en-US" b="1" i="1" dirty="0"/>
              <a:t>rare</a:t>
            </a:r>
            <a:r>
              <a:rPr lang="en-US" i="1" dirty="0"/>
              <a:t> in natural population.</a:t>
            </a:r>
          </a:p>
          <a:p>
            <a:pPr eaLnBrk="1" hangingPunct="1">
              <a:buFont typeface="Arial" charset="0"/>
              <a:buNone/>
            </a:pPr>
            <a:endParaRPr lang="en-US" i="1" dirty="0"/>
          </a:p>
          <a:p>
            <a:pPr eaLnBrk="1" hangingPunct="1">
              <a:buFont typeface="Arial" charset="0"/>
              <a:buNone/>
            </a:pPr>
            <a:r>
              <a:rPr lang="en-US" i="1" dirty="0"/>
              <a:t>	</a:t>
            </a:r>
            <a:r>
              <a:rPr lang="en-US" i="1" dirty="0" err="1"/>
              <a:t>i</a:t>
            </a:r>
            <a:r>
              <a:rPr lang="en-US" i="1" dirty="0"/>
              <a:t>) </a:t>
            </a:r>
            <a:r>
              <a:rPr lang="en-US" i="1" u="sng" dirty="0"/>
              <a:t>Dominant Allele</a:t>
            </a:r>
            <a:r>
              <a:rPr lang="en-US" i="1" dirty="0"/>
              <a:t>: Upper case letter (A)</a:t>
            </a:r>
          </a:p>
          <a:p>
            <a:pPr eaLnBrk="1" hangingPunct="1">
              <a:buFont typeface="Arial" charset="0"/>
              <a:buNone/>
            </a:pPr>
            <a:r>
              <a:rPr lang="en-US" i="1" dirty="0"/>
              <a:t>   ii) </a:t>
            </a:r>
            <a:r>
              <a:rPr lang="en-US" i="1" u="sng" dirty="0"/>
              <a:t>Recessive Allele</a:t>
            </a:r>
            <a:r>
              <a:rPr lang="en-US" i="1" dirty="0"/>
              <a:t>: Lower case letter (a)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32771">
                                            <p:txEl>
                                              <p:pRg st="2" end="2"/>
                                            </p:txEl>
                                          </p:spTgt>
                                        </p:tgtEl>
                                        <p:attrNameLst>
                                          <p:attrName>style.visibility</p:attrName>
                                        </p:attrNameLst>
                                      </p:cBhvr>
                                      <p:to>
                                        <p:strVal val="visible"/>
                                      </p:to>
                                    </p:set>
                                    <p:animEffect transition="in" filter="dissolve">
                                      <p:cBhvr>
                                        <p:cTn id="11" dur="500"/>
                                        <p:tgtEl>
                                          <p:spTgt spid="32771">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2771">
                                            <p:txEl>
                                              <p:pRg st="4" end="4"/>
                                            </p:txEl>
                                          </p:spTgt>
                                        </p:tgtEl>
                                        <p:attrNameLst>
                                          <p:attrName>style.visibility</p:attrName>
                                        </p:attrNameLst>
                                      </p:cBhvr>
                                      <p:to>
                                        <p:strVal val="visible"/>
                                      </p:to>
                                    </p:set>
                                    <p:animEffect transition="in" filter="dissolve">
                                      <p:cBhvr>
                                        <p:cTn id="16" dur="500"/>
                                        <p:tgtEl>
                                          <p:spTgt spid="32771">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2771">
                                            <p:txEl>
                                              <p:pRg st="5" end="5"/>
                                            </p:txEl>
                                          </p:spTgt>
                                        </p:tgtEl>
                                        <p:attrNameLst>
                                          <p:attrName>style.visibility</p:attrName>
                                        </p:attrNameLst>
                                      </p:cBhvr>
                                      <p:to>
                                        <p:strVal val="visible"/>
                                      </p:to>
                                    </p:set>
                                    <p:animEffect transition="in" filter="dissolve">
                                      <p:cBhvr>
                                        <p:cTn id="21" dur="500"/>
                                        <p:tgtEl>
                                          <p:spTgt spid="32771">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2771">
                                            <p:txEl>
                                              <p:pRg st="4" end="4"/>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327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6"/>
          <p:cNvSpPr>
            <a:spLocks noGrp="1"/>
          </p:cNvSpPr>
          <p:nvPr>
            <p:ph type="sldNum" sz="quarter" idx="12"/>
          </p:nvPr>
        </p:nvSpPr>
        <p:spPr/>
        <p:txBody>
          <a:bodyPr/>
          <a:lstStyle/>
          <a:p>
            <a:pPr>
              <a:defRPr/>
            </a:pPr>
            <a:fld id="{2D05221D-437B-443F-BDA1-19C9EEF09392}" type="slidenum">
              <a:rPr lang="x-none"/>
              <a:pPr>
                <a:defRPr/>
              </a:pPr>
              <a:t>9</a:t>
            </a:fld>
            <a:endParaRPr lang="en-US"/>
          </a:p>
        </p:txBody>
      </p:sp>
      <p:sp>
        <p:nvSpPr>
          <p:cNvPr id="3075" name="Rectangle 2"/>
          <p:cNvSpPr>
            <a:spLocks noGrp="1" noChangeArrowheads="1"/>
          </p:cNvSpPr>
          <p:nvPr>
            <p:ph type="title"/>
          </p:nvPr>
        </p:nvSpPr>
        <p:spPr>
          <a:xfrm>
            <a:off x="2057400" y="-152400"/>
            <a:ext cx="7772400" cy="1143000"/>
          </a:xfrm>
        </p:spPr>
        <p:txBody>
          <a:bodyPr rtlCol="0">
            <a:normAutofit/>
          </a:bodyPr>
          <a:lstStyle/>
          <a:p>
            <a:pPr>
              <a:defRPr/>
            </a:pPr>
            <a:r>
              <a:rPr lang="en-US" b="1" dirty="0">
                <a:solidFill>
                  <a:schemeClr val="tx2">
                    <a:lumMod val="75000"/>
                  </a:schemeClr>
                </a:solidFill>
                <a:latin typeface="Comic Sans MS" pitchFamily="66" charset="0"/>
              </a:rPr>
              <a:t>Genetic Locus</a:t>
            </a:r>
          </a:p>
        </p:txBody>
      </p:sp>
      <p:sp>
        <p:nvSpPr>
          <p:cNvPr id="3" name="Rectangle 2"/>
          <p:cNvSpPr/>
          <p:nvPr/>
        </p:nvSpPr>
        <p:spPr>
          <a:xfrm>
            <a:off x="1905000" y="990601"/>
            <a:ext cx="8382000" cy="954107"/>
          </a:xfrm>
          <a:prstGeom prst="rect">
            <a:avLst/>
          </a:prstGeom>
        </p:spPr>
        <p:txBody>
          <a:bodyPr wrap="square">
            <a:spAutoFit/>
          </a:bodyPr>
          <a:lstStyle/>
          <a:p>
            <a:r>
              <a:rPr lang="en-US" sz="2800" dirty="0"/>
              <a:t>A locus (plural loci) is the specific location of a gene, DNA sequence, or position on a chromosome</a:t>
            </a:r>
          </a:p>
        </p:txBody>
      </p:sp>
      <p:pic>
        <p:nvPicPr>
          <p:cNvPr id="7" name="Picture 6" descr="cytogenetic_bands.gif"/>
          <p:cNvPicPr>
            <a:picLocks noChangeAspect="1"/>
          </p:cNvPicPr>
          <p:nvPr/>
        </p:nvPicPr>
        <p:blipFill rotWithShape="1">
          <a:blip r:embed="rId3">
            <a:extLst>
              <a:ext uri="{28A0092B-C50C-407E-A947-70E740481C1C}">
                <a14:useLocalDpi xmlns:a14="http://schemas.microsoft.com/office/drawing/2010/main" val="0"/>
              </a:ext>
            </a:extLst>
          </a:blip>
          <a:srcRect t="12053" b="-12053"/>
          <a:stretch/>
        </p:blipFill>
        <p:spPr>
          <a:xfrm>
            <a:off x="5232480" y="1981200"/>
            <a:ext cx="5435521" cy="5080000"/>
          </a:xfrm>
          <a:prstGeom prst="rect">
            <a:avLst/>
          </a:prstGeom>
        </p:spPr>
      </p:pic>
      <p:pic>
        <p:nvPicPr>
          <p:cNvPr id="8" name="Picture 7" descr="Chromarms.gi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28800" y="2514600"/>
            <a:ext cx="2895600" cy="2895600"/>
          </a:xfrm>
          <a:prstGeom prst="rect">
            <a:avLst/>
          </a:prstGeom>
        </p:spPr>
      </p:pic>
    </p:spTree>
    <p:extLst>
      <p:ext uri="{BB962C8B-B14F-4D97-AF65-F5344CB8AC3E}">
        <p14:creationId xmlns:p14="http://schemas.microsoft.com/office/powerpoint/2010/main" val="4039050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6"/>
          <p:cNvSpPr>
            <a:spLocks noGrp="1"/>
          </p:cNvSpPr>
          <p:nvPr>
            <p:ph type="sldNum" sz="quarter" idx="12"/>
          </p:nvPr>
        </p:nvSpPr>
        <p:spPr/>
        <p:txBody>
          <a:bodyPr/>
          <a:lstStyle/>
          <a:p>
            <a:pPr>
              <a:defRPr/>
            </a:pPr>
            <a:fld id="{0DC434EB-7815-4952-8021-21AC38DA87E6}" type="slidenum">
              <a:rPr lang="x-none"/>
              <a:pPr>
                <a:defRPr/>
              </a:pPr>
              <a:t>10</a:t>
            </a:fld>
            <a:endParaRPr lang="en-US"/>
          </a:p>
        </p:txBody>
      </p:sp>
      <p:sp>
        <p:nvSpPr>
          <p:cNvPr id="4099" name="Rectangle 2"/>
          <p:cNvSpPr>
            <a:spLocks noGrp="1" noChangeArrowheads="1"/>
          </p:cNvSpPr>
          <p:nvPr>
            <p:ph type="title"/>
          </p:nvPr>
        </p:nvSpPr>
        <p:spPr>
          <a:xfrm>
            <a:off x="2209800" y="188913"/>
            <a:ext cx="7772400" cy="1143000"/>
          </a:xfrm>
        </p:spPr>
        <p:txBody>
          <a:bodyPr rtlCol="0">
            <a:normAutofit/>
          </a:bodyPr>
          <a:lstStyle/>
          <a:p>
            <a:pPr>
              <a:defRPr/>
            </a:pPr>
            <a:r>
              <a:rPr lang="en-US" sz="4000" b="1" dirty="0">
                <a:solidFill>
                  <a:schemeClr val="tx2">
                    <a:lumMod val="75000"/>
                  </a:schemeClr>
                </a:solidFill>
                <a:latin typeface="Comic Sans MS" pitchFamily="66" charset="0"/>
              </a:rPr>
              <a:t>Chromosome Logical Structure</a:t>
            </a:r>
          </a:p>
        </p:txBody>
      </p:sp>
      <p:sp>
        <p:nvSpPr>
          <p:cNvPr id="4100" name="Rectangle 3"/>
          <p:cNvSpPr>
            <a:spLocks noGrp="1" noChangeArrowheads="1"/>
          </p:cNvSpPr>
          <p:nvPr>
            <p:ph type="body" sz="half" idx="1"/>
          </p:nvPr>
        </p:nvSpPr>
        <p:spPr>
          <a:xfrm>
            <a:off x="1631950" y="1484314"/>
            <a:ext cx="6229350" cy="2333625"/>
          </a:xfrm>
        </p:spPr>
        <p:txBody>
          <a:bodyPr rtlCol="0">
            <a:normAutofit/>
          </a:bodyPr>
          <a:lstStyle/>
          <a:p>
            <a:pPr>
              <a:defRPr/>
            </a:pPr>
            <a:r>
              <a:rPr lang="en-US" b="1" dirty="0">
                <a:solidFill>
                  <a:schemeClr val="tx2">
                    <a:lumMod val="75000"/>
                  </a:schemeClr>
                </a:solidFill>
                <a:latin typeface="Comic Sans MS" pitchFamily="66" charset="0"/>
              </a:rPr>
              <a:t>Locus</a:t>
            </a:r>
            <a:r>
              <a:rPr lang="en-US" dirty="0">
                <a:solidFill>
                  <a:schemeClr val="tx2">
                    <a:lumMod val="75000"/>
                  </a:schemeClr>
                </a:solidFill>
                <a:latin typeface="Comic Sans MS" pitchFamily="66" charset="0"/>
              </a:rPr>
              <a:t> </a:t>
            </a:r>
            <a:r>
              <a:rPr lang="en-US" dirty="0">
                <a:latin typeface="Comic Sans MS" pitchFamily="66" charset="0"/>
              </a:rPr>
              <a:t>– location of a </a:t>
            </a:r>
            <a:r>
              <a:rPr lang="en-US" i="1" dirty="0">
                <a:latin typeface="Comic Sans MS" pitchFamily="66" charset="0"/>
              </a:rPr>
              <a:t>gene/marker</a:t>
            </a:r>
            <a:r>
              <a:rPr lang="en-US" dirty="0">
                <a:latin typeface="Comic Sans MS" pitchFamily="66" charset="0"/>
              </a:rPr>
              <a:t> on the chromosome.</a:t>
            </a:r>
          </a:p>
          <a:p>
            <a:pPr>
              <a:defRPr/>
            </a:pPr>
            <a:endParaRPr lang="en-US" dirty="0">
              <a:latin typeface="Comic Sans MS" pitchFamily="66" charset="0"/>
            </a:endParaRPr>
          </a:p>
          <a:p>
            <a:pPr>
              <a:defRPr/>
            </a:pPr>
            <a:r>
              <a:rPr lang="en-US" b="1" dirty="0">
                <a:solidFill>
                  <a:schemeClr val="tx2">
                    <a:lumMod val="75000"/>
                  </a:schemeClr>
                </a:solidFill>
                <a:latin typeface="Comic Sans MS" pitchFamily="66" charset="0"/>
              </a:rPr>
              <a:t>Allele</a:t>
            </a:r>
            <a:r>
              <a:rPr lang="en-US" dirty="0">
                <a:latin typeface="Comic Sans MS" pitchFamily="66" charset="0"/>
              </a:rPr>
              <a:t> –variants of a gene/marker at a particular </a:t>
            </a:r>
            <a:r>
              <a:rPr lang="en-US" i="1" dirty="0">
                <a:latin typeface="Comic Sans MS" pitchFamily="66" charset="0"/>
              </a:rPr>
              <a:t>locus</a:t>
            </a:r>
            <a:r>
              <a:rPr lang="en-US" dirty="0">
                <a:latin typeface="Comic Sans MS" pitchFamily="66" charset="0"/>
              </a:rPr>
              <a:t>.</a:t>
            </a:r>
            <a:endParaRPr lang="en-US" i="1" dirty="0">
              <a:latin typeface="Comic Sans MS" pitchFamily="66" charset="0"/>
            </a:endParaRPr>
          </a:p>
        </p:txBody>
      </p:sp>
      <p:grpSp>
        <p:nvGrpSpPr>
          <p:cNvPr id="2" name="Group 4"/>
          <p:cNvGrpSpPr>
            <a:grpSpLocks/>
          </p:cNvGrpSpPr>
          <p:nvPr/>
        </p:nvGrpSpPr>
        <p:grpSpPr bwMode="auto">
          <a:xfrm>
            <a:off x="4154489" y="2109788"/>
            <a:ext cx="6118225" cy="4343400"/>
            <a:chOff x="1474" y="1248"/>
            <a:chExt cx="3854" cy="2736"/>
          </a:xfrm>
        </p:grpSpPr>
        <p:pic>
          <p:nvPicPr>
            <p:cNvPr id="12294" name="Picture 5" descr="genes_2"/>
            <p:cNvPicPr>
              <a:picLocks noChangeAspect="1" noChangeArrowheads="1"/>
            </p:cNvPicPr>
            <p:nvPr/>
          </p:nvPicPr>
          <p:blipFill>
            <a:blip r:embed="rId3" cstate="print"/>
            <a:srcRect r="53334" b="24001"/>
            <a:stretch>
              <a:fillRect/>
            </a:stretch>
          </p:blipFill>
          <p:spPr bwMode="auto">
            <a:xfrm>
              <a:off x="4320" y="1248"/>
              <a:ext cx="1008" cy="2736"/>
            </a:xfrm>
            <a:prstGeom prst="rect">
              <a:avLst/>
            </a:prstGeom>
            <a:noFill/>
            <a:ln w="9525">
              <a:noFill/>
              <a:miter lim="800000"/>
              <a:headEnd/>
              <a:tailEnd/>
            </a:ln>
          </p:spPr>
        </p:pic>
        <p:sp>
          <p:nvSpPr>
            <p:cNvPr id="12295" name="AutoShape 6"/>
            <p:cNvSpPr>
              <a:spLocks noChangeArrowheads="1"/>
            </p:cNvSpPr>
            <p:nvPr/>
          </p:nvSpPr>
          <p:spPr bwMode="auto">
            <a:xfrm>
              <a:off x="1728" y="2640"/>
              <a:ext cx="2208" cy="480"/>
            </a:xfrm>
            <a:prstGeom prst="wedgeRoundRectCallout">
              <a:avLst>
                <a:gd name="adj1" fmla="val 67528"/>
                <a:gd name="adj2" fmla="val -191458"/>
                <a:gd name="adj3" fmla="val 16667"/>
              </a:avLst>
            </a:prstGeom>
            <a:solidFill>
              <a:srgbClr val="FFFF00"/>
            </a:solidFill>
            <a:ln w="28575">
              <a:solidFill>
                <a:schemeClr val="tx1"/>
              </a:solidFill>
              <a:miter lim="800000"/>
              <a:headEnd/>
              <a:tailEnd/>
            </a:ln>
          </p:spPr>
          <p:txBody>
            <a:bodyPr/>
            <a:lstStyle/>
            <a:p>
              <a:pPr rtl="1"/>
              <a:r>
                <a:rPr lang="en-US" sz="2000" b="1">
                  <a:latin typeface="Calibri" pitchFamily="34" charset="0"/>
                </a:rPr>
                <a:t>Locus1</a:t>
              </a:r>
            </a:p>
            <a:p>
              <a:r>
                <a:rPr lang="en-US" sz="2000" b="1">
                  <a:latin typeface="Calibri" pitchFamily="34" charset="0"/>
                </a:rPr>
                <a:t>Possible Alleles: A1,A2</a:t>
              </a:r>
            </a:p>
            <a:p>
              <a:pPr algn="ctr" rtl="1"/>
              <a:endParaRPr lang="en-US" sz="2000" b="1">
                <a:latin typeface="Calibri" pitchFamily="34" charset="0"/>
              </a:endParaRPr>
            </a:p>
          </p:txBody>
        </p:sp>
        <p:sp>
          <p:nvSpPr>
            <p:cNvPr id="12296" name="AutoShape 7"/>
            <p:cNvSpPr>
              <a:spLocks noChangeArrowheads="1"/>
            </p:cNvSpPr>
            <p:nvPr/>
          </p:nvSpPr>
          <p:spPr bwMode="auto">
            <a:xfrm>
              <a:off x="1474" y="3408"/>
              <a:ext cx="2462" cy="480"/>
            </a:xfrm>
            <a:prstGeom prst="wedgeRoundRectCallout">
              <a:avLst>
                <a:gd name="adj1" fmla="val 65718"/>
                <a:gd name="adj2" fmla="val -112708"/>
                <a:gd name="adj3" fmla="val 16667"/>
              </a:avLst>
            </a:prstGeom>
            <a:solidFill>
              <a:srgbClr val="FFFF00"/>
            </a:solidFill>
            <a:ln w="28575">
              <a:solidFill>
                <a:schemeClr val="tx1"/>
              </a:solidFill>
              <a:miter lim="800000"/>
              <a:headEnd/>
              <a:tailEnd/>
            </a:ln>
          </p:spPr>
          <p:txBody>
            <a:bodyPr/>
            <a:lstStyle/>
            <a:p>
              <a:pPr rtl="1"/>
              <a:r>
                <a:rPr lang="en-US" sz="2000" b="1">
                  <a:latin typeface="Calibri" pitchFamily="34" charset="0"/>
                </a:rPr>
                <a:t>Locus2</a:t>
              </a:r>
            </a:p>
            <a:p>
              <a:r>
                <a:rPr lang="en-US" sz="2000" b="1">
                  <a:latin typeface="Calibri" pitchFamily="34" charset="0"/>
                </a:rPr>
                <a:t>Possible Alleles: B1,B2,B3</a:t>
              </a:r>
            </a:p>
          </p:txBody>
        </p:sp>
      </p:grpSp>
    </p:spTree>
    <p:extLst>
      <p:ext uri="{BB962C8B-B14F-4D97-AF65-F5344CB8AC3E}">
        <p14:creationId xmlns:p14="http://schemas.microsoft.com/office/powerpoint/2010/main" val="270264001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Alleles</a:t>
            </a:r>
          </a:p>
        </p:txBody>
      </p:sp>
      <p:sp>
        <p:nvSpPr>
          <p:cNvPr id="3" name="Content Placeholder 2"/>
          <p:cNvSpPr>
            <a:spLocks noGrp="1"/>
          </p:cNvSpPr>
          <p:nvPr>
            <p:ph idx="1"/>
          </p:nvPr>
        </p:nvSpPr>
        <p:spPr/>
        <p:txBody>
          <a:bodyPr/>
          <a:lstStyle/>
          <a:p>
            <a:r>
              <a:rPr lang="en-US" dirty="0"/>
              <a:t>ABO locus -  chromosome 9, </a:t>
            </a:r>
          </a:p>
          <a:p>
            <a:r>
              <a:rPr lang="en-US" dirty="0"/>
              <a:t>Contains seven exons that span more than 18 kb of genomic DNA.</a:t>
            </a:r>
          </a:p>
          <a:p>
            <a:r>
              <a:rPr lang="en-US" dirty="0"/>
              <a:t> The ABO locus has three main allelic forms: A, B, and O.</a:t>
            </a:r>
          </a:p>
        </p:txBody>
      </p:sp>
    </p:spTree>
    <p:extLst>
      <p:ext uri="{BB962C8B-B14F-4D97-AF65-F5344CB8AC3E}">
        <p14:creationId xmlns:p14="http://schemas.microsoft.com/office/powerpoint/2010/main" val="3328336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ABO system</a:t>
            </a:r>
          </a:p>
        </p:txBody>
      </p:sp>
      <p:sp>
        <p:nvSpPr>
          <p:cNvPr id="3" name="Content Placeholder 2"/>
          <p:cNvSpPr>
            <a:spLocks noGrp="1"/>
          </p:cNvSpPr>
          <p:nvPr>
            <p:ph idx="1"/>
          </p:nvPr>
        </p:nvSpPr>
        <p:spPr/>
        <p:txBody>
          <a:bodyPr/>
          <a:lstStyle/>
          <a:p>
            <a:r>
              <a:rPr lang="en-US" dirty="0"/>
              <a:t>ABO gene encodes an enzyme </a:t>
            </a:r>
            <a:r>
              <a:rPr lang="en-US" i="1" dirty="0" err="1"/>
              <a:t>glycosyl</a:t>
            </a:r>
            <a:r>
              <a:rPr lang="en-US" i="1" dirty="0"/>
              <a:t> </a:t>
            </a:r>
            <a:r>
              <a:rPr lang="en-US" i="1" dirty="0" err="1"/>
              <a:t>transferase</a:t>
            </a:r>
            <a:r>
              <a:rPr lang="en-US" i="1" dirty="0"/>
              <a:t>.</a:t>
            </a:r>
          </a:p>
          <a:p>
            <a:r>
              <a:rPr lang="en-US" dirty="0"/>
              <a:t>Modifies the oligosaccharide on cell surface glycoprotein</a:t>
            </a:r>
          </a:p>
          <a:p>
            <a:r>
              <a:rPr lang="en-US" i="1" dirty="0"/>
              <a:t>A</a:t>
            </a:r>
            <a:r>
              <a:rPr lang="en-US" dirty="0"/>
              <a:t> allele adds N-acetyl </a:t>
            </a:r>
            <a:r>
              <a:rPr lang="en-US" dirty="0" err="1"/>
              <a:t>galactosamine</a:t>
            </a:r>
            <a:endParaRPr lang="en-US" dirty="0"/>
          </a:p>
          <a:p>
            <a:r>
              <a:rPr lang="en-US" i="1" dirty="0"/>
              <a:t>B</a:t>
            </a:r>
            <a:r>
              <a:rPr lang="en-US" dirty="0"/>
              <a:t> allele adds </a:t>
            </a:r>
            <a:r>
              <a:rPr lang="en-US" dirty="0" err="1"/>
              <a:t>galactose</a:t>
            </a:r>
            <a:endParaRPr lang="en-US" dirty="0"/>
          </a:p>
          <a:p>
            <a:r>
              <a:rPr lang="en-US" i="1" dirty="0"/>
              <a:t>o</a:t>
            </a:r>
            <a:r>
              <a:rPr lang="en-US" dirty="0"/>
              <a:t> allele is deletion which lacks the </a:t>
            </a:r>
            <a:r>
              <a:rPr lang="en-US" dirty="0" err="1"/>
              <a:t>glycosyl</a:t>
            </a:r>
            <a:r>
              <a:rPr lang="en-US" dirty="0"/>
              <a:t> </a:t>
            </a:r>
            <a:r>
              <a:rPr lang="en-US" dirty="0" err="1"/>
              <a:t>transferase</a:t>
            </a:r>
            <a:r>
              <a:rPr lang="en-US" dirty="0"/>
              <a:t> activity.</a:t>
            </a:r>
          </a:p>
        </p:txBody>
      </p:sp>
    </p:spTree>
    <p:extLst>
      <p:ext uri="{BB962C8B-B14F-4D97-AF65-F5344CB8AC3E}">
        <p14:creationId xmlns:p14="http://schemas.microsoft.com/office/powerpoint/2010/main" val="708265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6200"/>
            <a:ext cx="8229600" cy="1143000"/>
          </a:xfrm>
        </p:spPr>
        <p:txBody>
          <a:bodyPr/>
          <a:lstStyle/>
          <a:p>
            <a:r>
              <a:rPr lang="en-US" dirty="0"/>
              <a:t>Differences between Gene &amp; Allele</a:t>
            </a:r>
          </a:p>
        </p:txBody>
      </p:sp>
      <p:sp>
        <p:nvSpPr>
          <p:cNvPr id="3" name="Rectangle 2"/>
          <p:cNvSpPr/>
          <p:nvPr/>
        </p:nvSpPr>
        <p:spPr>
          <a:xfrm>
            <a:off x="2133600" y="1295400"/>
            <a:ext cx="8153400" cy="4154984"/>
          </a:xfrm>
          <a:prstGeom prst="rect">
            <a:avLst/>
          </a:prstGeom>
        </p:spPr>
        <p:txBody>
          <a:bodyPr wrap="square">
            <a:spAutoFit/>
          </a:bodyPr>
          <a:lstStyle/>
          <a:p>
            <a:pPr marL="342900" indent="-342900">
              <a:buFont typeface="Arial"/>
              <a:buChar char="•"/>
            </a:pPr>
            <a:r>
              <a:rPr lang="en-US" sz="2400" dirty="0"/>
              <a:t>Genes are something we inherit from our parents. While Alleles determine how they are expressed in an individual.</a:t>
            </a:r>
          </a:p>
          <a:p>
            <a:pPr marL="342900" indent="-342900">
              <a:buFont typeface="Arial"/>
              <a:buChar char="•"/>
            </a:pPr>
            <a:endParaRPr lang="en-US" sz="2400" dirty="0"/>
          </a:p>
          <a:p>
            <a:pPr marL="342900" indent="-342900">
              <a:buFont typeface="Arial"/>
              <a:buChar char="•"/>
            </a:pPr>
            <a:r>
              <a:rPr lang="en-US" sz="2400" dirty="0"/>
              <a:t> Alleles occur in pairs but there is no such pairing for genes.</a:t>
            </a:r>
          </a:p>
          <a:p>
            <a:pPr marL="342900" indent="-342900">
              <a:buFont typeface="Arial"/>
              <a:buChar char="•"/>
            </a:pPr>
            <a:endParaRPr lang="en-US" sz="2400" dirty="0"/>
          </a:p>
          <a:p>
            <a:pPr marL="342900" indent="-342900">
              <a:buFont typeface="Arial"/>
              <a:buChar char="•"/>
            </a:pPr>
            <a:endParaRPr lang="en-US" sz="2400" dirty="0"/>
          </a:p>
          <a:p>
            <a:pPr marL="342900" indent="-342900">
              <a:buFont typeface="Arial"/>
              <a:buChar char="•"/>
            </a:pPr>
            <a:r>
              <a:rPr lang="en-US" sz="2400" dirty="0"/>
              <a:t>Alleles determine the traits we inherit.</a:t>
            </a:r>
          </a:p>
          <a:p>
            <a:pPr marL="342900" indent="-342900">
              <a:buFont typeface="Arial"/>
              <a:buChar char="•"/>
            </a:pPr>
            <a:endParaRPr lang="en-US" sz="2400" dirty="0"/>
          </a:p>
          <a:p>
            <a:pPr marL="342900" indent="-342900">
              <a:buFont typeface="Arial"/>
              <a:buChar char="•"/>
            </a:pPr>
            <a:r>
              <a:rPr lang="en-US" sz="2400" dirty="0"/>
              <a:t>The genes we inherit are the same for all humans. However, how these manifest themselves is actually determined by alleles!</a:t>
            </a:r>
          </a:p>
        </p:txBody>
      </p:sp>
    </p:spTree>
    <p:extLst>
      <p:ext uri="{BB962C8B-B14F-4D97-AF65-F5344CB8AC3E}">
        <p14:creationId xmlns:p14="http://schemas.microsoft.com/office/powerpoint/2010/main" val="348113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3" name="Picture 4" descr="08-17ab_MutationTypes_1.jpg                                    000163BEMacintosh HD                   ABA78158:"/>
          <p:cNvPicPr preferRelativeResize="0">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438400" y="1589"/>
            <a:ext cx="7391400" cy="6854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extBox 1"/>
          <p:cNvSpPr txBox="1"/>
          <p:nvPr/>
        </p:nvSpPr>
        <p:spPr>
          <a:xfrm>
            <a:off x="1676400" y="0"/>
            <a:ext cx="1066800" cy="369332"/>
          </a:xfrm>
          <a:prstGeom prst="rect">
            <a:avLst/>
          </a:prstGeom>
          <a:noFill/>
        </p:spPr>
        <p:txBody>
          <a:bodyPr wrap="square" rtlCol="0">
            <a:spAutoFit/>
          </a:bodyPr>
          <a:lstStyle/>
          <a:p>
            <a:r>
              <a:rPr lang="en-US" b="1" u="sng" dirty="0"/>
              <a:t>GENE</a:t>
            </a:r>
          </a:p>
        </p:txBody>
      </p:sp>
      <p:sp>
        <p:nvSpPr>
          <p:cNvPr id="3" name="Rectangle 2"/>
          <p:cNvSpPr/>
          <p:nvPr/>
        </p:nvSpPr>
        <p:spPr>
          <a:xfrm>
            <a:off x="2362200" y="6248400"/>
            <a:ext cx="2667000" cy="3810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Box 3"/>
          <p:cNvSpPr txBox="1"/>
          <p:nvPr/>
        </p:nvSpPr>
        <p:spPr>
          <a:xfrm>
            <a:off x="1752600" y="3962400"/>
            <a:ext cx="1219200" cy="369332"/>
          </a:xfrm>
          <a:prstGeom prst="rect">
            <a:avLst/>
          </a:prstGeom>
          <a:noFill/>
        </p:spPr>
        <p:txBody>
          <a:bodyPr wrap="square" rtlCol="0">
            <a:spAutoFit/>
          </a:bodyPr>
          <a:lstStyle/>
          <a:p>
            <a:r>
              <a:rPr lang="en-US" b="1" u="sng" dirty="0"/>
              <a:t>Allele</a:t>
            </a:r>
          </a:p>
        </p:txBody>
      </p:sp>
    </p:spTree>
    <p:extLst>
      <p:ext uri="{BB962C8B-B14F-4D97-AF65-F5344CB8AC3E}">
        <p14:creationId xmlns:p14="http://schemas.microsoft.com/office/powerpoint/2010/main" val="2357160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p>
        </p:txBody>
      </p:sp>
      <p:sp>
        <p:nvSpPr>
          <p:cNvPr id="3" name="Content Placeholder 2"/>
          <p:cNvSpPr>
            <a:spLocks noGrp="1"/>
          </p:cNvSpPr>
          <p:nvPr>
            <p:ph idx="1"/>
          </p:nvPr>
        </p:nvSpPr>
        <p:spPr>
          <a:xfrm>
            <a:off x="1981200" y="2636838"/>
            <a:ext cx="8229600" cy="4525963"/>
          </a:xfrm>
        </p:spPr>
        <p:txBody>
          <a:bodyPr/>
          <a:lstStyle/>
          <a:p>
            <a:pPr algn="ctr"/>
            <a:r>
              <a:rPr lang="en-US" sz="4800" dirty="0"/>
              <a:t>How will you determine if a trait is dominant or recessive in </a:t>
            </a:r>
            <a:r>
              <a:rPr lang="en-US" sz="4800"/>
              <a:t>a population?</a:t>
            </a:r>
            <a:endParaRPr lang="en-US" sz="4800" dirty="0"/>
          </a:p>
        </p:txBody>
      </p:sp>
    </p:spTree>
    <p:extLst>
      <p:ext uri="{BB962C8B-B14F-4D97-AF65-F5344CB8AC3E}">
        <p14:creationId xmlns:p14="http://schemas.microsoft.com/office/powerpoint/2010/main" val="35679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auto">
          <a:xfrm>
            <a:off x="1981200" y="2895600"/>
            <a:ext cx="8229600" cy="1143000"/>
          </a:xfrm>
          <a:prstGeom prst="rect">
            <a:avLst/>
          </a:prstGeom>
          <a:noFill/>
          <a:ln w="9525">
            <a:noFill/>
            <a:miter lim="800000"/>
            <a:headEnd/>
            <a:tailEnd/>
          </a:ln>
        </p:spPr>
        <p:txBody>
          <a:bodyPr anchor="ctr">
            <a:normAutofit/>
          </a:bodyPr>
          <a:lstStyle/>
          <a:p>
            <a:pPr algn="ctr">
              <a:defRPr/>
            </a:pPr>
            <a:r>
              <a:rPr lang="en-US" sz="4400" b="1" dirty="0" err="1">
                <a:solidFill>
                  <a:schemeClr val="tx2">
                    <a:lumMod val="75000"/>
                  </a:schemeClr>
                </a:solidFill>
                <a:latin typeface="Comic Sans MS" pitchFamily="66" charset="0"/>
                <a:ea typeface="+mj-ea"/>
                <a:cs typeface="+mj-cs"/>
              </a:rPr>
              <a:t>Mendelian</a:t>
            </a:r>
            <a:r>
              <a:rPr lang="en-US" sz="4400" b="1" dirty="0">
                <a:solidFill>
                  <a:schemeClr val="tx2">
                    <a:lumMod val="75000"/>
                  </a:schemeClr>
                </a:solidFill>
                <a:latin typeface="Comic Sans MS" pitchFamily="66" charset="0"/>
                <a:ea typeface="+mj-ea"/>
                <a:cs typeface="+mj-cs"/>
              </a:rPr>
              <a:t> Inheritance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a:latin typeface="Comic Sans MS" pitchFamily="66" charset="0"/>
              </a:rPr>
              <a:t>Birth of Genetics</a:t>
            </a:r>
          </a:p>
        </p:txBody>
      </p:sp>
      <p:sp>
        <p:nvSpPr>
          <p:cNvPr id="3" name="TextBox 2"/>
          <p:cNvSpPr txBox="1">
            <a:spLocks noChangeArrowheads="1"/>
          </p:cNvSpPr>
          <p:nvPr/>
        </p:nvSpPr>
        <p:spPr bwMode="auto">
          <a:xfrm>
            <a:off x="2209800" y="1676400"/>
            <a:ext cx="7696200" cy="4339650"/>
          </a:xfrm>
          <a:prstGeom prst="rect">
            <a:avLst/>
          </a:prstGeom>
          <a:noFill/>
          <a:ln w="9525">
            <a:noFill/>
            <a:miter lim="800000"/>
            <a:headEnd/>
            <a:tailEnd/>
          </a:ln>
        </p:spPr>
        <p:txBody>
          <a:bodyPr>
            <a:spAutoFit/>
          </a:bodyPr>
          <a:lstStyle/>
          <a:p>
            <a:pPr marL="342900" indent="-342900">
              <a:buFont typeface="Wingdings" charset="2"/>
              <a:buChar char="Ø"/>
            </a:pPr>
            <a:r>
              <a:rPr lang="en-US" sz="2400" dirty="0" err="1"/>
              <a:t>Gregor</a:t>
            </a:r>
            <a:r>
              <a:rPr lang="en-US" sz="2400" dirty="0"/>
              <a:t> Mendel was not the first to perform hybridization </a:t>
            </a:r>
            <a:r>
              <a:rPr lang="en-US" sz="2400" dirty="0" err="1"/>
              <a:t>expts</a:t>
            </a:r>
            <a:r>
              <a:rPr lang="en-US" sz="2400" dirty="0"/>
              <a:t> but he </a:t>
            </a:r>
            <a:r>
              <a:rPr lang="en-US" sz="2400" b="1" dirty="0"/>
              <a:t>uniquely studied the results in terms of single traits</a:t>
            </a:r>
          </a:p>
          <a:p>
            <a:pPr marL="342900" indent="-342900">
              <a:buFont typeface="Wingdings" charset="2"/>
              <a:buChar char="Ø"/>
            </a:pPr>
            <a:endParaRPr lang="en-US" sz="2000" dirty="0"/>
          </a:p>
          <a:p>
            <a:pPr marL="342900" indent="-342900">
              <a:buFont typeface="Wingdings" charset="2"/>
              <a:buChar char="Ø"/>
            </a:pPr>
            <a:r>
              <a:rPr lang="en-US" sz="2400" dirty="0"/>
              <a:t>Mendel’s predecessors considered the whole organism </a:t>
            </a:r>
            <a:r>
              <a:rPr lang="en-US" sz="2400" b="1" dirty="0"/>
              <a:t>resulting in complex of traits that was difficult to interpret.</a:t>
            </a:r>
          </a:p>
          <a:p>
            <a:pPr marL="342900" indent="-342900">
              <a:buFont typeface="Wingdings" charset="2"/>
              <a:buChar char="Ø"/>
            </a:pPr>
            <a:endParaRPr lang="en-US" sz="2000" dirty="0"/>
          </a:p>
          <a:p>
            <a:pPr marL="342900" indent="-342900">
              <a:buFont typeface="Wingdings" charset="2"/>
              <a:buChar char="Ø"/>
            </a:pPr>
            <a:endParaRPr lang="en-US" sz="2000" dirty="0"/>
          </a:p>
          <a:p>
            <a:pPr marL="342900" indent="-342900">
              <a:buFont typeface="Wingdings" charset="2"/>
              <a:buChar char="Ø"/>
            </a:pPr>
            <a:r>
              <a:rPr lang="en-US" sz="2400" dirty="0"/>
              <a:t>Mendel’s work got recognition in 1900 when three botanists</a:t>
            </a:r>
            <a:r>
              <a:rPr lang="en-US" sz="2400" b="1" dirty="0"/>
              <a:t>, Hugo De </a:t>
            </a:r>
            <a:r>
              <a:rPr lang="en-US" sz="2400" b="1" dirty="0" err="1"/>
              <a:t>Vries</a:t>
            </a:r>
            <a:r>
              <a:rPr lang="en-US" sz="2400" b="1" dirty="0"/>
              <a:t>,  Carl </a:t>
            </a:r>
            <a:r>
              <a:rPr lang="en-US" sz="2400" b="1" dirty="0" err="1"/>
              <a:t>Corens</a:t>
            </a:r>
            <a:r>
              <a:rPr lang="en-US" sz="2400" b="1" dirty="0"/>
              <a:t> and </a:t>
            </a:r>
            <a:r>
              <a:rPr lang="en-US" sz="2400" b="1" dirty="0" err="1"/>
              <a:t>Tschermak</a:t>
            </a:r>
            <a:r>
              <a:rPr lang="en-US" sz="2400" b="1" dirty="0"/>
              <a:t> r</a:t>
            </a:r>
            <a:r>
              <a:rPr lang="en-US" sz="2400" dirty="0"/>
              <a:t>ediscovered Mendel’s principle of inheritance.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dissolve">
                                      <p:cBhvr>
                                        <p:cTn id="11" dur="500"/>
                                        <p:tgtEl>
                                          <p:spTgt spid="3">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dissolve">
                                      <p:cBhvr>
                                        <p:cTn id="1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b="1" dirty="0">
                <a:solidFill>
                  <a:schemeClr val="tx2">
                    <a:lumMod val="75000"/>
                  </a:schemeClr>
                </a:solidFill>
                <a:latin typeface="Comic Sans MS" pitchFamily="66" charset="0"/>
              </a:rPr>
              <a:t>Traits Analyzed by Mendel</a:t>
            </a:r>
          </a:p>
        </p:txBody>
      </p:sp>
      <p:sp>
        <p:nvSpPr>
          <p:cNvPr id="3" name="Content Placeholder 2"/>
          <p:cNvSpPr>
            <a:spLocks noGrp="1"/>
          </p:cNvSpPr>
          <p:nvPr>
            <p:ph idx="1"/>
          </p:nvPr>
        </p:nvSpPr>
        <p:spPr/>
        <p:txBody>
          <a:bodyPr rtlCol="0">
            <a:normAutofit fontScale="92500" lnSpcReduction="10000"/>
          </a:bodyPr>
          <a:lstStyle/>
          <a:p>
            <a:pPr>
              <a:defRPr/>
            </a:pPr>
            <a:r>
              <a:rPr lang="en-US" dirty="0"/>
              <a:t>Mendel observed seven pea plant traits that are easily recognized in one of two forms:  </a:t>
            </a:r>
          </a:p>
          <a:p>
            <a:pPr>
              <a:buNone/>
              <a:defRPr/>
            </a:pPr>
            <a:r>
              <a:rPr lang="en-US" dirty="0"/>
              <a:t> </a:t>
            </a:r>
          </a:p>
          <a:p>
            <a:pPr>
              <a:buNone/>
              <a:defRPr/>
            </a:pPr>
            <a:r>
              <a:rPr lang="en-US" dirty="0"/>
              <a:t>1.        </a:t>
            </a:r>
            <a:r>
              <a:rPr lang="en-US" b="1" dirty="0"/>
              <a:t>Flower color</a:t>
            </a:r>
            <a:r>
              <a:rPr lang="en-US" dirty="0"/>
              <a:t>: purple or white </a:t>
            </a:r>
          </a:p>
          <a:p>
            <a:pPr>
              <a:buNone/>
              <a:defRPr/>
            </a:pPr>
            <a:r>
              <a:rPr lang="en-US" dirty="0"/>
              <a:t>2.        </a:t>
            </a:r>
            <a:r>
              <a:rPr lang="en-US" b="1" dirty="0"/>
              <a:t>Flower position</a:t>
            </a:r>
            <a:r>
              <a:rPr lang="en-US" dirty="0"/>
              <a:t>: axial or terminal </a:t>
            </a:r>
          </a:p>
          <a:p>
            <a:pPr>
              <a:buNone/>
              <a:defRPr/>
            </a:pPr>
            <a:r>
              <a:rPr lang="en-US" dirty="0"/>
              <a:t>3.        </a:t>
            </a:r>
            <a:r>
              <a:rPr lang="en-US" b="1" dirty="0"/>
              <a:t>Stem length</a:t>
            </a:r>
            <a:r>
              <a:rPr lang="en-US" dirty="0"/>
              <a:t>: long or short </a:t>
            </a:r>
          </a:p>
          <a:p>
            <a:pPr>
              <a:buNone/>
              <a:defRPr/>
            </a:pPr>
            <a:r>
              <a:rPr lang="en-US" dirty="0"/>
              <a:t>4.        </a:t>
            </a:r>
            <a:r>
              <a:rPr lang="en-US" b="1" dirty="0"/>
              <a:t>Seed shape</a:t>
            </a:r>
            <a:r>
              <a:rPr lang="en-US" dirty="0"/>
              <a:t>: round or wrinkled </a:t>
            </a:r>
          </a:p>
          <a:p>
            <a:pPr>
              <a:buNone/>
              <a:defRPr/>
            </a:pPr>
            <a:r>
              <a:rPr lang="en-US" dirty="0"/>
              <a:t>5.        </a:t>
            </a:r>
            <a:r>
              <a:rPr lang="en-US" b="1" dirty="0"/>
              <a:t>Seed color</a:t>
            </a:r>
            <a:r>
              <a:rPr lang="en-US" dirty="0"/>
              <a:t>: yellow or green </a:t>
            </a:r>
          </a:p>
          <a:p>
            <a:pPr>
              <a:buNone/>
              <a:defRPr/>
            </a:pPr>
            <a:r>
              <a:rPr lang="en-US" dirty="0"/>
              <a:t>6.        </a:t>
            </a:r>
            <a:r>
              <a:rPr lang="en-US" b="1" dirty="0"/>
              <a:t>Pod shape</a:t>
            </a:r>
            <a:r>
              <a:rPr lang="en-US" dirty="0"/>
              <a:t>: inflated or constricted </a:t>
            </a:r>
          </a:p>
          <a:p>
            <a:pPr>
              <a:buNone/>
              <a:defRPr/>
            </a:pPr>
            <a:r>
              <a:rPr lang="en-US" dirty="0"/>
              <a:t>7.        </a:t>
            </a:r>
            <a:r>
              <a:rPr lang="en-US" b="1" dirty="0"/>
              <a:t>Pod color</a:t>
            </a:r>
            <a:r>
              <a:rPr lang="en-US" dirty="0"/>
              <a:t>: yellow or green </a:t>
            </a:r>
          </a:p>
          <a:p>
            <a:pPr>
              <a:defRPr/>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b="1" dirty="0" err="1">
                <a:solidFill>
                  <a:schemeClr val="tx2">
                    <a:lumMod val="75000"/>
                  </a:schemeClr>
                </a:solidFill>
                <a:latin typeface="Comic Sans MS" pitchFamily="66" charset="0"/>
              </a:rPr>
              <a:t>Mendelian</a:t>
            </a:r>
            <a:r>
              <a:rPr lang="en-US" b="1" dirty="0">
                <a:solidFill>
                  <a:schemeClr val="tx2">
                    <a:lumMod val="75000"/>
                  </a:schemeClr>
                </a:solidFill>
                <a:latin typeface="Comic Sans MS" pitchFamily="66" charset="0"/>
              </a:rPr>
              <a:t> Inheritance</a:t>
            </a:r>
          </a:p>
        </p:txBody>
      </p:sp>
      <p:sp>
        <p:nvSpPr>
          <p:cNvPr id="17411" name="Content Placeholder 2"/>
          <p:cNvSpPr>
            <a:spLocks noGrp="1"/>
          </p:cNvSpPr>
          <p:nvPr>
            <p:ph idx="1"/>
          </p:nvPr>
        </p:nvSpPr>
        <p:spPr/>
        <p:txBody>
          <a:bodyPr/>
          <a:lstStyle/>
          <a:p>
            <a:pPr eaLnBrk="1" hangingPunct="1"/>
            <a:r>
              <a:rPr lang="en-US"/>
              <a:t>The </a:t>
            </a:r>
            <a:r>
              <a:rPr lang="en-US" b="1" u="sng"/>
              <a:t>laws of inheritance </a:t>
            </a:r>
            <a:r>
              <a:rPr lang="en-US"/>
              <a:t>were derived in 19th century by </a:t>
            </a:r>
            <a:r>
              <a:rPr lang="en-US" b="1" u="sng"/>
              <a:t>Johann Gregor Mendel</a:t>
            </a:r>
            <a:r>
              <a:rPr lang="en-US"/>
              <a:t>, a monk conducting hybridization experiments in </a:t>
            </a:r>
            <a:r>
              <a:rPr lang="en-US" b="1" u="sng"/>
              <a:t>garden peas (</a:t>
            </a:r>
            <a:r>
              <a:rPr lang="en-US" b="1" i="1" u="sng"/>
              <a:t>Pisum sativum</a:t>
            </a:r>
            <a:r>
              <a:rPr lang="en-US" b="1" u="sng"/>
              <a:t>)</a:t>
            </a:r>
          </a:p>
          <a:p>
            <a:pPr eaLnBrk="1" hangingPunct="1"/>
            <a:endParaRPr lang="en-US" b="1"/>
          </a:p>
          <a:p>
            <a:pPr eaLnBrk="1" hangingPunct="1"/>
            <a:r>
              <a:rPr lang="en-US" b="1"/>
              <a:t>Law of Segregation</a:t>
            </a:r>
          </a:p>
          <a:p>
            <a:pPr eaLnBrk="1" hangingPunct="1"/>
            <a:r>
              <a:rPr lang="en-US" b="1"/>
              <a:t>Law of Independent Assortment </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6"/>
          <p:cNvSpPr>
            <a:spLocks noGrp="1"/>
          </p:cNvSpPr>
          <p:nvPr>
            <p:ph type="sldNum" sz="quarter" idx="12"/>
          </p:nvPr>
        </p:nvSpPr>
        <p:spPr/>
        <p:txBody>
          <a:bodyPr/>
          <a:lstStyle/>
          <a:p>
            <a:pPr>
              <a:defRPr/>
            </a:pPr>
            <a:fld id="{791BCBA4-AF20-42C4-BCF1-30A10B7E253A}" type="slidenum">
              <a:rPr lang="x-none"/>
              <a:pPr>
                <a:defRPr/>
              </a:pPr>
              <a:t>20</a:t>
            </a:fld>
            <a:endParaRPr lang="en-US"/>
          </a:p>
        </p:txBody>
      </p:sp>
      <p:sp>
        <p:nvSpPr>
          <p:cNvPr id="6147" name="Rectangle 2"/>
          <p:cNvSpPr>
            <a:spLocks noGrp="1" noChangeArrowheads="1"/>
          </p:cNvSpPr>
          <p:nvPr>
            <p:ph type="title"/>
          </p:nvPr>
        </p:nvSpPr>
        <p:spPr>
          <a:xfrm>
            <a:off x="1524000" y="476250"/>
            <a:ext cx="9144000" cy="1143000"/>
          </a:xfrm>
        </p:spPr>
        <p:txBody>
          <a:bodyPr/>
          <a:lstStyle/>
          <a:p>
            <a:pPr eaLnBrk="1" hangingPunct="1">
              <a:defRPr/>
            </a:pPr>
            <a:r>
              <a:rPr lang="en-US" sz="4800" b="1" dirty="0">
                <a:solidFill>
                  <a:schemeClr val="tx2">
                    <a:lumMod val="75000"/>
                  </a:schemeClr>
                </a:solidFill>
                <a:latin typeface="Comic Sans MS" pitchFamily="66" charset="0"/>
              </a:rPr>
              <a:t>Genotypes       Phenotypes</a:t>
            </a:r>
          </a:p>
        </p:txBody>
      </p:sp>
      <p:sp>
        <p:nvSpPr>
          <p:cNvPr id="6148" name="Rectangle 3"/>
          <p:cNvSpPr>
            <a:spLocks noGrp="1" noChangeArrowheads="1"/>
          </p:cNvSpPr>
          <p:nvPr>
            <p:ph type="body" sz="half" idx="1"/>
          </p:nvPr>
        </p:nvSpPr>
        <p:spPr>
          <a:xfrm>
            <a:off x="2209800" y="2078038"/>
            <a:ext cx="7989888" cy="4322762"/>
          </a:xfrm>
        </p:spPr>
        <p:txBody>
          <a:bodyPr/>
          <a:lstStyle/>
          <a:p>
            <a:pPr marL="285750" indent="-285750">
              <a:lnSpc>
                <a:spcPct val="115000"/>
              </a:lnSpc>
              <a:defRPr/>
            </a:pPr>
            <a:r>
              <a:rPr lang="en-US" dirty="0">
                <a:latin typeface="Comic Sans MS" pitchFamily="66" charset="0"/>
              </a:rPr>
              <a:t>At each locus (except for sex chromosomes) there are 2 alleles of a gene.  These constitute the individual’s </a:t>
            </a:r>
            <a:r>
              <a:rPr lang="en-US" b="1" i="1" u="sng" dirty="0">
                <a:solidFill>
                  <a:schemeClr val="tx2">
                    <a:lumMod val="75000"/>
                  </a:schemeClr>
                </a:solidFill>
                <a:latin typeface="Comic Sans MS" pitchFamily="66" charset="0"/>
              </a:rPr>
              <a:t>genotype</a:t>
            </a:r>
            <a:r>
              <a:rPr lang="en-US" dirty="0">
                <a:latin typeface="Comic Sans MS" pitchFamily="66" charset="0"/>
              </a:rPr>
              <a:t> at the locus (like </a:t>
            </a:r>
            <a:r>
              <a:rPr lang="en-US" dirty="0" err="1">
                <a:latin typeface="Comic Sans MS" pitchFamily="66" charset="0"/>
              </a:rPr>
              <a:t>Aa</a:t>
            </a:r>
            <a:r>
              <a:rPr lang="en-US" dirty="0">
                <a:latin typeface="Comic Sans MS" pitchFamily="66" charset="0"/>
              </a:rPr>
              <a:t> or </a:t>
            </a:r>
            <a:r>
              <a:rPr lang="en-US" dirty="0" err="1">
                <a:latin typeface="Comic Sans MS" pitchFamily="66" charset="0"/>
              </a:rPr>
              <a:t>Tt</a:t>
            </a:r>
            <a:r>
              <a:rPr lang="en-US" dirty="0">
                <a:latin typeface="Comic Sans MS" pitchFamily="66" charset="0"/>
              </a:rPr>
              <a:t>)</a:t>
            </a:r>
          </a:p>
          <a:p>
            <a:pPr marL="285750" indent="-285750">
              <a:defRPr/>
            </a:pPr>
            <a:endParaRPr lang="en-US" dirty="0">
              <a:latin typeface="Comic Sans MS" pitchFamily="66" charset="0"/>
            </a:endParaRPr>
          </a:p>
          <a:p>
            <a:pPr marL="285750" indent="-285750">
              <a:lnSpc>
                <a:spcPct val="115000"/>
              </a:lnSpc>
              <a:defRPr/>
            </a:pPr>
            <a:r>
              <a:rPr lang="en-US" dirty="0">
                <a:latin typeface="Comic Sans MS" pitchFamily="66" charset="0"/>
              </a:rPr>
              <a:t>The expression of a genotype is termed a </a:t>
            </a:r>
            <a:r>
              <a:rPr lang="en-US" b="1" i="1" u="sng" dirty="0">
                <a:solidFill>
                  <a:schemeClr val="tx2">
                    <a:lumMod val="75000"/>
                  </a:schemeClr>
                </a:solidFill>
                <a:latin typeface="Comic Sans MS" pitchFamily="66" charset="0"/>
              </a:rPr>
              <a:t>phenotype</a:t>
            </a:r>
            <a:r>
              <a:rPr lang="en-US" dirty="0">
                <a:latin typeface="Comic Sans MS" pitchFamily="66" charset="0"/>
              </a:rPr>
              <a:t>. For example, hair color, weight, or the presence or absence of a disease. </a:t>
            </a:r>
          </a:p>
        </p:txBody>
      </p:sp>
      <p:sp>
        <p:nvSpPr>
          <p:cNvPr id="23557" name="AutoShape 4"/>
          <p:cNvSpPr>
            <a:spLocks noChangeArrowheads="1"/>
          </p:cNvSpPr>
          <p:nvPr/>
        </p:nvSpPr>
        <p:spPr bwMode="auto">
          <a:xfrm>
            <a:off x="5283200" y="850900"/>
            <a:ext cx="1447800" cy="457200"/>
          </a:xfrm>
          <a:prstGeom prst="leftRightArrow">
            <a:avLst>
              <a:gd name="adj1" fmla="val 50000"/>
              <a:gd name="adj2" fmla="val 63333"/>
            </a:avLst>
          </a:prstGeom>
          <a:solidFill>
            <a:srgbClr val="FFFF00"/>
          </a:solidFill>
          <a:ln w="28575">
            <a:solidFill>
              <a:schemeClr val="tx1"/>
            </a:solidFill>
            <a:miter lim="800000"/>
            <a:headEnd/>
            <a:tailEnd/>
          </a:ln>
        </p:spPr>
        <p:txBody>
          <a:bodyPr wrap="none" anchor="ct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148">
                                            <p:txEl>
                                              <p:pRg st="2" end="2"/>
                                            </p:txEl>
                                          </p:spTgt>
                                        </p:tgtEl>
                                        <p:attrNameLst>
                                          <p:attrName>style.visibility</p:attrName>
                                        </p:attrNameLst>
                                      </p:cBhvr>
                                      <p:to>
                                        <p:strVal val="visible"/>
                                      </p:to>
                                    </p:set>
                                    <p:animEffect transition="in" filter="dissolve">
                                      <p:cBhvr>
                                        <p:cTn id="7" dur="500"/>
                                        <p:tgtEl>
                                          <p:spTgt spid="614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endParaRPr lang="en-US"/>
          </a:p>
        </p:txBody>
      </p:sp>
      <p:sp>
        <p:nvSpPr>
          <p:cNvPr id="4" name="Title 1"/>
          <p:cNvSpPr txBox="1">
            <a:spLocks/>
          </p:cNvSpPr>
          <p:nvPr/>
        </p:nvSpPr>
        <p:spPr bwMode="auto">
          <a:xfrm>
            <a:off x="2133600" y="2362200"/>
            <a:ext cx="8229600" cy="1143000"/>
          </a:xfrm>
          <a:prstGeom prst="rect">
            <a:avLst/>
          </a:prstGeom>
          <a:noFill/>
          <a:ln w="9525">
            <a:noFill/>
            <a:miter lim="800000"/>
            <a:headEnd/>
            <a:tailEnd/>
          </a:ln>
        </p:spPr>
        <p:txBody>
          <a:bodyPr anchor="ctr">
            <a:normAutofit fontScale="90000" lnSpcReduction="20000"/>
          </a:bodyPr>
          <a:lstStyle/>
          <a:p>
            <a:pPr algn="ctr">
              <a:defRPr/>
            </a:pPr>
            <a:r>
              <a:rPr lang="en-US" sz="4400" b="1">
                <a:solidFill>
                  <a:schemeClr val="tx2">
                    <a:lumMod val="75000"/>
                  </a:schemeClr>
                </a:solidFill>
                <a:latin typeface="Comic Sans MS" pitchFamily="66" charset="0"/>
                <a:ea typeface="+mj-ea"/>
                <a:cs typeface="+mj-cs"/>
              </a:rPr>
              <a:t>Principle of Segregation</a:t>
            </a:r>
            <a:br>
              <a:rPr lang="en-US" sz="4400" b="1">
                <a:solidFill>
                  <a:schemeClr val="tx2">
                    <a:lumMod val="75000"/>
                  </a:schemeClr>
                </a:solidFill>
                <a:latin typeface="Comic Sans MS" pitchFamily="66" charset="0"/>
                <a:ea typeface="+mj-ea"/>
                <a:cs typeface="+mj-cs"/>
              </a:rPr>
            </a:br>
            <a:endParaRPr lang="en-US" sz="4400" dirty="0">
              <a:solidFill>
                <a:schemeClr val="tx2">
                  <a:lumMod val="75000"/>
                </a:schemeClr>
              </a:solidFill>
              <a:latin typeface="Comic Sans MS" pitchFamily="66" charset="0"/>
              <a:ea typeface="+mj-ea"/>
              <a:cs typeface="+mj-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981200" y="228600"/>
            <a:ext cx="8229600" cy="1143000"/>
          </a:xfrm>
        </p:spPr>
        <p:txBody>
          <a:bodyPr/>
          <a:lstStyle/>
          <a:p>
            <a:pPr eaLnBrk="1" hangingPunct="1"/>
            <a:r>
              <a:rPr lang="en-US">
                <a:latin typeface="Comic Sans MS" pitchFamily="66" charset="0"/>
              </a:rPr>
              <a:t>Mendel’s Experiment</a:t>
            </a:r>
          </a:p>
        </p:txBody>
      </p:sp>
      <p:pic>
        <p:nvPicPr>
          <p:cNvPr id="5123" name="Picture 3" descr="purple sweet pea.jpg"/>
          <p:cNvPicPr>
            <a:picLocks noChangeAspect="1"/>
          </p:cNvPicPr>
          <p:nvPr/>
        </p:nvPicPr>
        <p:blipFill>
          <a:blip r:embed="rId2" cstate="print"/>
          <a:srcRect/>
          <a:stretch>
            <a:fillRect/>
          </a:stretch>
        </p:blipFill>
        <p:spPr bwMode="auto">
          <a:xfrm>
            <a:off x="3657600" y="1295400"/>
            <a:ext cx="1371600" cy="1371600"/>
          </a:xfrm>
          <a:prstGeom prst="rect">
            <a:avLst/>
          </a:prstGeom>
          <a:noFill/>
          <a:ln w="9525">
            <a:solidFill>
              <a:schemeClr val="tx1"/>
            </a:solidFill>
            <a:miter lim="800000"/>
            <a:headEnd/>
            <a:tailEnd/>
          </a:ln>
        </p:spPr>
      </p:pic>
      <p:pic>
        <p:nvPicPr>
          <p:cNvPr id="5124" name="Picture 4" descr="sweet_pea_white.jpg"/>
          <p:cNvPicPr>
            <a:picLocks noChangeAspect="1"/>
          </p:cNvPicPr>
          <p:nvPr/>
        </p:nvPicPr>
        <p:blipFill>
          <a:blip r:embed="rId3" cstate="print"/>
          <a:srcRect l="14223" b="32001"/>
          <a:stretch>
            <a:fillRect/>
          </a:stretch>
        </p:blipFill>
        <p:spPr bwMode="auto">
          <a:xfrm>
            <a:off x="6477000" y="1295400"/>
            <a:ext cx="1296988" cy="1371600"/>
          </a:xfrm>
          <a:prstGeom prst="rect">
            <a:avLst/>
          </a:prstGeom>
          <a:noFill/>
          <a:ln w="9525">
            <a:solidFill>
              <a:schemeClr val="tx1"/>
            </a:solidFill>
            <a:miter lim="800000"/>
            <a:headEnd/>
            <a:tailEnd/>
          </a:ln>
        </p:spPr>
      </p:pic>
      <p:sp>
        <p:nvSpPr>
          <p:cNvPr id="5125" name="TextBox 6"/>
          <p:cNvSpPr txBox="1">
            <a:spLocks noChangeArrowheads="1"/>
          </p:cNvSpPr>
          <p:nvPr/>
        </p:nvSpPr>
        <p:spPr bwMode="auto">
          <a:xfrm>
            <a:off x="5410200" y="1600200"/>
            <a:ext cx="2286000" cy="769938"/>
          </a:xfrm>
          <a:prstGeom prst="rect">
            <a:avLst/>
          </a:prstGeom>
          <a:noFill/>
          <a:ln w="9525">
            <a:noFill/>
            <a:miter lim="800000"/>
            <a:headEnd/>
            <a:tailEnd/>
          </a:ln>
        </p:spPr>
        <p:txBody>
          <a:bodyPr>
            <a:spAutoFit/>
          </a:bodyPr>
          <a:lstStyle/>
          <a:p>
            <a:r>
              <a:rPr lang="en-US" sz="4400"/>
              <a:t>X</a:t>
            </a:r>
          </a:p>
        </p:txBody>
      </p:sp>
      <p:pic>
        <p:nvPicPr>
          <p:cNvPr id="5126" name="Picture 7" descr="purple sweet pea.jpg"/>
          <p:cNvPicPr>
            <a:picLocks noChangeAspect="1"/>
          </p:cNvPicPr>
          <p:nvPr/>
        </p:nvPicPr>
        <p:blipFill>
          <a:blip r:embed="rId2" cstate="print"/>
          <a:srcRect/>
          <a:stretch>
            <a:fillRect/>
          </a:stretch>
        </p:blipFill>
        <p:spPr bwMode="auto">
          <a:xfrm>
            <a:off x="5029200" y="3048000"/>
            <a:ext cx="1371600" cy="1371600"/>
          </a:xfrm>
          <a:prstGeom prst="rect">
            <a:avLst/>
          </a:prstGeom>
          <a:noFill/>
          <a:ln w="9525">
            <a:solidFill>
              <a:schemeClr val="tx1"/>
            </a:solidFill>
            <a:miter lim="800000"/>
            <a:headEnd/>
            <a:tailEnd/>
          </a:ln>
        </p:spPr>
      </p:pic>
      <p:sp>
        <p:nvSpPr>
          <p:cNvPr id="5127" name="TextBox 8"/>
          <p:cNvSpPr txBox="1">
            <a:spLocks noChangeArrowheads="1"/>
          </p:cNvSpPr>
          <p:nvPr/>
        </p:nvSpPr>
        <p:spPr bwMode="auto">
          <a:xfrm>
            <a:off x="3657600" y="3429000"/>
            <a:ext cx="1524000" cy="584200"/>
          </a:xfrm>
          <a:prstGeom prst="rect">
            <a:avLst/>
          </a:prstGeom>
          <a:noFill/>
          <a:ln w="9525">
            <a:noFill/>
            <a:miter lim="800000"/>
            <a:headEnd/>
            <a:tailEnd/>
          </a:ln>
        </p:spPr>
        <p:txBody>
          <a:bodyPr>
            <a:spAutoFit/>
          </a:bodyPr>
          <a:lstStyle/>
          <a:p>
            <a:r>
              <a:rPr lang="en-US" sz="1600"/>
              <a:t>        F1 Generation</a:t>
            </a:r>
          </a:p>
        </p:txBody>
      </p:sp>
      <p:pic>
        <p:nvPicPr>
          <p:cNvPr id="5128" name="Picture 9" descr="purple sweet pea.jpg"/>
          <p:cNvPicPr>
            <a:picLocks noChangeAspect="1"/>
          </p:cNvPicPr>
          <p:nvPr/>
        </p:nvPicPr>
        <p:blipFill>
          <a:blip r:embed="rId2" cstate="print"/>
          <a:srcRect/>
          <a:stretch>
            <a:fillRect/>
          </a:stretch>
        </p:blipFill>
        <p:spPr bwMode="auto">
          <a:xfrm>
            <a:off x="3733800" y="5029200"/>
            <a:ext cx="1371600" cy="1371600"/>
          </a:xfrm>
          <a:prstGeom prst="rect">
            <a:avLst/>
          </a:prstGeom>
          <a:noFill/>
          <a:ln w="9525">
            <a:solidFill>
              <a:schemeClr val="tx1"/>
            </a:solidFill>
            <a:miter lim="800000"/>
            <a:headEnd/>
            <a:tailEnd/>
          </a:ln>
        </p:spPr>
      </p:pic>
      <p:pic>
        <p:nvPicPr>
          <p:cNvPr id="5129" name="Picture 10" descr="sweet_pea_white.jpg"/>
          <p:cNvPicPr>
            <a:picLocks noChangeAspect="1"/>
          </p:cNvPicPr>
          <p:nvPr/>
        </p:nvPicPr>
        <p:blipFill>
          <a:blip r:embed="rId3" cstate="print"/>
          <a:srcRect l="14223" b="32001"/>
          <a:stretch>
            <a:fillRect/>
          </a:stretch>
        </p:blipFill>
        <p:spPr bwMode="auto">
          <a:xfrm>
            <a:off x="6324600" y="5029200"/>
            <a:ext cx="1296988" cy="1371600"/>
          </a:xfrm>
          <a:prstGeom prst="rect">
            <a:avLst/>
          </a:prstGeom>
          <a:noFill/>
          <a:ln w="9525">
            <a:solidFill>
              <a:schemeClr val="tx1"/>
            </a:solidFill>
            <a:miter lim="800000"/>
            <a:headEnd/>
            <a:tailEnd/>
          </a:ln>
        </p:spPr>
      </p:pic>
      <p:sp>
        <p:nvSpPr>
          <p:cNvPr id="10" name="TextBox 9"/>
          <p:cNvSpPr txBox="1">
            <a:spLocks noChangeArrowheads="1"/>
          </p:cNvSpPr>
          <p:nvPr/>
        </p:nvSpPr>
        <p:spPr bwMode="auto">
          <a:xfrm>
            <a:off x="6477000" y="3624264"/>
            <a:ext cx="1600200" cy="307975"/>
          </a:xfrm>
          <a:prstGeom prst="rect">
            <a:avLst/>
          </a:prstGeom>
          <a:noFill/>
          <a:ln w="9525">
            <a:noFill/>
            <a:miter lim="800000"/>
            <a:headEnd/>
            <a:tailEnd/>
          </a:ln>
        </p:spPr>
        <p:txBody>
          <a:bodyPr>
            <a:spAutoFit/>
          </a:bodyPr>
          <a:lstStyle/>
          <a:p>
            <a:r>
              <a:rPr lang="en-US" sz="1400"/>
              <a:t>(Self Cross)</a:t>
            </a:r>
          </a:p>
        </p:txBody>
      </p:sp>
      <p:sp>
        <p:nvSpPr>
          <p:cNvPr id="11" name="TextBox 8"/>
          <p:cNvSpPr txBox="1">
            <a:spLocks noChangeArrowheads="1"/>
          </p:cNvSpPr>
          <p:nvPr/>
        </p:nvSpPr>
        <p:spPr bwMode="auto">
          <a:xfrm>
            <a:off x="2209800" y="5283200"/>
            <a:ext cx="1524000" cy="584200"/>
          </a:xfrm>
          <a:prstGeom prst="rect">
            <a:avLst/>
          </a:prstGeom>
          <a:noFill/>
          <a:ln w="9525">
            <a:noFill/>
            <a:miter lim="800000"/>
            <a:headEnd/>
            <a:tailEnd/>
          </a:ln>
        </p:spPr>
        <p:txBody>
          <a:bodyPr>
            <a:spAutoFit/>
          </a:bodyPr>
          <a:lstStyle/>
          <a:p>
            <a:r>
              <a:rPr lang="en-US" sz="1600"/>
              <a:t>        F2 Generation</a:t>
            </a:r>
          </a:p>
        </p:txBody>
      </p:sp>
      <p:sp>
        <p:nvSpPr>
          <p:cNvPr id="12" name="Down Arrow 11"/>
          <p:cNvSpPr/>
          <p:nvPr/>
        </p:nvSpPr>
        <p:spPr>
          <a:xfrm>
            <a:off x="5638800" y="4495800"/>
            <a:ext cx="152400" cy="4572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Down Arrow 12"/>
          <p:cNvSpPr/>
          <p:nvPr/>
        </p:nvSpPr>
        <p:spPr>
          <a:xfrm>
            <a:off x="5638800" y="2438400"/>
            <a:ext cx="152400" cy="4572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TextBox 13"/>
          <p:cNvSpPr txBox="1">
            <a:spLocks noChangeArrowheads="1"/>
          </p:cNvSpPr>
          <p:nvPr/>
        </p:nvSpPr>
        <p:spPr bwMode="auto">
          <a:xfrm>
            <a:off x="3962400" y="6400800"/>
            <a:ext cx="838200" cy="369888"/>
          </a:xfrm>
          <a:prstGeom prst="rect">
            <a:avLst/>
          </a:prstGeom>
          <a:noFill/>
          <a:ln w="9525">
            <a:noFill/>
            <a:miter lim="800000"/>
            <a:headEnd/>
            <a:tailEnd/>
          </a:ln>
        </p:spPr>
        <p:txBody>
          <a:bodyPr>
            <a:spAutoFit/>
          </a:bodyPr>
          <a:lstStyle/>
          <a:p>
            <a:r>
              <a:rPr lang="en-US"/>
              <a:t>787</a:t>
            </a:r>
          </a:p>
        </p:txBody>
      </p:sp>
      <p:sp>
        <p:nvSpPr>
          <p:cNvPr id="15" name="TextBox 14"/>
          <p:cNvSpPr txBox="1">
            <a:spLocks noChangeArrowheads="1"/>
          </p:cNvSpPr>
          <p:nvPr/>
        </p:nvSpPr>
        <p:spPr bwMode="auto">
          <a:xfrm>
            <a:off x="6629400" y="6400800"/>
            <a:ext cx="838200" cy="369888"/>
          </a:xfrm>
          <a:prstGeom prst="rect">
            <a:avLst/>
          </a:prstGeom>
          <a:noFill/>
          <a:ln w="9525">
            <a:noFill/>
            <a:miter lim="800000"/>
            <a:headEnd/>
            <a:tailEnd/>
          </a:ln>
        </p:spPr>
        <p:txBody>
          <a:bodyPr>
            <a:spAutoFit/>
          </a:bodyPr>
          <a:lstStyle/>
          <a:p>
            <a:r>
              <a:rPr lang="en-US"/>
              <a:t>277</a:t>
            </a:r>
          </a:p>
        </p:txBody>
      </p:sp>
      <p:sp>
        <p:nvSpPr>
          <p:cNvPr id="16" name="TextBox 15"/>
          <p:cNvSpPr txBox="1">
            <a:spLocks noChangeArrowheads="1"/>
          </p:cNvSpPr>
          <p:nvPr/>
        </p:nvSpPr>
        <p:spPr bwMode="auto">
          <a:xfrm>
            <a:off x="7848600" y="6324600"/>
            <a:ext cx="2514600" cy="369888"/>
          </a:xfrm>
          <a:prstGeom prst="rect">
            <a:avLst/>
          </a:prstGeom>
          <a:noFill/>
          <a:ln w="9525">
            <a:noFill/>
            <a:miter lim="800000"/>
            <a:headEnd/>
            <a:tailEnd/>
          </a:ln>
        </p:spPr>
        <p:txBody>
          <a:bodyPr>
            <a:spAutoFit/>
          </a:bodyPr>
          <a:lstStyle/>
          <a:p>
            <a:r>
              <a:rPr lang="en-US"/>
              <a:t>Total progeny - 1064</a:t>
            </a:r>
          </a:p>
        </p:txBody>
      </p:sp>
      <p:sp>
        <p:nvSpPr>
          <p:cNvPr id="18" name="TextBox 17"/>
          <p:cNvSpPr txBox="1">
            <a:spLocks noChangeArrowheads="1"/>
          </p:cNvSpPr>
          <p:nvPr/>
        </p:nvSpPr>
        <p:spPr bwMode="auto">
          <a:xfrm>
            <a:off x="8229600" y="5410201"/>
            <a:ext cx="1828800" cy="461963"/>
          </a:xfrm>
          <a:prstGeom prst="rect">
            <a:avLst/>
          </a:prstGeom>
          <a:noFill/>
          <a:ln w="9525">
            <a:noFill/>
            <a:miter lim="800000"/>
            <a:headEnd/>
            <a:tailEnd/>
          </a:ln>
        </p:spPr>
        <p:txBody>
          <a:bodyPr>
            <a:spAutoFit/>
          </a:bodyPr>
          <a:lstStyle/>
          <a:p>
            <a:r>
              <a:rPr lang="en-US" sz="2400" b="1"/>
              <a:t>Ratio 3:1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5125"/>
                                        </p:tgtEl>
                                        <p:attrNameLst>
                                          <p:attrName>style.visibility</p:attrName>
                                        </p:attrNameLst>
                                      </p:cBhvr>
                                      <p:to>
                                        <p:strVal val="visible"/>
                                      </p:to>
                                    </p:set>
                                    <p:animEffect transition="in" filter="dissolve">
                                      <p:cBhvr>
                                        <p:cTn id="13" dur="500"/>
                                        <p:tgtEl>
                                          <p:spTgt spid="5125"/>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heckerboard(across)">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126"/>
                                        </p:tgtEl>
                                        <p:attrNameLst>
                                          <p:attrName>style.visibility</p:attrName>
                                        </p:attrNameLst>
                                      </p:cBhvr>
                                      <p:to>
                                        <p:strVal val="visible"/>
                                      </p:to>
                                    </p:set>
                                    <p:animEffect transition="in" filter="dissolve">
                                      <p:cBhvr>
                                        <p:cTn id="27" dur="500"/>
                                        <p:tgtEl>
                                          <p:spTgt spid="512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dissolv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5128"/>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512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blinds(horizontal)">
                                      <p:cBhvr>
                                        <p:cTn id="56" dur="500"/>
                                        <p:tgtEl>
                                          <p:spTgt spid="14"/>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blinds(horizontal)">
                                      <p:cBhvr>
                                        <p:cTn id="59" dur="500"/>
                                        <p:tgtEl>
                                          <p:spTgt spid="15"/>
                                        </p:tgtEl>
                                      </p:cBhvr>
                                    </p:animEffect>
                                  </p:childTnLst>
                                </p:cTn>
                              </p:par>
                            </p:childTnLst>
                          </p:cTn>
                        </p:par>
                      </p:childTnLst>
                    </p:cTn>
                  </p:par>
                  <p:par>
                    <p:cTn id="60" fill="hold">
                      <p:stCondLst>
                        <p:cond delay="indefinite"/>
                      </p:stCondLst>
                      <p:childTnLst>
                        <p:par>
                          <p:cTn id="61" fill="hold">
                            <p:stCondLst>
                              <p:cond delay="0"/>
                            </p:stCondLst>
                            <p:childTnLst>
                              <p:par>
                                <p:cTn id="62" presetID="4" presetClass="entr" presetSubtype="16" fill="hold" grpId="0"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box(in)">
                                      <p:cBhvr>
                                        <p:cTn id="6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5" grpId="0"/>
      <p:bldP spid="5127" grpId="0"/>
      <p:bldP spid="10" grpId="0"/>
      <p:bldP spid="11" grpId="0"/>
      <p:bldP spid="12" grpId="0" animBg="1"/>
      <p:bldP spid="13" grpId="0" animBg="1"/>
      <p:bldP spid="14" grpId="0"/>
      <p:bldP spid="15" grpId="0"/>
      <p:bldP spid="16" grpId="0"/>
      <p:bldP spid="1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Content Placeholder 2"/>
          <p:cNvSpPr>
            <a:spLocks noGrp="1"/>
          </p:cNvSpPr>
          <p:nvPr>
            <p:ph idx="1"/>
          </p:nvPr>
        </p:nvSpPr>
        <p:spPr>
          <a:xfrm>
            <a:off x="1905000" y="990601"/>
            <a:ext cx="8229600" cy="4525963"/>
          </a:xfrm>
        </p:spPr>
        <p:txBody>
          <a:bodyPr/>
          <a:lstStyle/>
          <a:p>
            <a:pPr eaLnBrk="1" hangingPunct="1"/>
            <a:r>
              <a:rPr lang="en-US"/>
              <a:t>Specific entities or factors responsible each individual trait. </a:t>
            </a:r>
          </a:p>
          <a:p>
            <a:pPr eaLnBrk="1" hangingPunct="1"/>
            <a:endParaRPr lang="en-US"/>
          </a:p>
          <a:p>
            <a:pPr eaLnBrk="1" hangingPunct="1"/>
            <a:r>
              <a:rPr lang="en-US"/>
              <a:t>The factor specifying one of the traits has a dominating effect, overiding the other factor in F1 generation. </a:t>
            </a:r>
          </a:p>
          <a:p>
            <a:pPr eaLnBrk="1" hangingPunct="1"/>
            <a:endParaRPr lang="en-US"/>
          </a:p>
          <a:p>
            <a:pPr eaLnBrk="1" hangingPunct="1"/>
            <a:r>
              <a:rPr lang="en-US"/>
              <a:t>Trait expressed in the F1 is </a:t>
            </a:r>
            <a:r>
              <a:rPr lang="en-US" b="1"/>
              <a:t>dominant</a:t>
            </a:r>
          </a:p>
          <a:p>
            <a:pPr eaLnBrk="1" hangingPunct="1"/>
            <a:r>
              <a:rPr lang="en-US"/>
              <a:t>Masked trait is </a:t>
            </a:r>
            <a:r>
              <a:rPr lang="en-US" b="1"/>
              <a:t>recessive</a:t>
            </a:r>
          </a:p>
          <a:p>
            <a:pPr eaLnBrk="1" hangingPunct="1">
              <a:buFont typeface="Arial" charset="0"/>
              <a:buNone/>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animEffect transition="in" filter="blinds(horizontal)">
                                      <p:cBhvr>
                                        <p:cTn id="11" dur="500"/>
                                        <p:tgtEl>
                                          <p:spTgt spid="28675">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28675">
                                            <p:txEl>
                                              <p:pRg st="4" end="4"/>
                                            </p:txEl>
                                          </p:spTgt>
                                        </p:tgtEl>
                                        <p:attrNameLst>
                                          <p:attrName>style.visibility</p:attrName>
                                        </p:attrNameLst>
                                      </p:cBhvr>
                                      <p:to>
                                        <p:strVal val="visible"/>
                                      </p:to>
                                    </p:set>
                                    <p:animEffect transition="in" filter="dissolve">
                                      <p:cBhvr>
                                        <p:cTn id="16" dur="500"/>
                                        <p:tgtEl>
                                          <p:spTgt spid="28675">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28675">
                                            <p:txEl>
                                              <p:pRg st="5" end="5"/>
                                            </p:txEl>
                                          </p:spTgt>
                                        </p:tgtEl>
                                        <p:attrNameLst>
                                          <p:attrName>style.visibility</p:attrName>
                                        </p:attrNameLst>
                                      </p:cBhvr>
                                      <p:to>
                                        <p:strVal val="visible"/>
                                      </p:to>
                                    </p:set>
                                    <p:animEffect transition="in" filter="box(in)">
                                      <p:cBhvr>
                                        <p:cTn id="21" dur="500"/>
                                        <p:tgtEl>
                                          <p:spTgt spid="286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356739" y="2514600"/>
            <a:ext cx="7478522" cy="923330"/>
          </a:xfrm>
          <a:prstGeom prst="rect">
            <a:avLst/>
          </a:prstGeom>
          <a:noFill/>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algn="ctr">
              <a:defRPr/>
            </a:pPr>
            <a:r>
              <a:rPr lang="en-US" sz="5400" dirty="0"/>
              <a:t>How can you explain this?</a:t>
            </a:r>
            <a:endParaRPr lang="en-US" sz="5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1981200" y="228600"/>
            <a:ext cx="8229600" cy="1143000"/>
          </a:xfrm>
        </p:spPr>
        <p:txBody>
          <a:bodyPr/>
          <a:lstStyle/>
          <a:p>
            <a:pPr eaLnBrk="1" hangingPunct="1"/>
            <a:r>
              <a:rPr lang="en-US">
                <a:latin typeface="Comic Sans MS" pitchFamily="66" charset="0"/>
              </a:rPr>
              <a:t>Mendel’s Experiment</a:t>
            </a:r>
          </a:p>
        </p:txBody>
      </p:sp>
      <p:pic>
        <p:nvPicPr>
          <p:cNvPr id="5123" name="Picture 3" descr="purple sweet pea.jpg"/>
          <p:cNvPicPr>
            <a:picLocks noChangeAspect="1"/>
          </p:cNvPicPr>
          <p:nvPr/>
        </p:nvPicPr>
        <p:blipFill>
          <a:blip r:embed="rId2" cstate="print"/>
          <a:srcRect/>
          <a:stretch>
            <a:fillRect/>
          </a:stretch>
        </p:blipFill>
        <p:spPr bwMode="auto">
          <a:xfrm>
            <a:off x="3657600" y="1295400"/>
            <a:ext cx="1371600" cy="1371600"/>
          </a:xfrm>
          <a:prstGeom prst="rect">
            <a:avLst/>
          </a:prstGeom>
          <a:noFill/>
          <a:ln w="9525">
            <a:solidFill>
              <a:schemeClr val="tx1"/>
            </a:solidFill>
            <a:miter lim="800000"/>
            <a:headEnd/>
            <a:tailEnd/>
          </a:ln>
        </p:spPr>
      </p:pic>
      <p:pic>
        <p:nvPicPr>
          <p:cNvPr id="5124" name="Picture 4" descr="sweet_pea_white.jpg"/>
          <p:cNvPicPr>
            <a:picLocks noChangeAspect="1"/>
          </p:cNvPicPr>
          <p:nvPr/>
        </p:nvPicPr>
        <p:blipFill>
          <a:blip r:embed="rId3" cstate="print"/>
          <a:srcRect l="14223" b="32001"/>
          <a:stretch>
            <a:fillRect/>
          </a:stretch>
        </p:blipFill>
        <p:spPr bwMode="auto">
          <a:xfrm>
            <a:off x="6477000" y="1295400"/>
            <a:ext cx="1296988" cy="1371600"/>
          </a:xfrm>
          <a:prstGeom prst="rect">
            <a:avLst/>
          </a:prstGeom>
          <a:noFill/>
          <a:ln w="9525">
            <a:solidFill>
              <a:schemeClr val="tx1"/>
            </a:solidFill>
            <a:miter lim="800000"/>
            <a:headEnd/>
            <a:tailEnd/>
          </a:ln>
        </p:spPr>
      </p:pic>
      <p:sp>
        <p:nvSpPr>
          <p:cNvPr id="5125" name="TextBox 6"/>
          <p:cNvSpPr txBox="1">
            <a:spLocks noChangeArrowheads="1"/>
          </p:cNvSpPr>
          <p:nvPr/>
        </p:nvSpPr>
        <p:spPr bwMode="auto">
          <a:xfrm>
            <a:off x="5410200" y="1600200"/>
            <a:ext cx="2286000" cy="769938"/>
          </a:xfrm>
          <a:prstGeom prst="rect">
            <a:avLst/>
          </a:prstGeom>
          <a:noFill/>
          <a:ln w="9525">
            <a:noFill/>
            <a:miter lim="800000"/>
            <a:headEnd/>
            <a:tailEnd/>
          </a:ln>
        </p:spPr>
        <p:txBody>
          <a:bodyPr>
            <a:spAutoFit/>
          </a:bodyPr>
          <a:lstStyle/>
          <a:p>
            <a:r>
              <a:rPr lang="en-US" sz="4400"/>
              <a:t>X</a:t>
            </a:r>
          </a:p>
        </p:txBody>
      </p:sp>
      <p:pic>
        <p:nvPicPr>
          <p:cNvPr id="5126" name="Picture 7" descr="purple sweet pea.jpg"/>
          <p:cNvPicPr>
            <a:picLocks noChangeAspect="1"/>
          </p:cNvPicPr>
          <p:nvPr/>
        </p:nvPicPr>
        <p:blipFill>
          <a:blip r:embed="rId2" cstate="print"/>
          <a:srcRect/>
          <a:stretch>
            <a:fillRect/>
          </a:stretch>
        </p:blipFill>
        <p:spPr bwMode="auto">
          <a:xfrm>
            <a:off x="5029200" y="3048000"/>
            <a:ext cx="1371600" cy="1371600"/>
          </a:xfrm>
          <a:prstGeom prst="rect">
            <a:avLst/>
          </a:prstGeom>
          <a:noFill/>
          <a:ln w="9525">
            <a:solidFill>
              <a:schemeClr val="tx1"/>
            </a:solidFill>
            <a:miter lim="800000"/>
            <a:headEnd/>
            <a:tailEnd/>
          </a:ln>
        </p:spPr>
      </p:pic>
      <p:sp>
        <p:nvSpPr>
          <p:cNvPr id="5127" name="TextBox 8"/>
          <p:cNvSpPr txBox="1">
            <a:spLocks noChangeArrowheads="1"/>
          </p:cNvSpPr>
          <p:nvPr/>
        </p:nvSpPr>
        <p:spPr bwMode="auto">
          <a:xfrm>
            <a:off x="3657600" y="3429000"/>
            <a:ext cx="1524000" cy="584200"/>
          </a:xfrm>
          <a:prstGeom prst="rect">
            <a:avLst/>
          </a:prstGeom>
          <a:noFill/>
          <a:ln w="9525">
            <a:noFill/>
            <a:miter lim="800000"/>
            <a:headEnd/>
            <a:tailEnd/>
          </a:ln>
        </p:spPr>
        <p:txBody>
          <a:bodyPr>
            <a:spAutoFit/>
          </a:bodyPr>
          <a:lstStyle/>
          <a:p>
            <a:r>
              <a:rPr lang="en-US" sz="1600"/>
              <a:t>        F1 Generation</a:t>
            </a:r>
          </a:p>
        </p:txBody>
      </p:sp>
      <p:pic>
        <p:nvPicPr>
          <p:cNvPr id="5128" name="Picture 9" descr="purple sweet pea.jpg"/>
          <p:cNvPicPr>
            <a:picLocks noChangeAspect="1"/>
          </p:cNvPicPr>
          <p:nvPr/>
        </p:nvPicPr>
        <p:blipFill>
          <a:blip r:embed="rId2" cstate="print"/>
          <a:srcRect/>
          <a:stretch>
            <a:fillRect/>
          </a:stretch>
        </p:blipFill>
        <p:spPr bwMode="auto">
          <a:xfrm>
            <a:off x="3733800" y="5029200"/>
            <a:ext cx="1371600" cy="1371600"/>
          </a:xfrm>
          <a:prstGeom prst="rect">
            <a:avLst/>
          </a:prstGeom>
          <a:noFill/>
          <a:ln w="9525">
            <a:solidFill>
              <a:schemeClr val="tx1"/>
            </a:solidFill>
            <a:miter lim="800000"/>
            <a:headEnd/>
            <a:tailEnd/>
          </a:ln>
        </p:spPr>
      </p:pic>
      <p:pic>
        <p:nvPicPr>
          <p:cNvPr id="5129" name="Picture 10" descr="sweet_pea_white.jpg"/>
          <p:cNvPicPr>
            <a:picLocks noChangeAspect="1"/>
          </p:cNvPicPr>
          <p:nvPr/>
        </p:nvPicPr>
        <p:blipFill>
          <a:blip r:embed="rId3" cstate="print"/>
          <a:srcRect l="14223" b="32001"/>
          <a:stretch>
            <a:fillRect/>
          </a:stretch>
        </p:blipFill>
        <p:spPr bwMode="auto">
          <a:xfrm>
            <a:off x="6856414" y="5029200"/>
            <a:ext cx="1296987" cy="1371600"/>
          </a:xfrm>
          <a:prstGeom prst="rect">
            <a:avLst/>
          </a:prstGeom>
          <a:noFill/>
          <a:ln w="9525">
            <a:solidFill>
              <a:schemeClr val="tx1"/>
            </a:solidFill>
            <a:miter lim="800000"/>
            <a:headEnd/>
            <a:tailEnd/>
          </a:ln>
        </p:spPr>
      </p:pic>
      <p:sp>
        <p:nvSpPr>
          <p:cNvPr id="10" name="TextBox 9"/>
          <p:cNvSpPr txBox="1">
            <a:spLocks noChangeArrowheads="1"/>
          </p:cNvSpPr>
          <p:nvPr/>
        </p:nvSpPr>
        <p:spPr bwMode="auto">
          <a:xfrm>
            <a:off x="6477000" y="3624264"/>
            <a:ext cx="1600200" cy="307975"/>
          </a:xfrm>
          <a:prstGeom prst="rect">
            <a:avLst/>
          </a:prstGeom>
          <a:noFill/>
          <a:ln w="9525">
            <a:noFill/>
            <a:miter lim="800000"/>
            <a:headEnd/>
            <a:tailEnd/>
          </a:ln>
        </p:spPr>
        <p:txBody>
          <a:bodyPr>
            <a:spAutoFit/>
          </a:bodyPr>
          <a:lstStyle/>
          <a:p>
            <a:r>
              <a:rPr lang="en-US" sz="1400"/>
              <a:t>(Self Cross)</a:t>
            </a:r>
          </a:p>
        </p:txBody>
      </p:sp>
      <p:sp>
        <p:nvSpPr>
          <p:cNvPr id="11" name="TextBox 8"/>
          <p:cNvSpPr txBox="1">
            <a:spLocks noChangeArrowheads="1"/>
          </p:cNvSpPr>
          <p:nvPr/>
        </p:nvSpPr>
        <p:spPr bwMode="auto">
          <a:xfrm>
            <a:off x="2209800" y="5283200"/>
            <a:ext cx="1524000" cy="584200"/>
          </a:xfrm>
          <a:prstGeom prst="rect">
            <a:avLst/>
          </a:prstGeom>
          <a:noFill/>
          <a:ln w="9525">
            <a:noFill/>
            <a:miter lim="800000"/>
            <a:headEnd/>
            <a:tailEnd/>
          </a:ln>
        </p:spPr>
        <p:txBody>
          <a:bodyPr>
            <a:spAutoFit/>
          </a:bodyPr>
          <a:lstStyle/>
          <a:p>
            <a:r>
              <a:rPr lang="en-US" sz="1600"/>
              <a:t>        F2 Generation</a:t>
            </a:r>
          </a:p>
        </p:txBody>
      </p:sp>
      <p:sp>
        <p:nvSpPr>
          <p:cNvPr id="12" name="Down Arrow 11"/>
          <p:cNvSpPr/>
          <p:nvPr/>
        </p:nvSpPr>
        <p:spPr>
          <a:xfrm>
            <a:off x="5638800" y="4495800"/>
            <a:ext cx="152400" cy="4572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Down Arrow 12"/>
          <p:cNvSpPr/>
          <p:nvPr/>
        </p:nvSpPr>
        <p:spPr>
          <a:xfrm>
            <a:off x="5638800" y="2438400"/>
            <a:ext cx="152400" cy="4572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TextBox 17"/>
          <p:cNvSpPr txBox="1">
            <a:spLocks noChangeArrowheads="1"/>
          </p:cNvSpPr>
          <p:nvPr/>
        </p:nvSpPr>
        <p:spPr bwMode="auto">
          <a:xfrm>
            <a:off x="8077200" y="5486401"/>
            <a:ext cx="2362200" cy="646113"/>
          </a:xfrm>
          <a:prstGeom prst="rect">
            <a:avLst/>
          </a:prstGeom>
          <a:noFill/>
          <a:ln w="9525">
            <a:noFill/>
            <a:miter lim="800000"/>
            <a:headEnd/>
            <a:tailEnd/>
          </a:ln>
        </p:spPr>
        <p:txBody>
          <a:bodyPr>
            <a:spAutoFit/>
          </a:bodyPr>
          <a:lstStyle/>
          <a:p>
            <a:r>
              <a:rPr lang="en-US" sz="1200" b="1"/>
              <a:t>Ratio   1(Violet only)</a:t>
            </a:r>
          </a:p>
          <a:p>
            <a:r>
              <a:rPr lang="en-US" sz="1200" b="1"/>
              <a:t>           :2 (both violet &amp; white)</a:t>
            </a:r>
          </a:p>
          <a:p>
            <a:r>
              <a:rPr lang="en-US" sz="1200" b="1"/>
              <a:t>           :1 (white only)</a:t>
            </a:r>
          </a:p>
        </p:txBody>
      </p:sp>
      <p:sp>
        <p:nvSpPr>
          <p:cNvPr id="19" name="TextBox 18"/>
          <p:cNvSpPr txBox="1">
            <a:spLocks noChangeArrowheads="1"/>
          </p:cNvSpPr>
          <p:nvPr/>
        </p:nvSpPr>
        <p:spPr bwMode="auto">
          <a:xfrm>
            <a:off x="4038600" y="2667000"/>
            <a:ext cx="685800" cy="369888"/>
          </a:xfrm>
          <a:prstGeom prst="rect">
            <a:avLst/>
          </a:prstGeom>
          <a:noFill/>
          <a:ln w="9525">
            <a:noFill/>
            <a:miter lim="800000"/>
            <a:headEnd/>
            <a:tailEnd/>
          </a:ln>
        </p:spPr>
        <p:txBody>
          <a:bodyPr>
            <a:spAutoFit/>
          </a:bodyPr>
          <a:lstStyle/>
          <a:p>
            <a:r>
              <a:rPr lang="en-US"/>
              <a:t>AA</a:t>
            </a:r>
          </a:p>
        </p:txBody>
      </p:sp>
      <p:sp>
        <p:nvSpPr>
          <p:cNvPr id="20" name="TextBox 19"/>
          <p:cNvSpPr txBox="1">
            <a:spLocks noChangeArrowheads="1"/>
          </p:cNvSpPr>
          <p:nvPr/>
        </p:nvSpPr>
        <p:spPr bwMode="auto">
          <a:xfrm>
            <a:off x="6934200" y="2667000"/>
            <a:ext cx="685800" cy="369888"/>
          </a:xfrm>
          <a:prstGeom prst="rect">
            <a:avLst/>
          </a:prstGeom>
          <a:noFill/>
          <a:ln w="9525">
            <a:noFill/>
            <a:miter lim="800000"/>
            <a:headEnd/>
            <a:tailEnd/>
          </a:ln>
        </p:spPr>
        <p:txBody>
          <a:bodyPr>
            <a:spAutoFit/>
          </a:bodyPr>
          <a:lstStyle/>
          <a:p>
            <a:r>
              <a:rPr lang="en-US"/>
              <a:t>aa</a:t>
            </a:r>
          </a:p>
        </p:txBody>
      </p:sp>
      <p:sp>
        <p:nvSpPr>
          <p:cNvPr id="21" name="TextBox 20"/>
          <p:cNvSpPr txBox="1">
            <a:spLocks noChangeArrowheads="1"/>
          </p:cNvSpPr>
          <p:nvPr/>
        </p:nvSpPr>
        <p:spPr bwMode="auto">
          <a:xfrm>
            <a:off x="5867400" y="4419600"/>
            <a:ext cx="1143000" cy="369888"/>
          </a:xfrm>
          <a:prstGeom prst="rect">
            <a:avLst/>
          </a:prstGeom>
          <a:noFill/>
          <a:ln w="9525">
            <a:noFill/>
            <a:miter lim="800000"/>
            <a:headEnd/>
            <a:tailEnd/>
          </a:ln>
        </p:spPr>
        <p:txBody>
          <a:bodyPr>
            <a:spAutoFit/>
          </a:bodyPr>
          <a:lstStyle/>
          <a:p>
            <a:r>
              <a:rPr lang="en-US"/>
              <a:t>Aa </a:t>
            </a:r>
          </a:p>
        </p:txBody>
      </p:sp>
      <p:sp>
        <p:nvSpPr>
          <p:cNvPr id="23" name="TextBox 22"/>
          <p:cNvSpPr txBox="1">
            <a:spLocks noChangeArrowheads="1"/>
          </p:cNvSpPr>
          <p:nvPr/>
        </p:nvSpPr>
        <p:spPr bwMode="auto">
          <a:xfrm>
            <a:off x="3886200" y="6386513"/>
            <a:ext cx="1524000" cy="368300"/>
          </a:xfrm>
          <a:prstGeom prst="rect">
            <a:avLst/>
          </a:prstGeom>
          <a:noFill/>
          <a:ln w="9525">
            <a:noFill/>
            <a:miter lim="800000"/>
            <a:headEnd/>
            <a:tailEnd/>
          </a:ln>
        </p:spPr>
        <p:txBody>
          <a:bodyPr>
            <a:spAutoFit/>
          </a:bodyPr>
          <a:lstStyle/>
          <a:p>
            <a:r>
              <a:rPr lang="en-US"/>
              <a:t>AA</a:t>
            </a:r>
          </a:p>
        </p:txBody>
      </p:sp>
      <p:sp>
        <p:nvSpPr>
          <p:cNvPr id="24" name="TextBox 23"/>
          <p:cNvSpPr txBox="1">
            <a:spLocks noChangeArrowheads="1"/>
          </p:cNvSpPr>
          <p:nvPr/>
        </p:nvSpPr>
        <p:spPr bwMode="auto">
          <a:xfrm>
            <a:off x="7391400" y="6324600"/>
            <a:ext cx="685800" cy="369888"/>
          </a:xfrm>
          <a:prstGeom prst="rect">
            <a:avLst/>
          </a:prstGeom>
          <a:noFill/>
          <a:ln w="9525">
            <a:noFill/>
            <a:miter lim="800000"/>
            <a:headEnd/>
            <a:tailEnd/>
          </a:ln>
        </p:spPr>
        <p:txBody>
          <a:bodyPr>
            <a:spAutoFit/>
          </a:bodyPr>
          <a:lstStyle/>
          <a:p>
            <a:r>
              <a:rPr lang="en-US"/>
              <a:t>aa</a:t>
            </a:r>
          </a:p>
        </p:txBody>
      </p:sp>
      <p:pic>
        <p:nvPicPr>
          <p:cNvPr id="25" name="Picture 9" descr="purple sweet pea.jpg"/>
          <p:cNvPicPr>
            <a:picLocks noChangeAspect="1"/>
          </p:cNvPicPr>
          <p:nvPr/>
        </p:nvPicPr>
        <p:blipFill>
          <a:blip r:embed="rId2" cstate="print"/>
          <a:srcRect/>
          <a:stretch>
            <a:fillRect/>
          </a:stretch>
        </p:blipFill>
        <p:spPr bwMode="auto">
          <a:xfrm>
            <a:off x="5257800" y="5029200"/>
            <a:ext cx="1371600" cy="1371600"/>
          </a:xfrm>
          <a:prstGeom prst="rect">
            <a:avLst/>
          </a:prstGeom>
          <a:noFill/>
          <a:ln w="9525">
            <a:solidFill>
              <a:schemeClr val="tx1"/>
            </a:solidFill>
            <a:miter lim="800000"/>
            <a:headEnd/>
            <a:tailEnd/>
          </a:ln>
        </p:spPr>
      </p:pic>
      <p:sp>
        <p:nvSpPr>
          <p:cNvPr id="26" name="Rectangle 25"/>
          <p:cNvSpPr>
            <a:spLocks noChangeArrowheads="1"/>
          </p:cNvSpPr>
          <p:nvPr/>
        </p:nvSpPr>
        <p:spPr bwMode="auto">
          <a:xfrm>
            <a:off x="5791200" y="6400800"/>
            <a:ext cx="428322" cy="369332"/>
          </a:xfrm>
          <a:prstGeom prst="rect">
            <a:avLst/>
          </a:prstGeom>
          <a:noFill/>
          <a:ln w="9525">
            <a:noFill/>
            <a:miter lim="800000"/>
            <a:headEnd/>
            <a:tailEnd/>
          </a:ln>
        </p:spPr>
        <p:txBody>
          <a:bodyPr wrap="none">
            <a:spAutoFit/>
          </a:bodyPr>
          <a:lstStyle/>
          <a:p>
            <a:r>
              <a:rPr lang="en-US"/>
              <a:t>Aa</a:t>
            </a:r>
          </a:p>
        </p:txBody>
      </p:sp>
      <p:grpSp>
        <p:nvGrpSpPr>
          <p:cNvPr id="2" name="Group 40"/>
          <p:cNvGrpSpPr>
            <a:grpSpLocks/>
          </p:cNvGrpSpPr>
          <p:nvPr/>
        </p:nvGrpSpPr>
        <p:grpSpPr bwMode="auto">
          <a:xfrm>
            <a:off x="4114801" y="2971800"/>
            <a:ext cx="314325" cy="369888"/>
            <a:chOff x="7153922" y="3352800"/>
            <a:chExt cx="313678" cy="369332"/>
          </a:xfrm>
        </p:grpSpPr>
        <p:sp>
          <p:nvSpPr>
            <p:cNvPr id="42" name="Oval 41"/>
            <p:cNvSpPr/>
            <p:nvPr/>
          </p:nvSpPr>
          <p:spPr>
            <a:xfrm>
              <a:off x="7163427" y="3428885"/>
              <a:ext cx="304173" cy="2282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266" name="TextBox 42"/>
            <p:cNvSpPr txBox="1">
              <a:spLocks noChangeArrowheads="1"/>
            </p:cNvSpPr>
            <p:nvPr/>
          </p:nvSpPr>
          <p:spPr bwMode="auto">
            <a:xfrm>
              <a:off x="7153922" y="3352800"/>
              <a:ext cx="304800" cy="369332"/>
            </a:xfrm>
            <a:prstGeom prst="rect">
              <a:avLst/>
            </a:prstGeom>
            <a:noFill/>
            <a:ln w="9525">
              <a:noFill/>
              <a:miter lim="800000"/>
              <a:headEnd/>
              <a:tailEnd/>
            </a:ln>
          </p:spPr>
          <p:txBody>
            <a:bodyPr>
              <a:spAutoFit/>
            </a:bodyPr>
            <a:lstStyle/>
            <a:p>
              <a:r>
                <a:rPr lang="en-US"/>
                <a:t>A</a:t>
              </a:r>
            </a:p>
          </p:txBody>
        </p:sp>
      </p:grpSp>
      <p:grpSp>
        <p:nvGrpSpPr>
          <p:cNvPr id="3" name="Group 43"/>
          <p:cNvGrpSpPr>
            <a:grpSpLocks/>
          </p:cNvGrpSpPr>
          <p:nvPr/>
        </p:nvGrpSpPr>
        <p:grpSpPr bwMode="auto">
          <a:xfrm>
            <a:off x="7010400" y="2982914"/>
            <a:ext cx="304800" cy="369887"/>
            <a:chOff x="7705078" y="3346712"/>
            <a:chExt cx="304800" cy="369332"/>
          </a:xfrm>
        </p:grpSpPr>
        <p:sp>
          <p:nvSpPr>
            <p:cNvPr id="45" name="Oval 44"/>
            <p:cNvSpPr/>
            <p:nvPr/>
          </p:nvSpPr>
          <p:spPr>
            <a:xfrm>
              <a:off x="7705078" y="3440233"/>
              <a:ext cx="304800" cy="2282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264" name="TextBox 45"/>
            <p:cNvSpPr txBox="1">
              <a:spLocks noChangeArrowheads="1"/>
            </p:cNvSpPr>
            <p:nvPr/>
          </p:nvSpPr>
          <p:spPr bwMode="auto">
            <a:xfrm>
              <a:off x="7705078" y="3346712"/>
              <a:ext cx="304800" cy="369332"/>
            </a:xfrm>
            <a:prstGeom prst="rect">
              <a:avLst/>
            </a:prstGeom>
            <a:noFill/>
            <a:ln w="9525">
              <a:noFill/>
              <a:miter lim="800000"/>
              <a:headEnd/>
              <a:tailEnd/>
            </a:ln>
          </p:spPr>
          <p:txBody>
            <a:bodyPr>
              <a:spAutoFit/>
            </a:bodyPr>
            <a:lstStyle/>
            <a:p>
              <a:r>
                <a:rPr lang="en-US"/>
                <a:t>a</a:t>
              </a:r>
            </a:p>
          </p:txBody>
        </p:sp>
      </p:grpSp>
      <p:sp>
        <p:nvSpPr>
          <p:cNvPr id="57" name="TextBox 56"/>
          <p:cNvSpPr txBox="1">
            <a:spLocks noChangeArrowheads="1"/>
          </p:cNvSpPr>
          <p:nvPr/>
        </p:nvSpPr>
        <p:spPr bwMode="auto">
          <a:xfrm>
            <a:off x="2514600" y="2971800"/>
            <a:ext cx="1371600" cy="381000"/>
          </a:xfrm>
          <a:prstGeom prst="rect">
            <a:avLst/>
          </a:prstGeom>
          <a:noFill/>
          <a:ln w="9525">
            <a:noFill/>
            <a:miter lim="800000"/>
            <a:headEnd/>
            <a:tailEnd/>
          </a:ln>
        </p:spPr>
        <p:txBody>
          <a:bodyPr>
            <a:spAutoFit/>
          </a:bodyPr>
          <a:lstStyle/>
          <a:p>
            <a:r>
              <a:rPr lang="en-US"/>
              <a:t>Gametes</a:t>
            </a:r>
          </a:p>
        </p:txBody>
      </p:sp>
      <p:grpSp>
        <p:nvGrpSpPr>
          <p:cNvPr id="4" name="Group 58"/>
          <p:cNvGrpSpPr>
            <a:grpSpLocks/>
          </p:cNvGrpSpPr>
          <p:nvPr/>
        </p:nvGrpSpPr>
        <p:grpSpPr bwMode="auto">
          <a:xfrm>
            <a:off x="7632700" y="3381376"/>
            <a:ext cx="2044700" cy="1495425"/>
            <a:chOff x="6108580" y="3380601"/>
            <a:chExt cx="2044820" cy="1496199"/>
          </a:xfrm>
        </p:grpSpPr>
        <p:grpSp>
          <p:nvGrpSpPr>
            <p:cNvPr id="5" name="Group 29"/>
            <p:cNvGrpSpPr>
              <a:grpSpLocks/>
            </p:cNvGrpSpPr>
            <p:nvPr/>
          </p:nvGrpSpPr>
          <p:grpSpPr bwMode="auto">
            <a:xfrm>
              <a:off x="6641980" y="3657600"/>
              <a:ext cx="313678" cy="369332"/>
              <a:chOff x="7153922" y="3352800"/>
              <a:chExt cx="313678" cy="369332"/>
            </a:xfrm>
          </p:grpSpPr>
          <p:sp>
            <p:nvSpPr>
              <p:cNvPr id="28" name="Oval 27"/>
              <p:cNvSpPr/>
              <p:nvPr/>
            </p:nvSpPr>
            <p:spPr>
              <a:xfrm>
                <a:off x="7163479" y="3428408"/>
                <a:ext cx="304817" cy="2287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262" name="TextBox 28"/>
              <p:cNvSpPr txBox="1">
                <a:spLocks noChangeArrowheads="1"/>
              </p:cNvSpPr>
              <p:nvPr/>
            </p:nvSpPr>
            <p:spPr bwMode="auto">
              <a:xfrm>
                <a:off x="7153922" y="3352800"/>
                <a:ext cx="304800" cy="369332"/>
              </a:xfrm>
              <a:prstGeom prst="rect">
                <a:avLst/>
              </a:prstGeom>
              <a:noFill/>
              <a:ln w="9525">
                <a:noFill/>
                <a:miter lim="800000"/>
                <a:headEnd/>
                <a:tailEnd/>
              </a:ln>
            </p:spPr>
            <p:txBody>
              <a:bodyPr>
                <a:spAutoFit/>
              </a:bodyPr>
              <a:lstStyle/>
              <a:p>
                <a:r>
                  <a:rPr lang="en-US"/>
                  <a:t>A</a:t>
                </a:r>
              </a:p>
            </p:txBody>
          </p:sp>
        </p:grpSp>
        <p:grpSp>
          <p:nvGrpSpPr>
            <p:cNvPr id="6" name="Group 33"/>
            <p:cNvGrpSpPr>
              <a:grpSpLocks/>
            </p:cNvGrpSpPr>
            <p:nvPr/>
          </p:nvGrpSpPr>
          <p:grpSpPr bwMode="auto">
            <a:xfrm>
              <a:off x="7412858" y="3651512"/>
              <a:ext cx="304800" cy="369332"/>
              <a:chOff x="7705078" y="3346712"/>
              <a:chExt cx="304800" cy="369332"/>
            </a:xfrm>
          </p:grpSpPr>
          <p:sp>
            <p:nvSpPr>
              <p:cNvPr id="32" name="Oval 31"/>
              <p:cNvSpPr/>
              <p:nvPr/>
            </p:nvSpPr>
            <p:spPr>
              <a:xfrm>
                <a:off x="7705802" y="3441115"/>
                <a:ext cx="304818" cy="2287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260" name="TextBox 32"/>
              <p:cNvSpPr txBox="1">
                <a:spLocks noChangeArrowheads="1"/>
              </p:cNvSpPr>
              <p:nvPr/>
            </p:nvSpPr>
            <p:spPr bwMode="auto">
              <a:xfrm>
                <a:off x="7705078" y="3346712"/>
                <a:ext cx="304800" cy="369332"/>
              </a:xfrm>
              <a:prstGeom prst="rect">
                <a:avLst/>
              </a:prstGeom>
              <a:noFill/>
              <a:ln w="9525">
                <a:noFill/>
                <a:miter lim="800000"/>
                <a:headEnd/>
                <a:tailEnd/>
              </a:ln>
            </p:spPr>
            <p:txBody>
              <a:bodyPr>
                <a:spAutoFit/>
              </a:bodyPr>
              <a:lstStyle/>
              <a:p>
                <a:r>
                  <a:rPr lang="en-US"/>
                  <a:t>a</a:t>
                </a:r>
              </a:p>
            </p:txBody>
          </p:sp>
        </p:grpSp>
        <p:grpSp>
          <p:nvGrpSpPr>
            <p:cNvPr id="7" name="Group 34"/>
            <p:cNvGrpSpPr>
              <a:grpSpLocks/>
            </p:cNvGrpSpPr>
            <p:nvPr/>
          </p:nvGrpSpPr>
          <p:grpSpPr bwMode="auto">
            <a:xfrm>
              <a:off x="6108580" y="4050268"/>
              <a:ext cx="313678" cy="369332"/>
              <a:chOff x="7153922" y="3352800"/>
              <a:chExt cx="313678" cy="369332"/>
            </a:xfrm>
          </p:grpSpPr>
          <p:sp>
            <p:nvSpPr>
              <p:cNvPr id="36" name="Oval 35"/>
              <p:cNvSpPr/>
              <p:nvPr/>
            </p:nvSpPr>
            <p:spPr>
              <a:xfrm>
                <a:off x="7163448" y="3429644"/>
                <a:ext cx="304817" cy="22713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258" name="TextBox 36"/>
              <p:cNvSpPr txBox="1">
                <a:spLocks noChangeArrowheads="1"/>
              </p:cNvSpPr>
              <p:nvPr/>
            </p:nvSpPr>
            <p:spPr bwMode="auto">
              <a:xfrm>
                <a:off x="7153922" y="3352800"/>
                <a:ext cx="304800" cy="369332"/>
              </a:xfrm>
              <a:prstGeom prst="rect">
                <a:avLst/>
              </a:prstGeom>
              <a:noFill/>
              <a:ln w="9525">
                <a:noFill/>
                <a:miter lim="800000"/>
                <a:headEnd/>
                <a:tailEnd/>
              </a:ln>
            </p:spPr>
            <p:txBody>
              <a:bodyPr>
                <a:spAutoFit/>
              </a:bodyPr>
              <a:lstStyle/>
              <a:p>
                <a:r>
                  <a:rPr lang="en-US"/>
                  <a:t>A</a:t>
                </a:r>
              </a:p>
            </p:txBody>
          </p:sp>
        </p:grpSp>
        <p:grpSp>
          <p:nvGrpSpPr>
            <p:cNvPr id="8" name="Group 37"/>
            <p:cNvGrpSpPr>
              <a:grpSpLocks/>
            </p:cNvGrpSpPr>
            <p:nvPr/>
          </p:nvGrpSpPr>
          <p:grpSpPr bwMode="auto">
            <a:xfrm>
              <a:off x="6117458" y="4431268"/>
              <a:ext cx="304800" cy="369332"/>
              <a:chOff x="7705078" y="3346712"/>
              <a:chExt cx="304800" cy="369332"/>
            </a:xfrm>
          </p:grpSpPr>
          <p:sp>
            <p:nvSpPr>
              <p:cNvPr id="39" name="Oval 38"/>
              <p:cNvSpPr/>
              <p:nvPr/>
            </p:nvSpPr>
            <p:spPr>
              <a:xfrm>
                <a:off x="7705726" y="3439637"/>
                <a:ext cx="304818" cy="2287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256" name="TextBox 39"/>
              <p:cNvSpPr txBox="1">
                <a:spLocks noChangeArrowheads="1"/>
              </p:cNvSpPr>
              <p:nvPr/>
            </p:nvSpPr>
            <p:spPr bwMode="auto">
              <a:xfrm>
                <a:off x="7705078" y="3346712"/>
                <a:ext cx="304800" cy="369332"/>
              </a:xfrm>
              <a:prstGeom prst="rect">
                <a:avLst/>
              </a:prstGeom>
              <a:noFill/>
              <a:ln w="9525">
                <a:noFill/>
                <a:miter lim="800000"/>
                <a:headEnd/>
                <a:tailEnd/>
              </a:ln>
            </p:spPr>
            <p:txBody>
              <a:bodyPr>
                <a:spAutoFit/>
              </a:bodyPr>
              <a:lstStyle/>
              <a:p>
                <a:r>
                  <a:rPr lang="en-US"/>
                  <a:t>a</a:t>
                </a:r>
              </a:p>
            </p:txBody>
          </p:sp>
        </p:grpSp>
        <p:sp>
          <p:nvSpPr>
            <p:cNvPr id="9246" name="TextBox 46"/>
            <p:cNvSpPr txBox="1">
              <a:spLocks noChangeArrowheads="1"/>
            </p:cNvSpPr>
            <p:nvPr/>
          </p:nvSpPr>
          <p:spPr bwMode="auto">
            <a:xfrm>
              <a:off x="6645682" y="4095570"/>
              <a:ext cx="685800" cy="369332"/>
            </a:xfrm>
            <a:prstGeom prst="rect">
              <a:avLst/>
            </a:prstGeom>
            <a:noFill/>
            <a:ln w="9525">
              <a:noFill/>
              <a:miter lim="800000"/>
              <a:headEnd/>
              <a:tailEnd/>
            </a:ln>
          </p:spPr>
          <p:txBody>
            <a:bodyPr>
              <a:spAutoFit/>
            </a:bodyPr>
            <a:lstStyle/>
            <a:p>
              <a:r>
                <a:rPr lang="en-US"/>
                <a:t>AA</a:t>
              </a:r>
            </a:p>
          </p:txBody>
        </p:sp>
        <p:sp>
          <p:nvSpPr>
            <p:cNvPr id="9247" name="TextBox 47"/>
            <p:cNvSpPr txBox="1">
              <a:spLocks noChangeArrowheads="1"/>
            </p:cNvSpPr>
            <p:nvPr/>
          </p:nvSpPr>
          <p:spPr bwMode="auto">
            <a:xfrm>
              <a:off x="7315200" y="4458814"/>
              <a:ext cx="685800" cy="369332"/>
            </a:xfrm>
            <a:prstGeom prst="rect">
              <a:avLst/>
            </a:prstGeom>
            <a:noFill/>
            <a:ln w="9525">
              <a:noFill/>
              <a:miter lim="800000"/>
              <a:headEnd/>
              <a:tailEnd/>
            </a:ln>
          </p:spPr>
          <p:txBody>
            <a:bodyPr>
              <a:spAutoFit/>
            </a:bodyPr>
            <a:lstStyle/>
            <a:p>
              <a:r>
                <a:rPr lang="en-US"/>
                <a:t>aa</a:t>
              </a:r>
            </a:p>
          </p:txBody>
        </p:sp>
        <p:sp>
          <p:nvSpPr>
            <p:cNvPr id="9248" name="Rectangle 48"/>
            <p:cNvSpPr>
              <a:spLocks noChangeArrowheads="1"/>
            </p:cNvSpPr>
            <p:nvPr/>
          </p:nvSpPr>
          <p:spPr bwMode="auto">
            <a:xfrm>
              <a:off x="6659020" y="4471956"/>
              <a:ext cx="428347" cy="369523"/>
            </a:xfrm>
            <a:prstGeom prst="rect">
              <a:avLst/>
            </a:prstGeom>
            <a:noFill/>
            <a:ln w="9525">
              <a:noFill/>
              <a:miter lim="800000"/>
              <a:headEnd/>
              <a:tailEnd/>
            </a:ln>
          </p:spPr>
          <p:txBody>
            <a:bodyPr wrap="none">
              <a:spAutoFit/>
            </a:bodyPr>
            <a:lstStyle/>
            <a:p>
              <a:r>
                <a:rPr lang="en-US"/>
                <a:t>Aa</a:t>
              </a:r>
            </a:p>
          </p:txBody>
        </p:sp>
        <p:sp>
          <p:nvSpPr>
            <p:cNvPr id="9249" name="Rectangle 49"/>
            <p:cNvSpPr>
              <a:spLocks noChangeArrowheads="1"/>
            </p:cNvSpPr>
            <p:nvPr/>
          </p:nvSpPr>
          <p:spPr bwMode="auto">
            <a:xfrm>
              <a:off x="7274512" y="4091868"/>
              <a:ext cx="428347" cy="369523"/>
            </a:xfrm>
            <a:prstGeom prst="rect">
              <a:avLst/>
            </a:prstGeom>
            <a:noFill/>
            <a:ln w="9525">
              <a:noFill/>
              <a:miter lim="800000"/>
              <a:headEnd/>
              <a:tailEnd/>
            </a:ln>
          </p:spPr>
          <p:txBody>
            <a:bodyPr wrap="none">
              <a:spAutoFit/>
            </a:bodyPr>
            <a:lstStyle/>
            <a:p>
              <a:r>
                <a:rPr lang="en-US"/>
                <a:t>Aa</a:t>
              </a:r>
            </a:p>
          </p:txBody>
        </p:sp>
        <p:sp>
          <p:nvSpPr>
            <p:cNvPr id="51" name="Rectangle 50"/>
            <p:cNvSpPr/>
            <p:nvPr/>
          </p:nvSpPr>
          <p:spPr>
            <a:xfrm>
              <a:off x="6565807" y="4096935"/>
              <a:ext cx="609636" cy="3811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4" name="Rectangle 53"/>
            <p:cNvSpPr/>
            <p:nvPr/>
          </p:nvSpPr>
          <p:spPr>
            <a:xfrm>
              <a:off x="7184968" y="4096935"/>
              <a:ext cx="609636" cy="3811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5" name="Rectangle 54"/>
            <p:cNvSpPr/>
            <p:nvPr/>
          </p:nvSpPr>
          <p:spPr>
            <a:xfrm>
              <a:off x="6575332" y="4495603"/>
              <a:ext cx="609636" cy="3811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6" name="Rectangle 55"/>
            <p:cNvSpPr/>
            <p:nvPr/>
          </p:nvSpPr>
          <p:spPr>
            <a:xfrm>
              <a:off x="7184968" y="4495603"/>
              <a:ext cx="609636" cy="3811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254" name="TextBox 57"/>
            <p:cNvSpPr txBox="1">
              <a:spLocks noChangeArrowheads="1"/>
            </p:cNvSpPr>
            <p:nvPr/>
          </p:nvSpPr>
          <p:spPr bwMode="auto">
            <a:xfrm>
              <a:off x="6781800" y="3380601"/>
              <a:ext cx="1371600" cy="276999"/>
            </a:xfrm>
            <a:prstGeom prst="rect">
              <a:avLst/>
            </a:prstGeom>
            <a:noFill/>
            <a:ln w="9525">
              <a:noFill/>
              <a:miter lim="800000"/>
              <a:headEnd/>
              <a:tailEnd/>
            </a:ln>
          </p:spPr>
          <p:txBody>
            <a:bodyPr>
              <a:spAutoFit/>
            </a:bodyPr>
            <a:lstStyle/>
            <a:p>
              <a:r>
                <a:rPr lang="en-US" sz="1200"/>
                <a:t>Gametes</a:t>
              </a:r>
            </a:p>
          </p:txBody>
        </p:sp>
      </p:grpSp>
    </p:spTree>
    <p:extLst>
      <p:ext uri="{BB962C8B-B14F-4D97-AF65-F5344CB8AC3E}">
        <p14:creationId xmlns:p14="http://schemas.microsoft.com/office/powerpoint/2010/main" val="3463256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5124"/>
                                        </p:tgtEl>
                                        <p:attrNameLst>
                                          <p:attrName>style.visibility</p:attrName>
                                        </p:attrNameLst>
                                      </p:cBhvr>
                                      <p:to>
                                        <p:strVal val="visible"/>
                                      </p:to>
                                    </p:set>
                                    <p:animEffect transition="in" filter="dissolve">
                                      <p:cBhvr>
                                        <p:cTn id="13" dur="500"/>
                                        <p:tgtEl>
                                          <p:spTgt spid="5124"/>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dissolve">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57"/>
                                        </p:tgtEl>
                                        <p:attrNameLst>
                                          <p:attrName>style.visibility</p:attrName>
                                        </p:attrNameLst>
                                      </p:cBhvr>
                                      <p:to>
                                        <p:strVal val="visible"/>
                                      </p:to>
                                    </p:set>
                                    <p:animEffect transition="in" filter="blinds(horizontal)">
                                      <p:cBhvr>
                                        <p:cTn id="21" dur="500"/>
                                        <p:tgtEl>
                                          <p:spTgt spid="57"/>
                                        </p:tgtEl>
                                      </p:cBhvr>
                                    </p:animEffect>
                                  </p:childTnLst>
                                </p:cTn>
                              </p:par>
                              <p:par>
                                <p:cTn id="22" presetID="3" presetClass="entr" presetSubtype="10"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dissolve">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5125"/>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5127"/>
                                        </p:tgtEl>
                                        <p:attrNameLst>
                                          <p:attrName>style.visibility</p:attrName>
                                        </p:attrNameLst>
                                      </p:cBhvr>
                                      <p:to>
                                        <p:strVal val="visible"/>
                                      </p:to>
                                    </p:set>
                                    <p:animEffect transition="in" filter="dissolve">
                                      <p:cBhvr>
                                        <p:cTn id="40" dur="500"/>
                                        <p:tgtEl>
                                          <p:spTgt spid="5127"/>
                                        </p:tgtEl>
                                      </p:cBhvr>
                                    </p:animEffect>
                                  </p:childTnLst>
                                </p:cTn>
                              </p:par>
                              <p:par>
                                <p:cTn id="41" presetID="9" presetClass="entr" presetSubtype="0" fill="hold" nodeType="withEffect">
                                  <p:stCondLst>
                                    <p:cond delay="0"/>
                                  </p:stCondLst>
                                  <p:childTnLst>
                                    <p:set>
                                      <p:cBhvr>
                                        <p:cTn id="42" dur="1" fill="hold">
                                          <p:stCondLst>
                                            <p:cond delay="0"/>
                                          </p:stCondLst>
                                        </p:cTn>
                                        <p:tgtEl>
                                          <p:spTgt spid="5126"/>
                                        </p:tgtEl>
                                        <p:attrNameLst>
                                          <p:attrName>style.visibility</p:attrName>
                                        </p:attrNameLst>
                                      </p:cBhvr>
                                      <p:to>
                                        <p:strVal val="visible"/>
                                      </p:to>
                                    </p:set>
                                    <p:animEffect transition="in" filter="dissolve">
                                      <p:cBhvr>
                                        <p:cTn id="43" dur="500"/>
                                        <p:tgtEl>
                                          <p:spTgt spid="5126"/>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dissolve">
                                      <p:cBhvr>
                                        <p:cTn id="48" dur="500"/>
                                        <p:tgtEl>
                                          <p:spTgt spid="21"/>
                                        </p:tgtEl>
                                      </p:cBhvr>
                                    </p:animEffect>
                                  </p:childTnLst>
                                </p:cTn>
                              </p:par>
                            </p:childTnLst>
                          </p:cTn>
                        </p:par>
                      </p:childTnLst>
                    </p:cTn>
                  </p:par>
                  <p:par>
                    <p:cTn id="49" fill="hold">
                      <p:stCondLst>
                        <p:cond delay="indefinite"/>
                      </p:stCondLst>
                      <p:childTnLst>
                        <p:par>
                          <p:cTn id="50" fill="hold">
                            <p:stCondLst>
                              <p:cond delay="0"/>
                            </p:stCondLst>
                            <p:childTnLst>
                              <p:par>
                                <p:cTn id="51" presetID="5" presetClass="entr" presetSubtype="1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checkerboard(across)">
                                      <p:cBhvr>
                                        <p:cTn id="53" dur="500"/>
                                        <p:tgtEl>
                                          <p:spTgt spid="10"/>
                                        </p:tgtEl>
                                      </p:cBhvr>
                                    </p:animEffect>
                                  </p:childTnLst>
                                </p:cTn>
                              </p:par>
                              <p:par>
                                <p:cTn id="54" presetID="5" presetClass="entr" presetSubtype="1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checkerboard(across)">
                                      <p:cBhvr>
                                        <p:cTn id="56" dur="500"/>
                                        <p:tgtEl>
                                          <p:spTgt spid="12"/>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5" presetClass="entr" presetSubtype="10" fill="hold" grpId="0" nodeType="click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checkerboard(across)">
                                      <p:cBhvr>
                                        <p:cTn id="65" dur="500"/>
                                        <p:tgtEl>
                                          <p:spTgt spid="11"/>
                                        </p:tgtEl>
                                      </p:cBhvr>
                                    </p:animEffect>
                                  </p:childTnLst>
                                </p:cTn>
                              </p:par>
                              <p:par>
                                <p:cTn id="66" presetID="5" presetClass="entr" presetSubtype="10" fill="hold" nodeType="withEffect">
                                  <p:stCondLst>
                                    <p:cond delay="0"/>
                                  </p:stCondLst>
                                  <p:childTnLst>
                                    <p:set>
                                      <p:cBhvr>
                                        <p:cTn id="67" dur="1" fill="hold">
                                          <p:stCondLst>
                                            <p:cond delay="0"/>
                                          </p:stCondLst>
                                        </p:cTn>
                                        <p:tgtEl>
                                          <p:spTgt spid="5128"/>
                                        </p:tgtEl>
                                        <p:attrNameLst>
                                          <p:attrName>style.visibility</p:attrName>
                                        </p:attrNameLst>
                                      </p:cBhvr>
                                      <p:to>
                                        <p:strVal val="visible"/>
                                      </p:to>
                                    </p:set>
                                    <p:animEffect transition="in" filter="checkerboard(across)">
                                      <p:cBhvr>
                                        <p:cTn id="68" dur="500"/>
                                        <p:tgtEl>
                                          <p:spTgt spid="5128"/>
                                        </p:tgtEl>
                                      </p:cBhvr>
                                    </p:animEffect>
                                  </p:childTnLst>
                                </p:cTn>
                              </p:par>
                              <p:par>
                                <p:cTn id="69" presetID="5" presetClass="entr" presetSubtype="10" fill="hold" nodeType="withEffect">
                                  <p:stCondLst>
                                    <p:cond delay="0"/>
                                  </p:stCondLst>
                                  <p:childTnLst>
                                    <p:set>
                                      <p:cBhvr>
                                        <p:cTn id="70" dur="1" fill="hold">
                                          <p:stCondLst>
                                            <p:cond delay="0"/>
                                          </p:stCondLst>
                                        </p:cTn>
                                        <p:tgtEl>
                                          <p:spTgt spid="5129"/>
                                        </p:tgtEl>
                                        <p:attrNameLst>
                                          <p:attrName>style.visibility</p:attrName>
                                        </p:attrNameLst>
                                      </p:cBhvr>
                                      <p:to>
                                        <p:strVal val="visible"/>
                                      </p:to>
                                    </p:set>
                                    <p:animEffect transition="in" filter="checkerboard(across)">
                                      <p:cBhvr>
                                        <p:cTn id="71" dur="500"/>
                                        <p:tgtEl>
                                          <p:spTgt spid="5129"/>
                                        </p:tgtEl>
                                      </p:cBhvr>
                                    </p:animEffect>
                                  </p:childTnLst>
                                </p:cTn>
                              </p:par>
                              <p:par>
                                <p:cTn id="72" presetID="5" presetClass="entr" presetSubtype="10" fill="hold"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checkerboard(across)">
                                      <p:cBhvr>
                                        <p:cTn id="74" dur="500"/>
                                        <p:tgtEl>
                                          <p:spTgt spid="25"/>
                                        </p:tgtEl>
                                      </p:cBhvr>
                                    </p:animEffect>
                                  </p:childTnLst>
                                </p:cTn>
                              </p:par>
                            </p:childTnLst>
                          </p:cTn>
                        </p:par>
                      </p:childTnLst>
                    </p:cTn>
                  </p:par>
                  <p:par>
                    <p:cTn id="75" fill="hold">
                      <p:stCondLst>
                        <p:cond delay="indefinite"/>
                      </p:stCondLst>
                      <p:childTnLst>
                        <p:par>
                          <p:cTn id="76" fill="hold">
                            <p:stCondLst>
                              <p:cond delay="0"/>
                            </p:stCondLst>
                            <p:childTnLst>
                              <p:par>
                                <p:cTn id="77" presetID="9" presetClass="entr" presetSubtype="0" fill="hold" grpId="0" nodeType="click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dissolve">
                                      <p:cBhvr>
                                        <p:cTn id="79" dur="500"/>
                                        <p:tgtEl>
                                          <p:spTgt spid="23"/>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dissolve">
                                      <p:cBhvr>
                                        <p:cTn id="82" dur="500"/>
                                        <p:tgtEl>
                                          <p:spTgt spid="26"/>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24"/>
                                        </p:tgtEl>
                                        <p:attrNameLst>
                                          <p:attrName>style.visibility</p:attrName>
                                        </p:attrNameLst>
                                      </p:cBhvr>
                                      <p:to>
                                        <p:strVal val="visible"/>
                                      </p:to>
                                    </p:set>
                                    <p:animEffect transition="in" filter="dissolve">
                                      <p:cBhvr>
                                        <p:cTn id="85" dur="500"/>
                                        <p:tgtEl>
                                          <p:spTgt spid="24"/>
                                        </p:tgtEl>
                                      </p:cBhvr>
                                    </p:animEffect>
                                  </p:childTnLst>
                                </p:cTn>
                              </p:par>
                            </p:childTnLst>
                          </p:cTn>
                        </p:par>
                      </p:childTnLst>
                    </p:cTn>
                  </p:par>
                  <p:par>
                    <p:cTn id="86" fill="hold">
                      <p:stCondLst>
                        <p:cond delay="indefinite"/>
                      </p:stCondLst>
                      <p:childTnLst>
                        <p:par>
                          <p:cTn id="87" fill="hold">
                            <p:stCondLst>
                              <p:cond delay="0"/>
                            </p:stCondLst>
                            <p:childTnLst>
                              <p:par>
                                <p:cTn id="88" presetID="9" presetClass="entr" presetSubtype="0" fill="hold" grpId="0" nodeType="click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dissolve">
                                      <p:cBhvr>
                                        <p:cTn id="9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5" grpId="0"/>
      <p:bldP spid="5127" grpId="0"/>
      <p:bldP spid="10" grpId="0"/>
      <p:bldP spid="11" grpId="0"/>
      <p:bldP spid="12" grpId="0" animBg="1"/>
      <p:bldP spid="13" grpId="0" animBg="1"/>
      <p:bldP spid="18" grpId="0"/>
      <p:bldP spid="19" grpId="0"/>
      <p:bldP spid="20" grpId="0"/>
      <p:bldP spid="21" grpId="0"/>
      <p:bldP spid="23" grpId="0"/>
      <p:bldP spid="24" grpId="0"/>
      <p:bldP spid="26" grpId="0"/>
      <p:bldP spid="5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Mendel prediction!!</a:t>
            </a:r>
          </a:p>
        </p:txBody>
      </p:sp>
      <p:sp>
        <p:nvSpPr>
          <p:cNvPr id="3" name="Content Placeholder 2"/>
          <p:cNvSpPr>
            <a:spLocks noGrp="1"/>
          </p:cNvSpPr>
          <p:nvPr>
            <p:ph idx="1"/>
          </p:nvPr>
        </p:nvSpPr>
        <p:spPr/>
        <p:txBody>
          <a:bodyPr/>
          <a:lstStyle/>
          <a:p>
            <a:r>
              <a:rPr lang="en-US" b="1" dirty="0"/>
              <a:t>Meiosis</a:t>
            </a:r>
            <a:r>
              <a:rPr lang="en-US" dirty="0"/>
              <a:t> was discovered and described for the first time in sea urchin eggs in </a:t>
            </a:r>
            <a:r>
              <a:rPr lang="en-US" b="1" dirty="0"/>
              <a:t>1876</a:t>
            </a:r>
            <a:r>
              <a:rPr lang="en-US" dirty="0"/>
              <a:t> by the German biologist Oscar </a:t>
            </a:r>
            <a:r>
              <a:rPr lang="en-US" dirty="0" err="1"/>
              <a:t>Hertwig</a:t>
            </a:r>
            <a:r>
              <a:rPr lang="en-US" dirty="0"/>
              <a:t>. </a:t>
            </a:r>
          </a:p>
          <a:p>
            <a:endParaRPr lang="en-US" dirty="0"/>
          </a:p>
          <a:p>
            <a:r>
              <a:rPr lang="en-US" dirty="0"/>
              <a:t>It was described again in </a:t>
            </a:r>
            <a:r>
              <a:rPr lang="en-US" b="1" dirty="0"/>
              <a:t>1883</a:t>
            </a:r>
            <a:r>
              <a:rPr lang="en-US" dirty="0"/>
              <a:t>, at the level of chromosomes, by the Belgian zoologist </a:t>
            </a:r>
            <a:r>
              <a:rPr lang="en-US" dirty="0" err="1"/>
              <a:t>Edouard</a:t>
            </a:r>
            <a:r>
              <a:rPr lang="en-US" dirty="0"/>
              <a:t> Van </a:t>
            </a:r>
            <a:r>
              <a:rPr lang="en-US" dirty="0" err="1"/>
              <a:t>Beneden</a:t>
            </a:r>
            <a:r>
              <a:rPr lang="en-US" dirty="0"/>
              <a:t>, in </a:t>
            </a:r>
            <a:r>
              <a:rPr lang="en-US" dirty="0" err="1"/>
              <a:t>Ascaris</a:t>
            </a:r>
            <a:r>
              <a:rPr lang="en-US" dirty="0"/>
              <a:t> worms' eggs.</a:t>
            </a:r>
          </a:p>
        </p:txBody>
      </p:sp>
    </p:spTree>
    <p:extLst>
      <p:ext uri="{BB962C8B-B14F-4D97-AF65-F5344CB8AC3E}">
        <p14:creationId xmlns:p14="http://schemas.microsoft.com/office/powerpoint/2010/main" val="3465329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1" name="Text Box 3"/>
          <p:cNvSpPr txBox="1">
            <a:spLocks noChangeArrowheads="1"/>
          </p:cNvSpPr>
          <p:nvPr/>
        </p:nvSpPr>
        <p:spPr bwMode="gray">
          <a:xfrm>
            <a:off x="1524000" y="533401"/>
            <a:ext cx="9144000" cy="1031051"/>
          </a:xfrm>
          <a:prstGeom prst="rect">
            <a:avLst/>
          </a:prstGeom>
          <a:solidFill>
            <a:srgbClr val="80008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tIns="365760">
            <a:spAutoFit/>
          </a:bodyPr>
          <a:lstStyle/>
          <a:p>
            <a:pPr>
              <a:spcBef>
                <a:spcPct val="50000"/>
              </a:spcBef>
            </a:pPr>
            <a:r>
              <a:rPr lang="en-US" sz="4000" dirty="0">
                <a:solidFill>
                  <a:srgbClr val="FFFF00"/>
                </a:solidFill>
                <a:latin typeface="Tekton Pro Bold" charset="0"/>
              </a:rPr>
              <a:t>Chromosome segregation</a:t>
            </a:r>
          </a:p>
        </p:txBody>
      </p:sp>
      <p:sp>
        <p:nvSpPr>
          <p:cNvPr id="206856" name="Text Box 8"/>
          <p:cNvSpPr txBox="1">
            <a:spLocks noChangeArrowheads="1"/>
          </p:cNvSpPr>
          <p:nvPr/>
        </p:nvSpPr>
        <p:spPr bwMode="auto">
          <a:xfrm>
            <a:off x="2590801" y="2867025"/>
            <a:ext cx="5857875" cy="212365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290513" indent="-290513">
              <a:defRPr sz="2400">
                <a:solidFill>
                  <a:schemeClr val="tx1"/>
                </a:solidFill>
                <a:latin typeface="Times" charset="0"/>
                <a:ea typeface="ＭＳ Ｐゴシック" charset="0"/>
              </a:defRPr>
            </a:lvl1pPr>
            <a:lvl2pPr>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eaLnBrk="0" fontAlgn="base" hangingPunct="0">
              <a:spcBef>
                <a:spcPct val="0"/>
              </a:spcBef>
              <a:spcAft>
                <a:spcPct val="0"/>
              </a:spcAft>
              <a:defRPr sz="2400">
                <a:solidFill>
                  <a:schemeClr val="tx1"/>
                </a:solidFill>
                <a:latin typeface="Times" charset="0"/>
                <a:ea typeface="ＭＳ Ｐゴシック" charset="0"/>
              </a:defRPr>
            </a:lvl6pPr>
            <a:lvl7pPr eaLnBrk="0" fontAlgn="base" hangingPunct="0">
              <a:spcBef>
                <a:spcPct val="0"/>
              </a:spcBef>
              <a:spcAft>
                <a:spcPct val="0"/>
              </a:spcAft>
              <a:defRPr sz="2400">
                <a:solidFill>
                  <a:schemeClr val="tx1"/>
                </a:solidFill>
                <a:latin typeface="Times" charset="0"/>
                <a:ea typeface="ＭＳ Ｐゴシック" charset="0"/>
              </a:defRPr>
            </a:lvl7pPr>
            <a:lvl8pPr eaLnBrk="0" fontAlgn="base" hangingPunct="0">
              <a:spcBef>
                <a:spcPct val="0"/>
              </a:spcBef>
              <a:spcAft>
                <a:spcPct val="0"/>
              </a:spcAft>
              <a:defRPr sz="2400">
                <a:solidFill>
                  <a:schemeClr val="tx1"/>
                </a:solidFill>
                <a:latin typeface="Times" charset="0"/>
                <a:ea typeface="ＭＳ Ｐゴシック" charset="0"/>
              </a:defRPr>
            </a:lvl8pPr>
            <a:lvl9pPr eaLnBrk="0" fontAlgn="base" hangingPunct="0">
              <a:spcBef>
                <a:spcPct val="0"/>
              </a:spcBef>
              <a:spcAft>
                <a:spcPct val="0"/>
              </a:spcAft>
              <a:defRPr sz="2400">
                <a:solidFill>
                  <a:schemeClr val="tx1"/>
                </a:solidFill>
                <a:latin typeface="Times" charset="0"/>
                <a:ea typeface="ＭＳ Ｐゴシック" charset="0"/>
              </a:defRPr>
            </a:lvl9pPr>
          </a:lstStyle>
          <a:p>
            <a:pPr>
              <a:spcBef>
                <a:spcPct val="50000"/>
              </a:spcBef>
            </a:pPr>
            <a:r>
              <a:rPr lang="en-US">
                <a:latin typeface="Myriad Roman" charset="0"/>
              </a:rPr>
              <a:t>Mitosis</a:t>
            </a:r>
          </a:p>
          <a:p>
            <a:pPr>
              <a:spcBef>
                <a:spcPct val="50000"/>
              </a:spcBef>
            </a:pPr>
            <a:endParaRPr lang="en-US">
              <a:latin typeface="Myriad Roman" charset="0"/>
            </a:endParaRPr>
          </a:p>
          <a:p>
            <a:pPr>
              <a:spcBef>
                <a:spcPct val="50000"/>
              </a:spcBef>
            </a:pPr>
            <a:r>
              <a:rPr lang="en-US">
                <a:latin typeface="Myriad Roman" charset="0"/>
              </a:rPr>
              <a:t>Meiosis</a:t>
            </a:r>
          </a:p>
          <a:p>
            <a:pPr>
              <a:spcBef>
                <a:spcPct val="50000"/>
              </a:spcBef>
            </a:pPr>
            <a:endParaRPr lang="en-US">
              <a:latin typeface="Myriad Roman" charset="0"/>
            </a:endParaRPr>
          </a:p>
        </p:txBody>
      </p:sp>
      <p:sp>
        <p:nvSpPr>
          <p:cNvPr id="206855" name="Text Box 7"/>
          <p:cNvSpPr txBox="1">
            <a:spLocks noChangeArrowheads="1"/>
          </p:cNvSpPr>
          <p:nvPr/>
        </p:nvSpPr>
        <p:spPr bwMode="auto">
          <a:xfrm>
            <a:off x="1674814" y="2063750"/>
            <a:ext cx="899318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Inheritance of traits from parent to offspring</a:t>
            </a:r>
          </a:p>
        </p:txBody>
      </p:sp>
      <p:sp>
        <p:nvSpPr>
          <p:cNvPr id="206852" name="Line 4"/>
          <p:cNvSpPr>
            <a:spLocks noChangeShapeType="1"/>
          </p:cNvSpPr>
          <p:nvPr/>
        </p:nvSpPr>
        <p:spPr bwMode="auto">
          <a:xfrm>
            <a:off x="1524000" y="609600"/>
            <a:ext cx="8623300" cy="0"/>
          </a:xfrm>
          <a:prstGeom prst="line">
            <a:avLst/>
          </a:prstGeom>
          <a:noFill/>
          <a:ln w="57150">
            <a:solidFill>
              <a:srgbClr val="800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Tree>
    <p:extLst>
      <p:ext uri="{BB962C8B-B14F-4D97-AF65-F5344CB8AC3E}">
        <p14:creationId xmlns:p14="http://schemas.microsoft.com/office/powerpoint/2010/main" val="113802356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Text Box 2"/>
          <p:cNvSpPr txBox="1">
            <a:spLocks noChangeArrowheads="1"/>
          </p:cNvSpPr>
          <p:nvPr/>
        </p:nvSpPr>
        <p:spPr bwMode="auto">
          <a:xfrm>
            <a:off x="1981201" y="304800"/>
            <a:ext cx="7445375" cy="52322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800" b="1" dirty="0">
                <a:solidFill>
                  <a:srgbClr val="800080"/>
                </a:solidFill>
              </a:rPr>
              <a:t>Meiosis—to halve the </a:t>
            </a:r>
            <a:r>
              <a:rPr lang="en-US" sz="2800" b="1" dirty="0" err="1">
                <a:solidFill>
                  <a:srgbClr val="800080"/>
                </a:solidFill>
              </a:rPr>
              <a:t>ploidy</a:t>
            </a:r>
            <a:r>
              <a:rPr lang="en-US" sz="2800" b="1" dirty="0">
                <a:solidFill>
                  <a:srgbClr val="800080"/>
                </a:solidFill>
              </a:rPr>
              <a:t> for gametes</a:t>
            </a:r>
          </a:p>
        </p:txBody>
      </p:sp>
      <p:pic>
        <p:nvPicPr>
          <p:cNvPr id="48435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4188" y="2854325"/>
            <a:ext cx="4064000" cy="3689350"/>
          </a:xfrm>
          <a:prstGeom prst="rect">
            <a:avLst/>
          </a:prstGeom>
          <a:noFill/>
          <a:extLst>
            <a:ext uri="{909E8E84-426E-40dd-AFC4-6F175D3DCCD1}">
              <a14:hiddenFill xmlns:a14="http://schemas.microsoft.com/office/drawing/2010/main" xmlns="">
                <a:solidFill>
                  <a:srgbClr val="FFFFFF"/>
                </a:solidFill>
              </a14:hiddenFill>
            </a:ext>
          </a:extLst>
        </p:spPr>
      </p:pic>
      <p:grpSp>
        <p:nvGrpSpPr>
          <p:cNvPr id="484367" name="Group 15"/>
          <p:cNvGrpSpPr>
            <a:grpSpLocks/>
          </p:cNvGrpSpPr>
          <p:nvPr/>
        </p:nvGrpSpPr>
        <p:grpSpPr bwMode="auto">
          <a:xfrm>
            <a:off x="1687513" y="4237039"/>
            <a:ext cx="6273800" cy="1936750"/>
            <a:chOff x="103" y="2669"/>
            <a:chExt cx="3952" cy="1220"/>
          </a:xfrm>
        </p:grpSpPr>
        <p:sp>
          <p:nvSpPr>
            <p:cNvPr id="484358" name="Text Box 6"/>
            <p:cNvSpPr txBox="1">
              <a:spLocks noChangeArrowheads="1"/>
            </p:cNvSpPr>
            <p:nvPr/>
          </p:nvSpPr>
          <p:spPr bwMode="hidden">
            <a:xfrm>
              <a:off x="2392" y="3482"/>
              <a:ext cx="1663" cy="4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solidFill>
                    <a:schemeClr val="hlink"/>
                  </a:solidFill>
                  <a:latin typeface="Marker Felt" charset="0"/>
                </a:rPr>
                <a:t>3 other combinations possible!</a:t>
              </a:r>
            </a:p>
          </p:txBody>
        </p:sp>
        <p:sp>
          <p:nvSpPr>
            <p:cNvPr id="484359" name="Oval 7"/>
            <p:cNvSpPr>
              <a:spLocks noChangeArrowheads="1"/>
            </p:cNvSpPr>
            <p:nvPr/>
          </p:nvSpPr>
          <p:spPr bwMode="hidden">
            <a:xfrm>
              <a:off x="1689" y="2669"/>
              <a:ext cx="1014" cy="690"/>
            </a:xfrm>
            <a:prstGeom prst="ellipse">
              <a:avLst/>
            </a:prstGeom>
            <a:noFill/>
            <a:ln w="38100">
              <a:solidFill>
                <a:schemeClr val="hlink"/>
              </a:solidFill>
              <a:round/>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84360" name="Freeform 8"/>
            <p:cNvSpPr>
              <a:spLocks/>
            </p:cNvSpPr>
            <p:nvPr/>
          </p:nvSpPr>
          <p:spPr bwMode="hidden">
            <a:xfrm>
              <a:off x="2641" y="3186"/>
              <a:ext cx="290" cy="331"/>
            </a:xfrm>
            <a:custGeom>
              <a:avLst/>
              <a:gdLst>
                <a:gd name="T0" fmla="*/ 0 w 290"/>
                <a:gd name="T1" fmla="*/ 0 h 331"/>
                <a:gd name="T2" fmla="*/ 221 w 290"/>
                <a:gd name="T3" fmla="*/ 97 h 331"/>
                <a:gd name="T4" fmla="*/ 290 w 290"/>
                <a:gd name="T5" fmla="*/ 331 h 331"/>
              </a:gdLst>
              <a:ahLst/>
              <a:cxnLst>
                <a:cxn ang="0">
                  <a:pos x="T0" y="T1"/>
                </a:cxn>
                <a:cxn ang="0">
                  <a:pos x="T2" y="T3"/>
                </a:cxn>
                <a:cxn ang="0">
                  <a:pos x="T4" y="T5"/>
                </a:cxn>
              </a:cxnLst>
              <a:rect l="0" t="0" r="r" b="b"/>
              <a:pathLst>
                <a:path w="290" h="331">
                  <a:moveTo>
                    <a:pt x="0" y="0"/>
                  </a:moveTo>
                  <a:cubicBezTo>
                    <a:pt x="86" y="21"/>
                    <a:pt x="173" y="42"/>
                    <a:pt x="221" y="97"/>
                  </a:cubicBezTo>
                  <a:cubicBezTo>
                    <a:pt x="269" y="152"/>
                    <a:pt x="279" y="241"/>
                    <a:pt x="290" y="331"/>
                  </a:cubicBezTo>
                </a:path>
              </a:pathLst>
            </a:custGeom>
            <a:noFill/>
            <a:ln w="38100" cmpd="sng">
              <a:solidFill>
                <a:schemeClr val="hlink"/>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84361" name="Oval 9"/>
            <p:cNvSpPr>
              <a:spLocks noChangeArrowheads="1"/>
            </p:cNvSpPr>
            <p:nvPr/>
          </p:nvSpPr>
          <p:spPr bwMode="hidden">
            <a:xfrm>
              <a:off x="103" y="2669"/>
              <a:ext cx="1014" cy="690"/>
            </a:xfrm>
            <a:prstGeom prst="ellipse">
              <a:avLst/>
            </a:prstGeom>
            <a:noFill/>
            <a:ln w="38100">
              <a:solidFill>
                <a:schemeClr val="hlink"/>
              </a:solidFill>
              <a:round/>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84362" name="Line 10"/>
            <p:cNvSpPr>
              <a:spLocks noChangeShapeType="1"/>
            </p:cNvSpPr>
            <p:nvPr/>
          </p:nvSpPr>
          <p:spPr bwMode="hidden">
            <a:xfrm>
              <a:off x="1083" y="3138"/>
              <a:ext cx="1303" cy="441"/>
            </a:xfrm>
            <a:prstGeom prst="line">
              <a:avLst/>
            </a:prstGeom>
            <a:noFill/>
            <a:ln w="38100">
              <a:solidFill>
                <a:schemeClr va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484363" name="Text Box 11"/>
          <p:cNvSpPr txBox="1">
            <a:spLocks noChangeArrowheads="1"/>
          </p:cNvSpPr>
          <p:nvPr/>
        </p:nvSpPr>
        <p:spPr bwMode="auto">
          <a:xfrm>
            <a:off x="6553200" y="1066801"/>
            <a:ext cx="3581400" cy="12003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solidFill>
                  <a:srgbClr val="800080"/>
                </a:solidFill>
              </a:rPr>
              <a:t>Each parent has 2 copies of every chromosome… but each gamete must have only 1 copy of each chromosome</a:t>
            </a:r>
          </a:p>
        </p:txBody>
      </p:sp>
      <p:sp>
        <p:nvSpPr>
          <p:cNvPr id="484364" name="Text Box 12"/>
          <p:cNvSpPr txBox="1">
            <a:spLocks noChangeArrowheads="1"/>
          </p:cNvSpPr>
          <p:nvPr/>
        </p:nvSpPr>
        <p:spPr bwMode="auto">
          <a:xfrm>
            <a:off x="6583364" y="3590926"/>
            <a:ext cx="3608387" cy="16158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dirty="0">
                <a:solidFill>
                  <a:srgbClr val="344FFF"/>
                </a:solidFill>
                <a:latin typeface="Marker Felt" charset="0"/>
              </a:rPr>
              <a:t>Homologous=  Homo   +   </a:t>
            </a:r>
            <a:r>
              <a:rPr lang="en-US" dirty="0" err="1">
                <a:solidFill>
                  <a:srgbClr val="344FFF"/>
                </a:solidFill>
                <a:latin typeface="Marker Felt" charset="0"/>
              </a:rPr>
              <a:t>Logous</a:t>
            </a:r>
            <a:endParaRPr lang="en-US" dirty="0">
              <a:solidFill>
                <a:srgbClr val="344FFF"/>
              </a:solidFill>
              <a:latin typeface="Marker Felt" charset="0"/>
            </a:endParaRPr>
          </a:p>
          <a:p>
            <a:pPr>
              <a:spcBef>
                <a:spcPct val="50000"/>
              </a:spcBef>
            </a:pPr>
            <a:r>
              <a:rPr lang="en-US" dirty="0">
                <a:solidFill>
                  <a:srgbClr val="344FFF"/>
                </a:solidFill>
                <a:latin typeface="Marker Felt" charset="0"/>
              </a:rPr>
              <a:t>                          Same    +  Shape </a:t>
            </a:r>
          </a:p>
          <a:p>
            <a:pPr>
              <a:spcBef>
                <a:spcPct val="50000"/>
              </a:spcBef>
            </a:pPr>
            <a:endParaRPr lang="en-US" dirty="0">
              <a:solidFill>
                <a:srgbClr val="344FFF"/>
              </a:solidFill>
              <a:latin typeface="Marker Felt" charset="0"/>
            </a:endParaRPr>
          </a:p>
          <a:p>
            <a:pPr>
              <a:spcBef>
                <a:spcPct val="50000"/>
              </a:spcBef>
            </a:pPr>
            <a:endParaRPr lang="en-US" dirty="0">
              <a:solidFill>
                <a:srgbClr val="344FFF"/>
              </a:solidFill>
              <a:latin typeface="Marker Felt" charset="0"/>
            </a:endParaRPr>
          </a:p>
        </p:txBody>
      </p:sp>
      <p:pic>
        <p:nvPicPr>
          <p:cNvPr id="484365"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3800" y="922339"/>
            <a:ext cx="3290888" cy="188277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78401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8435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43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43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436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1981200" y="228600"/>
            <a:ext cx="8229600" cy="1143000"/>
          </a:xfrm>
        </p:spPr>
        <p:txBody>
          <a:bodyPr/>
          <a:lstStyle/>
          <a:p>
            <a:pPr eaLnBrk="1" hangingPunct="1"/>
            <a:r>
              <a:rPr lang="en-US">
                <a:latin typeface="Comic Sans MS" pitchFamily="66" charset="0"/>
              </a:rPr>
              <a:t>Mendel’s Experiment</a:t>
            </a:r>
          </a:p>
        </p:txBody>
      </p:sp>
      <p:pic>
        <p:nvPicPr>
          <p:cNvPr id="5123" name="Picture 3" descr="purple sweet pea.jpg"/>
          <p:cNvPicPr>
            <a:picLocks noChangeAspect="1"/>
          </p:cNvPicPr>
          <p:nvPr/>
        </p:nvPicPr>
        <p:blipFill>
          <a:blip r:embed="rId2" cstate="print"/>
          <a:srcRect/>
          <a:stretch>
            <a:fillRect/>
          </a:stretch>
        </p:blipFill>
        <p:spPr bwMode="auto">
          <a:xfrm>
            <a:off x="3657600" y="1295400"/>
            <a:ext cx="1371600" cy="1371600"/>
          </a:xfrm>
          <a:prstGeom prst="rect">
            <a:avLst/>
          </a:prstGeom>
          <a:noFill/>
          <a:ln w="9525">
            <a:solidFill>
              <a:schemeClr val="tx1"/>
            </a:solidFill>
            <a:miter lim="800000"/>
            <a:headEnd/>
            <a:tailEnd/>
          </a:ln>
        </p:spPr>
      </p:pic>
      <p:pic>
        <p:nvPicPr>
          <p:cNvPr id="5124" name="Picture 4" descr="sweet_pea_white.jpg"/>
          <p:cNvPicPr>
            <a:picLocks noChangeAspect="1"/>
          </p:cNvPicPr>
          <p:nvPr/>
        </p:nvPicPr>
        <p:blipFill>
          <a:blip r:embed="rId3" cstate="print"/>
          <a:srcRect l="14223" b="32001"/>
          <a:stretch>
            <a:fillRect/>
          </a:stretch>
        </p:blipFill>
        <p:spPr bwMode="auto">
          <a:xfrm>
            <a:off x="6477000" y="1295400"/>
            <a:ext cx="1296988" cy="1371600"/>
          </a:xfrm>
          <a:prstGeom prst="rect">
            <a:avLst/>
          </a:prstGeom>
          <a:noFill/>
          <a:ln w="9525">
            <a:solidFill>
              <a:schemeClr val="tx1"/>
            </a:solidFill>
            <a:miter lim="800000"/>
            <a:headEnd/>
            <a:tailEnd/>
          </a:ln>
        </p:spPr>
      </p:pic>
      <p:sp>
        <p:nvSpPr>
          <p:cNvPr id="5125" name="TextBox 6"/>
          <p:cNvSpPr txBox="1">
            <a:spLocks noChangeArrowheads="1"/>
          </p:cNvSpPr>
          <p:nvPr/>
        </p:nvSpPr>
        <p:spPr bwMode="auto">
          <a:xfrm>
            <a:off x="5410200" y="1600200"/>
            <a:ext cx="2286000" cy="769938"/>
          </a:xfrm>
          <a:prstGeom prst="rect">
            <a:avLst/>
          </a:prstGeom>
          <a:noFill/>
          <a:ln w="9525">
            <a:noFill/>
            <a:miter lim="800000"/>
            <a:headEnd/>
            <a:tailEnd/>
          </a:ln>
        </p:spPr>
        <p:txBody>
          <a:bodyPr>
            <a:spAutoFit/>
          </a:bodyPr>
          <a:lstStyle/>
          <a:p>
            <a:r>
              <a:rPr lang="en-US" sz="4400"/>
              <a:t>X</a:t>
            </a:r>
          </a:p>
        </p:txBody>
      </p:sp>
      <p:pic>
        <p:nvPicPr>
          <p:cNvPr id="5126" name="Picture 7" descr="purple sweet pea.jpg"/>
          <p:cNvPicPr>
            <a:picLocks noChangeAspect="1"/>
          </p:cNvPicPr>
          <p:nvPr/>
        </p:nvPicPr>
        <p:blipFill>
          <a:blip r:embed="rId2" cstate="print"/>
          <a:srcRect/>
          <a:stretch>
            <a:fillRect/>
          </a:stretch>
        </p:blipFill>
        <p:spPr bwMode="auto">
          <a:xfrm>
            <a:off x="5029200" y="3048000"/>
            <a:ext cx="1371600" cy="1371600"/>
          </a:xfrm>
          <a:prstGeom prst="rect">
            <a:avLst/>
          </a:prstGeom>
          <a:noFill/>
          <a:ln w="9525">
            <a:solidFill>
              <a:schemeClr val="tx1"/>
            </a:solidFill>
            <a:miter lim="800000"/>
            <a:headEnd/>
            <a:tailEnd/>
          </a:ln>
        </p:spPr>
      </p:pic>
      <p:sp>
        <p:nvSpPr>
          <p:cNvPr id="5127" name="TextBox 8"/>
          <p:cNvSpPr txBox="1">
            <a:spLocks noChangeArrowheads="1"/>
          </p:cNvSpPr>
          <p:nvPr/>
        </p:nvSpPr>
        <p:spPr bwMode="auto">
          <a:xfrm>
            <a:off x="3657600" y="3429000"/>
            <a:ext cx="1524000" cy="584200"/>
          </a:xfrm>
          <a:prstGeom prst="rect">
            <a:avLst/>
          </a:prstGeom>
          <a:noFill/>
          <a:ln w="9525">
            <a:noFill/>
            <a:miter lim="800000"/>
            <a:headEnd/>
            <a:tailEnd/>
          </a:ln>
        </p:spPr>
        <p:txBody>
          <a:bodyPr>
            <a:spAutoFit/>
          </a:bodyPr>
          <a:lstStyle/>
          <a:p>
            <a:r>
              <a:rPr lang="en-US" sz="1600"/>
              <a:t>        F1 Generation</a:t>
            </a:r>
          </a:p>
        </p:txBody>
      </p:sp>
      <p:pic>
        <p:nvPicPr>
          <p:cNvPr id="5128" name="Picture 9" descr="purple sweet pea.jpg"/>
          <p:cNvPicPr>
            <a:picLocks noChangeAspect="1"/>
          </p:cNvPicPr>
          <p:nvPr/>
        </p:nvPicPr>
        <p:blipFill>
          <a:blip r:embed="rId2" cstate="print"/>
          <a:srcRect/>
          <a:stretch>
            <a:fillRect/>
          </a:stretch>
        </p:blipFill>
        <p:spPr bwMode="auto">
          <a:xfrm>
            <a:off x="3733800" y="5029200"/>
            <a:ext cx="1371600" cy="1371600"/>
          </a:xfrm>
          <a:prstGeom prst="rect">
            <a:avLst/>
          </a:prstGeom>
          <a:noFill/>
          <a:ln w="9525">
            <a:solidFill>
              <a:schemeClr val="tx1"/>
            </a:solidFill>
            <a:miter lim="800000"/>
            <a:headEnd/>
            <a:tailEnd/>
          </a:ln>
        </p:spPr>
      </p:pic>
      <p:pic>
        <p:nvPicPr>
          <p:cNvPr id="5129" name="Picture 10" descr="sweet_pea_white.jpg"/>
          <p:cNvPicPr>
            <a:picLocks noChangeAspect="1"/>
          </p:cNvPicPr>
          <p:nvPr/>
        </p:nvPicPr>
        <p:blipFill>
          <a:blip r:embed="rId3" cstate="print"/>
          <a:srcRect l="14223" b="32001"/>
          <a:stretch>
            <a:fillRect/>
          </a:stretch>
        </p:blipFill>
        <p:spPr bwMode="auto">
          <a:xfrm>
            <a:off x="6856414" y="5029200"/>
            <a:ext cx="1296987" cy="1371600"/>
          </a:xfrm>
          <a:prstGeom prst="rect">
            <a:avLst/>
          </a:prstGeom>
          <a:noFill/>
          <a:ln w="9525">
            <a:solidFill>
              <a:schemeClr val="tx1"/>
            </a:solidFill>
            <a:miter lim="800000"/>
            <a:headEnd/>
            <a:tailEnd/>
          </a:ln>
        </p:spPr>
      </p:pic>
      <p:sp>
        <p:nvSpPr>
          <p:cNvPr id="10" name="TextBox 9"/>
          <p:cNvSpPr txBox="1">
            <a:spLocks noChangeArrowheads="1"/>
          </p:cNvSpPr>
          <p:nvPr/>
        </p:nvSpPr>
        <p:spPr bwMode="auto">
          <a:xfrm>
            <a:off x="6477000" y="3624264"/>
            <a:ext cx="1600200" cy="307975"/>
          </a:xfrm>
          <a:prstGeom prst="rect">
            <a:avLst/>
          </a:prstGeom>
          <a:noFill/>
          <a:ln w="9525">
            <a:noFill/>
            <a:miter lim="800000"/>
            <a:headEnd/>
            <a:tailEnd/>
          </a:ln>
        </p:spPr>
        <p:txBody>
          <a:bodyPr>
            <a:spAutoFit/>
          </a:bodyPr>
          <a:lstStyle/>
          <a:p>
            <a:r>
              <a:rPr lang="en-US" sz="1400"/>
              <a:t>(Self Cross)</a:t>
            </a:r>
          </a:p>
        </p:txBody>
      </p:sp>
      <p:sp>
        <p:nvSpPr>
          <p:cNvPr id="11" name="TextBox 8"/>
          <p:cNvSpPr txBox="1">
            <a:spLocks noChangeArrowheads="1"/>
          </p:cNvSpPr>
          <p:nvPr/>
        </p:nvSpPr>
        <p:spPr bwMode="auto">
          <a:xfrm>
            <a:off x="2209800" y="5283200"/>
            <a:ext cx="1524000" cy="584200"/>
          </a:xfrm>
          <a:prstGeom prst="rect">
            <a:avLst/>
          </a:prstGeom>
          <a:noFill/>
          <a:ln w="9525">
            <a:noFill/>
            <a:miter lim="800000"/>
            <a:headEnd/>
            <a:tailEnd/>
          </a:ln>
        </p:spPr>
        <p:txBody>
          <a:bodyPr>
            <a:spAutoFit/>
          </a:bodyPr>
          <a:lstStyle/>
          <a:p>
            <a:r>
              <a:rPr lang="en-US" sz="1600"/>
              <a:t>        F2 Generation</a:t>
            </a:r>
          </a:p>
        </p:txBody>
      </p:sp>
      <p:sp>
        <p:nvSpPr>
          <p:cNvPr id="12" name="Down Arrow 11"/>
          <p:cNvSpPr/>
          <p:nvPr/>
        </p:nvSpPr>
        <p:spPr>
          <a:xfrm>
            <a:off x="5638800" y="4495800"/>
            <a:ext cx="152400" cy="4572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Down Arrow 12"/>
          <p:cNvSpPr/>
          <p:nvPr/>
        </p:nvSpPr>
        <p:spPr>
          <a:xfrm>
            <a:off x="5638800" y="2438400"/>
            <a:ext cx="152400" cy="4572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TextBox 17"/>
          <p:cNvSpPr txBox="1">
            <a:spLocks noChangeArrowheads="1"/>
          </p:cNvSpPr>
          <p:nvPr/>
        </p:nvSpPr>
        <p:spPr bwMode="auto">
          <a:xfrm>
            <a:off x="8077200" y="5486401"/>
            <a:ext cx="2362200" cy="646113"/>
          </a:xfrm>
          <a:prstGeom prst="rect">
            <a:avLst/>
          </a:prstGeom>
          <a:noFill/>
          <a:ln w="9525">
            <a:noFill/>
            <a:miter lim="800000"/>
            <a:headEnd/>
            <a:tailEnd/>
          </a:ln>
        </p:spPr>
        <p:txBody>
          <a:bodyPr>
            <a:spAutoFit/>
          </a:bodyPr>
          <a:lstStyle/>
          <a:p>
            <a:r>
              <a:rPr lang="en-US" sz="1200" b="1"/>
              <a:t>Ratio   1(Violet only)</a:t>
            </a:r>
          </a:p>
          <a:p>
            <a:r>
              <a:rPr lang="en-US" sz="1200" b="1"/>
              <a:t>           :2 (both violet &amp; white)</a:t>
            </a:r>
          </a:p>
          <a:p>
            <a:r>
              <a:rPr lang="en-US" sz="1200" b="1"/>
              <a:t>           :1 (white only)</a:t>
            </a:r>
          </a:p>
        </p:txBody>
      </p:sp>
      <p:sp>
        <p:nvSpPr>
          <p:cNvPr id="19" name="TextBox 18"/>
          <p:cNvSpPr txBox="1">
            <a:spLocks noChangeArrowheads="1"/>
          </p:cNvSpPr>
          <p:nvPr/>
        </p:nvSpPr>
        <p:spPr bwMode="auto">
          <a:xfrm>
            <a:off x="4038600" y="2667000"/>
            <a:ext cx="685800" cy="369888"/>
          </a:xfrm>
          <a:prstGeom prst="rect">
            <a:avLst/>
          </a:prstGeom>
          <a:noFill/>
          <a:ln w="9525">
            <a:noFill/>
            <a:miter lim="800000"/>
            <a:headEnd/>
            <a:tailEnd/>
          </a:ln>
        </p:spPr>
        <p:txBody>
          <a:bodyPr>
            <a:spAutoFit/>
          </a:bodyPr>
          <a:lstStyle/>
          <a:p>
            <a:r>
              <a:rPr lang="en-US"/>
              <a:t>AA</a:t>
            </a:r>
          </a:p>
        </p:txBody>
      </p:sp>
      <p:sp>
        <p:nvSpPr>
          <p:cNvPr id="20" name="TextBox 19"/>
          <p:cNvSpPr txBox="1">
            <a:spLocks noChangeArrowheads="1"/>
          </p:cNvSpPr>
          <p:nvPr/>
        </p:nvSpPr>
        <p:spPr bwMode="auto">
          <a:xfrm>
            <a:off x="6934200" y="2667000"/>
            <a:ext cx="685800" cy="369888"/>
          </a:xfrm>
          <a:prstGeom prst="rect">
            <a:avLst/>
          </a:prstGeom>
          <a:noFill/>
          <a:ln w="9525">
            <a:noFill/>
            <a:miter lim="800000"/>
            <a:headEnd/>
            <a:tailEnd/>
          </a:ln>
        </p:spPr>
        <p:txBody>
          <a:bodyPr>
            <a:spAutoFit/>
          </a:bodyPr>
          <a:lstStyle/>
          <a:p>
            <a:r>
              <a:rPr lang="en-US"/>
              <a:t>aa</a:t>
            </a:r>
          </a:p>
        </p:txBody>
      </p:sp>
      <p:sp>
        <p:nvSpPr>
          <p:cNvPr id="21" name="TextBox 20"/>
          <p:cNvSpPr txBox="1">
            <a:spLocks noChangeArrowheads="1"/>
          </p:cNvSpPr>
          <p:nvPr/>
        </p:nvSpPr>
        <p:spPr bwMode="auto">
          <a:xfrm>
            <a:off x="5867400" y="4419600"/>
            <a:ext cx="1143000" cy="369888"/>
          </a:xfrm>
          <a:prstGeom prst="rect">
            <a:avLst/>
          </a:prstGeom>
          <a:noFill/>
          <a:ln w="9525">
            <a:noFill/>
            <a:miter lim="800000"/>
            <a:headEnd/>
            <a:tailEnd/>
          </a:ln>
        </p:spPr>
        <p:txBody>
          <a:bodyPr>
            <a:spAutoFit/>
          </a:bodyPr>
          <a:lstStyle/>
          <a:p>
            <a:r>
              <a:rPr lang="en-US"/>
              <a:t>Aa </a:t>
            </a:r>
          </a:p>
        </p:txBody>
      </p:sp>
      <p:sp>
        <p:nvSpPr>
          <p:cNvPr id="23" name="TextBox 22"/>
          <p:cNvSpPr txBox="1">
            <a:spLocks noChangeArrowheads="1"/>
          </p:cNvSpPr>
          <p:nvPr/>
        </p:nvSpPr>
        <p:spPr bwMode="auto">
          <a:xfrm>
            <a:off x="3886200" y="6386513"/>
            <a:ext cx="1524000" cy="368300"/>
          </a:xfrm>
          <a:prstGeom prst="rect">
            <a:avLst/>
          </a:prstGeom>
          <a:noFill/>
          <a:ln w="9525">
            <a:noFill/>
            <a:miter lim="800000"/>
            <a:headEnd/>
            <a:tailEnd/>
          </a:ln>
        </p:spPr>
        <p:txBody>
          <a:bodyPr>
            <a:spAutoFit/>
          </a:bodyPr>
          <a:lstStyle/>
          <a:p>
            <a:r>
              <a:rPr lang="en-US"/>
              <a:t>AA</a:t>
            </a:r>
          </a:p>
        </p:txBody>
      </p:sp>
      <p:sp>
        <p:nvSpPr>
          <p:cNvPr id="24" name="TextBox 23"/>
          <p:cNvSpPr txBox="1">
            <a:spLocks noChangeArrowheads="1"/>
          </p:cNvSpPr>
          <p:nvPr/>
        </p:nvSpPr>
        <p:spPr bwMode="auto">
          <a:xfrm>
            <a:off x="7391400" y="6324600"/>
            <a:ext cx="685800" cy="369888"/>
          </a:xfrm>
          <a:prstGeom prst="rect">
            <a:avLst/>
          </a:prstGeom>
          <a:noFill/>
          <a:ln w="9525">
            <a:noFill/>
            <a:miter lim="800000"/>
            <a:headEnd/>
            <a:tailEnd/>
          </a:ln>
        </p:spPr>
        <p:txBody>
          <a:bodyPr>
            <a:spAutoFit/>
          </a:bodyPr>
          <a:lstStyle/>
          <a:p>
            <a:r>
              <a:rPr lang="en-US"/>
              <a:t>aa</a:t>
            </a:r>
          </a:p>
        </p:txBody>
      </p:sp>
      <p:pic>
        <p:nvPicPr>
          <p:cNvPr id="25" name="Picture 9" descr="purple sweet pea.jpg"/>
          <p:cNvPicPr>
            <a:picLocks noChangeAspect="1"/>
          </p:cNvPicPr>
          <p:nvPr/>
        </p:nvPicPr>
        <p:blipFill>
          <a:blip r:embed="rId2" cstate="print"/>
          <a:srcRect/>
          <a:stretch>
            <a:fillRect/>
          </a:stretch>
        </p:blipFill>
        <p:spPr bwMode="auto">
          <a:xfrm>
            <a:off x="5257800" y="5029200"/>
            <a:ext cx="1371600" cy="1371600"/>
          </a:xfrm>
          <a:prstGeom prst="rect">
            <a:avLst/>
          </a:prstGeom>
          <a:noFill/>
          <a:ln w="9525">
            <a:solidFill>
              <a:schemeClr val="tx1"/>
            </a:solidFill>
            <a:miter lim="800000"/>
            <a:headEnd/>
            <a:tailEnd/>
          </a:ln>
        </p:spPr>
      </p:pic>
      <p:sp>
        <p:nvSpPr>
          <p:cNvPr id="26" name="Rectangle 25"/>
          <p:cNvSpPr>
            <a:spLocks noChangeArrowheads="1"/>
          </p:cNvSpPr>
          <p:nvPr/>
        </p:nvSpPr>
        <p:spPr bwMode="auto">
          <a:xfrm>
            <a:off x="5791200" y="6400800"/>
            <a:ext cx="428322" cy="369332"/>
          </a:xfrm>
          <a:prstGeom prst="rect">
            <a:avLst/>
          </a:prstGeom>
          <a:noFill/>
          <a:ln w="9525">
            <a:noFill/>
            <a:miter lim="800000"/>
            <a:headEnd/>
            <a:tailEnd/>
          </a:ln>
        </p:spPr>
        <p:txBody>
          <a:bodyPr wrap="none">
            <a:spAutoFit/>
          </a:bodyPr>
          <a:lstStyle/>
          <a:p>
            <a:r>
              <a:rPr lang="en-US"/>
              <a:t>Aa</a:t>
            </a:r>
          </a:p>
        </p:txBody>
      </p:sp>
      <p:grpSp>
        <p:nvGrpSpPr>
          <p:cNvPr id="2" name="Group 40"/>
          <p:cNvGrpSpPr>
            <a:grpSpLocks/>
          </p:cNvGrpSpPr>
          <p:nvPr/>
        </p:nvGrpSpPr>
        <p:grpSpPr bwMode="auto">
          <a:xfrm>
            <a:off x="4114801" y="2971800"/>
            <a:ext cx="314325" cy="369888"/>
            <a:chOff x="7153922" y="3352800"/>
            <a:chExt cx="313678" cy="369332"/>
          </a:xfrm>
        </p:grpSpPr>
        <p:sp>
          <p:nvSpPr>
            <p:cNvPr id="42" name="Oval 41"/>
            <p:cNvSpPr/>
            <p:nvPr/>
          </p:nvSpPr>
          <p:spPr>
            <a:xfrm>
              <a:off x="7163427" y="3428885"/>
              <a:ext cx="304173" cy="2282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266" name="TextBox 42"/>
            <p:cNvSpPr txBox="1">
              <a:spLocks noChangeArrowheads="1"/>
            </p:cNvSpPr>
            <p:nvPr/>
          </p:nvSpPr>
          <p:spPr bwMode="auto">
            <a:xfrm>
              <a:off x="7153922" y="3352800"/>
              <a:ext cx="304800" cy="369332"/>
            </a:xfrm>
            <a:prstGeom prst="rect">
              <a:avLst/>
            </a:prstGeom>
            <a:noFill/>
            <a:ln w="9525">
              <a:noFill/>
              <a:miter lim="800000"/>
              <a:headEnd/>
              <a:tailEnd/>
            </a:ln>
          </p:spPr>
          <p:txBody>
            <a:bodyPr>
              <a:spAutoFit/>
            </a:bodyPr>
            <a:lstStyle/>
            <a:p>
              <a:r>
                <a:rPr lang="en-US"/>
                <a:t>A</a:t>
              </a:r>
            </a:p>
          </p:txBody>
        </p:sp>
      </p:grpSp>
      <p:grpSp>
        <p:nvGrpSpPr>
          <p:cNvPr id="3" name="Group 43"/>
          <p:cNvGrpSpPr>
            <a:grpSpLocks/>
          </p:cNvGrpSpPr>
          <p:nvPr/>
        </p:nvGrpSpPr>
        <p:grpSpPr bwMode="auto">
          <a:xfrm>
            <a:off x="7010400" y="2982914"/>
            <a:ext cx="304800" cy="369887"/>
            <a:chOff x="7705078" y="3346712"/>
            <a:chExt cx="304800" cy="369332"/>
          </a:xfrm>
        </p:grpSpPr>
        <p:sp>
          <p:nvSpPr>
            <p:cNvPr id="45" name="Oval 44"/>
            <p:cNvSpPr/>
            <p:nvPr/>
          </p:nvSpPr>
          <p:spPr>
            <a:xfrm>
              <a:off x="7705078" y="3440233"/>
              <a:ext cx="304800" cy="2282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264" name="TextBox 45"/>
            <p:cNvSpPr txBox="1">
              <a:spLocks noChangeArrowheads="1"/>
            </p:cNvSpPr>
            <p:nvPr/>
          </p:nvSpPr>
          <p:spPr bwMode="auto">
            <a:xfrm>
              <a:off x="7705078" y="3346712"/>
              <a:ext cx="304800" cy="369332"/>
            </a:xfrm>
            <a:prstGeom prst="rect">
              <a:avLst/>
            </a:prstGeom>
            <a:noFill/>
            <a:ln w="9525">
              <a:noFill/>
              <a:miter lim="800000"/>
              <a:headEnd/>
              <a:tailEnd/>
            </a:ln>
          </p:spPr>
          <p:txBody>
            <a:bodyPr>
              <a:spAutoFit/>
            </a:bodyPr>
            <a:lstStyle/>
            <a:p>
              <a:r>
                <a:rPr lang="en-US"/>
                <a:t>a</a:t>
              </a:r>
            </a:p>
          </p:txBody>
        </p:sp>
      </p:grpSp>
      <p:sp>
        <p:nvSpPr>
          <p:cNvPr id="57" name="TextBox 56"/>
          <p:cNvSpPr txBox="1">
            <a:spLocks noChangeArrowheads="1"/>
          </p:cNvSpPr>
          <p:nvPr/>
        </p:nvSpPr>
        <p:spPr bwMode="auto">
          <a:xfrm>
            <a:off x="2514600" y="2971800"/>
            <a:ext cx="1371600" cy="381000"/>
          </a:xfrm>
          <a:prstGeom prst="rect">
            <a:avLst/>
          </a:prstGeom>
          <a:noFill/>
          <a:ln w="9525">
            <a:noFill/>
            <a:miter lim="800000"/>
            <a:headEnd/>
            <a:tailEnd/>
          </a:ln>
        </p:spPr>
        <p:txBody>
          <a:bodyPr>
            <a:spAutoFit/>
          </a:bodyPr>
          <a:lstStyle/>
          <a:p>
            <a:r>
              <a:rPr lang="en-US"/>
              <a:t>Gametes</a:t>
            </a:r>
          </a:p>
        </p:txBody>
      </p:sp>
      <p:grpSp>
        <p:nvGrpSpPr>
          <p:cNvPr id="4" name="Group 58"/>
          <p:cNvGrpSpPr>
            <a:grpSpLocks/>
          </p:cNvGrpSpPr>
          <p:nvPr/>
        </p:nvGrpSpPr>
        <p:grpSpPr bwMode="auto">
          <a:xfrm>
            <a:off x="7632700" y="3381376"/>
            <a:ext cx="2044700" cy="1495425"/>
            <a:chOff x="6108580" y="3380601"/>
            <a:chExt cx="2044820" cy="1496199"/>
          </a:xfrm>
        </p:grpSpPr>
        <p:grpSp>
          <p:nvGrpSpPr>
            <p:cNvPr id="5" name="Group 29"/>
            <p:cNvGrpSpPr>
              <a:grpSpLocks/>
            </p:cNvGrpSpPr>
            <p:nvPr/>
          </p:nvGrpSpPr>
          <p:grpSpPr bwMode="auto">
            <a:xfrm>
              <a:off x="6641980" y="3657600"/>
              <a:ext cx="313678" cy="369332"/>
              <a:chOff x="7153922" y="3352800"/>
              <a:chExt cx="313678" cy="369332"/>
            </a:xfrm>
          </p:grpSpPr>
          <p:sp>
            <p:nvSpPr>
              <p:cNvPr id="28" name="Oval 27"/>
              <p:cNvSpPr/>
              <p:nvPr/>
            </p:nvSpPr>
            <p:spPr>
              <a:xfrm>
                <a:off x="7163479" y="3428408"/>
                <a:ext cx="304817" cy="2287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262" name="TextBox 28"/>
              <p:cNvSpPr txBox="1">
                <a:spLocks noChangeArrowheads="1"/>
              </p:cNvSpPr>
              <p:nvPr/>
            </p:nvSpPr>
            <p:spPr bwMode="auto">
              <a:xfrm>
                <a:off x="7153922" y="3352800"/>
                <a:ext cx="304800" cy="369332"/>
              </a:xfrm>
              <a:prstGeom prst="rect">
                <a:avLst/>
              </a:prstGeom>
              <a:noFill/>
              <a:ln w="9525">
                <a:noFill/>
                <a:miter lim="800000"/>
                <a:headEnd/>
                <a:tailEnd/>
              </a:ln>
            </p:spPr>
            <p:txBody>
              <a:bodyPr>
                <a:spAutoFit/>
              </a:bodyPr>
              <a:lstStyle/>
              <a:p>
                <a:r>
                  <a:rPr lang="en-US"/>
                  <a:t>A</a:t>
                </a:r>
              </a:p>
            </p:txBody>
          </p:sp>
        </p:grpSp>
        <p:grpSp>
          <p:nvGrpSpPr>
            <p:cNvPr id="6" name="Group 33"/>
            <p:cNvGrpSpPr>
              <a:grpSpLocks/>
            </p:cNvGrpSpPr>
            <p:nvPr/>
          </p:nvGrpSpPr>
          <p:grpSpPr bwMode="auto">
            <a:xfrm>
              <a:off x="7412858" y="3651512"/>
              <a:ext cx="304800" cy="369332"/>
              <a:chOff x="7705078" y="3346712"/>
              <a:chExt cx="304800" cy="369332"/>
            </a:xfrm>
          </p:grpSpPr>
          <p:sp>
            <p:nvSpPr>
              <p:cNvPr id="32" name="Oval 31"/>
              <p:cNvSpPr/>
              <p:nvPr/>
            </p:nvSpPr>
            <p:spPr>
              <a:xfrm>
                <a:off x="7705802" y="3441115"/>
                <a:ext cx="304818" cy="2287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260" name="TextBox 32"/>
              <p:cNvSpPr txBox="1">
                <a:spLocks noChangeArrowheads="1"/>
              </p:cNvSpPr>
              <p:nvPr/>
            </p:nvSpPr>
            <p:spPr bwMode="auto">
              <a:xfrm>
                <a:off x="7705078" y="3346712"/>
                <a:ext cx="304800" cy="369332"/>
              </a:xfrm>
              <a:prstGeom prst="rect">
                <a:avLst/>
              </a:prstGeom>
              <a:noFill/>
              <a:ln w="9525">
                <a:noFill/>
                <a:miter lim="800000"/>
                <a:headEnd/>
                <a:tailEnd/>
              </a:ln>
            </p:spPr>
            <p:txBody>
              <a:bodyPr>
                <a:spAutoFit/>
              </a:bodyPr>
              <a:lstStyle/>
              <a:p>
                <a:r>
                  <a:rPr lang="en-US"/>
                  <a:t>a</a:t>
                </a:r>
              </a:p>
            </p:txBody>
          </p:sp>
        </p:grpSp>
        <p:grpSp>
          <p:nvGrpSpPr>
            <p:cNvPr id="7" name="Group 34"/>
            <p:cNvGrpSpPr>
              <a:grpSpLocks/>
            </p:cNvGrpSpPr>
            <p:nvPr/>
          </p:nvGrpSpPr>
          <p:grpSpPr bwMode="auto">
            <a:xfrm>
              <a:off x="6108580" y="4050268"/>
              <a:ext cx="313678" cy="369332"/>
              <a:chOff x="7153922" y="3352800"/>
              <a:chExt cx="313678" cy="369332"/>
            </a:xfrm>
          </p:grpSpPr>
          <p:sp>
            <p:nvSpPr>
              <p:cNvPr id="36" name="Oval 35"/>
              <p:cNvSpPr/>
              <p:nvPr/>
            </p:nvSpPr>
            <p:spPr>
              <a:xfrm>
                <a:off x="7163448" y="3429644"/>
                <a:ext cx="304817" cy="22713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258" name="TextBox 36"/>
              <p:cNvSpPr txBox="1">
                <a:spLocks noChangeArrowheads="1"/>
              </p:cNvSpPr>
              <p:nvPr/>
            </p:nvSpPr>
            <p:spPr bwMode="auto">
              <a:xfrm>
                <a:off x="7153922" y="3352800"/>
                <a:ext cx="304800" cy="369332"/>
              </a:xfrm>
              <a:prstGeom prst="rect">
                <a:avLst/>
              </a:prstGeom>
              <a:noFill/>
              <a:ln w="9525">
                <a:noFill/>
                <a:miter lim="800000"/>
                <a:headEnd/>
                <a:tailEnd/>
              </a:ln>
            </p:spPr>
            <p:txBody>
              <a:bodyPr>
                <a:spAutoFit/>
              </a:bodyPr>
              <a:lstStyle/>
              <a:p>
                <a:r>
                  <a:rPr lang="en-US"/>
                  <a:t>A</a:t>
                </a:r>
              </a:p>
            </p:txBody>
          </p:sp>
        </p:grpSp>
        <p:grpSp>
          <p:nvGrpSpPr>
            <p:cNvPr id="8" name="Group 37"/>
            <p:cNvGrpSpPr>
              <a:grpSpLocks/>
            </p:cNvGrpSpPr>
            <p:nvPr/>
          </p:nvGrpSpPr>
          <p:grpSpPr bwMode="auto">
            <a:xfrm>
              <a:off x="6117458" y="4431268"/>
              <a:ext cx="304800" cy="369332"/>
              <a:chOff x="7705078" y="3346712"/>
              <a:chExt cx="304800" cy="369332"/>
            </a:xfrm>
          </p:grpSpPr>
          <p:sp>
            <p:nvSpPr>
              <p:cNvPr id="39" name="Oval 38"/>
              <p:cNvSpPr/>
              <p:nvPr/>
            </p:nvSpPr>
            <p:spPr>
              <a:xfrm>
                <a:off x="7705726" y="3439637"/>
                <a:ext cx="304818" cy="2287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256" name="TextBox 39"/>
              <p:cNvSpPr txBox="1">
                <a:spLocks noChangeArrowheads="1"/>
              </p:cNvSpPr>
              <p:nvPr/>
            </p:nvSpPr>
            <p:spPr bwMode="auto">
              <a:xfrm>
                <a:off x="7705078" y="3346712"/>
                <a:ext cx="304800" cy="369332"/>
              </a:xfrm>
              <a:prstGeom prst="rect">
                <a:avLst/>
              </a:prstGeom>
              <a:noFill/>
              <a:ln w="9525">
                <a:noFill/>
                <a:miter lim="800000"/>
                <a:headEnd/>
                <a:tailEnd/>
              </a:ln>
            </p:spPr>
            <p:txBody>
              <a:bodyPr>
                <a:spAutoFit/>
              </a:bodyPr>
              <a:lstStyle/>
              <a:p>
                <a:r>
                  <a:rPr lang="en-US"/>
                  <a:t>a</a:t>
                </a:r>
              </a:p>
            </p:txBody>
          </p:sp>
        </p:grpSp>
        <p:sp>
          <p:nvSpPr>
            <p:cNvPr id="9246" name="TextBox 46"/>
            <p:cNvSpPr txBox="1">
              <a:spLocks noChangeArrowheads="1"/>
            </p:cNvSpPr>
            <p:nvPr/>
          </p:nvSpPr>
          <p:spPr bwMode="auto">
            <a:xfrm>
              <a:off x="6645682" y="4095570"/>
              <a:ext cx="685800" cy="369332"/>
            </a:xfrm>
            <a:prstGeom prst="rect">
              <a:avLst/>
            </a:prstGeom>
            <a:noFill/>
            <a:ln w="9525">
              <a:noFill/>
              <a:miter lim="800000"/>
              <a:headEnd/>
              <a:tailEnd/>
            </a:ln>
          </p:spPr>
          <p:txBody>
            <a:bodyPr>
              <a:spAutoFit/>
            </a:bodyPr>
            <a:lstStyle/>
            <a:p>
              <a:r>
                <a:rPr lang="en-US"/>
                <a:t>AA</a:t>
              </a:r>
            </a:p>
          </p:txBody>
        </p:sp>
        <p:sp>
          <p:nvSpPr>
            <p:cNvPr id="9247" name="TextBox 47"/>
            <p:cNvSpPr txBox="1">
              <a:spLocks noChangeArrowheads="1"/>
            </p:cNvSpPr>
            <p:nvPr/>
          </p:nvSpPr>
          <p:spPr bwMode="auto">
            <a:xfrm>
              <a:off x="7315200" y="4458814"/>
              <a:ext cx="685800" cy="369332"/>
            </a:xfrm>
            <a:prstGeom prst="rect">
              <a:avLst/>
            </a:prstGeom>
            <a:noFill/>
            <a:ln w="9525">
              <a:noFill/>
              <a:miter lim="800000"/>
              <a:headEnd/>
              <a:tailEnd/>
            </a:ln>
          </p:spPr>
          <p:txBody>
            <a:bodyPr>
              <a:spAutoFit/>
            </a:bodyPr>
            <a:lstStyle/>
            <a:p>
              <a:r>
                <a:rPr lang="en-US"/>
                <a:t>aa</a:t>
              </a:r>
            </a:p>
          </p:txBody>
        </p:sp>
        <p:sp>
          <p:nvSpPr>
            <p:cNvPr id="9248" name="Rectangle 48"/>
            <p:cNvSpPr>
              <a:spLocks noChangeArrowheads="1"/>
            </p:cNvSpPr>
            <p:nvPr/>
          </p:nvSpPr>
          <p:spPr bwMode="auto">
            <a:xfrm>
              <a:off x="6659020" y="4471956"/>
              <a:ext cx="428347" cy="369523"/>
            </a:xfrm>
            <a:prstGeom prst="rect">
              <a:avLst/>
            </a:prstGeom>
            <a:noFill/>
            <a:ln w="9525">
              <a:noFill/>
              <a:miter lim="800000"/>
              <a:headEnd/>
              <a:tailEnd/>
            </a:ln>
          </p:spPr>
          <p:txBody>
            <a:bodyPr wrap="none">
              <a:spAutoFit/>
            </a:bodyPr>
            <a:lstStyle/>
            <a:p>
              <a:r>
                <a:rPr lang="en-US"/>
                <a:t>Aa</a:t>
              </a:r>
            </a:p>
          </p:txBody>
        </p:sp>
        <p:sp>
          <p:nvSpPr>
            <p:cNvPr id="9249" name="Rectangle 49"/>
            <p:cNvSpPr>
              <a:spLocks noChangeArrowheads="1"/>
            </p:cNvSpPr>
            <p:nvPr/>
          </p:nvSpPr>
          <p:spPr bwMode="auto">
            <a:xfrm>
              <a:off x="7274512" y="4091868"/>
              <a:ext cx="428347" cy="369523"/>
            </a:xfrm>
            <a:prstGeom prst="rect">
              <a:avLst/>
            </a:prstGeom>
            <a:noFill/>
            <a:ln w="9525">
              <a:noFill/>
              <a:miter lim="800000"/>
              <a:headEnd/>
              <a:tailEnd/>
            </a:ln>
          </p:spPr>
          <p:txBody>
            <a:bodyPr wrap="none">
              <a:spAutoFit/>
            </a:bodyPr>
            <a:lstStyle/>
            <a:p>
              <a:r>
                <a:rPr lang="en-US"/>
                <a:t>Aa</a:t>
              </a:r>
            </a:p>
          </p:txBody>
        </p:sp>
        <p:sp>
          <p:nvSpPr>
            <p:cNvPr id="51" name="Rectangle 50"/>
            <p:cNvSpPr/>
            <p:nvPr/>
          </p:nvSpPr>
          <p:spPr>
            <a:xfrm>
              <a:off x="6565807" y="4096935"/>
              <a:ext cx="609636" cy="3811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4" name="Rectangle 53"/>
            <p:cNvSpPr/>
            <p:nvPr/>
          </p:nvSpPr>
          <p:spPr>
            <a:xfrm>
              <a:off x="7184968" y="4096935"/>
              <a:ext cx="609636" cy="3811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5" name="Rectangle 54"/>
            <p:cNvSpPr/>
            <p:nvPr/>
          </p:nvSpPr>
          <p:spPr>
            <a:xfrm>
              <a:off x="6575332" y="4495603"/>
              <a:ext cx="609636" cy="3811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6" name="Rectangle 55"/>
            <p:cNvSpPr/>
            <p:nvPr/>
          </p:nvSpPr>
          <p:spPr>
            <a:xfrm>
              <a:off x="7184968" y="4495603"/>
              <a:ext cx="609636" cy="3811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254" name="TextBox 57"/>
            <p:cNvSpPr txBox="1">
              <a:spLocks noChangeArrowheads="1"/>
            </p:cNvSpPr>
            <p:nvPr/>
          </p:nvSpPr>
          <p:spPr bwMode="auto">
            <a:xfrm>
              <a:off x="6781800" y="3380601"/>
              <a:ext cx="1371600" cy="276999"/>
            </a:xfrm>
            <a:prstGeom prst="rect">
              <a:avLst/>
            </a:prstGeom>
            <a:noFill/>
            <a:ln w="9525">
              <a:noFill/>
              <a:miter lim="800000"/>
              <a:headEnd/>
              <a:tailEnd/>
            </a:ln>
          </p:spPr>
          <p:txBody>
            <a:bodyPr>
              <a:spAutoFit/>
            </a:bodyPr>
            <a:lstStyle/>
            <a:p>
              <a:r>
                <a:rPr lang="en-US" sz="1200"/>
                <a:t>Gametes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5124"/>
                                        </p:tgtEl>
                                        <p:attrNameLst>
                                          <p:attrName>style.visibility</p:attrName>
                                        </p:attrNameLst>
                                      </p:cBhvr>
                                      <p:to>
                                        <p:strVal val="visible"/>
                                      </p:to>
                                    </p:set>
                                    <p:animEffect transition="in" filter="dissolve">
                                      <p:cBhvr>
                                        <p:cTn id="13" dur="500"/>
                                        <p:tgtEl>
                                          <p:spTgt spid="5124"/>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dissolve">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57"/>
                                        </p:tgtEl>
                                        <p:attrNameLst>
                                          <p:attrName>style.visibility</p:attrName>
                                        </p:attrNameLst>
                                      </p:cBhvr>
                                      <p:to>
                                        <p:strVal val="visible"/>
                                      </p:to>
                                    </p:set>
                                    <p:animEffect transition="in" filter="blinds(horizontal)">
                                      <p:cBhvr>
                                        <p:cTn id="21" dur="500"/>
                                        <p:tgtEl>
                                          <p:spTgt spid="57"/>
                                        </p:tgtEl>
                                      </p:cBhvr>
                                    </p:animEffect>
                                  </p:childTnLst>
                                </p:cTn>
                              </p:par>
                              <p:par>
                                <p:cTn id="22" presetID="3" presetClass="entr" presetSubtype="10"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dissolve">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5125"/>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5127"/>
                                        </p:tgtEl>
                                        <p:attrNameLst>
                                          <p:attrName>style.visibility</p:attrName>
                                        </p:attrNameLst>
                                      </p:cBhvr>
                                      <p:to>
                                        <p:strVal val="visible"/>
                                      </p:to>
                                    </p:set>
                                    <p:animEffect transition="in" filter="dissolve">
                                      <p:cBhvr>
                                        <p:cTn id="40" dur="500"/>
                                        <p:tgtEl>
                                          <p:spTgt spid="5127"/>
                                        </p:tgtEl>
                                      </p:cBhvr>
                                    </p:animEffect>
                                  </p:childTnLst>
                                </p:cTn>
                              </p:par>
                              <p:par>
                                <p:cTn id="41" presetID="9" presetClass="entr" presetSubtype="0" fill="hold" nodeType="withEffect">
                                  <p:stCondLst>
                                    <p:cond delay="0"/>
                                  </p:stCondLst>
                                  <p:childTnLst>
                                    <p:set>
                                      <p:cBhvr>
                                        <p:cTn id="42" dur="1" fill="hold">
                                          <p:stCondLst>
                                            <p:cond delay="0"/>
                                          </p:stCondLst>
                                        </p:cTn>
                                        <p:tgtEl>
                                          <p:spTgt spid="5126"/>
                                        </p:tgtEl>
                                        <p:attrNameLst>
                                          <p:attrName>style.visibility</p:attrName>
                                        </p:attrNameLst>
                                      </p:cBhvr>
                                      <p:to>
                                        <p:strVal val="visible"/>
                                      </p:to>
                                    </p:set>
                                    <p:animEffect transition="in" filter="dissolve">
                                      <p:cBhvr>
                                        <p:cTn id="43" dur="500"/>
                                        <p:tgtEl>
                                          <p:spTgt spid="5126"/>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dissolve">
                                      <p:cBhvr>
                                        <p:cTn id="48" dur="500"/>
                                        <p:tgtEl>
                                          <p:spTgt spid="21"/>
                                        </p:tgtEl>
                                      </p:cBhvr>
                                    </p:animEffect>
                                  </p:childTnLst>
                                </p:cTn>
                              </p:par>
                            </p:childTnLst>
                          </p:cTn>
                        </p:par>
                      </p:childTnLst>
                    </p:cTn>
                  </p:par>
                  <p:par>
                    <p:cTn id="49" fill="hold">
                      <p:stCondLst>
                        <p:cond delay="indefinite"/>
                      </p:stCondLst>
                      <p:childTnLst>
                        <p:par>
                          <p:cTn id="50" fill="hold">
                            <p:stCondLst>
                              <p:cond delay="0"/>
                            </p:stCondLst>
                            <p:childTnLst>
                              <p:par>
                                <p:cTn id="51" presetID="5" presetClass="entr" presetSubtype="1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checkerboard(across)">
                                      <p:cBhvr>
                                        <p:cTn id="53" dur="500"/>
                                        <p:tgtEl>
                                          <p:spTgt spid="10"/>
                                        </p:tgtEl>
                                      </p:cBhvr>
                                    </p:animEffect>
                                  </p:childTnLst>
                                </p:cTn>
                              </p:par>
                              <p:par>
                                <p:cTn id="54" presetID="5" presetClass="entr" presetSubtype="1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checkerboard(across)">
                                      <p:cBhvr>
                                        <p:cTn id="56" dur="500"/>
                                        <p:tgtEl>
                                          <p:spTgt spid="12"/>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5" presetClass="entr" presetSubtype="10" fill="hold" grpId="0" nodeType="click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checkerboard(across)">
                                      <p:cBhvr>
                                        <p:cTn id="65" dur="500"/>
                                        <p:tgtEl>
                                          <p:spTgt spid="11"/>
                                        </p:tgtEl>
                                      </p:cBhvr>
                                    </p:animEffect>
                                  </p:childTnLst>
                                </p:cTn>
                              </p:par>
                              <p:par>
                                <p:cTn id="66" presetID="5" presetClass="entr" presetSubtype="10" fill="hold" nodeType="withEffect">
                                  <p:stCondLst>
                                    <p:cond delay="0"/>
                                  </p:stCondLst>
                                  <p:childTnLst>
                                    <p:set>
                                      <p:cBhvr>
                                        <p:cTn id="67" dur="1" fill="hold">
                                          <p:stCondLst>
                                            <p:cond delay="0"/>
                                          </p:stCondLst>
                                        </p:cTn>
                                        <p:tgtEl>
                                          <p:spTgt spid="5128"/>
                                        </p:tgtEl>
                                        <p:attrNameLst>
                                          <p:attrName>style.visibility</p:attrName>
                                        </p:attrNameLst>
                                      </p:cBhvr>
                                      <p:to>
                                        <p:strVal val="visible"/>
                                      </p:to>
                                    </p:set>
                                    <p:animEffect transition="in" filter="checkerboard(across)">
                                      <p:cBhvr>
                                        <p:cTn id="68" dur="500"/>
                                        <p:tgtEl>
                                          <p:spTgt spid="5128"/>
                                        </p:tgtEl>
                                      </p:cBhvr>
                                    </p:animEffect>
                                  </p:childTnLst>
                                </p:cTn>
                              </p:par>
                              <p:par>
                                <p:cTn id="69" presetID="5" presetClass="entr" presetSubtype="10" fill="hold" nodeType="withEffect">
                                  <p:stCondLst>
                                    <p:cond delay="0"/>
                                  </p:stCondLst>
                                  <p:childTnLst>
                                    <p:set>
                                      <p:cBhvr>
                                        <p:cTn id="70" dur="1" fill="hold">
                                          <p:stCondLst>
                                            <p:cond delay="0"/>
                                          </p:stCondLst>
                                        </p:cTn>
                                        <p:tgtEl>
                                          <p:spTgt spid="5129"/>
                                        </p:tgtEl>
                                        <p:attrNameLst>
                                          <p:attrName>style.visibility</p:attrName>
                                        </p:attrNameLst>
                                      </p:cBhvr>
                                      <p:to>
                                        <p:strVal val="visible"/>
                                      </p:to>
                                    </p:set>
                                    <p:animEffect transition="in" filter="checkerboard(across)">
                                      <p:cBhvr>
                                        <p:cTn id="71" dur="500"/>
                                        <p:tgtEl>
                                          <p:spTgt spid="5129"/>
                                        </p:tgtEl>
                                      </p:cBhvr>
                                    </p:animEffect>
                                  </p:childTnLst>
                                </p:cTn>
                              </p:par>
                              <p:par>
                                <p:cTn id="72" presetID="5" presetClass="entr" presetSubtype="10" fill="hold"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checkerboard(across)">
                                      <p:cBhvr>
                                        <p:cTn id="74" dur="500"/>
                                        <p:tgtEl>
                                          <p:spTgt spid="25"/>
                                        </p:tgtEl>
                                      </p:cBhvr>
                                    </p:animEffect>
                                  </p:childTnLst>
                                </p:cTn>
                              </p:par>
                            </p:childTnLst>
                          </p:cTn>
                        </p:par>
                      </p:childTnLst>
                    </p:cTn>
                  </p:par>
                  <p:par>
                    <p:cTn id="75" fill="hold">
                      <p:stCondLst>
                        <p:cond delay="indefinite"/>
                      </p:stCondLst>
                      <p:childTnLst>
                        <p:par>
                          <p:cTn id="76" fill="hold">
                            <p:stCondLst>
                              <p:cond delay="0"/>
                            </p:stCondLst>
                            <p:childTnLst>
                              <p:par>
                                <p:cTn id="77" presetID="9" presetClass="entr" presetSubtype="0" fill="hold" grpId="0" nodeType="click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dissolve">
                                      <p:cBhvr>
                                        <p:cTn id="79" dur="500"/>
                                        <p:tgtEl>
                                          <p:spTgt spid="23"/>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dissolve">
                                      <p:cBhvr>
                                        <p:cTn id="82" dur="500"/>
                                        <p:tgtEl>
                                          <p:spTgt spid="26"/>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24"/>
                                        </p:tgtEl>
                                        <p:attrNameLst>
                                          <p:attrName>style.visibility</p:attrName>
                                        </p:attrNameLst>
                                      </p:cBhvr>
                                      <p:to>
                                        <p:strVal val="visible"/>
                                      </p:to>
                                    </p:set>
                                    <p:animEffect transition="in" filter="dissolve">
                                      <p:cBhvr>
                                        <p:cTn id="85" dur="500"/>
                                        <p:tgtEl>
                                          <p:spTgt spid="24"/>
                                        </p:tgtEl>
                                      </p:cBhvr>
                                    </p:animEffect>
                                  </p:childTnLst>
                                </p:cTn>
                              </p:par>
                            </p:childTnLst>
                          </p:cTn>
                        </p:par>
                      </p:childTnLst>
                    </p:cTn>
                  </p:par>
                  <p:par>
                    <p:cTn id="86" fill="hold">
                      <p:stCondLst>
                        <p:cond delay="indefinite"/>
                      </p:stCondLst>
                      <p:childTnLst>
                        <p:par>
                          <p:cTn id="87" fill="hold">
                            <p:stCondLst>
                              <p:cond delay="0"/>
                            </p:stCondLst>
                            <p:childTnLst>
                              <p:par>
                                <p:cTn id="88" presetID="9" presetClass="entr" presetSubtype="0" fill="hold" grpId="0" nodeType="click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dissolve">
                                      <p:cBhvr>
                                        <p:cTn id="9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5" grpId="0"/>
      <p:bldP spid="5127" grpId="0"/>
      <p:bldP spid="10" grpId="0"/>
      <p:bldP spid="11" grpId="0"/>
      <p:bldP spid="12" grpId="0" animBg="1"/>
      <p:bldP spid="13" grpId="0" animBg="1"/>
      <p:bldP spid="18" grpId="0"/>
      <p:bldP spid="19" grpId="0"/>
      <p:bldP spid="20" grpId="0"/>
      <p:bldP spid="21" grpId="0"/>
      <p:bldP spid="23" grpId="0"/>
      <p:bldP spid="24" grpId="0"/>
      <p:bldP spid="26" grpId="0"/>
      <p:bldP spid="5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0" y="1600200"/>
            <a:ext cx="6781800" cy="3416320"/>
          </a:xfrm>
          <a:prstGeom prst="rect">
            <a:avLst/>
          </a:prstGeom>
        </p:spPr>
        <p:txBody>
          <a:bodyPr wrap="square">
            <a:spAutoFit/>
          </a:bodyPr>
          <a:lstStyle/>
          <a:p>
            <a:pPr>
              <a:defRPr/>
            </a:pPr>
            <a:r>
              <a:rPr lang="en-US" sz="2400" b="1" dirty="0"/>
              <a:t>HETEROZYGOUS</a:t>
            </a:r>
            <a:r>
              <a:rPr lang="en-US" sz="2400" dirty="0"/>
              <a:t>- having two different </a:t>
            </a:r>
            <a:r>
              <a:rPr lang="en-US" sz="2400" b="1" dirty="0"/>
              <a:t>alleles</a:t>
            </a:r>
            <a:r>
              <a:rPr lang="en-US" sz="2400" dirty="0"/>
              <a:t> for a given trait (the allele inherited from the mother is different from the allele inherited from the father).  Like </a:t>
            </a:r>
            <a:r>
              <a:rPr lang="en-US" sz="2400" b="1" i="1" u="sng" dirty="0" err="1"/>
              <a:t>Aa</a:t>
            </a:r>
            <a:endParaRPr lang="en-US" sz="2400" b="1" i="1" u="sng" dirty="0"/>
          </a:p>
          <a:p>
            <a:pPr>
              <a:defRPr/>
            </a:pPr>
            <a:endParaRPr lang="en-US" sz="2400" dirty="0"/>
          </a:p>
          <a:p>
            <a:pPr>
              <a:defRPr/>
            </a:pPr>
            <a:endParaRPr lang="en-US" sz="2400" dirty="0"/>
          </a:p>
          <a:p>
            <a:pPr>
              <a:defRPr/>
            </a:pPr>
            <a:r>
              <a:rPr lang="en-US" sz="2400" b="1" dirty="0"/>
              <a:t>HOMOZYGOUS-</a:t>
            </a:r>
            <a:r>
              <a:rPr lang="en-US" sz="2400" dirty="0"/>
              <a:t> having identical </a:t>
            </a:r>
            <a:r>
              <a:rPr lang="en-US" sz="2400" b="1" dirty="0"/>
              <a:t>alleles</a:t>
            </a:r>
            <a:r>
              <a:rPr lang="en-US" sz="2400" dirty="0"/>
              <a:t> for a trait (the allele inherited from the mother is identical to the allele inherited from the father). Like </a:t>
            </a:r>
            <a:r>
              <a:rPr lang="en-US" sz="2400" b="1" i="1" u="sng" dirty="0"/>
              <a:t>AA, </a:t>
            </a:r>
            <a:r>
              <a:rPr lang="en-US" sz="2400" b="1" i="1" u="sng" dirty="0" err="1"/>
              <a:t>aa</a:t>
            </a:r>
            <a:endParaRPr lang="en-US" sz="2400" b="1" i="1" u="sng" dirty="0"/>
          </a:p>
        </p:txBody>
      </p:sp>
      <p:pic>
        <p:nvPicPr>
          <p:cNvPr id="3" name="Content Placeholder 3" descr="f10-05a_homologous_chro_c.jpg"/>
          <p:cNvPicPr>
            <a:picLocks noGrp="1" noChangeAspect="1"/>
          </p:cNvPicPr>
          <p:nvPr>
            <p:ph idx="1"/>
          </p:nvPr>
        </p:nvPicPr>
        <p:blipFill rotWithShape="1">
          <a:blip r:embed="rId2">
            <a:extLst>
              <a:ext uri="{28A0092B-C50C-407E-A947-70E740481C1C}">
                <a14:useLocalDpi xmlns:a14="http://schemas.microsoft.com/office/drawing/2010/main" val="0"/>
              </a:ext>
            </a:extLst>
          </a:blip>
          <a:srcRect t="-10583" b="8051"/>
          <a:stretch/>
        </p:blipFill>
        <p:spPr>
          <a:xfrm>
            <a:off x="9220200" y="228600"/>
            <a:ext cx="1219200" cy="3363418"/>
          </a:xfrm>
        </p:spPr>
      </p:pic>
      <p:pic>
        <p:nvPicPr>
          <p:cNvPr id="5" name="Content Placeholder 3" descr="f10-05a_homologous_chro_c.jpg"/>
          <p:cNvPicPr>
            <a:picLocks noChangeAspect="1"/>
          </p:cNvPicPr>
          <p:nvPr/>
        </p:nvPicPr>
        <p:blipFill rotWithShape="1">
          <a:blip r:embed="rId2">
            <a:extLst>
              <a:ext uri="{28A0092B-C50C-407E-A947-70E740481C1C}">
                <a14:useLocalDpi xmlns:a14="http://schemas.microsoft.com/office/drawing/2010/main" val="0"/>
              </a:ext>
            </a:extLst>
          </a:blip>
          <a:srcRect t="-10583" b="8051"/>
          <a:stretch/>
        </p:blipFill>
        <p:spPr bwMode="auto">
          <a:xfrm>
            <a:off x="9144000" y="3352800"/>
            <a:ext cx="1219200" cy="3363418"/>
          </a:xfrm>
          <a:prstGeom prst="rect">
            <a:avLst/>
          </a:prstGeom>
          <a:noFill/>
          <a:ln w="9525">
            <a:noFill/>
            <a:miter lim="800000"/>
            <a:headEnd/>
            <a:tailEnd/>
          </a:ln>
        </p:spPr>
      </p:pic>
      <p:pic>
        <p:nvPicPr>
          <p:cNvPr id="6" name="Content Placeholder 3" descr="f10-05a_homologous_chro_c.jpg"/>
          <p:cNvPicPr>
            <a:picLocks noChangeAspect="1"/>
          </p:cNvPicPr>
          <p:nvPr/>
        </p:nvPicPr>
        <p:blipFill rotWithShape="1">
          <a:blip r:embed="rId2">
            <a:extLst>
              <a:ext uri="{28A0092B-C50C-407E-A947-70E740481C1C}">
                <a14:useLocalDpi xmlns:a14="http://schemas.microsoft.com/office/drawing/2010/main" val="0"/>
              </a:ext>
            </a:extLst>
          </a:blip>
          <a:srcRect t="-10620" r="73720" b="8088"/>
          <a:stretch/>
        </p:blipFill>
        <p:spPr bwMode="auto">
          <a:xfrm>
            <a:off x="9448800" y="3351600"/>
            <a:ext cx="320400" cy="3363418"/>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8"/>
          <p:cNvSpPr>
            <a:spLocks noGrp="1"/>
          </p:cNvSpPr>
          <p:nvPr>
            <p:ph idx="1"/>
          </p:nvPr>
        </p:nvSpPr>
        <p:spPr>
          <a:xfrm>
            <a:off x="1905000" y="1447801"/>
            <a:ext cx="8229600" cy="4525963"/>
          </a:xfrm>
        </p:spPr>
        <p:txBody>
          <a:bodyPr/>
          <a:lstStyle/>
          <a:p>
            <a:pPr>
              <a:buFont typeface="Arial" charset="0"/>
              <a:buNone/>
            </a:pPr>
            <a:endParaRPr lang="en-US"/>
          </a:p>
          <a:p>
            <a:pPr>
              <a:buFont typeface="Arial" charset="0"/>
              <a:buNone/>
            </a:pPr>
            <a:r>
              <a:rPr lang="en-US"/>
              <a:t>	</a:t>
            </a:r>
            <a:r>
              <a:rPr lang="en-US" b="1" u="sng">
                <a:latin typeface="Arial Narrow" pitchFamily="34" charset="0"/>
                <a:cs typeface="Arial" charset="0"/>
              </a:rPr>
              <a:t>Law of Segregation </a:t>
            </a:r>
            <a:r>
              <a:rPr lang="en-US">
                <a:latin typeface="Arial Narrow" pitchFamily="34" charset="0"/>
                <a:cs typeface="Arial" charset="0"/>
              </a:rPr>
              <a:t>states that when any individual produces gametes, the </a:t>
            </a:r>
            <a:r>
              <a:rPr lang="en-US" u="sng">
                <a:latin typeface="Arial Narrow" pitchFamily="34" charset="0"/>
                <a:cs typeface="Arial" charset="0"/>
              </a:rPr>
              <a:t>alleles separate</a:t>
            </a:r>
            <a:r>
              <a:rPr lang="en-US">
                <a:latin typeface="Arial Narrow" pitchFamily="34" charset="0"/>
                <a:cs typeface="Arial" charset="0"/>
              </a:rPr>
              <a:t>, so that </a:t>
            </a:r>
            <a:r>
              <a:rPr lang="en-US" u="sng">
                <a:latin typeface="Arial Narrow" pitchFamily="34" charset="0"/>
                <a:cs typeface="Arial" charset="0"/>
              </a:rPr>
              <a:t>each gamete receives only one allele</a:t>
            </a:r>
            <a:r>
              <a:rPr lang="en-US">
                <a:latin typeface="Arial Narrow" pitchFamily="34" charset="0"/>
                <a:cs typeface="Arial" charset="0"/>
              </a:rPr>
              <a:t>. A gamete will receive one allele or the other.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2209800" y="1143000"/>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algn="ctr" fontAlgn="base">
              <a:spcBef>
                <a:spcPct val="0"/>
              </a:spcBef>
              <a:spcAft>
                <a:spcPct val="0"/>
              </a:spcAft>
              <a:defRPr/>
            </a:pPr>
            <a:r>
              <a:rPr lang="en-US" sz="4400" dirty="0">
                <a:latin typeface="Comic Sans MS" pitchFamily="66" charset="0"/>
                <a:ea typeface="+mj-ea"/>
                <a:cs typeface="+mj-cs"/>
              </a:rPr>
              <a:t>How do you know if the genotype of an individual is homozygous or heterozygous?</a:t>
            </a:r>
          </a:p>
        </p:txBody>
      </p:sp>
      <p:pic>
        <p:nvPicPr>
          <p:cNvPr id="5" name="Picture 4" descr="purple sweet pea.jpg"/>
          <p:cNvPicPr>
            <a:picLocks noChangeAspect="1"/>
          </p:cNvPicPr>
          <p:nvPr/>
        </p:nvPicPr>
        <p:blipFill>
          <a:blip r:embed="rId2" cstate="print"/>
          <a:stretch>
            <a:fillRect/>
          </a:stretch>
        </p:blipFill>
        <p:spPr>
          <a:xfrm>
            <a:off x="4648200" y="2895600"/>
            <a:ext cx="2667000" cy="2667000"/>
          </a:xfrm>
          <a:prstGeom prst="rect">
            <a:avLst/>
          </a:prstGeom>
          <a:ln>
            <a:solidFill>
              <a:schemeClr val="tx1"/>
            </a:solidFill>
          </a:ln>
        </p:spPr>
      </p:pic>
      <p:sp>
        <p:nvSpPr>
          <p:cNvPr id="6" name="TextBox 5"/>
          <p:cNvSpPr txBox="1"/>
          <p:nvPr/>
        </p:nvSpPr>
        <p:spPr>
          <a:xfrm>
            <a:off x="4876800" y="5715000"/>
            <a:ext cx="4724400" cy="369332"/>
          </a:xfrm>
          <a:prstGeom prst="rect">
            <a:avLst/>
          </a:prstGeom>
          <a:noFill/>
        </p:spPr>
        <p:txBody>
          <a:bodyPr wrap="square" rtlCol="0">
            <a:spAutoFit/>
          </a:bodyPr>
          <a:lstStyle/>
          <a:p>
            <a:r>
              <a:rPr lang="en-US" b="1" dirty="0"/>
              <a:t>AA  or </a:t>
            </a:r>
            <a:r>
              <a:rPr lang="en-US" b="1" dirty="0" err="1"/>
              <a:t>Aa</a:t>
            </a:r>
            <a:r>
              <a:rPr lang="en-US" b="1"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US" dirty="0">
                <a:latin typeface="Comic Sans MS" pitchFamily="66" charset="0"/>
              </a:rPr>
              <a:t>Test Cross!!!</a:t>
            </a:r>
          </a:p>
        </p:txBody>
      </p:sp>
      <p:sp>
        <p:nvSpPr>
          <p:cNvPr id="14339" name="Content Placeholder 2"/>
          <p:cNvSpPr>
            <a:spLocks noGrp="1"/>
          </p:cNvSpPr>
          <p:nvPr>
            <p:ph idx="1"/>
          </p:nvPr>
        </p:nvSpPr>
        <p:spPr/>
        <p:txBody>
          <a:bodyPr/>
          <a:lstStyle/>
          <a:p>
            <a:pPr eaLnBrk="1" hangingPunct="1"/>
            <a:r>
              <a:rPr lang="en-US" b="1" dirty="0"/>
              <a:t>Test Cross </a:t>
            </a:r>
            <a:r>
              <a:rPr lang="en-US" dirty="0"/>
              <a:t>is used to determine if an individual exhibiting a dominant trait is </a:t>
            </a:r>
            <a:r>
              <a:rPr lang="en-US" b="1" dirty="0"/>
              <a:t>homozygous or heterozygous </a:t>
            </a:r>
            <a:r>
              <a:rPr lang="en-US" dirty="0"/>
              <a:t>for that trait.</a:t>
            </a:r>
          </a:p>
          <a:p>
            <a:pPr eaLnBrk="1" hangingPunct="1"/>
            <a:endParaRPr lang="en-US" dirty="0"/>
          </a:p>
          <a:p>
            <a:pPr eaLnBrk="1" hangingPunct="1">
              <a:buNone/>
            </a:pPr>
            <a:r>
              <a:rPr lang="en-US" dirty="0"/>
              <a:t>Test crosses involve breeding the individual in question with another individual that </a:t>
            </a:r>
            <a:r>
              <a:rPr lang="en-US" b="1" dirty="0"/>
              <a:t>expresses a recessive version </a:t>
            </a:r>
            <a:r>
              <a:rPr lang="en-US" dirty="0"/>
              <a:t>of the same trait.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descr="purple sweet pea.jpg"/>
          <p:cNvPicPr>
            <a:picLocks noChangeAspect="1"/>
          </p:cNvPicPr>
          <p:nvPr/>
        </p:nvPicPr>
        <p:blipFill>
          <a:blip r:embed="rId2" cstate="print"/>
          <a:srcRect/>
          <a:stretch>
            <a:fillRect/>
          </a:stretch>
        </p:blipFill>
        <p:spPr bwMode="auto">
          <a:xfrm>
            <a:off x="3733800" y="1600200"/>
            <a:ext cx="1371600" cy="1371600"/>
          </a:xfrm>
          <a:prstGeom prst="rect">
            <a:avLst/>
          </a:prstGeom>
          <a:noFill/>
          <a:ln w="9525">
            <a:solidFill>
              <a:schemeClr val="tx1"/>
            </a:solidFill>
            <a:miter lim="800000"/>
            <a:headEnd/>
            <a:tailEnd/>
          </a:ln>
        </p:spPr>
      </p:pic>
      <p:pic>
        <p:nvPicPr>
          <p:cNvPr id="5124" name="Picture 4" descr="sweet_pea_white.jpg"/>
          <p:cNvPicPr>
            <a:picLocks noChangeAspect="1"/>
          </p:cNvPicPr>
          <p:nvPr/>
        </p:nvPicPr>
        <p:blipFill>
          <a:blip r:embed="rId3" cstate="print"/>
          <a:srcRect l="14223" b="32001"/>
          <a:stretch>
            <a:fillRect/>
          </a:stretch>
        </p:blipFill>
        <p:spPr bwMode="auto">
          <a:xfrm>
            <a:off x="6172200" y="1600200"/>
            <a:ext cx="1296988" cy="1371600"/>
          </a:xfrm>
          <a:prstGeom prst="rect">
            <a:avLst/>
          </a:prstGeom>
          <a:noFill/>
          <a:ln w="9525">
            <a:solidFill>
              <a:schemeClr val="tx1"/>
            </a:solidFill>
            <a:miter lim="800000"/>
            <a:headEnd/>
            <a:tailEnd/>
          </a:ln>
        </p:spPr>
      </p:pic>
      <p:sp>
        <p:nvSpPr>
          <p:cNvPr id="5125" name="TextBox 6"/>
          <p:cNvSpPr txBox="1">
            <a:spLocks noChangeArrowheads="1"/>
          </p:cNvSpPr>
          <p:nvPr/>
        </p:nvSpPr>
        <p:spPr bwMode="auto">
          <a:xfrm>
            <a:off x="5257800" y="1905000"/>
            <a:ext cx="838200" cy="769938"/>
          </a:xfrm>
          <a:prstGeom prst="rect">
            <a:avLst/>
          </a:prstGeom>
          <a:noFill/>
          <a:ln w="9525">
            <a:noFill/>
            <a:miter lim="800000"/>
            <a:headEnd/>
            <a:tailEnd/>
          </a:ln>
        </p:spPr>
        <p:txBody>
          <a:bodyPr wrap="square">
            <a:spAutoFit/>
          </a:bodyPr>
          <a:lstStyle/>
          <a:p>
            <a:r>
              <a:rPr lang="en-US" sz="4400" dirty="0"/>
              <a:t>X</a:t>
            </a:r>
          </a:p>
        </p:txBody>
      </p:sp>
      <p:sp>
        <p:nvSpPr>
          <p:cNvPr id="5127" name="TextBox 8"/>
          <p:cNvSpPr txBox="1">
            <a:spLocks noChangeArrowheads="1"/>
          </p:cNvSpPr>
          <p:nvPr/>
        </p:nvSpPr>
        <p:spPr bwMode="auto">
          <a:xfrm>
            <a:off x="1752600" y="5029200"/>
            <a:ext cx="1524000" cy="584200"/>
          </a:xfrm>
          <a:prstGeom prst="rect">
            <a:avLst/>
          </a:prstGeom>
          <a:noFill/>
          <a:ln w="9525">
            <a:noFill/>
            <a:miter lim="800000"/>
            <a:headEnd/>
            <a:tailEnd/>
          </a:ln>
        </p:spPr>
        <p:txBody>
          <a:bodyPr>
            <a:spAutoFit/>
          </a:bodyPr>
          <a:lstStyle/>
          <a:p>
            <a:r>
              <a:rPr lang="en-US" sz="1600" dirty="0"/>
              <a:t>        F1 Generation</a:t>
            </a:r>
          </a:p>
        </p:txBody>
      </p:sp>
      <p:pic>
        <p:nvPicPr>
          <p:cNvPr id="5128" name="Picture 9" descr="purple sweet pea.jpg"/>
          <p:cNvPicPr>
            <a:picLocks noChangeAspect="1"/>
          </p:cNvPicPr>
          <p:nvPr/>
        </p:nvPicPr>
        <p:blipFill>
          <a:blip r:embed="rId2" cstate="print"/>
          <a:srcRect/>
          <a:stretch>
            <a:fillRect/>
          </a:stretch>
        </p:blipFill>
        <p:spPr bwMode="auto">
          <a:xfrm>
            <a:off x="2971800" y="4572000"/>
            <a:ext cx="1371600" cy="1371600"/>
          </a:xfrm>
          <a:prstGeom prst="rect">
            <a:avLst/>
          </a:prstGeom>
          <a:noFill/>
          <a:ln w="9525">
            <a:solidFill>
              <a:schemeClr val="tx1"/>
            </a:solidFill>
            <a:miter lim="800000"/>
            <a:headEnd/>
            <a:tailEnd/>
          </a:ln>
        </p:spPr>
      </p:pic>
      <p:pic>
        <p:nvPicPr>
          <p:cNvPr id="5129" name="Picture 10" descr="sweet_pea_white.jpg"/>
          <p:cNvPicPr>
            <a:picLocks noChangeAspect="1"/>
          </p:cNvPicPr>
          <p:nvPr/>
        </p:nvPicPr>
        <p:blipFill>
          <a:blip r:embed="rId3" cstate="print"/>
          <a:srcRect l="14223" b="32001"/>
          <a:stretch>
            <a:fillRect/>
          </a:stretch>
        </p:blipFill>
        <p:spPr bwMode="auto">
          <a:xfrm>
            <a:off x="8915400" y="4724400"/>
            <a:ext cx="1296988" cy="1371600"/>
          </a:xfrm>
          <a:prstGeom prst="rect">
            <a:avLst/>
          </a:prstGeom>
          <a:noFill/>
          <a:ln w="9525">
            <a:solidFill>
              <a:schemeClr val="tx1"/>
            </a:solidFill>
            <a:miter lim="800000"/>
            <a:headEnd/>
            <a:tailEnd/>
          </a:ln>
        </p:spPr>
      </p:pic>
      <p:sp>
        <p:nvSpPr>
          <p:cNvPr id="19" name="Title 18"/>
          <p:cNvSpPr>
            <a:spLocks noGrp="1"/>
          </p:cNvSpPr>
          <p:nvPr>
            <p:ph type="title"/>
          </p:nvPr>
        </p:nvSpPr>
        <p:spPr/>
        <p:txBody>
          <a:bodyPr/>
          <a:lstStyle/>
          <a:p>
            <a:r>
              <a:rPr lang="en-US" dirty="0">
                <a:latin typeface="Comic Sans MS" pitchFamily="66" charset="0"/>
              </a:rPr>
              <a:t>Schematic of Test Cross.</a:t>
            </a:r>
          </a:p>
        </p:txBody>
      </p:sp>
      <p:cxnSp>
        <p:nvCxnSpPr>
          <p:cNvPr id="21" name="Straight Arrow Connector 20"/>
          <p:cNvCxnSpPr/>
          <p:nvPr/>
        </p:nvCxnSpPr>
        <p:spPr>
          <a:xfrm rot="10800000" flipV="1">
            <a:off x="3962400" y="3124200"/>
            <a:ext cx="1447800" cy="1295400"/>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038600" y="3048000"/>
            <a:ext cx="609600" cy="381000"/>
          </a:xfrm>
          <a:prstGeom prst="rect">
            <a:avLst/>
          </a:prstGeom>
          <a:noFill/>
        </p:spPr>
        <p:txBody>
          <a:bodyPr wrap="square" rtlCol="0">
            <a:spAutoFit/>
          </a:bodyPr>
          <a:lstStyle/>
          <a:p>
            <a:r>
              <a:rPr lang="en-US" dirty="0"/>
              <a:t>AA</a:t>
            </a:r>
          </a:p>
        </p:txBody>
      </p:sp>
      <p:sp>
        <p:nvSpPr>
          <p:cNvPr id="23" name="TextBox 22"/>
          <p:cNvSpPr txBox="1"/>
          <p:nvPr/>
        </p:nvSpPr>
        <p:spPr>
          <a:xfrm>
            <a:off x="6477000" y="3048000"/>
            <a:ext cx="838200" cy="369332"/>
          </a:xfrm>
          <a:prstGeom prst="rect">
            <a:avLst/>
          </a:prstGeom>
          <a:noFill/>
        </p:spPr>
        <p:txBody>
          <a:bodyPr wrap="square" rtlCol="0">
            <a:spAutoFit/>
          </a:bodyPr>
          <a:lstStyle/>
          <a:p>
            <a:r>
              <a:rPr lang="en-US" dirty="0" err="1"/>
              <a:t>aa</a:t>
            </a:r>
            <a:endParaRPr lang="en-US" dirty="0"/>
          </a:p>
        </p:txBody>
      </p:sp>
      <p:sp>
        <p:nvSpPr>
          <p:cNvPr id="24" name="TextBox 23"/>
          <p:cNvSpPr txBox="1"/>
          <p:nvPr/>
        </p:nvSpPr>
        <p:spPr>
          <a:xfrm>
            <a:off x="3429000" y="5943600"/>
            <a:ext cx="533400" cy="381000"/>
          </a:xfrm>
          <a:prstGeom prst="rect">
            <a:avLst/>
          </a:prstGeom>
          <a:noFill/>
        </p:spPr>
        <p:txBody>
          <a:bodyPr wrap="square" rtlCol="0">
            <a:spAutoFit/>
          </a:bodyPr>
          <a:lstStyle/>
          <a:p>
            <a:r>
              <a:rPr lang="en-US" dirty="0" err="1"/>
              <a:t>Aa</a:t>
            </a:r>
            <a:endParaRPr lang="en-US" dirty="0"/>
          </a:p>
        </p:txBody>
      </p:sp>
      <p:sp>
        <p:nvSpPr>
          <p:cNvPr id="26" name="TextBox 25"/>
          <p:cNvSpPr txBox="1"/>
          <p:nvPr/>
        </p:nvSpPr>
        <p:spPr>
          <a:xfrm>
            <a:off x="4038600" y="3048000"/>
            <a:ext cx="533400" cy="381000"/>
          </a:xfrm>
          <a:prstGeom prst="rect">
            <a:avLst/>
          </a:prstGeom>
          <a:noFill/>
        </p:spPr>
        <p:txBody>
          <a:bodyPr wrap="square" rtlCol="0">
            <a:spAutoFit/>
          </a:bodyPr>
          <a:lstStyle/>
          <a:p>
            <a:r>
              <a:rPr lang="en-US" dirty="0" err="1"/>
              <a:t>Aa</a:t>
            </a:r>
            <a:endParaRPr lang="en-US" dirty="0"/>
          </a:p>
        </p:txBody>
      </p:sp>
      <p:cxnSp>
        <p:nvCxnSpPr>
          <p:cNvPr id="28" name="Straight Arrow Connector 27"/>
          <p:cNvCxnSpPr/>
          <p:nvPr/>
        </p:nvCxnSpPr>
        <p:spPr>
          <a:xfrm>
            <a:off x="6019800" y="3200400"/>
            <a:ext cx="1524000" cy="1143000"/>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30" name="Picture 9" descr="purple sweet pea.jpg"/>
          <p:cNvPicPr>
            <a:picLocks noChangeAspect="1"/>
          </p:cNvPicPr>
          <p:nvPr/>
        </p:nvPicPr>
        <p:blipFill>
          <a:blip r:embed="rId2" cstate="print"/>
          <a:srcRect/>
          <a:stretch>
            <a:fillRect/>
          </a:stretch>
        </p:blipFill>
        <p:spPr bwMode="auto">
          <a:xfrm>
            <a:off x="6629400" y="4800600"/>
            <a:ext cx="1371600" cy="1371600"/>
          </a:xfrm>
          <a:prstGeom prst="rect">
            <a:avLst/>
          </a:prstGeom>
          <a:noFill/>
          <a:ln w="9525">
            <a:solidFill>
              <a:schemeClr val="tx1"/>
            </a:solidFill>
            <a:miter lim="800000"/>
            <a:headEnd/>
            <a:tailEnd/>
          </a:ln>
        </p:spPr>
      </p:pic>
      <p:sp>
        <p:nvSpPr>
          <p:cNvPr id="31" name="TextBox 30"/>
          <p:cNvSpPr txBox="1"/>
          <p:nvPr/>
        </p:nvSpPr>
        <p:spPr>
          <a:xfrm>
            <a:off x="7162800" y="6172200"/>
            <a:ext cx="533400" cy="381000"/>
          </a:xfrm>
          <a:prstGeom prst="rect">
            <a:avLst/>
          </a:prstGeom>
          <a:noFill/>
        </p:spPr>
        <p:txBody>
          <a:bodyPr wrap="square" rtlCol="0">
            <a:spAutoFit/>
          </a:bodyPr>
          <a:lstStyle/>
          <a:p>
            <a:r>
              <a:rPr lang="en-US" dirty="0" err="1"/>
              <a:t>Aa</a:t>
            </a:r>
            <a:endParaRPr lang="en-US" dirty="0"/>
          </a:p>
        </p:txBody>
      </p:sp>
      <p:sp>
        <p:nvSpPr>
          <p:cNvPr id="32" name="TextBox 31"/>
          <p:cNvSpPr txBox="1"/>
          <p:nvPr/>
        </p:nvSpPr>
        <p:spPr>
          <a:xfrm>
            <a:off x="9296400" y="6107668"/>
            <a:ext cx="838200" cy="369332"/>
          </a:xfrm>
          <a:prstGeom prst="rect">
            <a:avLst/>
          </a:prstGeom>
          <a:noFill/>
        </p:spPr>
        <p:txBody>
          <a:bodyPr wrap="square" rtlCol="0">
            <a:spAutoFit/>
          </a:bodyPr>
          <a:lstStyle/>
          <a:p>
            <a:r>
              <a:rPr lang="en-US" dirty="0" err="1"/>
              <a:t>aa</a:t>
            </a:r>
            <a:endParaRPr lang="en-US" dirty="0"/>
          </a:p>
        </p:txBody>
      </p:sp>
      <p:sp>
        <p:nvSpPr>
          <p:cNvPr id="33" name="TextBox 32"/>
          <p:cNvSpPr txBox="1"/>
          <p:nvPr/>
        </p:nvSpPr>
        <p:spPr>
          <a:xfrm>
            <a:off x="7848600" y="6488668"/>
            <a:ext cx="1447800" cy="369332"/>
          </a:xfrm>
          <a:prstGeom prst="rect">
            <a:avLst/>
          </a:prstGeom>
          <a:noFill/>
        </p:spPr>
        <p:txBody>
          <a:bodyPr wrap="square" rtlCol="0">
            <a:spAutoFit/>
          </a:bodyPr>
          <a:lstStyle/>
          <a:p>
            <a:r>
              <a:rPr lang="en-US" dirty="0"/>
              <a:t>Ratio 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5125"/>
                                        </p:tgtEl>
                                        <p:attrNameLst>
                                          <p:attrName>style.visibility</p:attrName>
                                        </p:attrNameLst>
                                      </p:cBhvr>
                                      <p:to>
                                        <p:strVal val="visible"/>
                                      </p:to>
                                    </p:set>
                                    <p:animEffect transition="in" filter="dissolve">
                                      <p:cBhvr>
                                        <p:cTn id="13" dur="500"/>
                                        <p:tgtEl>
                                          <p:spTgt spid="512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2"/>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12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12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1" nodeType="clickEffect">
                                  <p:stCondLst>
                                    <p:cond delay="0"/>
                                  </p:stCondLst>
                                  <p:childTnLst>
                                    <p:set>
                                      <p:cBhvr>
                                        <p:cTn id="39" dur="1" fill="hold">
                                          <p:stCondLst>
                                            <p:cond delay="0"/>
                                          </p:stCondLst>
                                        </p:cTn>
                                        <p:tgtEl>
                                          <p:spTgt spid="22"/>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8"/>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5129"/>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3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31"/>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32"/>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5" grpId="0"/>
      <p:bldP spid="5127" grpId="0"/>
      <p:bldP spid="22" grpId="0"/>
      <p:bldP spid="22" grpId="1"/>
      <p:bldP spid="23" grpId="0"/>
      <p:bldP spid="24" grpId="0"/>
      <p:bldP spid="26" grpId="0"/>
      <p:bldP spid="31" grpId="0"/>
      <p:bldP spid="32" grpId="0"/>
      <p:bldP spid="3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eaLnBrk="1" hangingPunct="1"/>
            <a:r>
              <a:rPr lang="en-US" dirty="0"/>
              <a:t>Back Cross</a:t>
            </a:r>
          </a:p>
        </p:txBody>
      </p:sp>
      <p:sp>
        <p:nvSpPr>
          <p:cNvPr id="37891" name="Content Placeholder 2"/>
          <p:cNvSpPr>
            <a:spLocks noGrp="1"/>
          </p:cNvSpPr>
          <p:nvPr>
            <p:ph idx="1"/>
          </p:nvPr>
        </p:nvSpPr>
        <p:spPr/>
        <p:txBody>
          <a:bodyPr/>
          <a:lstStyle/>
          <a:p>
            <a:pPr eaLnBrk="1" hangingPunct="1"/>
            <a:r>
              <a:rPr lang="en-US" dirty="0"/>
              <a:t>Backcrossing </a:t>
            </a:r>
            <a:r>
              <a:rPr lang="en-US" b="1" dirty="0"/>
              <a:t>is a crossing of a hybrid with one of its parents or an individual genetically similar to its parent</a:t>
            </a:r>
            <a:r>
              <a:rPr lang="en-US" dirty="0"/>
              <a:t>, in order to achieve offspring with a genetic identity which is closer to that of the parent. </a:t>
            </a:r>
          </a:p>
          <a:p>
            <a:pPr eaLnBrk="1" hangingPunct="1"/>
            <a:r>
              <a:rPr lang="en-US" dirty="0"/>
              <a:t>It is used in horticulture, animal breeding etc</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b="1" dirty="0">
                <a:solidFill>
                  <a:schemeClr val="tx2">
                    <a:lumMod val="75000"/>
                  </a:schemeClr>
                </a:solidFill>
                <a:latin typeface="Comic Sans MS" pitchFamily="66" charset="0"/>
              </a:rPr>
              <a:t>Incomplete or </a:t>
            </a:r>
            <a:r>
              <a:rPr lang="en-US" b="1" dirty="0" err="1">
                <a:solidFill>
                  <a:schemeClr val="tx2">
                    <a:lumMod val="75000"/>
                  </a:schemeClr>
                </a:solidFill>
                <a:latin typeface="Comic Sans MS" pitchFamily="66" charset="0"/>
              </a:rPr>
              <a:t>semidominance</a:t>
            </a:r>
            <a:endParaRPr lang="en-US" b="1" dirty="0">
              <a:solidFill>
                <a:schemeClr val="tx2">
                  <a:lumMod val="75000"/>
                </a:schemeClr>
              </a:solidFill>
              <a:latin typeface="Comic Sans MS" pitchFamily="66" charset="0"/>
            </a:endParaRPr>
          </a:p>
        </p:txBody>
      </p:sp>
      <p:sp>
        <p:nvSpPr>
          <p:cNvPr id="3" name="Content Placeholder 2"/>
          <p:cNvSpPr>
            <a:spLocks noGrp="1"/>
          </p:cNvSpPr>
          <p:nvPr>
            <p:ph idx="1"/>
          </p:nvPr>
        </p:nvSpPr>
        <p:spPr>
          <a:xfrm>
            <a:off x="1905000" y="1417638"/>
            <a:ext cx="4800600" cy="4525962"/>
          </a:xfrm>
        </p:spPr>
        <p:txBody>
          <a:bodyPr rtlCol="0">
            <a:normAutofit fontScale="92500"/>
          </a:bodyPr>
          <a:lstStyle/>
          <a:p>
            <a:pPr>
              <a:defRPr/>
            </a:pPr>
            <a:endParaRPr lang="en-US" b="1" dirty="0"/>
          </a:p>
          <a:p>
            <a:pPr>
              <a:defRPr/>
            </a:pPr>
            <a:r>
              <a:rPr lang="en-US" b="1" dirty="0"/>
              <a:t>Incomplete dominance </a:t>
            </a:r>
            <a:r>
              <a:rPr lang="en-US" dirty="0"/>
              <a:t>is a form of intermediate inheritance in which one allele for a specific trait is not completely dominant over the other allele. </a:t>
            </a:r>
          </a:p>
          <a:p>
            <a:pPr>
              <a:defRPr/>
            </a:pPr>
            <a:endParaRPr lang="en-US" dirty="0"/>
          </a:p>
          <a:p>
            <a:pPr>
              <a:defRPr/>
            </a:pPr>
            <a:r>
              <a:rPr lang="en-US" dirty="0"/>
              <a:t>This is because the </a:t>
            </a:r>
            <a:r>
              <a:rPr lang="en-US" dirty="0" err="1"/>
              <a:t>semidominant</a:t>
            </a:r>
            <a:r>
              <a:rPr lang="en-US" dirty="0"/>
              <a:t> allele produces the gene product in a lesser amount</a:t>
            </a:r>
            <a:endParaRPr lang="en-US" b="1" dirty="0"/>
          </a:p>
          <a:p>
            <a:pPr>
              <a:defRPr/>
            </a:pPr>
            <a:endParaRPr lang="en-US" b="1" dirty="0"/>
          </a:p>
          <a:p>
            <a:pPr>
              <a:defRPr/>
            </a:pPr>
            <a:endParaRPr lang="en-US" dirty="0"/>
          </a:p>
        </p:txBody>
      </p:sp>
      <p:pic>
        <p:nvPicPr>
          <p:cNvPr id="16388" name="Picture 4" descr="incomplete.jpg"/>
          <p:cNvPicPr>
            <a:picLocks noChangeAspect="1"/>
          </p:cNvPicPr>
          <p:nvPr/>
        </p:nvPicPr>
        <p:blipFill>
          <a:blip r:embed="rId2" cstate="print"/>
          <a:srcRect l="2699" t="2727" r="51300" b="6818"/>
          <a:stretch>
            <a:fillRect/>
          </a:stretch>
        </p:blipFill>
        <p:spPr bwMode="auto">
          <a:xfrm>
            <a:off x="6934201" y="1600200"/>
            <a:ext cx="3440113" cy="446563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1432</Words>
  <Application>Microsoft Macintosh PowerPoint</Application>
  <PresentationFormat>Widescreen</PresentationFormat>
  <Paragraphs>235</Paragraphs>
  <Slides>36</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Arial</vt:lpstr>
      <vt:lpstr>Arial Narrow</vt:lpstr>
      <vt:lpstr>Calibri</vt:lpstr>
      <vt:lpstr>Calibri Light</vt:lpstr>
      <vt:lpstr>Comic Sans MS</vt:lpstr>
      <vt:lpstr>Marker Felt</vt:lpstr>
      <vt:lpstr>Myriad Roman</vt:lpstr>
      <vt:lpstr>Tekton Pro Bold</vt:lpstr>
      <vt:lpstr>Wingdings</vt:lpstr>
      <vt:lpstr>Office Theme</vt:lpstr>
      <vt:lpstr>Lecture set 2LS 1201 </vt:lpstr>
      <vt:lpstr>PowerPoint Presentation</vt:lpstr>
      <vt:lpstr>Genetic Information</vt:lpstr>
      <vt:lpstr>Chromosome Logical Structure</vt:lpstr>
      <vt:lpstr>PowerPoint Presentation</vt:lpstr>
      <vt:lpstr>Wildtype and mutant allele</vt:lpstr>
      <vt:lpstr>PowerPoint Presentation</vt:lpstr>
      <vt:lpstr>Symbols And Terminology</vt:lpstr>
      <vt:lpstr>Genetic Locus</vt:lpstr>
      <vt:lpstr>Chromosome Logical Structure</vt:lpstr>
      <vt:lpstr>Alleles</vt:lpstr>
      <vt:lpstr>ABO system</vt:lpstr>
      <vt:lpstr>Differences between Gene &amp; Allele</vt:lpstr>
      <vt:lpstr>PowerPoint Presentation</vt:lpstr>
      <vt:lpstr>Exercise</vt:lpstr>
      <vt:lpstr>PowerPoint Presentation</vt:lpstr>
      <vt:lpstr>Birth of Genetics</vt:lpstr>
      <vt:lpstr>Traits Analyzed by Mendel</vt:lpstr>
      <vt:lpstr>Mendelian Inheritance</vt:lpstr>
      <vt:lpstr>Genotypes       Phenotypes</vt:lpstr>
      <vt:lpstr>PowerPoint Presentation</vt:lpstr>
      <vt:lpstr>Mendel’s Experiment</vt:lpstr>
      <vt:lpstr>PowerPoint Presentation</vt:lpstr>
      <vt:lpstr>PowerPoint Presentation</vt:lpstr>
      <vt:lpstr>Mendel’s Experiment</vt:lpstr>
      <vt:lpstr>Mendel prediction!!</vt:lpstr>
      <vt:lpstr>PowerPoint Presentation</vt:lpstr>
      <vt:lpstr>PowerPoint Presentation</vt:lpstr>
      <vt:lpstr>Mendel’s Experiment</vt:lpstr>
      <vt:lpstr>PowerPoint Presentation</vt:lpstr>
      <vt:lpstr>PowerPoint Presentation</vt:lpstr>
      <vt:lpstr>PowerPoint Presentation</vt:lpstr>
      <vt:lpstr>Test Cross!!!</vt:lpstr>
      <vt:lpstr>Schematic of Test Cross.</vt:lpstr>
      <vt:lpstr>Back Cross</vt:lpstr>
      <vt:lpstr>Incomplete or semidominance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set 2LS 1201 </dc:title>
  <dc:creator>mohit prasad</dc:creator>
  <cp:lastModifiedBy>mohit prasad</cp:lastModifiedBy>
  <cp:revision>1</cp:revision>
  <dcterms:created xsi:type="dcterms:W3CDTF">2024-01-10T00:33:04Z</dcterms:created>
  <dcterms:modified xsi:type="dcterms:W3CDTF">2024-01-10T00:37:01Z</dcterms:modified>
</cp:coreProperties>
</file>