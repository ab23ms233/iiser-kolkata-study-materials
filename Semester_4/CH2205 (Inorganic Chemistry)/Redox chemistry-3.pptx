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393" r:id="rId2"/>
    <p:sldId id="394" r:id="rId3"/>
    <p:sldId id="395" r:id="rId4"/>
    <p:sldId id="403" r:id="rId5"/>
    <p:sldId id="396" r:id="rId6"/>
    <p:sldId id="397" r:id="rId7"/>
    <p:sldId id="399" r:id="rId8"/>
    <p:sldId id="401" r:id="rId9"/>
    <p:sldId id="400" r:id="rId10"/>
    <p:sldId id="402" r:id="rId11"/>
    <p:sldId id="404"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8C29193-DD43-41DD-B1A5-99DC7C669921}" type="datetimeFigureOut">
              <a:rPr lang="en-IN" smtClean="0"/>
              <a:t>25-03-2025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E4EA971-A6C8-4480-ABCF-1B4A6885242B}" type="slidenum">
              <a:rPr lang="en-IN" smtClean="0"/>
              <a:t>‹#›</a:t>
            </a:fld>
            <a:endParaRPr lang="en-IN"/>
          </a:p>
        </p:txBody>
      </p:sp>
    </p:spTree>
    <p:extLst>
      <p:ext uri="{BB962C8B-B14F-4D97-AF65-F5344CB8AC3E}">
        <p14:creationId xmlns:p14="http://schemas.microsoft.com/office/powerpoint/2010/main" val="35260402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E4EA971-A6C8-4480-ABCF-1B4A6885242B}" type="slidenum">
              <a:rPr lang="en-IN" smtClean="0"/>
              <a:t>3</a:t>
            </a:fld>
            <a:endParaRPr lang="en-IN"/>
          </a:p>
        </p:txBody>
      </p:sp>
    </p:spTree>
    <p:extLst>
      <p:ext uri="{BB962C8B-B14F-4D97-AF65-F5344CB8AC3E}">
        <p14:creationId xmlns:p14="http://schemas.microsoft.com/office/powerpoint/2010/main" val="39448940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E9B505-84A3-5389-3F1B-1078551D55A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7A96991-B5BE-E078-9CC8-EB7258B71E5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FBAE682-EC44-AFB6-A782-06A245DB18B8}"/>
              </a:ext>
            </a:extLst>
          </p:cNvPr>
          <p:cNvSpPr>
            <a:spLocks noGrp="1"/>
          </p:cNvSpPr>
          <p:nvPr>
            <p:ph type="dt" sz="half" idx="10"/>
          </p:nvPr>
        </p:nvSpPr>
        <p:spPr/>
        <p:txBody>
          <a:bodyPr/>
          <a:lstStyle/>
          <a:p>
            <a:fld id="{B21A0B89-CB5C-4C17-80B5-F4837623CBCC}" type="datetimeFigureOut">
              <a:rPr lang="en-IN" smtClean="0"/>
              <a:t>25-03-2025</a:t>
            </a:fld>
            <a:endParaRPr lang="en-IN"/>
          </a:p>
        </p:txBody>
      </p:sp>
      <p:sp>
        <p:nvSpPr>
          <p:cNvPr id="5" name="Footer Placeholder 4">
            <a:extLst>
              <a:ext uri="{FF2B5EF4-FFF2-40B4-BE49-F238E27FC236}">
                <a16:creationId xmlns:a16="http://schemas.microsoft.com/office/drawing/2014/main" id="{6474ABE6-AB00-7EF7-84BF-3A2353B8FC8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34C196D-B5AC-01B5-4BA8-97D989FF65DB}"/>
              </a:ext>
            </a:extLst>
          </p:cNvPr>
          <p:cNvSpPr>
            <a:spLocks noGrp="1"/>
          </p:cNvSpPr>
          <p:nvPr>
            <p:ph type="sldNum" sz="quarter" idx="12"/>
          </p:nvPr>
        </p:nvSpPr>
        <p:spPr/>
        <p:txBody>
          <a:bodyPr/>
          <a:lstStyle/>
          <a:p>
            <a:fld id="{9E7404B2-AC18-489F-B1A3-77B1F3991E61}" type="slidenum">
              <a:rPr lang="en-IN" smtClean="0"/>
              <a:t>‹#›</a:t>
            </a:fld>
            <a:endParaRPr lang="en-IN"/>
          </a:p>
        </p:txBody>
      </p:sp>
    </p:spTree>
    <p:extLst>
      <p:ext uri="{BB962C8B-B14F-4D97-AF65-F5344CB8AC3E}">
        <p14:creationId xmlns:p14="http://schemas.microsoft.com/office/powerpoint/2010/main" val="325253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87000-AFCE-1144-615F-02AB48550F1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D408215-3DA1-D25B-7B7A-45B19CFA228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98FA4F0-816F-F5BD-626A-A52941C78A58}"/>
              </a:ext>
            </a:extLst>
          </p:cNvPr>
          <p:cNvSpPr>
            <a:spLocks noGrp="1"/>
          </p:cNvSpPr>
          <p:nvPr>
            <p:ph type="dt" sz="half" idx="10"/>
          </p:nvPr>
        </p:nvSpPr>
        <p:spPr/>
        <p:txBody>
          <a:bodyPr/>
          <a:lstStyle/>
          <a:p>
            <a:fld id="{B21A0B89-CB5C-4C17-80B5-F4837623CBCC}" type="datetimeFigureOut">
              <a:rPr lang="en-IN" smtClean="0"/>
              <a:t>25-03-2025</a:t>
            </a:fld>
            <a:endParaRPr lang="en-IN"/>
          </a:p>
        </p:txBody>
      </p:sp>
      <p:sp>
        <p:nvSpPr>
          <p:cNvPr id="5" name="Footer Placeholder 4">
            <a:extLst>
              <a:ext uri="{FF2B5EF4-FFF2-40B4-BE49-F238E27FC236}">
                <a16:creationId xmlns:a16="http://schemas.microsoft.com/office/drawing/2014/main" id="{AC051FC5-8BD3-1997-92E2-170F2C797C0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6A75D65-E60C-BC4D-E407-AFDA05EC3B6C}"/>
              </a:ext>
            </a:extLst>
          </p:cNvPr>
          <p:cNvSpPr>
            <a:spLocks noGrp="1"/>
          </p:cNvSpPr>
          <p:nvPr>
            <p:ph type="sldNum" sz="quarter" idx="12"/>
          </p:nvPr>
        </p:nvSpPr>
        <p:spPr/>
        <p:txBody>
          <a:bodyPr/>
          <a:lstStyle/>
          <a:p>
            <a:fld id="{9E7404B2-AC18-489F-B1A3-77B1F3991E61}" type="slidenum">
              <a:rPr lang="en-IN" smtClean="0"/>
              <a:t>‹#›</a:t>
            </a:fld>
            <a:endParaRPr lang="en-IN"/>
          </a:p>
        </p:txBody>
      </p:sp>
    </p:spTree>
    <p:extLst>
      <p:ext uri="{BB962C8B-B14F-4D97-AF65-F5344CB8AC3E}">
        <p14:creationId xmlns:p14="http://schemas.microsoft.com/office/powerpoint/2010/main" val="3196216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FCC2A-EB73-054D-9F3F-0B5C716AC15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3942358-5147-10E4-D754-E729B8D711C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F869D3A-AC93-5BA8-575B-BCF5F6C4E9DB}"/>
              </a:ext>
            </a:extLst>
          </p:cNvPr>
          <p:cNvSpPr>
            <a:spLocks noGrp="1"/>
          </p:cNvSpPr>
          <p:nvPr>
            <p:ph type="dt" sz="half" idx="10"/>
          </p:nvPr>
        </p:nvSpPr>
        <p:spPr/>
        <p:txBody>
          <a:bodyPr/>
          <a:lstStyle/>
          <a:p>
            <a:fld id="{B21A0B89-CB5C-4C17-80B5-F4837623CBCC}" type="datetimeFigureOut">
              <a:rPr lang="en-IN" smtClean="0"/>
              <a:t>25-03-2025</a:t>
            </a:fld>
            <a:endParaRPr lang="en-IN"/>
          </a:p>
        </p:txBody>
      </p:sp>
      <p:sp>
        <p:nvSpPr>
          <p:cNvPr id="5" name="Footer Placeholder 4">
            <a:extLst>
              <a:ext uri="{FF2B5EF4-FFF2-40B4-BE49-F238E27FC236}">
                <a16:creationId xmlns:a16="http://schemas.microsoft.com/office/drawing/2014/main" id="{85A7688D-6C43-1FB6-ED52-2523E1FC076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D11D72D-F084-3D9E-C721-636A71AC88D9}"/>
              </a:ext>
            </a:extLst>
          </p:cNvPr>
          <p:cNvSpPr>
            <a:spLocks noGrp="1"/>
          </p:cNvSpPr>
          <p:nvPr>
            <p:ph type="sldNum" sz="quarter" idx="12"/>
          </p:nvPr>
        </p:nvSpPr>
        <p:spPr/>
        <p:txBody>
          <a:bodyPr/>
          <a:lstStyle/>
          <a:p>
            <a:fld id="{9E7404B2-AC18-489F-B1A3-77B1F3991E61}" type="slidenum">
              <a:rPr lang="en-IN" smtClean="0"/>
              <a:t>‹#›</a:t>
            </a:fld>
            <a:endParaRPr lang="en-IN"/>
          </a:p>
        </p:txBody>
      </p:sp>
    </p:spTree>
    <p:extLst>
      <p:ext uri="{BB962C8B-B14F-4D97-AF65-F5344CB8AC3E}">
        <p14:creationId xmlns:p14="http://schemas.microsoft.com/office/powerpoint/2010/main" val="10121718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989211-B0CD-0747-0794-44A1F08F224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D6CEEF8-BBF6-1E17-643E-3A921E8F119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3B9DDC8-7070-5E69-2F72-68C65323154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DC8878E-0921-79F9-E820-F053B3CB5717}"/>
              </a:ext>
            </a:extLst>
          </p:cNvPr>
          <p:cNvSpPr>
            <a:spLocks noGrp="1"/>
          </p:cNvSpPr>
          <p:nvPr>
            <p:ph type="dt" sz="half" idx="10"/>
          </p:nvPr>
        </p:nvSpPr>
        <p:spPr/>
        <p:txBody>
          <a:bodyPr/>
          <a:lstStyle/>
          <a:p>
            <a:fld id="{B21A0B89-CB5C-4C17-80B5-F4837623CBCC}" type="datetimeFigureOut">
              <a:rPr lang="en-IN" smtClean="0"/>
              <a:t>25-03-2025</a:t>
            </a:fld>
            <a:endParaRPr lang="en-IN"/>
          </a:p>
        </p:txBody>
      </p:sp>
      <p:sp>
        <p:nvSpPr>
          <p:cNvPr id="6" name="Footer Placeholder 5">
            <a:extLst>
              <a:ext uri="{FF2B5EF4-FFF2-40B4-BE49-F238E27FC236}">
                <a16:creationId xmlns:a16="http://schemas.microsoft.com/office/drawing/2014/main" id="{5DAEA2C0-A0EC-8E23-9A4C-D01BCC3D162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A892634-2528-14BC-BF36-CFCC5BA301EE}"/>
              </a:ext>
            </a:extLst>
          </p:cNvPr>
          <p:cNvSpPr>
            <a:spLocks noGrp="1"/>
          </p:cNvSpPr>
          <p:nvPr>
            <p:ph type="sldNum" sz="quarter" idx="12"/>
          </p:nvPr>
        </p:nvSpPr>
        <p:spPr/>
        <p:txBody>
          <a:bodyPr/>
          <a:lstStyle/>
          <a:p>
            <a:fld id="{9E7404B2-AC18-489F-B1A3-77B1F3991E61}" type="slidenum">
              <a:rPr lang="en-IN" smtClean="0"/>
              <a:t>‹#›</a:t>
            </a:fld>
            <a:endParaRPr lang="en-IN"/>
          </a:p>
        </p:txBody>
      </p:sp>
    </p:spTree>
    <p:extLst>
      <p:ext uri="{BB962C8B-B14F-4D97-AF65-F5344CB8AC3E}">
        <p14:creationId xmlns:p14="http://schemas.microsoft.com/office/powerpoint/2010/main" val="2464655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2A8F8D-059E-B939-6102-D362ED7F0BB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0E0621C-2CAA-10AE-00D5-E0E7B186FDE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832EA17-F074-8243-DA07-A05899B788D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9FE82AF-F958-A7AB-82ED-981DF4257CE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BF1F029-15F9-326E-94D3-373F906F517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3371B04-723A-60EE-1F76-EC196B883DF5}"/>
              </a:ext>
            </a:extLst>
          </p:cNvPr>
          <p:cNvSpPr>
            <a:spLocks noGrp="1"/>
          </p:cNvSpPr>
          <p:nvPr>
            <p:ph type="dt" sz="half" idx="10"/>
          </p:nvPr>
        </p:nvSpPr>
        <p:spPr/>
        <p:txBody>
          <a:bodyPr/>
          <a:lstStyle/>
          <a:p>
            <a:fld id="{B21A0B89-CB5C-4C17-80B5-F4837623CBCC}" type="datetimeFigureOut">
              <a:rPr lang="en-IN" smtClean="0"/>
              <a:t>25-03-2025</a:t>
            </a:fld>
            <a:endParaRPr lang="en-IN"/>
          </a:p>
        </p:txBody>
      </p:sp>
      <p:sp>
        <p:nvSpPr>
          <p:cNvPr id="8" name="Footer Placeholder 7">
            <a:extLst>
              <a:ext uri="{FF2B5EF4-FFF2-40B4-BE49-F238E27FC236}">
                <a16:creationId xmlns:a16="http://schemas.microsoft.com/office/drawing/2014/main" id="{C7C43566-F047-E1ED-348F-F5DE1243511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E4DD0BA-BB4F-08E7-DA79-93F47A9032EA}"/>
              </a:ext>
            </a:extLst>
          </p:cNvPr>
          <p:cNvSpPr>
            <a:spLocks noGrp="1"/>
          </p:cNvSpPr>
          <p:nvPr>
            <p:ph type="sldNum" sz="quarter" idx="12"/>
          </p:nvPr>
        </p:nvSpPr>
        <p:spPr/>
        <p:txBody>
          <a:bodyPr/>
          <a:lstStyle/>
          <a:p>
            <a:fld id="{9E7404B2-AC18-489F-B1A3-77B1F3991E61}" type="slidenum">
              <a:rPr lang="en-IN" smtClean="0"/>
              <a:t>‹#›</a:t>
            </a:fld>
            <a:endParaRPr lang="en-IN"/>
          </a:p>
        </p:txBody>
      </p:sp>
    </p:spTree>
    <p:extLst>
      <p:ext uri="{BB962C8B-B14F-4D97-AF65-F5344CB8AC3E}">
        <p14:creationId xmlns:p14="http://schemas.microsoft.com/office/powerpoint/2010/main" val="12420917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D08F2E-141C-7033-91A0-51C086ADEB8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C8344A8-A2F1-AF57-98FC-303B852EED4A}"/>
              </a:ext>
            </a:extLst>
          </p:cNvPr>
          <p:cNvSpPr>
            <a:spLocks noGrp="1"/>
          </p:cNvSpPr>
          <p:nvPr>
            <p:ph type="dt" sz="half" idx="10"/>
          </p:nvPr>
        </p:nvSpPr>
        <p:spPr/>
        <p:txBody>
          <a:bodyPr/>
          <a:lstStyle/>
          <a:p>
            <a:fld id="{B21A0B89-CB5C-4C17-80B5-F4837623CBCC}" type="datetimeFigureOut">
              <a:rPr lang="en-IN" smtClean="0"/>
              <a:t>25-03-2025</a:t>
            </a:fld>
            <a:endParaRPr lang="en-IN"/>
          </a:p>
        </p:txBody>
      </p:sp>
      <p:sp>
        <p:nvSpPr>
          <p:cNvPr id="4" name="Footer Placeholder 3">
            <a:extLst>
              <a:ext uri="{FF2B5EF4-FFF2-40B4-BE49-F238E27FC236}">
                <a16:creationId xmlns:a16="http://schemas.microsoft.com/office/drawing/2014/main" id="{0CAE2498-3936-162B-658E-983CE1D20A6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EAC864A-1EE1-9F49-1F25-7926E3BEA2D2}"/>
              </a:ext>
            </a:extLst>
          </p:cNvPr>
          <p:cNvSpPr>
            <a:spLocks noGrp="1"/>
          </p:cNvSpPr>
          <p:nvPr>
            <p:ph type="sldNum" sz="quarter" idx="12"/>
          </p:nvPr>
        </p:nvSpPr>
        <p:spPr/>
        <p:txBody>
          <a:bodyPr/>
          <a:lstStyle/>
          <a:p>
            <a:fld id="{9E7404B2-AC18-489F-B1A3-77B1F3991E61}" type="slidenum">
              <a:rPr lang="en-IN" smtClean="0"/>
              <a:t>‹#›</a:t>
            </a:fld>
            <a:endParaRPr lang="en-IN"/>
          </a:p>
        </p:txBody>
      </p:sp>
    </p:spTree>
    <p:extLst>
      <p:ext uri="{BB962C8B-B14F-4D97-AF65-F5344CB8AC3E}">
        <p14:creationId xmlns:p14="http://schemas.microsoft.com/office/powerpoint/2010/main" val="42216610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0C2C94D-F41D-52A9-1622-9B8BBC02B9D7}"/>
              </a:ext>
            </a:extLst>
          </p:cNvPr>
          <p:cNvSpPr>
            <a:spLocks noGrp="1"/>
          </p:cNvSpPr>
          <p:nvPr>
            <p:ph type="dt" sz="half" idx="10"/>
          </p:nvPr>
        </p:nvSpPr>
        <p:spPr/>
        <p:txBody>
          <a:bodyPr/>
          <a:lstStyle/>
          <a:p>
            <a:fld id="{B21A0B89-CB5C-4C17-80B5-F4837623CBCC}" type="datetimeFigureOut">
              <a:rPr lang="en-IN" smtClean="0"/>
              <a:t>25-03-2025</a:t>
            </a:fld>
            <a:endParaRPr lang="en-IN"/>
          </a:p>
        </p:txBody>
      </p:sp>
      <p:sp>
        <p:nvSpPr>
          <p:cNvPr id="3" name="Footer Placeholder 2">
            <a:extLst>
              <a:ext uri="{FF2B5EF4-FFF2-40B4-BE49-F238E27FC236}">
                <a16:creationId xmlns:a16="http://schemas.microsoft.com/office/drawing/2014/main" id="{AE34F605-EBE7-E363-11A0-C28A7AB318F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552FDDD-4264-705B-C8D7-AE25C943AC43}"/>
              </a:ext>
            </a:extLst>
          </p:cNvPr>
          <p:cNvSpPr>
            <a:spLocks noGrp="1"/>
          </p:cNvSpPr>
          <p:nvPr>
            <p:ph type="sldNum" sz="quarter" idx="12"/>
          </p:nvPr>
        </p:nvSpPr>
        <p:spPr/>
        <p:txBody>
          <a:bodyPr/>
          <a:lstStyle/>
          <a:p>
            <a:fld id="{9E7404B2-AC18-489F-B1A3-77B1F3991E61}" type="slidenum">
              <a:rPr lang="en-IN" smtClean="0"/>
              <a:t>‹#›</a:t>
            </a:fld>
            <a:endParaRPr lang="en-IN"/>
          </a:p>
        </p:txBody>
      </p:sp>
    </p:spTree>
    <p:extLst>
      <p:ext uri="{BB962C8B-B14F-4D97-AF65-F5344CB8AC3E}">
        <p14:creationId xmlns:p14="http://schemas.microsoft.com/office/powerpoint/2010/main" val="17045230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A82956-A549-F825-B933-10680471D18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02246E3-9597-B58F-BCC6-DBAD66B3511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4D984FF-836D-39BB-B59B-88966B49AC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773809A-45FC-E66A-6CC1-7C4E4B44A04D}"/>
              </a:ext>
            </a:extLst>
          </p:cNvPr>
          <p:cNvSpPr>
            <a:spLocks noGrp="1"/>
          </p:cNvSpPr>
          <p:nvPr>
            <p:ph type="dt" sz="half" idx="10"/>
          </p:nvPr>
        </p:nvSpPr>
        <p:spPr/>
        <p:txBody>
          <a:bodyPr/>
          <a:lstStyle/>
          <a:p>
            <a:fld id="{B21A0B89-CB5C-4C17-80B5-F4837623CBCC}" type="datetimeFigureOut">
              <a:rPr lang="en-IN" smtClean="0"/>
              <a:t>25-03-2025</a:t>
            </a:fld>
            <a:endParaRPr lang="en-IN"/>
          </a:p>
        </p:txBody>
      </p:sp>
      <p:sp>
        <p:nvSpPr>
          <p:cNvPr id="6" name="Footer Placeholder 5">
            <a:extLst>
              <a:ext uri="{FF2B5EF4-FFF2-40B4-BE49-F238E27FC236}">
                <a16:creationId xmlns:a16="http://schemas.microsoft.com/office/drawing/2014/main" id="{D5559021-A804-CBA7-554A-A6240E05950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3DF6804-7698-2DA8-455C-F410FAF3DD2A}"/>
              </a:ext>
            </a:extLst>
          </p:cNvPr>
          <p:cNvSpPr>
            <a:spLocks noGrp="1"/>
          </p:cNvSpPr>
          <p:nvPr>
            <p:ph type="sldNum" sz="quarter" idx="12"/>
          </p:nvPr>
        </p:nvSpPr>
        <p:spPr/>
        <p:txBody>
          <a:bodyPr/>
          <a:lstStyle/>
          <a:p>
            <a:fld id="{9E7404B2-AC18-489F-B1A3-77B1F3991E61}" type="slidenum">
              <a:rPr lang="en-IN" smtClean="0"/>
              <a:t>‹#›</a:t>
            </a:fld>
            <a:endParaRPr lang="en-IN"/>
          </a:p>
        </p:txBody>
      </p:sp>
    </p:spTree>
    <p:extLst>
      <p:ext uri="{BB962C8B-B14F-4D97-AF65-F5344CB8AC3E}">
        <p14:creationId xmlns:p14="http://schemas.microsoft.com/office/powerpoint/2010/main" val="3913947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91E1FC-29EE-D3A3-1628-C2113BB534E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92277CF-B36A-BD1F-6BD9-EB02766D0B0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3B636DC-EC8E-F8BC-4DD4-9C1C02A28B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0B61C40-A657-BD9B-A72D-913FBCA2C0A6}"/>
              </a:ext>
            </a:extLst>
          </p:cNvPr>
          <p:cNvSpPr>
            <a:spLocks noGrp="1"/>
          </p:cNvSpPr>
          <p:nvPr>
            <p:ph type="dt" sz="half" idx="10"/>
          </p:nvPr>
        </p:nvSpPr>
        <p:spPr/>
        <p:txBody>
          <a:bodyPr/>
          <a:lstStyle/>
          <a:p>
            <a:fld id="{B21A0B89-CB5C-4C17-80B5-F4837623CBCC}" type="datetimeFigureOut">
              <a:rPr lang="en-IN" smtClean="0"/>
              <a:t>25-03-2025</a:t>
            </a:fld>
            <a:endParaRPr lang="en-IN"/>
          </a:p>
        </p:txBody>
      </p:sp>
      <p:sp>
        <p:nvSpPr>
          <p:cNvPr id="6" name="Footer Placeholder 5">
            <a:extLst>
              <a:ext uri="{FF2B5EF4-FFF2-40B4-BE49-F238E27FC236}">
                <a16:creationId xmlns:a16="http://schemas.microsoft.com/office/drawing/2014/main" id="{41CA1086-6E62-43B2-05BB-17B47B472BF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97E682B-A2A0-B48B-AF0F-F9CE3431B1E6}"/>
              </a:ext>
            </a:extLst>
          </p:cNvPr>
          <p:cNvSpPr>
            <a:spLocks noGrp="1"/>
          </p:cNvSpPr>
          <p:nvPr>
            <p:ph type="sldNum" sz="quarter" idx="12"/>
          </p:nvPr>
        </p:nvSpPr>
        <p:spPr/>
        <p:txBody>
          <a:bodyPr/>
          <a:lstStyle/>
          <a:p>
            <a:fld id="{9E7404B2-AC18-489F-B1A3-77B1F3991E61}" type="slidenum">
              <a:rPr lang="en-IN" smtClean="0"/>
              <a:t>‹#›</a:t>
            </a:fld>
            <a:endParaRPr lang="en-IN"/>
          </a:p>
        </p:txBody>
      </p:sp>
    </p:spTree>
    <p:extLst>
      <p:ext uri="{BB962C8B-B14F-4D97-AF65-F5344CB8AC3E}">
        <p14:creationId xmlns:p14="http://schemas.microsoft.com/office/powerpoint/2010/main" val="41250542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5B7DC2-8044-4F3B-4E49-2A3828811E3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FE670E7-4338-9A2C-8B24-6A24314DDA2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1B2C8D4-65BC-52B5-B2BA-55687E4F6211}"/>
              </a:ext>
            </a:extLst>
          </p:cNvPr>
          <p:cNvSpPr>
            <a:spLocks noGrp="1"/>
          </p:cNvSpPr>
          <p:nvPr>
            <p:ph type="dt" sz="half" idx="10"/>
          </p:nvPr>
        </p:nvSpPr>
        <p:spPr/>
        <p:txBody>
          <a:bodyPr/>
          <a:lstStyle/>
          <a:p>
            <a:fld id="{B21A0B89-CB5C-4C17-80B5-F4837623CBCC}" type="datetimeFigureOut">
              <a:rPr lang="en-IN" smtClean="0"/>
              <a:t>25-03-2025</a:t>
            </a:fld>
            <a:endParaRPr lang="en-IN"/>
          </a:p>
        </p:txBody>
      </p:sp>
      <p:sp>
        <p:nvSpPr>
          <p:cNvPr id="5" name="Footer Placeholder 4">
            <a:extLst>
              <a:ext uri="{FF2B5EF4-FFF2-40B4-BE49-F238E27FC236}">
                <a16:creationId xmlns:a16="http://schemas.microsoft.com/office/drawing/2014/main" id="{D81CFCE3-9A96-4E74-DC0F-1D07B516037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F228B9D-1BDC-A5D1-1FA3-93CB29FD9561}"/>
              </a:ext>
            </a:extLst>
          </p:cNvPr>
          <p:cNvSpPr>
            <a:spLocks noGrp="1"/>
          </p:cNvSpPr>
          <p:nvPr>
            <p:ph type="sldNum" sz="quarter" idx="12"/>
          </p:nvPr>
        </p:nvSpPr>
        <p:spPr/>
        <p:txBody>
          <a:bodyPr/>
          <a:lstStyle/>
          <a:p>
            <a:fld id="{9E7404B2-AC18-489F-B1A3-77B1F3991E61}" type="slidenum">
              <a:rPr lang="en-IN" smtClean="0"/>
              <a:t>‹#›</a:t>
            </a:fld>
            <a:endParaRPr lang="en-IN"/>
          </a:p>
        </p:txBody>
      </p:sp>
    </p:spTree>
    <p:extLst>
      <p:ext uri="{BB962C8B-B14F-4D97-AF65-F5344CB8AC3E}">
        <p14:creationId xmlns:p14="http://schemas.microsoft.com/office/powerpoint/2010/main" val="20248793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AAF4285-BAF1-6B00-4B7A-49F30FE548E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44DF50B-3A74-FDDC-F40C-33C12460DC5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8BA2098-CD4F-E599-F483-E48CC79BB1C6}"/>
              </a:ext>
            </a:extLst>
          </p:cNvPr>
          <p:cNvSpPr>
            <a:spLocks noGrp="1"/>
          </p:cNvSpPr>
          <p:nvPr>
            <p:ph type="dt" sz="half" idx="10"/>
          </p:nvPr>
        </p:nvSpPr>
        <p:spPr/>
        <p:txBody>
          <a:bodyPr/>
          <a:lstStyle/>
          <a:p>
            <a:fld id="{B21A0B89-CB5C-4C17-80B5-F4837623CBCC}" type="datetimeFigureOut">
              <a:rPr lang="en-IN" smtClean="0"/>
              <a:t>25-03-2025</a:t>
            </a:fld>
            <a:endParaRPr lang="en-IN"/>
          </a:p>
        </p:txBody>
      </p:sp>
      <p:sp>
        <p:nvSpPr>
          <p:cNvPr id="5" name="Footer Placeholder 4">
            <a:extLst>
              <a:ext uri="{FF2B5EF4-FFF2-40B4-BE49-F238E27FC236}">
                <a16:creationId xmlns:a16="http://schemas.microsoft.com/office/drawing/2014/main" id="{14C8A568-5AE6-7270-8754-19C7FCCE47F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CC43631-8720-9402-7CA9-9118BA11D908}"/>
              </a:ext>
            </a:extLst>
          </p:cNvPr>
          <p:cNvSpPr>
            <a:spLocks noGrp="1"/>
          </p:cNvSpPr>
          <p:nvPr>
            <p:ph type="sldNum" sz="quarter" idx="12"/>
          </p:nvPr>
        </p:nvSpPr>
        <p:spPr/>
        <p:txBody>
          <a:bodyPr/>
          <a:lstStyle/>
          <a:p>
            <a:fld id="{9E7404B2-AC18-489F-B1A3-77B1F3991E61}" type="slidenum">
              <a:rPr lang="en-IN" smtClean="0"/>
              <a:t>‹#›</a:t>
            </a:fld>
            <a:endParaRPr lang="en-IN"/>
          </a:p>
        </p:txBody>
      </p:sp>
    </p:spTree>
    <p:extLst>
      <p:ext uri="{BB962C8B-B14F-4D97-AF65-F5344CB8AC3E}">
        <p14:creationId xmlns:p14="http://schemas.microsoft.com/office/powerpoint/2010/main" val="31275804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851BC1E-35A7-F206-044A-C32B9035E49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F16CFDB-75FF-4224-9CB9-3FF7AB44167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278F901-7D0D-F9D4-FCB1-12970165A85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21A0B89-CB5C-4C17-80B5-F4837623CBCC}" type="datetimeFigureOut">
              <a:rPr lang="en-IN" smtClean="0"/>
              <a:t>25-03-2025</a:t>
            </a:fld>
            <a:endParaRPr lang="en-IN"/>
          </a:p>
        </p:txBody>
      </p:sp>
      <p:sp>
        <p:nvSpPr>
          <p:cNvPr id="5" name="Footer Placeholder 4">
            <a:extLst>
              <a:ext uri="{FF2B5EF4-FFF2-40B4-BE49-F238E27FC236}">
                <a16:creationId xmlns:a16="http://schemas.microsoft.com/office/drawing/2014/main" id="{E542263F-ACD7-717E-3B37-844F8024BD2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4937DA37-0617-108E-C9E4-225F5A4D599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E7404B2-AC18-489F-B1A3-77B1F3991E61}" type="slidenum">
              <a:rPr lang="en-IN" smtClean="0"/>
              <a:t>‹#›</a:t>
            </a:fld>
            <a:endParaRPr lang="en-IN"/>
          </a:p>
        </p:txBody>
      </p:sp>
    </p:spTree>
    <p:extLst>
      <p:ext uri="{BB962C8B-B14F-4D97-AF65-F5344CB8AC3E}">
        <p14:creationId xmlns:p14="http://schemas.microsoft.com/office/powerpoint/2010/main" val="296375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7.xml"/><Relationship Id="rId6" Type="http://schemas.openxmlformats.org/officeDocument/2006/relationships/image" Target="../media/image7.emf"/><Relationship Id="rId5" Type="http://schemas.openxmlformats.org/officeDocument/2006/relationships/image" Target="../media/image6.emf"/><Relationship Id="rId4" Type="http://schemas.openxmlformats.org/officeDocument/2006/relationships/image" Target="../media/image5.emf"/></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9.emf"/><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13.emf"/><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6821AAC-FE08-9B74-D94C-EC92860B70E0}"/>
              </a:ext>
            </a:extLst>
          </p:cNvPr>
          <p:cNvSpPr txBox="1"/>
          <p:nvPr/>
        </p:nvSpPr>
        <p:spPr>
          <a:xfrm>
            <a:off x="4764024" y="118872"/>
            <a:ext cx="2373278" cy="369332"/>
          </a:xfrm>
          <a:prstGeom prst="rect">
            <a:avLst/>
          </a:prstGeom>
          <a:noFill/>
        </p:spPr>
        <p:txBody>
          <a:bodyPr wrap="none" rtlCol="0">
            <a:spAutoFit/>
          </a:bodyPr>
          <a:lstStyle/>
          <a:p>
            <a:r>
              <a:rPr lang="en-IN" b="1" dirty="0">
                <a:solidFill>
                  <a:srgbClr val="C00000"/>
                </a:solidFill>
                <a:latin typeface="Arial" panose="020B0604020202020204" pitchFamily="34" charset="0"/>
                <a:cs typeface="Arial" panose="020B0604020202020204" pitchFamily="34" charset="0"/>
              </a:rPr>
              <a:t>Cyclic Voltammetry </a:t>
            </a:r>
          </a:p>
        </p:txBody>
      </p:sp>
      <p:sp>
        <p:nvSpPr>
          <p:cNvPr id="3" name="TextBox 2">
            <a:extLst>
              <a:ext uri="{FF2B5EF4-FFF2-40B4-BE49-F238E27FC236}">
                <a16:creationId xmlns:a16="http://schemas.microsoft.com/office/drawing/2014/main" id="{08B13A8A-9AC4-1105-240F-1F777CB822A2}"/>
              </a:ext>
            </a:extLst>
          </p:cNvPr>
          <p:cNvSpPr txBox="1"/>
          <p:nvPr/>
        </p:nvSpPr>
        <p:spPr>
          <a:xfrm>
            <a:off x="605995" y="576072"/>
            <a:ext cx="10689336" cy="1323439"/>
          </a:xfrm>
          <a:prstGeom prst="rect">
            <a:avLst/>
          </a:prstGeom>
          <a:noFill/>
        </p:spPr>
        <p:txBody>
          <a:bodyPr wrap="square" rtlCol="0">
            <a:spAutoFit/>
          </a:bodyPr>
          <a:lstStyle/>
          <a:p>
            <a:pPr algn="l"/>
            <a:r>
              <a:rPr lang="en-US" sz="1600" b="0" i="0" u="none" strike="noStrike" baseline="0" dirty="0">
                <a:latin typeface="Arial" panose="020B0604020202020204" pitchFamily="34" charset="0"/>
                <a:cs typeface="Arial" panose="020B0604020202020204" pitchFamily="34" charset="0"/>
              </a:rPr>
              <a:t>Cyclic voltammetry (CV) is a powerful and popular electrochemical technique commonly employed to investigate the reduction and oxidation processes of molecular species. </a:t>
            </a:r>
          </a:p>
          <a:p>
            <a:pPr algn="l"/>
            <a:endParaRPr lang="en-US" sz="1600" dirty="0">
              <a:latin typeface="Arial" panose="020B0604020202020204" pitchFamily="34" charset="0"/>
              <a:cs typeface="Arial" panose="020B0604020202020204" pitchFamily="34" charset="0"/>
            </a:endParaRPr>
          </a:p>
          <a:p>
            <a:pPr algn="l"/>
            <a:r>
              <a:rPr lang="en-US" sz="1600" dirty="0">
                <a:latin typeface="Arial" panose="020B0604020202020204" pitchFamily="34" charset="0"/>
                <a:cs typeface="Arial" panose="020B0604020202020204" pitchFamily="34" charset="0"/>
              </a:rPr>
              <a:t>CV measures the current arises due to oxidation or reduction in an electrochemical cell under conditions where voltage is in excess of that predicted by Nernst equation. </a:t>
            </a:r>
            <a:endParaRPr lang="en-IN" sz="1600" dirty="0">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088E22C5-EDB1-A7EC-5F99-98F75C0FBC90}"/>
              </a:ext>
            </a:extLst>
          </p:cNvPr>
          <p:cNvSpPr txBox="1"/>
          <p:nvPr/>
        </p:nvSpPr>
        <p:spPr>
          <a:xfrm>
            <a:off x="605995" y="2073902"/>
            <a:ext cx="10494348" cy="338554"/>
          </a:xfrm>
          <a:prstGeom prst="rect">
            <a:avLst/>
          </a:prstGeom>
          <a:noFill/>
        </p:spPr>
        <p:txBody>
          <a:bodyPr wrap="none" rtlCol="0">
            <a:spAutoFit/>
          </a:bodyPr>
          <a:lstStyle/>
          <a:p>
            <a:r>
              <a:rPr lang="en-IN" sz="1600" dirty="0">
                <a:latin typeface="Arial" panose="020B0604020202020204" pitchFamily="34" charset="0"/>
                <a:cs typeface="Arial" panose="020B0604020202020204" pitchFamily="34" charset="0"/>
              </a:rPr>
              <a:t>In CV measurements 3 electrodes are used namely, working electrode, counter electrode and reference electrode</a:t>
            </a:r>
          </a:p>
        </p:txBody>
      </p:sp>
      <p:sp>
        <p:nvSpPr>
          <p:cNvPr id="7" name="TextBox 6">
            <a:extLst>
              <a:ext uri="{FF2B5EF4-FFF2-40B4-BE49-F238E27FC236}">
                <a16:creationId xmlns:a16="http://schemas.microsoft.com/office/drawing/2014/main" id="{C6C29FDF-B965-184D-A1BD-D52AAC2B298F}"/>
              </a:ext>
            </a:extLst>
          </p:cNvPr>
          <p:cNvSpPr txBox="1"/>
          <p:nvPr/>
        </p:nvSpPr>
        <p:spPr>
          <a:xfrm>
            <a:off x="605994" y="2618738"/>
            <a:ext cx="5093208" cy="1323439"/>
          </a:xfrm>
          <a:prstGeom prst="rect">
            <a:avLst/>
          </a:prstGeom>
          <a:noFill/>
        </p:spPr>
        <p:txBody>
          <a:bodyPr wrap="square" rtlCol="0">
            <a:spAutoFit/>
          </a:bodyPr>
          <a:lstStyle/>
          <a:p>
            <a:pPr algn="just"/>
            <a:r>
              <a:rPr lang="en-IN" sz="1600" dirty="0">
                <a:latin typeface="Arial" panose="020B0604020202020204" pitchFamily="34" charset="0"/>
                <a:cs typeface="Arial" panose="020B0604020202020204" pitchFamily="34" charset="0"/>
              </a:rPr>
              <a:t>In CV the potential is scanned over a known range. The scanning is performed with a speed known as </a:t>
            </a:r>
            <a:r>
              <a:rPr lang="en-IN" sz="1600" b="1" dirty="0">
                <a:latin typeface="Arial" panose="020B0604020202020204" pitchFamily="34" charset="0"/>
                <a:cs typeface="Arial" panose="020B0604020202020204" pitchFamily="34" charset="0"/>
              </a:rPr>
              <a:t>scan rate. </a:t>
            </a:r>
            <a:r>
              <a:rPr lang="en-IN" sz="1600" dirty="0">
                <a:latin typeface="Arial" panose="020B0604020202020204" pitchFamily="34" charset="0"/>
                <a:cs typeface="Arial" panose="020B0604020202020204" pitchFamily="34" charset="0"/>
              </a:rPr>
              <a:t>The current is measured as the voltage is scanned. Thus, when there is a reduction or oxidation the current would increase.  </a:t>
            </a:r>
          </a:p>
        </p:txBody>
      </p:sp>
      <p:sp>
        <p:nvSpPr>
          <p:cNvPr id="8" name="TextBox 7">
            <a:extLst>
              <a:ext uri="{FF2B5EF4-FFF2-40B4-BE49-F238E27FC236}">
                <a16:creationId xmlns:a16="http://schemas.microsoft.com/office/drawing/2014/main" id="{65A2E194-93FB-E5C6-B81A-B06B97C6B0A4}"/>
              </a:ext>
            </a:extLst>
          </p:cNvPr>
          <p:cNvSpPr txBox="1"/>
          <p:nvPr/>
        </p:nvSpPr>
        <p:spPr>
          <a:xfrm>
            <a:off x="492940" y="4841686"/>
            <a:ext cx="5319317" cy="923330"/>
          </a:xfrm>
          <a:prstGeom prst="rect">
            <a:avLst/>
          </a:prstGeom>
          <a:noFill/>
        </p:spPr>
        <p:txBody>
          <a:bodyPr wrap="square" rtlCol="0">
            <a:spAutoFit/>
          </a:bodyPr>
          <a:lstStyle/>
          <a:p>
            <a:pPr algn="just"/>
            <a:r>
              <a:rPr lang="en-IN" dirty="0"/>
              <a:t>The potential of the working electrode is measured against the reference potential which maintains a constant potential</a:t>
            </a:r>
          </a:p>
        </p:txBody>
      </p:sp>
      <p:grpSp>
        <p:nvGrpSpPr>
          <p:cNvPr id="11" name="Group 10">
            <a:extLst>
              <a:ext uri="{FF2B5EF4-FFF2-40B4-BE49-F238E27FC236}">
                <a16:creationId xmlns:a16="http://schemas.microsoft.com/office/drawing/2014/main" id="{8DFC24A9-CF9C-3A28-2CF0-2BC76A36F816}"/>
              </a:ext>
            </a:extLst>
          </p:cNvPr>
          <p:cNvGrpSpPr/>
          <p:nvPr/>
        </p:nvGrpSpPr>
        <p:grpSpPr>
          <a:xfrm>
            <a:off x="7023151" y="2464578"/>
            <a:ext cx="3647897" cy="1873864"/>
            <a:chOff x="6492799" y="2788577"/>
            <a:chExt cx="4017985" cy="1948577"/>
          </a:xfrm>
        </p:grpSpPr>
        <p:pic>
          <p:nvPicPr>
            <p:cNvPr id="6" name="Picture 5">
              <a:extLst>
                <a:ext uri="{FF2B5EF4-FFF2-40B4-BE49-F238E27FC236}">
                  <a16:creationId xmlns:a16="http://schemas.microsoft.com/office/drawing/2014/main" id="{FB616D62-ED0E-AB2A-43B4-ECB148A33FD0}"/>
                </a:ext>
              </a:extLst>
            </p:cNvPr>
            <p:cNvPicPr>
              <a:picLocks noChangeAspect="1"/>
            </p:cNvPicPr>
            <p:nvPr/>
          </p:nvPicPr>
          <p:blipFill>
            <a:blip r:embed="rId2"/>
            <a:srcRect b="1083"/>
            <a:stretch/>
          </p:blipFill>
          <p:spPr>
            <a:xfrm>
              <a:off x="6492799" y="2788577"/>
              <a:ext cx="4017985" cy="1948577"/>
            </a:xfrm>
            <a:prstGeom prst="rect">
              <a:avLst/>
            </a:prstGeom>
          </p:spPr>
        </p:pic>
        <p:sp>
          <p:nvSpPr>
            <p:cNvPr id="9" name="TextBox 8">
              <a:extLst>
                <a:ext uri="{FF2B5EF4-FFF2-40B4-BE49-F238E27FC236}">
                  <a16:creationId xmlns:a16="http://schemas.microsoft.com/office/drawing/2014/main" id="{64507FFC-B2F0-C2AE-8E7E-0256523AF367}"/>
                </a:ext>
              </a:extLst>
            </p:cNvPr>
            <p:cNvSpPr txBox="1"/>
            <p:nvPr/>
          </p:nvSpPr>
          <p:spPr>
            <a:xfrm>
              <a:off x="8375904" y="3005708"/>
              <a:ext cx="284052" cy="400110"/>
            </a:xfrm>
            <a:prstGeom prst="rect">
              <a:avLst/>
            </a:prstGeom>
            <a:noFill/>
          </p:spPr>
          <p:txBody>
            <a:bodyPr wrap="none" rtlCol="0">
              <a:spAutoFit/>
            </a:bodyPr>
            <a:lstStyle/>
            <a:p>
              <a:r>
                <a:rPr lang="en-IN" sz="2000" b="1" dirty="0">
                  <a:latin typeface="Arial" panose="020B0604020202020204" pitchFamily="34" charset="0"/>
                  <a:cs typeface="Arial" panose="020B0604020202020204" pitchFamily="34" charset="0"/>
                </a:rPr>
                <a:t>*</a:t>
              </a:r>
            </a:p>
          </p:txBody>
        </p:sp>
      </p:grpSp>
      <p:sp>
        <p:nvSpPr>
          <p:cNvPr id="10" name="TextBox 9">
            <a:extLst>
              <a:ext uri="{FF2B5EF4-FFF2-40B4-BE49-F238E27FC236}">
                <a16:creationId xmlns:a16="http://schemas.microsoft.com/office/drawing/2014/main" id="{413F11A3-0628-237B-2CDD-4C1E92494873}"/>
              </a:ext>
            </a:extLst>
          </p:cNvPr>
          <p:cNvSpPr txBox="1"/>
          <p:nvPr/>
        </p:nvSpPr>
        <p:spPr>
          <a:xfrm>
            <a:off x="492940" y="5866429"/>
            <a:ext cx="6858836" cy="830997"/>
          </a:xfrm>
          <a:prstGeom prst="rect">
            <a:avLst/>
          </a:prstGeom>
          <a:noFill/>
        </p:spPr>
        <p:txBody>
          <a:bodyPr wrap="square" rtlCol="0">
            <a:spAutoFit/>
          </a:bodyPr>
          <a:lstStyle/>
          <a:p>
            <a:r>
              <a:rPr lang="en-IN" sz="1600" dirty="0">
                <a:latin typeface="Arial" panose="020B0604020202020204" pitchFamily="34" charset="0"/>
                <a:cs typeface="Arial" panose="020B0604020202020204" pitchFamily="34" charset="0"/>
              </a:rPr>
              <a:t>The * denotes the switching potential which is the point where the voltage is sufficient enough to cause oxidation or reduction of an analyte. </a:t>
            </a:r>
          </a:p>
          <a:p>
            <a:endParaRPr lang="en-IN" sz="1600" dirty="0"/>
          </a:p>
        </p:txBody>
      </p:sp>
      <p:sp>
        <p:nvSpPr>
          <p:cNvPr id="12" name="TextBox 11">
            <a:extLst>
              <a:ext uri="{FF2B5EF4-FFF2-40B4-BE49-F238E27FC236}">
                <a16:creationId xmlns:a16="http://schemas.microsoft.com/office/drawing/2014/main" id="{7ACDCD1D-85EC-3D3A-A652-DE31D4E84172}"/>
              </a:ext>
            </a:extLst>
          </p:cNvPr>
          <p:cNvSpPr txBox="1"/>
          <p:nvPr/>
        </p:nvSpPr>
        <p:spPr>
          <a:xfrm>
            <a:off x="605994" y="4099544"/>
            <a:ext cx="5450660" cy="584775"/>
          </a:xfrm>
          <a:prstGeom prst="rect">
            <a:avLst/>
          </a:prstGeom>
          <a:noFill/>
        </p:spPr>
        <p:txBody>
          <a:bodyPr wrap="square" rtlCol="0">
            <a:spAutoFit/>
          </a:bodyPr>
          <a:lstStyle/>
          <a:p>
            <a:r>
              <a:rPr lang="en-IN" sz="1600" dirty="0">
                <a:latin typeface="Arial" panose="020B0604020202020204" pitchFamily="34" charset="0"/>
                <a:cs typeface="Arial" panose="020B0604020202020204" pitchFamily="34" charset="0"/>
              </a:rPr>
              <a:t>The potential is scanned both forward and backward direction</a:t>
            </a:r>
          </a:p>
        </p:txBody>
      </p:sp>
      <p:pic>
        <p:nvPicPr>
          <p:cNvPr id="15" name="Picture 14">
            <a:extLst>
              <a:ext uri="{FF2B5EF4-FFF2-40B4-BE49-F238E27FC236}">
                <a16:creationId xmlns:a16="http://schemas.microsoft.com/office/drawing/2014/main" id="{AC35FDFA-6347-6101-C042-347B09C3F4FF}"/>
              </a:ext>
            </a:extLst>
          </p:cNvPr>
          <p:cNvPicPr>
            <a:picLocks noChangeAspect="1"/>
          </p:cNvPicPr>
          <p:nvPr/>
        </p:nvPicPr>
        <p:blipFill>
          <a:blip r:embed="rId3"/>
          <a:stretch>
            <a:fillRect/>
          </a:stretch>
        </p:blipFill>
        <p:spPr>
          <a:xfrm>
            <a:off x="7542602" y="4684319"/>
            <a:ext cx="3963041" cy="1906420"/>
          </a:xfrm>
          <a:prstGeom prst="rect">
            <a:avLst/>
          </a:prstGeom>
        </p:spPr>
      </p:pic>
    </p:spTree>
    <p:extLst>
      <p:ext uri="{BB962C8B-B14F-4D97-AF65-F5344CB8AC3E}">
        <p14:creationId xmlns:p14="http://schemas.microsoft.com/office/powerpoint/2010/main" val="18370576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41BFB62-B0F3-C92F-9D4E-9983362C00B2}"/>
              </a:ext>
            </a:extLst>
          </p:cNvPr>
          <p:cNvPicPr>
            <a:picLocks noChangeAspect="1"/>
          </p:cNvPicPr>
          <p:nvPr/>
        </p:nvPicPr>
        <p:blipFill>
          <a:blip r:embed="rId2"/>
          <a:stretch>
            <a:fillRect/>
          </a:stretch>
        </p:blipFill>
        <p:spPr>
          <a:xfrm>
            <a:off x="522304" y="302262"/>
            <a:ext cx="5378406" cy="1822084"/>
          </a:xfrm>
          <a:prstGeom prst="rect">
            <a:avLst/>
          </a:prstGeom>
        </p:spPr>
      </p:pic>
      <p:pic>
        <p:nvPicPr>
          <p:cNvPr id="5" name="Picture 4">
            <a:extLst>
              <a:ext uri="{FF2B5EF4-FFF2-40B4-BE49-F238E27FC236}">
                <a16:creationId xmlns:a16="http://schemas.microsoft.com/office/drawing/2014/main" id="{4142D5CB-73C7-A666-9F3D-E243CB17546C}"/>
              </a:ext>
            </a:extLst>
          </p:cNvPr>
          <p:cNvPicPr>
            <a:picLocks noChangeAspect="1"/>
          </p:cNvPicPr>
          <p:nvPr/>
        </p:nvPicPr>
        <p:blipFill>
          <a:blip r:embed="rId3"/>
          <a:stretch>
            <a:fillRect/>
          </a:stretch>
        </p:blipFill>
        <p:spPr>
          <a:xfrm>
            <a:off x="8265385" y="3406352"/>
            <a:ext cx="3613526" cy="3045571"/>
          </a:xfrm>
          <a:prstGeom prst="rect">
            <a:avLst/>
          </a:prstGeom>
        </p:spPr>
      </p:pic>
      <p:sp>
        <p:nvSpPr>
          <p:cNvPr id="6" name="TextBox 5">
            <a:extLst>
              <a:ext uri="{FF2B5EF4-FFF2-40B4-BE49-F238E27FC236}">
                <a16:creationId xmlns:a16="http://schemas.microsoft.com/office/drawing/2014/main" id="{5CC79969-4AEB-EDAC-B596-1BB2C4C00AF2}"/>
              </a:ext>
            </a:extLst>
          </p:cNvPr>
          <p:cNvSpPr txBox="1"/>
          <p:nvPr/>
        </p:nvSpPr>
        <p:spPr>
          <a:xfrm>
            <a:off x="5876789" y="429038"/>
            <a:ext cx="1993392" cy="307777"/>
          </a:xfrm>
          <a:prstGeom prst="rect">
            <a:avLst/>
          </a:prstGeom>
          <a:noFill/>
        </p:spPr>
        <p:txBody>
          <a:bodyPr wrap="square" rtlCol="0">
            <a:spAutoFit/>
          </a:bodyPr>
          <a:lstStyle/>
          <a:p>
            <a:r>
              <a:rPr lang="en-IN" sz="1400" dirty="0">
                <a:latin typeface="Arial" panose="020B0604020202020204" pitchFamily="34" charset="0"/>
                <a:cs typeface="Arial" panose="020B0604020202020204" pitchFamily="34" charset="0"/>
              </a:rPr>
              <a:t>F</a:t>
            </a:r>
            <a:r>
              <a:rPr lang="en-IN" sz="1400" baseline="-25000" dirty="0">
                <a:latin typeface="Arial" panose="020B0604020202020204" pitchFamily="34" charset="0"/>
                <a:cs typeface="Arial" panose="020B0604020202020204" pitchFamily="34" charset="0"/>
              </a:rPr>
              <a:t>C</a:t>
            </a:r>
            <a:r>
              <a:rPr lang="en-IN" sz="1400" dirty="0">
                <a:latin typeface="Arial" panose="020B0604020202020204" pitchFamily="34" charset="0"/>
                <a:cs typeface="Arial" panose="020B0604020202020204" pitchFamily="34" charset="0"/>
              </a:rPr>
              <a:t> -Ferrocene</a:t>
            </a:r>
            <a:r>
              <a:rPr lang="en-IN" sz="1400" baseline="-25000" dirty="0">
                <a:latin typeface="Arial" panose="020B0604020202020204" pitchFamily="34" charset="0"/>
                <a:cs typeface="Arial" panose="020B0604020202020204" pitchFamily="34" charset="0"/>
              </a:rPr>
              <a:t> </a:t>
            </a:r>
            <a:endParaRPr lang="en-IN" sz="1400" dirty="0">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33A8AB3D-DE61-CB79-B2D1-4CBDDD753997}"/>
              </a:ext>
            </a:extLst>
          </p:cNvPr>
          <p:cNvSpPr txBox="1"/>
          <p:nvPr/>
        </p:nvSpPr>
        <p:spPr>
          <a:xfrm>
            <a:off x="5197655" y="77635"/>
            <a:ext cx="2672526" cy="307777"/>
          </a:xfrm>
          <a:prstGeom prst="rect">
            <a:avLst/>
          </a:prstGeom>
          <a:noFill/>
        </p:spPr>
        <p:txBody>
          <a:bodyPr wrap="none" rtlCol="0">
            <a:spAutoFit/>
          </a:bodyPr>
          <a:lstStyle/>
          <a:p>
            <a:r>
              <a:rPr lang="en-IN" sz="1400" dirty="0">
                <a:latin typeface="Arial" panose="020B0604020202020204" pitchFamily="34" charset="0"/>
                <a:cs typeface="Arial" panose="020B0604020202020204" pitchFamily="34" charset="0"/>
              </a:rPr>
              <a:t>Co(Cp)-cobalt cyclopentadienyl</a:t>
            </a:r>
          </a:p>
        </p:txBody>
      </p:sp>
      <p:sp>
        <p:nvSpPr>
          <p:cNvPr id="9" name="TextBox 8">
            <a:extLst>
              <a:ext uri="{FF2B5EF4-FFF2-40B4-BE49-F238E27FC236}">
                <a16:creationId xmlns:a16="http://schemas.microsoft.com/office/drawing/2014/main" id="{60C5068D-5560-1DC3-3111-9E2BFBA20522}"/>
              </a:ext>
            </a:extLst>
          </p:cNvPr>
          <p:cNvSpPr txBox="1"/>
          <p:nvPr/>
        </p:nvSpPr>
        <p:spPr>
          <a:xfrm>
            <a:off x="5890042" y="736986"/>
            <a:ext cx="2740590" cy="307777"/>
          </a:xfrm>
          <a:prstGeom prst="rect">
            <a:avLst/>
          </a:prstGeom>
          <a:noFill/>
        </p:spPr>
        <p:txBody>
          <a:bodyPr wrap="square" rtlCol="0">
            <a:spAutoFit/>
          </a:bodyPr>
          <a:lstStyle/>
          <a:p>
            <a:r>
              <a:rPr lang="en-IN" sz="1400" dirty="0">
                <a:latin typeface="Arial" panose="020B0604020202020204" pitchFamily="34" charset="0"/>
                <a:cs typeface="Arial" panose="020B0604020202020204" pitchFamily="34" charset="0"/>
              </a:rPr>
              <a:t>F</a:t>
            </a:r>
            <a:r>
              <a:rPr lang="en-IN" sz="1400" baseline="-25000" dirty="0">
                <a:latin typeface="Arial" panose="020B0604020202020204" pitchFamily="34" charset="0"/>
                <a:cs typeface="Arial" panose="020B0604020202020204" pitchFamily="34" charset="0"/>
              </a:rPr>
              <a:t>C</a:t>
            </a:r>
            <a:r>
              <a:rPr lang="en-IN" sz="1400" baseline="30000" dirty="0">
                <a:latin typeface="Arial" panose="020B0604020202020204" pitchFamily="34" charset="0"/>
                <a:cs typeface="Arial" panose="020B0604020202020204" pitchFamily="34" charset="0"/>
              </a:rPr>
              <a:t>+</a:t>
            </a:r>
            <a:r>
              <a:rPr lang="en-IN" sz="1400" dirty="0">
                <a:latin typeface="Arial" panose="020B0604020202020204" pitchFamily="34" charset="0"/>
                <a:cs typeface="Arial" panose="020B0604020202020204" pitchFamily="34" charset="0"/>
              </a:rPr>
              <a:t> -oxidized Ferrocene </a:t>
            </a:r>
            <a:r>
              <a:rPr lang="en-IN" sz="1400" baseline="-25000" dirty="0">
                <a:latin typeface="Arial" panose="020B0604020202020204" pitchFamily="34" charset="0"/>
                <a:cs typeface="Arial" panose="020B0604020202020204" pitchFamily="34" charset="0"/>
              </a:rPr>
              <a:t> </a:t>
            </a:r>
            <a:endParaRPr lang="en-IN" sz="1400" dirty="0">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93A992B4-EC4F-264F-883B-6952581F97EA}"/>
              </a:ext>
            </a:extLst>
          </p:cNvPr>
          <p:cNvPicPr>
            <a:picLocks noChangeAspect="1"/>
          </p:cNvPicPr>
          <p:nvPr/>
        </p:nvPicPr>
        <p:blipFill>
          <a:blip r:embed="rId4"/>
          <a:stretch>
            <a:fillRect/>
          </a:stretch>
        </p:blipFill>
        <p:spPr>
          <a:xfrm>
            <a:off x="522304" y="2463166"/>
            <a:ext cx="4296343" cy="578395"/>
          </a:xfrm>
          <a:prstGeom prst="rect">
            <a:avLst/>
          </a:prstGeom>
        </p:spPr>
      </p:pic>
      <p:pic>
        <p:nvPicPr>
          <p:cNvPr id="10" name="Picture 9">
            <a:extLst>
              <a:ext uri="{FF2B5EF4-FFF2-40B4-BE49-F238E27FC236}">
                <a16:creationId xmlns:a16="http://schemas.microsoft.com/office/drawing/2014/main" id="{83020773-2A60-7628-9D9C-7442C0B6FFE3}"/>
              </a:ext>
            </a:extLst>
          </p:cNvPr>
          <p:cNvPicPr>
            <a:picLocks noChangeAspect="1"/>
          </p:cNvPicPr>
          <p:nvPr/>
        </p:nvPicPr>
        <p:blipFill>
          <a:blip r:embed="rId5"/>
          <a:stretch>
            <a:fillRect/>
          </a:stretch>
        </p:blipFill>
        <p:spPr>
          <a:xfrm>
            <a:off x="450248" y="3337599"/>
            <a:ext cx="4028276" cy="618420"/>
          </a:xfrm>
          <a:prstGeom prst="rect">
            <a:avLst/>
          </a:prstGeom>
        </p:spPr>
      </p:pic>
      <p:sp>
        <p:nvSpPr>
          <p:cNvPr id="11" name="TextBox 10">
            <a:extLst>
              <a:ext uri="{FF2B5EF4-FFF2-40B4-BE49-F238E27FC236}">
                <a16:creationId xmlns:a16="http://schemas.microsoft.com/office/drawing/2014/main" id="{58F75958-7BEB-7269-EBA8-F5F9842FD9B4}"/>
              </a:ext>
            </a:extLst>
          </p:cNvPr>
          <p:cNvSpPr txBox="1"/>
          <p:nvPr/>
        </p:nvSpPr>
        <p:spPr>
          <a:xfrm>
            <a:off x="313088" y="4087368"/>
            <a:ext cx="6822088" cy="784830"/>
          </a:xfrm>
          <a:prstGeom prst="rect">
            <a:avLst/>
          </a:prstGeom>
          <a:noFill/>
        </p:spPr>
        <p:txBody>
          <a:bodyPr wrap="square" rtlCol="0">
            <a:spAutoFit/>
          </a:bodyPr>
          <a:lstStyle/>
          <a:p>
            <a:pPr algn="just"/>
            <a:r>
              <a:rPr lang="en-US" sz="1500" b="0" i="0" u="none" strike="noStrike" baseline="0" dirty="0">
                <a:latin typeface="Arial" panose="020B0604020202020204" pitchFamily="34" charset="0"/>
                <a:cs typeface="Arial" panose="020B0604020202020204" pitchFamily="34" charset="0"/>
              </a:rPr>
              <a:t>The Nernst equation provides a powerful way to predict how a system will respond to a change of concentration of species in solution or a change in the electrode potential</a:t>
            </a:r>
            <a:endParaRPr lang="en-IN" sz="1500" dirty="0">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6E487455-FF5E-32EB-8965-5EC8E1CDA7CB}"/>
              </a:ext>
            </a:extLst>
          </p:cNvPr>
          <p:cNvSpPr txBox="1"/>
          <p:nvPr/>
        </p:nvSpPr>
        <p:spPr>
          <a:xfrm>
            <a:off x="313088" y="4929138"/>
            <a:ext cx="6822088" cy="784830"/>
          </a:xfrm>
          <a:prstGeom prst="rect">
            <a:avLst/>
          </a:prstGeom>
          <a:noFill/>
        </p:spPr>
        <p:txBody>
          <a:bodyPr wrap="square" rtlCol="0">
            <a:spAutoFit/>
          </a:bodyPr>
          <a:lstStyle/>
          <a:p>
            <a:pPr algn="just"/>
            <a:r>
              <a:rPr lang="en-US" sz="1500" b="0" i="0" u="none" strike="noStrike" baseline="0" dirty="0">
                <a:latin typeface="Arial" panose="020B0604020202020204" pitchFamily="34" charset="0"/>
                <a:cs typeface="Arial" panose="020B0604020202020204" pitchFamily="34" charset="0"/>
              </a:rPr>
              <a:t>If a potential of E = E°′ ≈ E1/2 is applied to the Fc+ solution, the Nernst equation predicts that Fc+ will be reduced to Fc until [Fc+] = [Fc], and equilibrium is achieved. </a:t>
            </a:r>
            <a:endParaRPr lang="en-IN" sz="1500" dirty="0">
              <a:latin typeface="Arial" panose="020B0604020202020204" pitchFamily="34" charset="0"/>
              <a:cs typeface="Arial" panose="020B0604020202020204" pitchFamily="34" charset="0"/>
            </a:endParaRPr>
          </a:p>
        </p:txBody>
      </p:sp>
      <p:sp>
        <p:nvSpPr>
          <p:cNvPr id="13" name="TextBox 12">
            <a:extLst>
              <a:ext uri="{FF2B5EF4-FFF2-40B4-BE49-F238E27FC236}">
                <a16:creationId xmlns:a16="http://schemas.microsoft.com/office/drawing/2014/main" id="{EA118B81-B3E1-5C99-88CA-7236494FC5C8}"/>
              </a:ext>
            </a:extLst>
          </p:cNvPr>
          <p:cNvSpPr txBox="1"/>
          <p:nvPr/>
        </p:nvSpPr>
        <p:spPr>
          <a:xfrm>
            <a:off x="313089" y="5770908"/>
            <a:ext cx="6947248" cy="784830"/>
          </a:xfrm>
          <a:prstGeom prst="rect">
            <a:avLst/>
          </a:prstGeom>
          <a:noFill/>
        </p:spPr>
        <p:txBody>
          <a:bodyPr wrap="square" rtlCol="0">
            <a:spAutoFit/>
          </a:bodyPr>
          <a:lstStyle/>
          <a:p>
            <a:pPr algn="just"/>
            <a:r>
              <a:rPr lang="en-US" sz="1500" b="0" i="0" u="none" strike="noStrike" baseline="0" dirty="0">
                <a:latin typeface="Arial" panose="020B0604020202020204" pitchFamily="34" charset="0"/>
                <a:cs typeface="Arial" panose="020B0604020202020204" pitchFamily="34" charset="0"/>
              </a:rPr>
              <a:t>When the potential is scanned during the CV experiment, the concentration of the species in solution near the electrode changes over time in accordance with the Nernst equation</a:t>
            </a:r>
            <a:endParaRPr lang="en-IN" sz="1500" dirty="0">
              <a:latin typeface="Arial" panose="020B0604020202020204" pitchFamily="34" charset="0"/>
              <a:cs typeface="Arial" panose="020B0604020202020204" pitchFamily="34" charset="0"/>
            </a:endParaRPr>
          </a:p>
        </p:txBody>
      </p:sp>
      <p:pic>
        <p:nvPicPr>
          <p:cNvPr id="8" name="Picture 7">
            <a:extLst>
              <a:ext uri="{FF2B5EF4-FFF2-40B4-BE49-F238E27FC236}">
                <a16:creationId xmlns:a16="http://schemas.microsoft.com/office/drawing/2014/main" id="{7B0D83AA-BE3A-4A20-7D4F-7B867072F382}"/>
              </a:ext>
            </a:extLst>
          </p:cNvPr>
          <p:cNvPicPr>
            <a:picLocks noChangeAspect="1"/>
          </p:cNvPicPr>
          <p:nvPr/>
        </p:nvPicPr>
        <p:blipFill>
          <a:blip r:embed="rId6"/>
          <a:srcRect l="6410" t="7174" r="1352"/>
          <a:stretch/>
        </p:blipFill>
        <p:spPr>
          <a:xfrm>
            <a:off x="8146666" y="302262"/>
            <a:ext cx="3457069" cy="3040568"/>
          </a:xfrm>
          <a:prstGeom prst="rect">
            <a:avLst/>
          </a:prstGeom>
        </p:spPr>
      </p:pic>
    </p:spTree>
    <p:extLst>
      <p:ext uri="{BB962C8B-B14F-4D97-AF65-F5344CB8AC3E}">
        <p14:creationId xmlns:p14="http://schemas.microsoft.com/office/powerpoint/2010/main" val="41198773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59A2072-992D-A76B-EF54-258DE186A8A8}"/>
              </a:ext>
            </a:extLst>
          </p:cNvPr>
          <p:cNvSpPr txBox="1"/>
          <p:nvPr/>
        </p:nvSpPr>
        <p:spPr>
          <a:xfrm>
            <a:off x="1029776" y="347037"/>
            <a:ext cx="9946517" cy="584775"/>
          </a:xfrm>
          <a:prstGeom prst="rect">
            <a:avLst/>
          </a:prstGeom>
          <a:noFill/>
        </p:spPr>
        <p:txBody>
          <a:bodyPr wrap="square" rtlCol="0">
            <a:spAutoFit/>
          </a:bodyPr>
          <a:lstStyle/>
          <a:p>
            <a:pPr algn="just"/>
            <a:r>
              <a:rPr lang="en-US" sz="1600" b="0" i="0" u="none" strike="noStrike" baseline="0" dirty="0">
                <a:latin typeface="Arial" panose="020B0604020202020204" pitchFamily="34" charset="0"/>
                <a:cs typeface="Arial" panose="020B0604020202020204" pitchFamily="34" charset="0"/>
              </a:rPr>
              <a:t>If the reduction process is chemically and electrochemically reversible, the difference between the anodic and cathodic peak potentials, called peak-to-peak separation (</a:t>
            </a:r>
            <a:r>
              <a:rPr lang="en-US" sz="1600" b="0" i="0" u="none" strike="noStrike" baseline="0" dirty="0" err="1">
                <a:latin typeface="Arial" panose="020B0604020202020204" pitchFamily="34" charset="0"/>
                <a:cs typeface="Arial" panose="020B0604020202020204" pitchFamily="34" charset="0"/>
              </a:rPr>
              <a:t>ΔE</a:t>
            </a:r>
            <a:r>
              <a:rPr lang="en-US" sz="1600" b="0" i="0" u="none" strike="noStrike" baseline="-25000" dirty="0" err="1">
                <a:latin typeface="Arial" panose="020B0604020202020204" pitchFamily="34" charset="0"/>
                <a:cs typeface="Arial" panose="020B0604020202020204" pitchFamily="34" charset="0"/>
              </a:rPr>
              <a:t>p</a:t>
            </a:r>
            <a:r>
              <a:rPr lang="en-US" sz="1600" b="0" i="0" u="none" strike="noStrike" baseline="0" dirty="0">
                <a:latin typeface="Arial" panose="020B0604020202020204" pitchFamily="34" charset="0"/>
                <a:cs typeface="Arial" panose="020B0604020202020204" pitchFamily="34" charset="0"/>
              </a:rPr>
              <a:t>), is 57 mV at </a:t>
            </a:r>
            <a:r>
              <a:rPr lang="en-IN" sz="1600" b="0" i="0" u="none" strike="noStrike" baseline="0" dirty="0">
                <a:latin typeface="Arial" panose="020B0604020202020204" pitchFamily="34" charset="0"/>
                <a:cs typeface="Arial" panose="020B0604020202020204" pitchFamily="34" charset="0"/>
              </a:rPr>
              <a:t>25 °C (2.023 RT/F)</a:t>
            </a:r>
            <a:endParaRPr lang="en-IN" sz="1600"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744A22A7-98F2-8B5A-70E5-08FDBFC1316C}"/>
              </a:ext>
            </a:extLst>
          </p:cNvPr>
          <p:cNvSpPr txBox="1"/>
          <p:nvPr/>
        </p:nvSpPr>
        <p:spPr>
          <a:xfrm>
            <a:off x="1029776" y="1192239"/>
            <a:ext cx="10107615" cy="584775"/>
          </a:xfrm>
          <a:prstGeom prst="rect">
            <a:avLst/>
          </a:prstGeom>
          <a:noFill/>
        </p:spPr>
        <p:txBody>
          <a:bodyPr wrap="square" rtlCol="0">
            <a:spAutoFit/>
          </a:bodyPr>
          <a:lstStyle/>
          <a:p>
            <a:pPr algn="just"/>
            <a:r>
              <a:rPr lang="en-US" sz="1600" b="0" i="0" u="none" strike="noStrike" baseline="0" dirty="0">
                <a:latin typeface="Arial" panose="020B0604020202020204" pitchFamily="34" charset="0"/>
                <a:cs typeface="Arial" panose="020B0604020202020204" pitchFamily="34" charset="0"/>
              </a:rPr>
              <a:t>Chemical reversibility is used to denote whether the analyte is stable upon reduction and can subsequently </a:t>
            </a:r>
            <a:r>
              <a:rPr lang="en-IN" sz="1600" b="0" i="0" u="none" strike="noStrike" baseline="0" dirty="0">
                <a:latin typeface="Arial" panose="020B0604020202020204" pitchFamily="34" charset="0"/>
                <a:cs typeface="Arial" panose="020B0604020202020204" pitchFamily="34" charset="0"/>
              </a:rPr>
              <a:t>be </a:t>
            </a:r>
            <a:r>
              <a:rPr lang="en-IN" sz="1600" b="0" i="0" u="none" strike="noStrike" baseline="0" dirty="0" err="1">
                <a:latin typeface="Arial" panose="020B0604020202020204" pitchFamily="34" charset="0"/>
                <a:cs typeface="Arial" panose="020B0604020202020204" pitchFamily="34" charset="0"/>
              </a:rPr>
              <a:t>reoxidized</a:t>
            </a:r>
            <a:r>
              <a:rPr lang="en-IN" sz="1600" b="0" i="0" u="none" strike="noStrike" baseline="0" dirty="0">
                <a:latin typeface="Arial" panose="020B0604020202020204" pitchFamily="34" charset="0"/>
                <a:cs typeface="Arial" panose="020B0604020202020204" pitchFamily="34" charset="0"/>
              </a:rPr>
              <a:t>.</a:t>
            </a:r>
            <a:endParaRPr lang="en-IN" sz="1600" dirty="0">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CE3FA2E5-55DD-3165-AAA0-56A39047C4DB}"/>
              </a:ext>
            </a:extLst>
          </p:cNvPr>
          <p:cNvSpPr txBox="1"/>
          <p:nvPr/>
        </p:nvSpPr>
        <p:spPr>
          <a:xfrm>
            <a:off x="913097" y="2643114"/>
            <a:ext cx="10315735" cy="1077218"/>
          </a:xfrm>
          <a:prstGeom prst="rect">
            <a:avLst/>
          </a:prstGeom>
          <a:noFill/>
        </p:spPr>
        <p:txBody>
          <a:bodyPr wrap="square" rtlCol="0">
            <a:spAutoFit/>
          </a:bodyPr>
          <a:lstStyle/>
          <a:p>
            <a:pPr algn="just"/>
            <a:r>
              <a:rPr lang="en-US" sz="1600" b="0" i="0" u="none" strike="noStrike" baseline="0" dirty="0">
                <a:latin typeface="Arial" panose="020B0604020202020204" pitchFamily="34" charset="0"/>
                <a:cs typeface="Arial" panose="020B0604020202020204" pitchFamily="34" charset="0"/>
              </a:rPr>
              <a:t>When there is a low barrier to electron transfer (electrochemical reversibility), the Nernstian equilibrium is established immediately upon any change in applied potential. By contrast, when there is a high barrier to electron transfer (electrochemical irreversibility), electron transfer reactions are sluggish and more negative (positive) potentials are required to observe reduction (oxidation) reactions, giving rise to larger </a:t>
            </a:r>
            <a:r>
              <a:rPr lang="el-GR" sz="1600" b="0" i="0" u="none" strike="noStrike" baseline="0" dirty="0">
                <a:latin typeface="Arial" panose="020B0604020202020204" pitchFamily="34" charset="0"/>
                <a:cs typeface="Arial" panose="020B0604020202020204" pitchFamily="34" charset="0"/>
              </a:rPr>
              <a:t>Δ</a:t>
            </a:r>
            <a:r>
              <a:rPr lang="en-IN" sz="1600" b="0" i="0" u="none" strike="noStrike" baseline="0" dirty="0">
                <a:latin typeface="Arial" panose="020B0604020202020204" pitchFamily="34" charset="0"/>
                <a:cs typeface="Arial" panose="020B0604020202020204" pitchFamily="34" charset="0"/>
              </a:rPr>
              <a:t>E</a:t>
            </a:r>
            <a:r>
              <a:rPr lang="en-IN" sz="1600" b="0" i="0" u="none" strike="noStrike" baseline="-25000" dirty="0">
                <a:latin typeface="Arial" panose="020B0604020202020204" pitchFamily="34" charset="0"/>
                <a:cs typeface="Arial" panose="020B0604020202020204" pitchFamily="34" charset="0"/>
              </a:rPr>
              <a:t>p</a:t>
            </a:r>
            <a:endParaRPr lang="en-IN" sz="1600" baseline="-25000"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D3BCB748-7F3A-6023-EA5E-1930FA73DC72}"/>
              </a:ext>
            </a:extLst>
          </p:cNvPr>
          <p:cNvSpPr txBox="1"/>
          <p:nvPr/>
        </p:nvSpPr>
        <p:spPr>
          <a:xfrm>
            <a:off x="913097" y="4120088"/>
            <a:ext cx="1890326" cy="369332"/>
          </a:xfrm>
          <a:prstGeom prst="rect">
            <a:avLst/>
          </a:prstGeom>
          <a:noFill/>
        </p:spPr>
        <p:txBody>
          <a:bodyPr wrap="none" rtlCol="0">
            <a:spAutoFit/>
          </a:bodyPr>
          <a:lstStyle/>
          <a:p>
            <a:r>
              <a:rPr lang="en-US" b="1" dirty="0">
                <a:latin typeface="Arial" panose="020B0604020202020204" pitchFamily="34" charset="0"/>
                <a:cs typeface="Arial" panose="020B0604020202020204" pitchFamily="34" charset="0"/>
              </a:rPr>
              <a:t>Mass Transport</a:t>
            </a:r>
            <a:endParaRPr lang="en-IN" b="1"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664185E3-4590-8450-97C3-A9086ED692AE}"/>
              </a:ext>
            </a:extLst>
          </p:cNvPr>
          <p:cNvSpPr txBox="1"/>
          <p:nvPr/>
        </p:nvSpPr>
        <p:spPr>
          <a:xfrm>
            <a:off x="913097" y="4595292"/>
            <a:ext cx="9522400" cy="1524007"/>
          </a:xfrm>
          <a:prstGeom prst="rect">
            <a:avLst/>
          </a:prstGeom>
          <a:noFill/>
        </p:spPr>
        <p:txBody>
          <a:bodyPr wrap="square" rtlCol="0">
            <a:spAutoFit/>
          </a:bodyPr>
          <a:lstStyle/>
          <a:p>
            <a:pPr algn="just">
              <a:lnSpc>
                <a:spcPct val="150000"/>
              </a:lnSpc>
            </a:pPr>
            <a:r>
              <a:rPr lang="en-US" sz="1600" b="0" i="0" u="none" strike="noStrike" baseline="0" dirty="0">
                <a:latin typeface="Arial" panose="020B0604020202020204" pitchFamily="34" charset="0"/>
                <a:cs typeface="Arial" panose="020B0604020202020204" pitchFamily="34" charset="0"/>
              </a:rPr>
              <a:t>Movement of the analyte to the electrode surface is controlled by three modes of mass transport:</a:t>
            </a:r>
          </a:p>
          <a:p>
            <a:pPr algn="just">
              <a:lnSpc>
                <a:spcPct val="150000"/>
              </a:lnSpc>
            </a:pPr>
            <a:r>
              <a:rPr lang="en-US" sz="1600" b="0" i="0" u="none" strike="noStrike" baseline="0" dirty="0">
                <a:solidFill>
                  <a:srgbClr val="C00000"/>
                </a:solidFill>
                <a:latin typeface="Arial" panose="020B0604020202020204" pitchFamily="34" charset="0"/>
                <a:cs typeface="Arial" panose="020B0604020202020204" pitchFamily="34" charset="0"/>
              </a:rPr>
              <a:t>Convection</a:t>
            </a:r>
            <a:r>
              <a:rPr lang="en-US" sz="1600" b="0" i="0" u="none" strike="noStrike" baseline="0" dirty="0">
                <a:latin typeface="Arial" panose="020B0604020202020204" pitchFamily="34" charset="0"/>
                <a:cs typeface="Arial" panose="020B0604020202020204" pitchFamily="34" charset="0"/>
              </a:rPr>
              <a:t> : Due to mechanical forces (stirring) </a:t>
            </a:r>
          </a:p>
          <a:p>
            <a:pPr algn="just">
              <a:lnSpc>
                <a:spcPct val="150000"/>
              </a:lnSpc>
            </a:pPr>
            <a:r>
              <a:rPr lang="en-US" sz="1600" dirty="0">
                <a:solidFill>
                  <a:srgbClr val="C00000"/>
                </a:solidFill>
                <a:latin typeface="Arial" panose="020B0604020202020204" pitchFamily="34" charset="0"/>
                <a:cs typeface="Arial" panose="020B0604020202020204" pitchFamily="34" charset="0"/>
              </a:rPr>
              <a:t>M</a:t>
            </a:r>
            <a:r>
              <a:rPr lang="en-US" sz="1600" b="0" i="0" u="none" strike="noStrike" baseline="0" dirty="0">
                <a:solidFill>
                  <a:srgbClr val="C00000"/>
                </a:solidFill>
                <a:latin typeface="Arial" panose="020B0604020202020204" pitchFamily="34" charset="0"/>
                <a:cs typeface="Arial" panose="020B0604020202020204" pitchFamily="34" charset="0"/>
              </a:rPr>
              <a:t>igration</a:t>
            </a:r>
            <a:r>
              <a:rPr lang="en-US" sz="1600" b="0" i="0" u="none" strike="noStrike" baseline="0" dirty="0">
                <a:latin typeface="Arial" panose="020B0604020202020204" pitchFamily="34" charset="0"/>
                <a:cs typeface="Arial" panose="020B0604020202020204" pitchFamily="34" charset="0"/>
              </a:rPr>
              <a:t>: Ionic species move due to electric field (electrostatic attraction between ions and electrode)</a:t>
            </a:r>
          </a:p>
          <a:p>
            <a:pPr algn="just">
              <a:lnSpc>
                <a:spcPct val="150000"/>
              </a:lnSpc>
            </a:pPr>
            <a:r>
              <a:rPr lang="en-US" sz="1600" dirty="0">
                <a:solidFill>
                  <a:srgbClr val="C00000"/>
                </a:solidFill>
                <a:latin typeface="Arial" panose="020B0604020202020204" pitchFamily="34" charset="0"/>
                <a:cs typeface="Arial" panose="020B0604020202020204" pitchFamily="34" charset="0"/>
              </a:rPr>
              <a:t>D</a:t>
            </a:r>
            <a:r>
              <a:rPr lang="en-US" sz="1600" b="0" i="0" u="none" strike="noStrike" baseline="0" dirty="0">
                <a:solidFill>
                  <a:srgbClr val="C00000"/>
                </a:solidFill>
                <a:latin typeface="Arial" panose="020B0604020202020204" pitchFamily="34" charset="0"/>
                <a:cs typeface="Arial" panose="020B0604020202020204" pitchFamily="34" charset="0"/>
              </a:rPr>
              <a:t>iffusion: </a:t>
            </a:r>
            <a:r>
              <a:rPr lang="en-US" sz="1600" b="1" i="0" u="none" strike="noStrike" baseline="0" dirty="0">
                <a:latin typeface="Arial" panose="020B0604020202020204" pitchFamily="34" charset="0"/>
                <a:cs typeface="Arial" panose="020B0604020202020204" pitchFamily="34" charset="0"/>
              </a:rPr>
              <a:t>analyte movements occurs due to difference in concentration (high to low)</a:t>
            </a:r>
            <a:endParaRPr lang="en-IN" sz="1600" b="1" dirty="0">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C90A9B40-106C-52FE-A22F-F77A91FC3190}"/>
              </a:ext>
            </a:extLst>
          </p:cNvPr>
          <p:cNvSpPr txBox="1"/>
          <p:nvPr/>
        </p:nvSpPr>
        <p:spPr>
          <a:xfrm>
            <a:off x="1029777" y="2055729"/>
            <a:ext cx="7977953" cy="338554"/>
          </a:xfrm>
          <a:prstGeom prst="rect">
            <a:avLst/>
          </a:prstGeom>
          <a:noFill/>
        </p:spPr>
        <p:txBody>
          <a:bodyPr wrap="none" rtlCol="0">
            <a:spAutoFit/>
          </a:bodyPr>
          <a:lstStyle/>
          <a:p>
            <a:r>
              <a:rPr lang="en-US" sz="1600" dirty="0">
                <a:latin typeface="Arial" panose="020B0604020202020204" pitchFamily="34" charset="0"/>
                <a:cs typeface="Arial" panose="020B0604020202020204" pitchFamily="34" charset="0"/>
              </a:rPr>
              <a:t>The two peaks are separated due to diffusion of the analyte to and from the electrode</a:t>
            </a:r>
            <a:endParaRPr lang="en-IN"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518739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1ADCA73B-56B7-3941-317D-009707C5AB12}"/>
              </a:ext>
            </a:extLst>
          </p:cNvPr>
          <p:cNvGrpSpPr/>
          <p:nvPr/>
        </p:nvGrpSpPr>
        <p:grpSpPr>
          <a:xfrm>
            <a:off x="554948" y="451784"/>
            <a:ext cx="9522400" cy="1692771"/>
            <a:chOff x="1029776" y="4290524"/>
            <a:chExt cx="9522400" cy="1692771"/>
          </a:xfrm>
        </p:grpSpPr>
        <p:sp>
          <p:nvSpPr>
            <p:cNvPr id="3" name="TextBox 2">
              <a:extLst>
                <a:ext uri="{FF2B5EF4-FFF2-40B4-BE49-F238E27FC236}">
                  <a16:creationId xmlns:a16="http://schemas.microsoft.com/office/drawing/2014/main" id="{60CBDD7F-A966-D930-A9D6-D5C6BD09B0D8}"/>
                </a:ext>
              </a:extLst>
            </p:cNvPr>
            <p:cNvSpPr txBox="1"/>
            <p:nvPr/>
          </p:nvSpPr>
          <p:spPr>
            <a:xfrm>
              <a:off x="1112072" y="4290524"/>
              <a:ext cx="1223412" cy="369332"/>
            </a:xfrm>
            <a:prstGeom prst="rect">
              <a:avLst/>
            </a:prstGeom>
            <a:noFill/>
          </p:spPr>
          <p:txBody>
            <a:bodyPr wrap="none" rtlCol="0">
              <a:spAutoFit/>
            </a:bodyPr>
            <a:lstStyle/>
            <a:p>
              <a:r>
                <a:rPr lang="en-US" b="1" dirty="0">
                  <a:solidFill>
                    <a:srgbClr val="C00000"/>
                  </a:solidFill>
                  <a:latin typeface="Arial" panose="020B0604020202020204" pitchFamily="34" charset="0"/>
                  <a:cs typeface="Arial" panose="020B0604020202020204" pitchFamily="34" charset="0"/>
                </a:rPr>
                <a:t>Scan rate</a:t>
              </a:r>
              <a:endParaRPr lang="en-IN" b="1" dirty="0">
                <a:solidFill>
                  <a:srgbClr val="C00000"/>
                </a:solidFill>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83F07B5E-A1D0-1DE4-DF57-4C5EF54DC17D}"/>
                </a:ext>
              </a:extLst>
            </p:cNvPr>
            <p:cNvSpPr txBox="1"/>
            <p:nvPr/>
          </p:nvSpPr>
          <p:spPr>
            <a:xfrm>
              <a:off x="1029776" y="4659856"/>
              <a:ext cx="9522400" cy="1323439"/>
            </a:xfrm>
            <a:prstGeom prst="rect">
              <a:avLst/>
            </a:prstGeom>
            <a:noFill/>
          </p:spPr>
          <p:txBody>
            <a:bodyPr wrap="square" rtlCol="0">
              <a:spAutoFit/>
            </a:bodyPr>
            <a:lstStyle/>
            <a:p>
              <a:pPr algn="just"/>
              <a:r>
                <a:rPr lang="en-US" sz="1600" b="0" i="0" u="none" strike="noStrike" baseline="0" dirty="0">
                  <a:latin typeface="Arial" panose="020B0604020202020204" pitchFamily="34" charset="0"/>
                  <a:cs typeface="Arial" panose="020B0604020202020204" pitchFamily="34" charset="0"/>
                </a:rPr>
                <a:t>The scan rate of the experiment controls how fast the applied potential is scanned. Faster scan rates lead to a decrease in the size of the diffusion layer; as a consequence, higher currents </a:t>
              </a:r>
              <a:r>
                <a:rPr lang="en-IN" sz="1600" b="0" i="0" u="none" strike="noStrike" baseline="0" dirty="0">
                  <a:latin typeface="Arial" panose="020B0604020202020204" pitchFamily="34" charset="0"/>
                  <a:cs typeface="Arial" panose="020B0604020202020204" pitchFamily="34" charset="0"/>
                </a:rPr>
                <a:t>are observed.</a:t>
              </a:r>
            </a:p>
            <a:p>
              <a:pPr algn="just"/>
              <a:endParaRPr lang="en-IN" sz="1600" dirty="0">
                <a:latin typeface="Arial" panose="020B0604020202020204" pitchFamily="34" charset="0"/>
                <a:cs typeface="Arial" panose="020B0604020202020204" pitchFamily="34" charset="0"/>
              </a:endParaRPr>
            </a:p>
            <a:p>
              <a:pPr algn="just"/>
              <a:r>
                <a:rPr lang="en-IN" sz="1600" b="0" i="0" u="none" strike="noStrike" baseline="0" dirty="0">
                  <a:latin typeface="Arial" panose="020B0604020202020204" pitchFamily="34" charset="0"/>
                  <a:cs typeface="Arial" panose="020B0604020202020204" pitchFamily="34" charset="0"/>
                </a:rPr>
                <a:t>For electrochemically reversible electron </a:t>
              </a:r>
              <a:r>
                <a:rPr lang="en-US" sz="1600" b="0" i="0" u="none" strike="noStrike" baseline="0" dirty="0">
                  <a:latin typeface="Arial" panose="020B0604020202020204" pitchFamily="34" charset="0"/>
                  <a:cs typeface="Arial" panose="020B0604020202020204" pitchFamily="34" charset="0"/>
                </a:rPr>
                <a:t>transfer processes involving freely diffusing redox species, the </a:t>
              </a:r>
              <a:r>
                <a:rPr lang="en-IN" sz="1600" b="0" i="0" u="none" strike="noStrike" baseline="0" dirty="0">
                  <a:latin typeface="Arial" panose="020B0604020202020204" pitchFamily="34" charset="0"/>
                  <a:cs typeface="Arial" panose="020B0604020202020204" pitchFamily="34" charset="0"/>
                </a:rPr>
                <a:t>Randles−Sevcik equation</a:t>
              </a:r>
              <a:endParaRPr lang="en-IN" sz="1600" dirty="0">
                <a:latin typeface="Arial" panose="020B0604020202020204" pitchFamily="34" charset="0"/>
                <a:cs typeface="Arial" panose="020B0604020202020204" pitchFamily="34" charset="0"/>
              </a:endParaRPr>
            </a:p>
          </p:txBody>
        </p:sp>
      </p:grpSp>
      <p:pic>
        <p:nvPicPr>
          <p:cNvPr id="9" name="Picture 8">
            <a:extLst>
              <a:ext uri="{FF2B5EF4-FFF2-40B4-BE49-F238E27FC236}">
                <a16:creationId xmlns:a16="http://schemas.microsoft.com/office/drawing/2014/main" id="{CB7A5985-4133-CE5D-4B29-E2D04501DE1D}"/>
              </a:ext>
            </a:extLst>
          </p:cNvPr>
          <p:cNvPicPr>
            <a:picLocks noChangeAspect="1"/>
          </p:cNvPicPr>
          <p:nvPr/>
        </p:nvPicPr>
        <p:blipFill>
          <a:blip r:embed="rId2"/>
          <a:stretch>
            <a:fillRect/>
          </a:stretch>
        </p:blipFill>
        <p:spPr>
          <a:xfrm>
            <a:off x="857500" y="3983442"/>
            <a:ext cx="3678355" cy="1078981"/>
          </a:xfrm>
          <a:prstGeom prst="rect">
            <a:avLst/>
          </a:prstGeom>
        </p:spPr>
      </p:pic>
      <p:sp>
        <p:nvSpPr>
          <p:cNvPr id="10" name="TextBox 9">
            <a:extLst>
              <a:ext uri="{FF2B5EF4-FFF2-40B4-BE49-F238E27FC236}">
                <a16:creationId xmlns:a16="http://schemas.microsoft.com/office/drawing/2014/main" id="{09255F57-541E-74C5-ED36-8D6A4D102C93}"/>
              </a:ext>
            </a:extLst>
          </p:cNvPr>
          <p:cNvSpPr txBox="1"/>
          <p:nvPr/>
        </p:nvSpPr>
        <p:spPr>
          <a:xfrm>
            <a:off x="554948" y="2385064"/>
            <a:ext cx="2814066" cy="369332"/>
          </a:xfrm>
          <a:prstGeom prst="rect">
            <a:avLst/>
          </a:prstGeom>
          <a:noFill/>
        </p:spPr>
        <p:txBody>
          <a:bodyPr wrap="square">
            <a:spAutoFit/>
          </a:bodyPr>
          <a:lstStyle/>
          <a:p>
            <a:r>
              <a:rPr lang="en-IN" sz="1800" b="0" i="0" u="none" strike="noStrike" baseline="0" dirty="0">
                <a:solidFill>
                  <a:srgbClr val="C00000"/>
                </a:solidFill>
                <a:latin typeface="Arial" panose="020B0604020202020204" pitchFamily="34" charset="0"/>
                <a:cs typeface="Arial" panose="020B0604020202020204" pitchFamily="34" charset="0"/>
              </a:rPr>
              <a:t>Randles−Sevcik equation</a:t>
            </a:r>
            <a:endParaRPr lang="en-IN" dirty="0">
              <a:solidFill>
                <a:srgbClr val="C00000"/>
              </a:solidFill>
            </a:endParaRPr>
          </a:p>
        </p:txBody>
      </p:sp>
      <p:sp>
        <p:nvSpPr>
          <p:cNvPr id="11" name="TextBox 10">
            <a:extLst>
              <a:ext uri="{FF2B5EF4-FFF2-40B4-BE49-F238E27FC236}">
                <a16:creationId xmlns:a16="http://schemas.microsoft.com/office/drawing/2014/main" id="{A1EF381A-58E6-ACF6-6375-0F62109534EE}"/>
              </a:ext>
            </a:extLst>
          </p:cNvPr>
          <p:cNvSpPr txBox="1"/>
          <p:nvPr/>
        </p:nvSpPr>
        <p:spPr>
          <a:xfrm>
            <a:off x="554948" y="2907560"/>
            <a:ext cx="9832636" cy="584775"/>
          </a:xfrm>
          <a:prstGeom prst="rect">
            <a:avLst/>
          </a:prstGeom>
          <a:noFill/>
        </p:spPr>
        <p:txBody>
          <a:bodyPr wrap="square" rtlCol="0">
            <a:spAutoFit/>
          </a:bodyPr>
          <a:lstStyle/>
          <a:p>
            <a:pPr algn="just"/>
            <a:r>
              <a:rPr lang="en-US" sz="1600" b="0" i="0" u="none" strike="noStrike" baseline="0" dirty="0">
                <a:solidFill>
                  <a:srgbClr val="000000"/>
                </a:solidFill>
                <a:latin typeface="Arial" panose="020B0604020202020204" pitchFamily="34" charset="0"/>
                <a:cs typeface="Arial" panose="020B0604020202020204" pitchFamily="34" charset="0"/>
              </a:rPr>
              <a:t>Randles−Sevcik equation describes how the peak current </a:t>
            </a:r>
            <a:r>
              <a:rPr lang="en-US" sz="1600" b="0" i="0" u="none" strike="noStrike" baseline="0" dirty="0" err="1">
                <a:solidFill>
                  <a:srgbClr val="000000"/>
                </a:solidFill>
                <a:latin typeface="Arial" panose="020B0604020202020204" pitchFamily="34" charset="0"/>
                <a:cs typeface="Arial" panose="020B0604020202020204" pitchFamily="34" charset="0"/>
              </a:rPr>
              <a:t>ip</a:t>
            </a:r>
            <a:r>
              <a:rPr lang="en-US" sz="1600" b="0" i="0" u="none" strike="noStrike" baseline="0" dirty="0">
                <a:solidFill>
                  <a:srgbClr val="000000"/>
                </a:solidFill>
                <a:latin typeface="Arial" panose="020B0604020202020204" pitchFamily="34" charset="0"/>
                <a:cs typeface="Arial" panose="020B0604020202020204" pitchFamily="34" charset="0"/>
              </a:rPr>
              <a:t> (A) increases linearly with the square root of the scan rate </a:t>
            </a:r>
            <a:r>
              <a:rPr lang="el-GR" sz="1600" b="0" i="0" u="none" strike="noStrike" baseline="0" dirty="0">
                <a:solidFill>
                  <a:srgbClr val="000000"/>
                </a:solidFill>
                <a:latin typeface="Arial" panose="020B0604020202020204" pitchFamily="34" charset="0"/>
                <a:cs typeface="Arial" panose="020B0604020202020204" pitchFamily="34" charset="0"/>
                <a:sym typeface="Symbol" panose="05050102010706020507" pitchFamily="18" charset="2"/>
              </a:rPr>
              <a:t></a:t>
            </a:r>
            <a:r>
              <a:rPr lang="el-GR" sz="1600" b="0" i="0" u="none" strike="noStrike" baseline="0" dirty="0">
                <a:solidFill>
                  <a:srgbClr val="000000"/>
                </a:solidFill>
                <a:latin typeface="Arial" panose="020B0604020202020204" pitchFamily="34" charset="0"/>
                <a:cs typeface="Arial" panose="020B0604020202020204" pitchFamily="34" charset="0"/>
              </a:rPr>
              <a:t> (</a:t>
            </a:r>
            <a:r>
              <a:rPr lang="en-IN" sz="1600" b="0" i="0" u="none" strike="noStrike" baseline="0" dirty="0">
                <a:solidFill>
                  <a:srgbClr val="000000"/>
                </a:solidFill>
                <a:latin typeface="Arial" panose="020B0604020202020204" pitchFamily="34" charset="0"/>
                <a:cs typeface="Arial" panose="020B0604020202020204" pitchFamily="34" charset="0"/>
              </a:rPr>
              <a:t>V s−1),</a:t>
            </a:r>
            <a:endParaRPr lang="en-IN" sz="1600" dirty="0">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D0180F1F-2CBF-B326-6628-6C56BCAFC7A4}"/>
              </a:ext>
            </a:extLst>
          </p:cNvPr>
          <p:cNvSpPr txBox="1"/>
          <p:nvPr/>
        </p:nvSpPr>
        <p:spPr>
          <a:xfrm>
            <a:off x="5524983" y="3823989"/>
            <a:ext cx="5971378" cy="1308050"/>
          </a:xfrm>
          <a:prstGeom prst="rect">
            <a:avLst/>
          </a:prstGeom>
          <a:noFill/>
        </p:spPr>
        <p:txBody>
          <a:bodyPr wrap="none" rtlCol="0">
            <a:spAutoFit/>
          </a:bodyPr>
          <a:lstStyle/>
          <a:p>
            <a:pPr algn="l">
              <a:spcAft>
                <a:spcPts val="600"/>
              </a:spcAft>
            </a:pPr>
            <a:r>
              <a:rPr lang="en-US" sz="1600" b="0" i="0" u="none" strike="noStrike" baseline="0" dirty="0">
                <a:latin typeface="Arial" panose="020B0604020202020204" pitchFamily="34" charset="0"/>
                <a:cs typeface="Arial" panose="020B0604020202020204" pitchFamily="34" charset="0"/>
              </a:rPr>
              <a:t>n is the number of electrons transferred in the redox event, </a:t>
            </a:r>
          </a:p>
          <a:p>
            <a:pPr algn="l">
              <a:spcAft>
                <a:spcPts val="600"/>
              </a:spcAft>
            </a:pPr>
            <a:r>
              <a:rPr lang="en-US" sz="1600" b="0" i="0" u="none" strike="noStrike" baseline="0" dirty="0">
                <a:latin typeface="Arial" panose="020B0604020202020204" pitchFamily="34" charset="0"/>
                <a:cs typeface="Arial" panose="020B0604020202020204" pitchFamily="34" charset="0"/>
              </a:rPr>
              <a:t>A (cm</a:t>
            </a:r>
            <a:r>
              <a:rPr lang="en-US" sz="1600" b="0" i="0" u="none" strike="noStrike" baseline="30000" dirty="0">
                <a:latin typeface="Arial" panose="020B0604020202020204" pitchFamily="34" charset="0"/>
                <a:cs typeface="Arial" panose="020B0604020202020204" pitchFamily="34" charset="0"/>
              </a:rPr>
              <a:t>2</a:t>
            </a:r>
            <a:r>
              <a:rPr lang="en-US" sz="1600" b="0" i="0" u="none" strike="noStrike" baseline="0" dirty="0">
                <a:latin typeface="Arial" panose="020B0604020202020204" pitchFamily="34" charset="0"/>
                <a:cs typeface="Arial" panose="020B0604020202020204" pitchFamily="34" charset="0"/>
              </a:rPr>
              <a:t>) is the electrode surface area  (geometric surface area), </a:t>
            </a:r>
          </a:p>
          <a:p>
            <a:pPr algn="l">
              <a:spcAft>
                <a:spcPts val="600"/>
              </a:spcAft>
            </a:pPr>
            <a:r>
              <a:rPr lang="en-US" sz="1600" b="0" i="0" u="none" strike="noStrike" baseline="0" dirty="0">
                <a:latin typeface="Arial" panose="020B0604020202020204" pitchFamily="34" charset="0"/>
                <a:cs typeface="Arial" panose="020B0604020202020204" pitchFamily="34" charset="0"/>
              </a:rPr>
              <a:t>D</a:t>
            </a:r>
            <a:r>
              <a:rPr lang="en-US" sz="1600" b="0" i="0" u="none" strike="noStrike" baseline="-25000" dirty="0">
                <a:latin typeface="Arial" panose="020B0604020202020204" pitchFamily="34" charset="0"/>
                <a:cs typeface="Arial" panose="020B0604020202020204" pitchFamily="34" charset="0"/>
              </a:rPr>
              <a:t>o</a:t>
            </a:r>
            <a:r>
              <a:rPr lang="en-US" sz="1600" b="0" i="0" u="none" strike="noStrike" baseline="0" dirty="0">
                <a:latin typeface="Arial" panose="020B0604020202020204" pitchFamily="34" charset="0"/>
                <a:cs typeface="Arial" panose="020B0604020202020204" pitchFamily="34" charset="0"/>
              </a:rPr>
              <a:t> (cm</a:t>
            </a:r>
            <a:r>
              <a:rPr lang="en-US" sz="1600" b="0" i="0" u="none" strike="noStrike" baseline="30000" dirty="0">
                <a:latin typeface="Arial" panose="020B0604020202020204" pitchFamily="34" charset="0"/>
                <a:cs typeface="Arial" panose="020B0604020202020204" pitchFamily="34" charset="0"/>
              </a:rPr>
              <a:t>2</a:t>
            </a:r>
            <a:r>
              <a:rPr lang="en-US" sz="1600" b="0" i="0" u="none" strike="noStrike" baseline="0" dirty="0">
                <a:latin typeface="Arial" panose="020B0604020202020204" pitchFamily="34" charset="0"/>
                <a:cs typeface="Arial" panose="020B0604020202020204" pitchFamily="34" charset="0"/>
              </a:rPr>
              <a:t> s</a:t>
            </a:r>
            <a:r>
              <a:rPr lang="en-US" sz="1600" b="0" i="0" u="none" strike="noStrike" baseline="30000" dirty="0">
                <a:latin typeface="Arial" panose="020B0604020202020204" pitchFamily="34" charset="0"/>
                <a:cs typeface="Arial" panose="020B0604020202020204" pitchFamily="34" charset="0"/>
              </a:rPr>
              <a:t>−1</a:t>
            </a:r>
            <a:r>
              <a:rPr lang="en-US" sz="1600" b="0" i="0" u="none" strike="noStrike" baseline="0" dirty="0">
                <a:latin typeface="Arial" panose="020B0604020202020204" pitchFamily="34" charset="0"/>
                <a:cs typeface="Arial" panose="020B0604020202020204" pitchFamily="34" charset="0"/>
              </a:rPr>
              <a:t>) is the diffusion coefficient of the oxidized analyte,</a:t>
            </a:r>
          </a:p>
          <a:p>
            <a:pPr algn="l">
              <a:spcAft>
                <a:spcPts val="600"/>
              </a:spcAft>
            </a:pPr>
            <a:r>
              <a:rPr lang="en-US" sz="1600" b="0" i="0" u="none" strike="noStrike" baseline="0" dirty="0">
                <a:latin typeface="Arial" panose="020B0604020202020204" pitchFamily="34" charset="0"/>
                <a:cs typeface="Arial" panose="020B0604020202020204" pitchFamily="34" charset="0"/>
              </a:rPr>
              <a:t> and C</a:t>
            </a:r>
            <a:r>
              <a:rPr lang="en-US" sz="1600" b="0" i="0" u="none" strike="noStrike" baseline="30000" dirty="0">
                <a:latin typeface="Arial" panose="020B0604020202020204" pitchFamily="34" charset="0"/>
                <a:cs typeface="Arial" panose="020B0604020202020204" pitchFamily="34" charset="0"/>
              </a:rPr>
              <a:t>0</a:t>
            </a:r>
            <a:r>
              <a:rPr lang="en-US" sz="1600" b="0" i="0" u="none" strike="noStrike" baseline="0" dirty="0">
                <a:latin typeface="Arial" panose="020B0604020202020204" pitchFamily="34" charset="0"/>
                <a:cs typeface="Arial" panose="020B0604020202020204" pitchFamily="34" charset="0"/>
              </a:rPr>
              <a:t> (mol cm</a:t>
            </a:r>
            <a:r>
              <a:rPr lang="en-US" sz="1600" b="0" i="0" u="none" strike="noStrike" baseline="30000" dirty="0">
                <a:latin typeface="Arial" panose="020B0604020202020204" pitchFamily="34" charset="0"/>
                <a:cs typeface="Arial" panose="020B0604020202020204" pitchFamily="34" charset="0"/>
              </a:rPr>
              <a:t>−3</a:t>
            </a:r>
            <a:r>
              <a:rPr lang="en-US" sz="1600" b="0" i="0" u="none" strike="noStrike" baseline="0" dirty="0">
                <a:latin typeface="Arial" panose="020B0604020202020204" pitchFamily="34" charset="0"/>
                <a:cs typeface="Arial" panose="020B0604020202020204" pitchFamily="34" charset="0"/>
              </a:rPr>
              <a:t>) is the bulk </a:t>
            </a:r>
            <a:r>
              <a:rPr lang="en-IN" sz="1600" b="0" i="0" u="none" strike="noStrike" baseline="0" dirty="0">
                <a:latin typeface="Arial" panose="020B0604020202020204" pitchFamily="34" charset="0"/>
                <a:cs typeface="Arial" panose="020B0604020202020204" pitchFamily="34" charset="0"/>
              </a:rPr>
              <a:t>concentration of the analyte</a:t>
            </a:r>
            <a:endParaRPr lang="en-IN" sz="1600" dirty="0">
              <a:latin typeface="Arial" panose="020B0604020202020204" pitchFamily="34" charset="0"/>
              <a:cs typeface="Arial" panose="020B0604020202020204" pitchFamily="34" charset="0"/>
            </a:endParaRPr>
          </a:p>
        </p:txBody>
      </p:sp>
      <p:sp>
        <p:nvSpPr>
          <p:cNvPr id="13" name="TextBox 12">
            <a:extLst>
              <a:ext uri="{FF2B5EF4-FFF2-40B4-BE49-F238E27FC236}">
                <a16:creationId xmlns:a16="http://schemas.microsoft.com/office/drawing/2014/main" id="{F433DE2B-D32C-5A9F-8BD5-FABB3B7167FC}"/>
              </a:ext>
            </a:extLst>
          </p:cNvPr>
          <p:cNvSpPr txBox="1"/>
          <p:nvPr/>
        </p:nvSpPr>
        <p:spPr>
          <a:xfrm>
            <a:off x="304467" y="5372548"/>
            <a:ext cx="7051073" cy="830997"/>
          </a:xfrm>
          <a:prstGeom prst="rect">
            <a:avLst/>
          </a:prstGeom>
          <a:noFill/>
        </p:spPr>
        <p:txBody>
          <a:bodyPr wrap="square" rtlCol="0">
            <a:spAutoFit/>
          </a:bodyPr>
          <a:lstStyle/>
          <a:p>
            <a:pPr algn="just"/>
            <a:r>
              <a:rPr lang="en-US" sz="1600" dirty="0">
                <a:latin typeface="Arial" panose="020B0604020202020204" pitchFamily="34" charset="0"/>
                <a:cs typeface="Arial" panose="020B0604020202020204" pitchFamily="34" charset="0"/>
              </a:rPr>
              <a:t>For an electrochemically reversible electron transfer processes involving freely diffusing redox species, the equation predicts dependence of peak current on scan rate and the plot of </a:t>
            </a:r>
            <a:r>
              <a:rPr lang="en-US" sz="1600" dirty="0" err="1">
                <a:latin typeface="Arial" panose="020B0604020202020204" pitchFamily="34" charset="0"/>
                <a:cs typeface="Arial" panose="020B0604020202020204" pitchFamily="34" charset="0"/>
              </a:rPr>
              <a:t>ip</a:t>
            </a:r>
            <a:r>
              <a:rPr lang="en-US" sz="1600" dirty="0">
                <a:latin typeface="Arial" panose="020B0604020202020204" pitchFamily="34" charset="0"/>
                <a:cs typeface="Arial" panose="020B0604020202020204" pitchFamily="34" charset="0"/>
              </a:rPr>
              <a:t> versus </a:t>
            </a:r>
            <a:r>
              <a:rPr lang="en-US" sz="1600" dirty="0">
                <a:latin typeface="Arial" panose="020B0604020202020204" pitchFamily="34" charset="0"/>
                <a:cs typeface="Arial" panose="020B0604020202020204" pitchFamily="34" charset="0"/>
                <a:sym typeface="Symbol" panose="05050102010706020507" pitchFamily="18" charset="2"/>
              </a:rPr>
              <a:t></a:t>
            </a:r>
            <a:r>
              <a:rPr lang="en-US" sz="1600" baseline="30000" dirty="0">
                <a:latin typeface="Arial" panose="020B0604020202020204" pitchFamily="34" charset="0"/>
                <a:cs typeface="Arial" panose="020B0604020202020204" pitchFamily="34" charset="0"/>
                <a:sym typeface="Symbol" panose="05050102010706020507" pitchFamily="18" charset="2"/>
              </a:rPr>
              <a:t>1/2</a:t>
            </a:r>
            <a:r>
              <a:rPr lang="en-US" sz="1600" dirty="0">
                <a:latin typeface="Arial" panose="020B0604020202020204" pitchFamily="34" charset="0"/>
                <a:cs typeface="Arial" panose="020B0604020202020204" pitchFamily="34" charset="0"/>
                <a:sym typeface="Symbol" panose="05050102010706020507" pitchFamily="18" charset="2"/>
              </a:rPr>
              <a:t> should be linear. </a:t>
            </a:r>
            <a:endParaRPr lang="en-IN"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729201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DEAA4D2C-526B-0BA7-5951-0C3FF4D14104}"/>
              </a:ext>
            </a:extLst>
          </p:cNvPr>
          <p:cNvSpPr txBox="1"/>
          <p:nvPr/>
        </p:nvSpPr>
        <p:spPr>
          <a:xfrm>
            <a:off x="430548" y="279167"/>
            <a:ext cx="6500882" cy="369332"/>
          </a:xfrm>
          <a:prstGeom prst="rect">
            <a:avLst/>
          </a:prstGeom>
          <a:noFill/>
        </p:spPr>
        <p:txBody>
          <a:bodyPr wrap="none" rtlCol="0">
            <a:spAutoFit/>
          </a:bodyPr>
          <a:lstStyle/>
          <a:p>
            <a:r>
              <a:rPr lang="en-US" dirty="0"/>
              <a:t>For an electrode adsorbed species the current response is given by </a:t>
            </a:r>
            <a:endParaRPr lang="en-IN" dirty="0"/>
          </a:p>
        </p:txBody>
      </p:sp>
      <p:pic>
        <p:nvPicPr>
          <p:cNvPr id="12" name="Picture 11">
            <a:extLst>
              <a:ext uri="{FF2B5EF4-FFF2-40B4-BE49-F238E27FC236}">
                <a16:creationId xmlns:a16="http://schemas.microsoft.com/office/drawing/2014/main" id="{2A3559B0-EBC4-C765-3BF0-D9CF9AF61254}"/>
              </a:ext>
            </a:extLst>
          </p:cNvPr>
          <p:cNvPicPr>
            <a:picLocks noChangeAspect="1"/>
          </p:cNvPicPr>
          <p:nvPr/>
        </p:nvPicPr>
        <p:blipFill>
          <a:blip r:embed="rId2"/>
          <a:srcRect t="263"/>
          <a:stretch/>
        </p:blipFill>
        <p:spPr>
          <a:xfrm>
            <a:off x="944396" y="981302"/>
            <a:ext cx="2572001" cy="793962"/>
          </a:xfrm>
          <a:prstGeom prst="rect">
            <a:avLst/>
          </a:prstGeom>
        </p:spPr>
      </p:pic>
      <p:pic>
        <p:nvPicPr>
          <p:cNvPr id="14" name="Picture 13">
            <a:extLst>
              <a:ext uri="{FF2B5EF4-FFF2-40B4-BE49-F238E27FC236}">
                <a16:creationId xmlns:a16="http://schemas.microsoft.com/office/drawing/2014/main" id="{222E56AA-556B-DD3E-8D1D-55BEF07BE265}"/>
              </a:ext>
            </a:extLst>
          </p:cNvPr>
          <p:cNvPicPr>
            <a:picLocks noChangeAspect="1"/>
          </p:cNvPicPr>
          <p:nvPr/>
        </p:nvPicPr>
        <p:blipFill>
          <a:blip r:embed="rId3"/>
          <a:stretch>
            <a:fillRect/>
          </a:stretch>
        </p:blipFill>
        <p:spPr>
          <a:xfrm>
            <a:off x="622572" y="2221611"/>
            <a:ext cx="4258888" cy="506492"/>
          </a:xfrm>
          <a:prstGeom prst="rect">
            <a:avLst/>
          </a:prstGeom>
        </p:spPr>
      </p:pic>
      <p:sp>
        <p:nvSpPr>
          <p:cNvPr id="15" name="TextBox 14">
            <a:extLst>
              <a:ext uri="{FF2B5EF4-FFF2-40B4-BE49-F238E27FC236}">
                <a16:creationId xmlns:a16="http://schemas.microsoft.com/office/drawing/2014/main" id="{228910F4-0FBE-F5FF-2B77-44827719DB86}"/>
              </a:ext>
            </a:extLst>
          </p:cNvPr>
          <p:cNvSpPr txBox="1"/>
          <p:nvPr/>
        </p:nvSpPr>
        <p:spPr>
          <a:xfrm>
            <a:off x="6096000" y="981302"/>
            <a:ext cx="5512543" cy="553998"/>
          </a:xfrm>
          <a:prstGeom prst="rect">
            <a:avLst/>
          </a:prstGeom>
          <a:noFill/>
        </p:spPr>
        <p:txBody>
          <a:bodyPr wrap="square" rtlCol="0">
            <a:spAutoFit/>
          </a:bodyPr>
          <a:lstStyle/>
          <a:p>
            <a:r>
              <a:rPr lang="en-US" sz="1500" dirty="0">
                <a:solidFill>
                  <a:srgbClr val="C00000"/>
                </a:solidFill>
                <a:latin typeface="Arial" panose="020B0604020202020204" pitchFamily="34" charset="0"/>
                <a:cs typeface="Arial" panose="020B0604020202020204" pitchFamily="34" charset="0"/>
              </a:rPr>
              <a:t>The current response for an adsorbed species is expected to be linear with </a:t>
            </a:r>
            <a:r>
              <a:rPr lang="en-US" sz="1500" dirty="0">
                <a:solidFill>
                  <a:srgbClr val="C00000"/>
                </a:solidFill>
                <a:latin typeface="Arial" panose="020B0604020202020204" pitchFamily="34" charset="0"/>
                <a:cs typeface="Arial" panose="020B0604020202020204" pitchFamily="34" charset="0"/>
                <a:sym typeface="Symbol" panose="05050102010706020507" pitchFamily="18" charset="2"/>
              </a:rPr>
              <a:t>. </a:t>
            </a:r>
            <a:endParaRPr lang="en-IN" sz="1500" dirty="0">
              <a:solidFill>
                <a:srgbClr val="C00000"/>
              </a:solidFill>
              <a:latin typeface="Arial" panose="020B0604020202020204" pitchFamily="34" charset="0"/>
              <a:cs typeface="Arial" panose="020B0604020202020204" pitchFamily="34" charset="0"/>
            </a:endParaRPr>
          </a:p>
        </p:txBody>
      </p:sp>
      <p:sp>
        <p:nvSpPr>
          <p:cNvPr id="19" name="TextBox 18">
            <a:extLst>
              <a:ext uri="{FF2B5EF4-FFF2-40B4-BE49-F238E27FC236}">
                <a16:creationId xmlns:a16="http://schemas.microsoft.com/office/drawing/2014/main" id="{9DFEDFFF-3333-9406-3C15-834E959DB339}"/>
              </a:ext>
            </a:extLst>
          </p:cNvPr>
          <p:cNvSpPr txBox="1"/>
          <p:nvPr/>
        </p:nvSpPr>
        <p:spPr>
          <a:xfrm>
            <a:off x="6096001" y="1601967"/>
            <a:ext cx="5512542" cy="784830"/>
          </a:xfrm>
          <a:prstGeom prst="rect">
            <a:avLst/>
          </a:prstGeom>
          <a:noFill/>
        </p:spPr>
        <p:txBody>
          <a:bodyPr wrap="square" rtlCol="0">
            <a:spAutoFit/>
          </a:bodyPr>
          <a:lstStyle/>
          <a:p>
            <a:pPr algn="just"/>
            <a:r>
              <a:rPr lang="en-US" sz="1500" dirty="0">
                <a:solidFill>
                  <a:srgbClr val="C00000"/>
                </a:solidFill>
                <a:latin typeface="Arial" panose="020B0604020202020204" pitchFamily="34" charset="0"/>
                <a:cs typeface="Arial" panose="020B0604020202020204" pitchFamily="34" charset="0"/>
              </a:rPr>
              <a:t>Deviation in the </a:t>
            </a:r>
            <a:r>
              <a:rPr lang="en-US" sz="1500" dirty="0" err="1">
                <a:solidFill>
                  <a:srgbClr val="C00000"/>
                </a:solidFill>
                <a:latin typeface="Arial" panose="020B0604020202020204" pitchFamily="34" charset="0"/>
                <a:cs typeface="Arial" panose="020B0604020202020204" pitchFamily="34" charset="0"/>
              </a:rPr>
              <a:t>ip</a:t>
            </a:r>
            <a:r>
              <a:rPr lang="en-US" sz="1500" dirty="0">
                <a:solidFill>
                  <a:srgbClr val="C00000"/>
                </a:solidFill>
                <a:latin typeface="Arial" panose="020B0604020202020204" pitchFamily="34" charset="0"/>
                <a:cs typeface="Arial" panose="020B0604020202020204" pitchFamily="34" charset="0"/>
              </a:rPr>
              <a:t> Vs </a:t>
            </a:r>
            <a:r>
              <a:rPr lang="en-US" sz="1500" dirty="0">
                <a:solidFill>
                  <a:srgbClr val="C00000"/>
                </a:solidFill>
                <a:latin typeface="Arial" panose="020B0604020202020204" pitchFamily="34" charset="0"/>
                <a:cs typeface="Arial" panose="020B0604020202020204" pitchFamily="34" charset="0"/>
                <a:sym typeface="Symbol" panose="05050102010706020507" pitchFamily="18" charset="2"/>
              </a:rPr>
              <a:t></a:t>
            </a:r>
            <a:r>
              <a:rPr lang="en-US" sz="1500" baseline="30000" dirty="0">
                <a:solidFill>
                  <a:srgbClr val="C00000"/>
                </a:solidFill>
                <a:latin typeface="Arial" panose="020B0604020202020204" pitchFamily="34" charset="0"/>
                <a:cs typeface="Arial" panose="020B0604020202020204" pitchFamily="34" charset="0"/>
                <a:sym typeface="Symbol" panose="05050102010706020507" pitchFamily="18" charset="2"/>
              </a:rPr>
              <a:t>1/2</a:t>
            </a:r>
            <a:r>
              <a:rPr lang="en-US" sz="1500" dirty="0">
                <a:solidFill>
                  <a:srgbClr val="C00000"/>
                </a:solidFill>
                <a:latin typeface="Arial" panose="020B0604020202020204" pitchFamily="34" charset="0"/>
                <a:cs typeface="Arial" panose="020B0604020202020204" pitchFamily="34" charset="0"/>
                <a:sym typeface="Symbol" panose="05050102010706020507" pitchFamily="18" charset="2"/>
              </a:rPr>
              <a:t> is noted for quasi reversible or electron transfer occurring via surface adsorbed species. This can be distinguished from the peak-to-peak separation.  </a:t>
            </a:r>
            <a:endParaRPr lang="en-IN" sz="1500" dirty="0">
              <a:solidFill>
                <a:srgbClr val="C00000"/>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E6B0ACDE-2180-20F6-D792-5304127D560E}"/>
              </a:ext>
            </a:extLst>
          </p:cNvPr>
          <p:cNvSpPr txBox="1"/>
          <p:nvPr/>
        </p:nvSpPr>
        <p:spPr>
          <a:xfrm>
            <a:off x="6096000" y="2570239"/>
            <a:ext cx="5850636" cy="323165"/>
          </a:xfrm>
          <a:prstGeom prst="rect">
            <a:avLst/>
          </a:prstGeom>
          <a:noFill/>
        </p:spPr>
        <p:txBody>
          <a:bodyPr wrap="square" rtlCol="0">
            <a:spAutoFit/>
          </a:bodyPr>
          <a:lstStyle/>
          <a:p>
            <a:r>
              <a:rPr lang="en-US" sz="1500" dirty="0">
                <a:solidFill>
                  <a:srgbClr val="C00000"/>
                </a:solidFill>
                <a:latin typeface="Arial" panose="020B0604020202020204" pitchFamily="34" charset="0"/>
                <a:cs typeface="Arial" panose="020B0604020202020204" pitchFamily="34" charset="0"/>
              </a:rPr>
              <a:t>For surface adsorbed species no</a:t>
            </a:r>
            <a:r>
              <a:rPr lang="en-US" sz="1500" dirty="0">
                <a:solidFill>
                  <a:srgbClr val="C00000"/>
                </a:solidFill>
                <a:latin typeface="Arial" panose="020B0604020202020204" pitchFamily="34" charset="0"/>
                <a:cs typeface="Arial" panose="020B0604020202020204" pitchFamily="34" charset="0"/>
                <a:sym typeface="Symbol" panose="05050102010706020507" pitchFamily="18" charset="2"/>
              </a:rPr>
              <a:t> peak-to-peak separation is noted.</a:t>
            </a:r>
            <a:r>
              <a:rPr lang="en-US" sz="1500" dirty="0">
                <a:solidFill>
                  <a:srgbClr val="C00000"/>
                </a:solidFill>
                <a:latin typeface="Arial" panose="020B0604020202020204" pitchFamily="34" charset="0"/>
                <a:cs typeface="Arial" panose="020B0604020202020204" pitchFamily="34" charset="0"/>
              </a:rPr>
              <a:t> </a:t>
            </a:r>
            <a:endParaRPr lang="en-IN" sz="1500" dirty="0">
              <a:solidFill>
                <a:srgbClr val="C00000"/>
              </a:solidFill>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1DE03F18-20F2-8C84-1821-EE65BF3578C7}"/>
              </a:ext>
            </a:extLst>
          </p:cNvPr>
          <p:cNvSpPr txBox="1"/>
          <p:nvPr/>
        </p:nvSpPr>
        <p:spPr>
          <a:xfrm>
            <a:off x="777240" y="3639312"/>
            <a:ext cx="5461752" cy="2308324"/>
          </a:xfrm>
          <a:prstGeom prst="rect">
            <a:avLst/>
          </a:prstGeom>
          <a:noFill/>
        </p:spPr>
        <p:txBody>
          <a:bodyPr wrap="none" rtlCol="0">
            <a:spAutoFit/>
          </a:bodyPr>
          <a:lstStyle/>
          <a:p>
            <a:r>
              <a:rPr lang="en-IN" sz="1800" b="0" i="0" u="none" strike="noStrike" baseline="0" dirty="0">
                <a:solidFill>
                  <a:srgbClr val="C00000"/>
                </a:solidFill>
                <a:latin typeface="Arial" panose="020B0604020202020204" pitchFamily="34" charset="0"/>
                <a:cs typeface="Arial" panose="020B0604020202020204" pitchFamily="34" charset="0"/>
              </a:rPr>
              <a:t>Randles−Sevcik equation can be used to determine</a:t>
            </a:r>
          </a:p>
          <a:p>
            <a:endParaRPr lang="en-IN" dirty="0">
              <a:solidFill>
                <a:srgbClr val="C00000"/>
              </a:solidFill>
              <a:latin typeface="Arial" panose="020B0604020202020204" pitchFamily="34" charset="0"/>
              <a:cs typeface="Arial" panose="020B0604020202020204" pitchFamily="34" charset="0"/>
            </a:endParaRPr>
          </a:p>
          <a:p>
            <a:pPr marL="342900" indent="-342900">
              <a:buFontTx/>
              <a:buAutoNum type="arabicPeriod"/>
            </a:pPr>
            <a:r>
              <a:rPr lang="en-IN" dirty="0">
                <a:latin typeface="Arial" panose="020B0604020202020204" pitchFamily="34" charset="0"/>
                <a:cs typeface="Arial" panose="020B0604020202020204" pitchFamily="34" charset="0"/>
              </a:rPr>
              <a:t>Diffusion coefficient</a:t>
            </a:r>
          </a:p>
          <a:p>
            <a:pPr marL="342900" indent="-342900">
              <a:buFontTx/>
              <a:buAutoNum type="arabicPeriod"/>
            </a:pPr>
            <a:r>
              <a:rPr lang="en-IN" dirty="0">
                <a:latin typeface="Arial" panose="020B0604020202020204" pitchFamily="34" charset="0"/>
                <a:cs typeface="Arial" panose="020B0604020202020204" pitchFamily="34" charset="0"/>
              </a:rPr>
              <a:t>Electrochemical active area of the electrode</a:t>
            </a:r>
          </a:p>
          <a:p>
            <a:pPr marL="342900" indent="-342900">
              <a:buFontTx/>
              <a:buAutoNum type="arabicPeriod"/>
            </a:pPr>
            <a:r>
              <a:rPr lang="en-IN" dirty="0">
                <a:latin typeface="Arial" panose="020B0604020202020204" pitchFamily="34" charset="0"/>
                <a:cs typeface="Arial" panose="020B0604020202020204" pitchFamily="34" charset="0"/>
              </a:rPr>
              <a:t>Concentration of the redox species</a:t>
            </a:r>
          </a:p>
          <a:p>
            <a:pPr marL="342900" indent="-342900">
              <a:buFontTx/>
              <a:buAutoNum type="arabicPeriod"/>
            </a:pPr>
            <a:endParaRPr lang="en-IN" dirty="0">
              <a:latin typeface="Arial" panose="020B0604020202020204" pitchFamily="34" charset="0"/>
              <a:cs typeface="Arial" panose="020B0604020202020204" pitchFamily="34" charset="0"/>
            </a:endParaRPr>
          </a:p>
          <a:p>
            <a:pPr marL="342900" indent="-342900">
              <a:buAutoNum type="arabicPeriod"/>
            </a:pPr>
            <a:endParaRPr lang="en-IN" dirty="0">
              <a:solidFill>
                <a:srgbClr val="C00000"/>
              </a:solidFill>
            </a:endParaRPr>
          </a:p>
          <a:p>
            <a:endParaRPr lang="en-IN" dirty="0"/>
          </a:p>
        </p:txBody>
      </p:sp>
    </p:spTree>
    <p:extLst>
      <p:ext uri="{BB962C8B-B14F-4D97-AF65-F5344CB8AC3E}">
        <p14:creationId xmlns:p14="http://schemas.microsoft.com/office/powerpoint/2010/main" val="42048922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4C76202-E6CA-DD57-1226-86530BFA8330}"/>
              </a:ext>
            </a:extLst>
          </p:cNvPr>
          <p:cNvPicPr>
            <a:picLocks noChangeAspect="1"/>
          </p:cNvPicPr>
          <p:nvPr/>
        </p:nvPicPr>
        <p:blipFill>
          <a:blip r:embed="rId2"/>
          <a:stretch>
            <a:fillRect/>
          </a:stretch>
        </p:blipFill>
        <p:spPr>
          <a:xfrm>
            <a:off x="302060" y="513850"/>
            <a:ext cx="4041340" cy="3134606"/>
          </a:xfrm>
          <a:prstGeom prst="rect">
            <a:avLst/>
          </a:prstGeom>
        </p:spPr>
      </p:pic>
      <p:sp>
        <p:nvSpPr>
          <p:cNvPr id="5" name="TextBox 4">
            <a:extLst>
              <a:ext uri="{FF2B5EF4-FFF2-40B4-BE49-F238E27FC236}">
                <a16:creationId xmlns:a16="http://schemas.microsoft.com/office/drawing/2014/main" id="{2BA3E1C3-8D94-5F1E-892F-4ED7B43F98BF}"/>
              </a:ext>
            </a:extLst>
          </p:cNvPr>
          <p:cNvSpPr txBox="1"/>
          <p:nvPr/>
        </p:nvSpPr>
        <p:spPr>
          <a:xfrm>
            <a:off x="3303721" y="144518"/>
            <a:ext cx="4339650" cy="369332"/>
          </a:xfrm>
          <a:prstGeom prst="rect">
            <a:avLst/>
          </a:prstGeom>
          <a:noFill/>
        </p:spPr>
        <p:txBody>
          <a:bodyPr wrap="none" rtlCol="0">
            <a:spAutoFit/>
          </a:bodyPr>
          <a:lstStyle/>
          <a:p>
            <a:r>
              <a:rPr lang="en-US" dirty="0">
                <a:solidFill>
                  <a:srgbClr val="C00000"/>
                </a:solidFill>
                <a:latin typeface="Arial" panose="020B0604020202020204" pitchFamily="34" charset="0"/>
                <a:cs typeface="Arial" panose="020B0604020202020204" pitchFamily="34" charset="0"/>
              </a:rPr>
              <a:t>Electrochemical cell for a CV experiment</a:t>
            </a:r>
            <a:endParaRPr lang="en-IN" dirty="0">
              <a:solidFill>
                <a:srgbClr val="C00000"/>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A602D6E7-3E5F-09F2-A7DC-CB1A81865C8A}"/>
              </a:ext>
            </a:extLst>
          </p:cNvPr>
          <p:cNvSpPr txBox="1"/>
          <p:nvPr/>
        </p:nvSpPr>
        <p:spPr>
          <a:xfrm>
            <a:off x="4702541" y="725507"/>
            <a:ext cx="6690883" cy="1938992"/>
          </a:xfrm>
          <a:prstGeom prst="rect">
            <a:avLst/>
          </a:prstGeom>
          <a:noFill/>
        </p:spPr>
        <p:txBody>
          <a:bodyPr wrap="square" rtlCol="0">
            <a:spAutoFit/>
          </a:bodyPr>
          <a:lstStyle/>
          <a:p>
            <a:pPr algn="just"/>
            <a:r>
              <a:rPr lang="en-IN" sz="1500" b="0" i="0" u="none" strike="noStrike" baseline="0" dirty="0">
                <a:latin typeface="Arial" panose="020B0604020202020204" pitchFamily="34" charset="0"/>
                <a:cs typeface="Arial" panose="020B0604020202020204" pitchFamily="34" charset="0"/>
              </a:rPr>
              <a:t>As electron transfer occurs during a CV experiment, electrical </a:t>
            </a:r>
            <a:r>
              <a:rPr lang="en-US" sz="1500" b="0" i="0" u="none" strike="noStrike" baseline="0" dirty="0">
                <a:latin typeface="Arial" panose="020B0604020202020204" pitchFamily="34" charset="0"/>
                <a:cs typeface="Arial" panose="020B0604020202020204" pitchFamily="34" charset="0"/>
              </a:rPr>
              <a:t>neutrality is maintained via migration of ions in solution. As electrons transfer from the electrode to the analyte, ions move in solution to compensate the charge and close the electrical circuit.</a:t>
            </a:r>
          </a:p>
          <a:p>
            <a:pPr algn="just"/>
            <a:endParaRPr lang="en-US" sz="1500" b="0" i="0" u="none" strike="noStrike" baseline="0" dirty="0">
              <a:latin typeface="Arial" panose="020B0604020202020204" pitchFamily="34" charset="0"/>
              <a:cs typeface="Arial" panose="020B0604020202020204" pitchFamily="34" charset="0"/>
            </a:endParaRPr>
          </a:p>
          <a:p>
            <a:pPr algn="just"/>
            <a:r>
              <a:rPr lang="en-US" sz="1500" b="0" i="0" u="none" strike="noStrike" baseline="0" dirty="0">
                <a:latin typeface="Arial" panose="020B0604020202020204" pitchFamily="34" charset="0"/>
                <a:cs typeface="Arial" panose="020B0604020202020204" pitchFamily="34" charset="0"/>
              </a:rPr>
              <a:t> A salt, called a supporting electrolyte, is dissolved in the solvent to help decrease the solution resistance. The mixture of the solvent and supporting electrolyte is commonly termed the </a:t>
            </a:r>
            <a:r>
              <a:rPr lang="en-IN" sz="1500" b="0" i="0" u="none" strike="noStrike" baseline="0" dirty="0">
                <a:latin typeface="Arial" panose="020B0604020202020204" pitchFamily="34" charset="0"/>
                <a:cs typeface="Arial" panose="020B0604020202020204" pitchFamily="34" charset="0"/>
              </a:rPr>
              <a:t>“electrolyte solution.”</a:t>
            </a:r>
            <a:endParaRPr lang="en-IN" sz="1500" dirty="0">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50082D40-5D41-E4C9-23C0-B978C1A4B545}"/>
              </a:ext>
            </a:extLst>
          </p:cNvPr>
          <p:cNvSpPr txBox="1"/>
          <p:nvPr/>
        </p:nvSpPr>
        <p:spPr>
          <a:xfrm>
            <a:off x="7012435" y="3114119"/>
            <a:ext cx="925253" cy="338554"/>
          </a:xfrm>
          <a:prstGeom prst="rect">
            <a:avLst/>
          </a:prstGeom>
          <a:noFill/>
        </p:spPr>
        <p:txBody>
          <a:bodyPr wrap="none" rtlCol="0">
            <a:spAutoFit/>
          </a:bodyPr>
          <a:lstStyle/>
          <a:p>
            <a:r>
              <a:rPr lang="en-US" sz="1600" b="1" dirty="0">
                <a:latin typeface="Arial" panose="020B0604020202020204" pitchFamily="34" charset="0"/>
                <a:cs typeface="Arial" panose="020B0604020202020204" pitchFamily="34" charset="0"/>
              </a:rPr>
              <a:t>Solvent</a:t>
            </a:r>
            <a:endParaRPr lang="en-IN" sz="1600" b="1" dirty="0">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0A90E26F-E16E-AE0A-242C-36C2D98E7F52}"/>
              </a:ext>
            </a:extLst>
          </p:cNvPr>
          <p:cNvSpPr txBox="1"/>
          <p:nvPr/>
        </p:nvSpPr>
        <p:spPr>
          <a:xfrm>
            <a:off x="5473546" y="3673693"/>
            <a:ext cx="5627999" cy="2169825"/>
          </a:xfrm>
          <a:prstGeom prst="rect">
            <a:avLst/>
          </a:prstGeom>
          <a:noFill/>
        </p:spPr>
        <p:txBody>
          <a:bodyPr wrap="square" rtlCol="0">
            <a:spAutoFit/>
          </a:bodyPr>
          <a:lstStyle/>
          <a:p>
            <a:pPr algn="l">
              <a:spcAft>
                <a:spcPts val="600"/>
              </a:spcAft>
            </a:pPr>
            <a:r>
              <a:rPr lang="en-US" sz="1500" b="0" i="0" u="none" strike="noStrike" baseline="0" dirty="0">
                <a:latin typeface="Arial" panose="020B0604020202020204" pitchFamily="34" charset="0"/>
                <a:cs typeface="Arial" panose="020B0604020202020204" pitchFamily="34" charset="0"/>
              </a:rPr>
              <a:t>1. It is liquid at experimental temperatures.</a:t>
            </a:r>
          </a:p>
          <a:p>
            <a:pPr algn="l">
              <a:spcAft>
                <a:spcPts val="600"/>
              </a:spcAft>
            </a:pPr>
            <a:r>
              <a:rPr lang="en-US" sz="1500" b="0" i="0" u="none" strike="noStrike" baseline="0" dirty="0">
                <a:latin typeface="Arial" panose="020B0604020202020204" pitchFamily="34" charset="0"/>
                <a:cs typeface="Arial" panose="020B0604020202020204" pitchFamily="34" charset="0"/>
              </a:rPr>
              <a:t>2. It dissolves the analyte and high concentrations of the</a:t>
            </a:r>
          </a:p>
          <a:p>
            <a:pPr algn="l">
              <a:spcAft>
                <a:spcPts val="600"/>
              </a:spcAft>
            </a:pPr>
            <a:r>
              <a:rPr lang="en-IN" sz="1500" b="0" i="0" u="none" strike="noStrike" baseline="0" dirty="0">
                <a:latin typeface="Arial" panose="020B0604020202020204" pitchFamily="34" charset="0"/>
                <a:cs typeface="Arial" panose="020B0604020202020204" pitchFamily="34" charset="0"/>
              </a:rPr>
              <a:t>supporting electrolyte completely.</a:t>
            </a:r>
          </a:p>
          <a:p>
            <a:pPr algn="l">
              <a:spcAft>
                <a:spcPts val="600"/>
              </a:spcAft>
            </a:pPr>
            <a:r>
              <a:rPr lang="en-US" sz="1500" b="0" i="0" u="none" strike="noStrike" baseline="0" dirty="0">
                <a:latin typeface="Arial" panose="020B0604020202020204" pitchFamily="34" charset="0"/>
                <a:cs typeface="Arial" panose="020B0604020202020204" pitchFamily="34" charset="0"/>
              </a:rPr>
              <a:t>3. It is stable toward oxidation and reduction in the potential</a:t>
            </a:r>
          </a:p>
          <a:p>
            <a:pPr algn="l">
              <a:spcAft>
                <a:spcPts val="600"/>
              </a:spcAft>
            </a:pPr>
            <a:r>
              <a:rPr lang="en-IN" sz="1500" b="0" i="0" u="none" strike="noStrike" baseline="0" dirty="0">
                <a:latin typeface="Arial" panose="020B0604020202020204" pitchFamily="34" charset="0"/>
                <a:cs typeface="Arial" panose="020B0604020202020204" pitchFamily="34" charset="0"/>
              </a:rPr>
              <a:t>range of the experiment.</a:t>
            </a:r>
          </a:p>
          <a:p>
            <a:pPr algn="l">
              <a:spcAft>
                <a:spcPts val="600"/>
              </a:spcAft>
            </a:pPr>
            <a:r>
              <a:rPr lang="en-US" sz="1500" b="0" i="0" u="none" strike="noStrike" baseline="0" dirty="0">
                <a:latin typeface="Arial" panose="020B0604020202020204" pitchFamily="34" charset="0"/>
                <a:cs typeface="Arial" panose="020B0604020202020204" pitchFamily="34" charset="0"/>
              </a:rPr>
              <a:t>4. It does not lead to deleterious reactions with the analyte or</a:t>
            </a:r>
          </a:p>
          <a:p>
            <a:pPr algn="l">
              <a:spcAft>
                <a:spcPts val="600"/>
              </a:spcAft>
            </a:pPr>
            <a:r>
              <a:rPr lang="en-IN" sz="1500" b="0" i="0" u="none" strike="noStrike" baseline="0" dirty="0">
                <a:latin typeface="Arial" panose="020B0604020202020204" pitchFamily="34" charset="0"/>
                <a:cs typeface="Arial" panose="020B0604020202020204" pitchFamily="34" charset="0"/>
              </a:rPr>
              <a:t>supporting electrolyte.</a:t>
            </a:r>
          </a:p>
        </p:txBody>
      </p:sp>
      <p:sp>
        <p:nvSpPr>
          <p:cNvPr id="9" name="TextBox 8">
            <a:extLst>
              <a:ext uri="{FF2B5EF4-FFF2-40B4-BE49-F238E27FC236}">
                <a16:creationId xmlns:a16="http://schemas.microsoft.com/office/drawing/2014/main" id="{DE7B7521-BE68-FBFF-D292-585E4D306D53}"/>
              </a:ext>
            </a:extLst>
          </p:cNvPr>
          <p:cNvSpPr txBox="1"/>
          <p:nvPr/>
        </p:nvSpPr>
        <p:spPr>
          <a:xfrm>
            <a:off x="5787694" y="6064439"/>
            <a:ext cx="4241482" cy="369332"/>
          </a:xfrm>
          <a:prstGeom prst="rect">
            <a:avLst/>
          </a:prstGeom>
          <a:noFill/>
        </p:spPr>
        <p:txBody>
          <a:bodyPr wrap="none" rtlCol="0">
            <a:spAutoFit/>
          </a:bodyPr>
          <a:lstStyle/>
          <a:p>
            <a:r>
              <a:rPr lang="en-US" dirty="0">
                <a:solidFill>
                  <a:srgbClr val="C00000"/>
                </a:solidFill>
              </a:rPr>
              <a:t>Dry solvent-Dichloromethane, acetonitrile</a:t>
            </a:r>
            <a:endParaRPr lang="en-IN" dirty="0">
              <a:solidFill>
                <a:srgbClr val="C00000"/>
              </a:solidFill>
            </a:endParaRPr>
          </a:p>
        </p:txBody>
      </p:sp>
      <p:sp>
        <p:nvSpPr>
          <p:cNvPr id="10" name="TextBox 9">
            <a:extLst>
              <a:ext uri="{FF2B5EF4-FFF2-40B4-BE49-F238E27FC236}">
                <a16:creationId xmlns:a16="http://schemas.microsoft.com/office/drawing/2014/main" id="{AC5DE15C-18C8-BD0A-0A69-8573539BC386}"/>
              </a:ext>
            </a:extLst>
          </p:cNvPr>
          <p:cNvSpPr txBox="1"/>
          <p:nvPr/>
        </p:nvSpPr>
        <p:spPr>
          <a:xfrm>
            <a:off x="821114" y="6118785"/>
            <a:ext cx="3463577" cy="369332"/>
          </a:xfrm>
          <a:prstGeom prst="rect">
            <a:avLst/>
          </a:prstGeom>
          <a:noFill/>
        </p:spPr>
        <p:txBody>
          <a:bodyPr wrap="none" rtlCol="0">
            <a:spAutoFit/>
          </a:bodyPr>
          <a:lstStyle/>
          <a:p>
            <a:r>
              <a:rPr lang="en-US" dirty="0">
                <a:solidFill>
                  <a:srgbClr val="C00000"/>
                </a:solidFill>
              </a:rPr>
              <a:t>Tetraalkylammonium salts, </a:t>
            </a:r>
            <a:r>
              <a:rPr lang="en-IN" sz="1800" b="0" i="0" u="none" strike="noStrike" baseline="0" dirty="0">
                <a:solidFill>
                  <a:srgbClr val="C00000"/>
                </a:solidFill>
                <a:latin typeface="AdvTimes"/>
              </a:rPr>
              <a:t>NaClO</a:t>
            </a:r>
            <a:r>
              <a:rPr lang="en-IN" sz="1800" b="0" i="0" u="none" strike="noStrike" baseline="-25000" dirty="0">
                <a:solidFill>
                  <a:srgbClr val="C00000"/>
                </a:solidFill>
                <a:latin typeface="AdvTimes"/>
              </a:rPr>
              <a:t>4</a:t>
            </a:r>
            <a:r>
              <a:rPr lang="en-US" dirty="0">
                <a:solidFill>
                  <a:srgbClr val="C00000"/>
                </a:solidFill>
              </a:rPr>
              <a:t> </a:t>
            </a:r>
            <a:endParaRPr lang="en-IN" dirty="0">
              <a:solidFill>
                <a:srgbClr val="C00000"/>
              </a:solidFill>
            </a:endParaRPr>
          </a:p>
        </p:txBody>
      </p:sp>
      <p:sp>
        <p:nvSpPr>
          <p:cNvPr id="2" name="TextBox 1">
            <a:extLst>
              <a:ext uri="{FF2B5EF4-FFF2-40B4-BE49-F238E27FC236}">
                <a16:creationId xmlns:a16="http://schemas.microsoft.com/office/drawing/2014/main" id="{A63B8637-3FED-410A-73C9-0CE978081EEE}"/>
              </a:ext>
            </a:extLst>
          </p:cNvPr>
          <p:cNvSpPr txBox="1"/>
          <p:nvPr/>
        </p:nvSpPr>
        <p:spPr>
          <a:xfrm>
            <a:off x="7242048" y="3924347"/>
            <a:ext cx="45719" cy="369332"/>
          </a:xfrm>
          <a:prstGeom prst="rect">
            <a:avLst/>
          </a:prstGeom>
          <a:noFill/>
        </p:spPr>
        <p:txBody>
          <a:bodyPr wrap="square" rtlCol="0">
            <a:spAutoFit/>
          </a:bodyPr>
          <a:lstStyle/>
          <a:p>
            <a:endParaRPr lang="en-IN" dirty="0"/>
          </a:p>
        </p:txBody>
      </p:sp>
      <p:sp>
        <p:nvSpPr>
          <p:cNvPr id="4" name="TextBox 3">
            <a:extLst>
              <a:ext uri="{FF2B5EF4-FFF2-40B4-BE49-F238E27FC236}">
                <a16:creationId xmlns:a16="http://schemas.microsoft.com/office/drawing/2014/main" id="{90F98696-F1BD-0811-FDED-7D6486569E83}"/>
              </a:ext>
            </a:extLst>
          </p:cNvPr>
          <p:cNvSpPr txBox="1"/>
          <p:nvPr/>
        </p:nvSpPr>
        <p:spPr>
          <a:xfrm>
            <a:off x="913914" y="4067673"/>
            <a:ext cx="2363147" cy="338554"/>
          </a:xfrm>
          <a:prstGeom prst="rect">
            <a:avLst/>
          </a:prstGeom>
          <a:noFill/>
        </p:spPr>
        <p:txBody>
          <a:bodyPr wrap="none" rtlCol="0">
            <a:spAutoFit/>
          </a:bodyPr>
          <a:lstStyle/>
          <a:p>
            <a:r>
              <a:rPr lang="en-US" sz="1600" b="1" dirty="0">
                <a:latin typeface="Arial" panose="020B0604020202020204" pitchFamily="34" charset="0"/>
                <a:cs typeface="Arial" panose="020B0604020202020204" pitchFamily="34" charset="0"/>
              </a:rPr>
              <a:t>Supporting electrolyte</a:t>
            </a:r>
            <a:endParaRPr lang="en-IN" sz="1600" b="1" dirty="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C8566D42-8C43-AAA6-57D1-0BE361E52DA8}"/>
              </a:ext>
            </a:extLst>
          </p:cNvPr>
          <p:cNvSpPr txBox="1"/>
          <p:nvPr/>
        </p:nvSpPr>
        <p:spPr>
          <a:xfrm>
            <a:off x="656705" y="4637559"/>
            <a:ext cx="4509568" cy="1434560"/>
          </a:xfrm>
          <a:prstGeom prst="rect">
            <a:avLst/>
          </a:prstGeom>
          <a:noFill/>
        </p:spPr>
        <p:txBody>
          <a:bodyPr wrap="none" rtlCol="0">
            <a:spAutoFit/>
          </a:bodyPr>
          <a:lstStyle/>
          <a:p>
            <a:pPr algn="just">
              <a:lnSpc>
                <a:spcPct val="150000"/>
              </a:lnSpc>
            </a:pPr>
            <a:r>
              <a:rPr lang="en-US" sz="1500" b="0" i="0" u="none" strike="noStrike" baseline="0" dirty="0">
                <a:latin typeface="Arial" panose="020B0604020202020204" pitchFamily="34" charset="0"/>
                <a:cs typeface="Arial" panose="020B0604020202020204" pitchFamily="34" charset="0"/>
              </a:rPr>
              <a:t>1. It is highly soluble in the solvent chosen.</a:t>
            </a:r>
          </a:p>
          <a:p>
            <a:pPr algn="just">
              <a:lnSpc>
                <a:spcPct val="150000"/>
              </a:lnSpc>
            </a:pPr>
            <a:r>
              <a:rPr lang="en-US" sz="1500" dirty="0">
                <a:latin typeface="Arial" panose="020B0604020202020204" pitchFamily="34" charset="0"/>
                <a:cs typeface="Arial" panose="020B0604020202020204" pitchFamily="34" charset="0"/>
              </a:rPr>
              <a:t>2.</a:t>
            </a:r>
            <a:r>
              <a:rPr lang="en-US" sz="1500" b="0" i="0" u="none" strike="noStrike" baseline="0" dirty="0">
                <a:latin typeface="Arial" panose="020B0604020202020204" pitchFamily="34" charset="0"/>
                <a:cs typeface="Arial" panose="020B0604020202020204" pitchFamily="34" charset="0"/>
              </a:rPr>
              <a:t> It is chemically and electrochemically inert in the</a:t>
            </a:r>
          </a:p>
          <a:p>
            <a:pPr algn="just">
              <a:lnSpc>
                <a:spcPct val="150000"/>
              </a:lnSpc>
            </a:pPr>
            <a:r>
              <a:rPr lang="en-IN" sz="1500" b="0" i="0" u="none" strike="noStrike" baseline="0" dirty="0">
                <a:latin typeface="Arial" panose="020B0604020202020204" pitchFamily="34" charset="0"/>
                <a:cs typeface="Arial" panose="020B0604020202020204" pitchFamily="34" charset="0"/>
              </a:rPr>
              <a:t>conditions of the experiment.</a:t>
            </a:r>
          </a:p>
          <a:p>
            <a:pPr algn="just">
              <a:lnSpc>
                <a:spcPct val="150000"/>
              </a:lnSpc>
            </a:pPr>
            <a:r>
              <a:rPr lang="en-IN" sz="1500" dirty="0">
                <a:latin typeface="Arial" panose="020B0604020202020204" pitchFamily="34" charset="0"/>
                <a:cs typeface="Arial" panose="020B0604020202020204" pitchFamily="34" charset="0"/>
              </a:rPr>
              <a:t>3. </a:t>
            </a:r>
            <a:r>
              <a:rPr lang="en-IN" sz="1500" b="0" i="0" u="none" strike="noStrike" baseline="0" dirty="0">
                <a:latin typeface="Arial" panose="020B0604020202020204" pitchFamily="34" charset="0"/>
                <a:cs typeface="Arial" panose="020B0604020202020204" pitchFamily="34" charset="0"/>
              </a:rPr>
              <a:t>It can be purified</a:t>
            </a:r>
            <a:endParaRPr lang="en-IN" sz="15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858430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FFE8C48-1E54-B133-C9EF-578E25E5DDD2}"/>
              </a:ext>
            </a:extLst>
          </p:cNvPr>
          <p:cNvSpPr txBox="1"/>
          <p:nvPr/>
        </p:nvSpPr>
        <p:spPr>
          <a:xfrm>
            <a:off x="5027786" y="91440"/>
            <a:ext cx="1300356" cy="369332"/>
          </a:xfrm>
          <a:prstGeom prst="rect">
            <a:avLst/>
          </a:prstGeom>
          <a:noFill/>
        </p:spPr>
        <p:txBody>
          <a:bodyPr wrap="none" rtlCol="0">
            <a:spAutoFit/>
          </a:bodyPr>
          <a:lstStyle/>
          <a:p>
            <a:r>
              <a:rPr lang="en-US" b="1" dirty="0">
                <a:solidFill>
                  <a:srgbClr val="C00000"/>
                </a:solidFill>
                <a:latin typeface="Arial" panose="020B0604020202020204" pitchFamily="34" charset="0"/>
                <a:cs typeface="Arial" panose="020B0604020202020204" pitchFamily="34" charset="0"/>
              </a:rPr>
              <a:t>In Biology</a:t>
            </a:r>
            <a:endParaRPr lang="en-IN" b="1" dirty="0">
              <a:solidFill>
                <a:srgbClr val="C00000"/>
              </a:solidFill>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ACA6C945-F1E0-198F-BF8A-193CE215E846}"/>
              </a:ext>
            </a:extLst>
          </p:cNvPr>
          <p:cNvPicPr>
            <a:picLocks noChangeAspect="1"/>
          </p:cNvPicPr>
          <p:nvPr/>
        </p:nvPicPr>
        <p:blipFill>
          <a:blip r:embed="rId2"/>
          <a:srcRect l="9793" t="4679" r="2730" b="1106"/>
          <a:stretch/>
        </p:blipFill>
        <p:spPr>
          <a:xfrm rot="5400000">
            <a:off x="2420048" y="-240856"/>
            <a:ext cx="3422840" cy="7702488"/>
          </a:xfrm>
          <a:prstGeom prst="rect">
            <a:avLst/>
          </a:prstGeom>
        </p:spPr>
      </p:pic>
      <p:sp>
        <p:nvSpPr>
          <p:cNvPr id="5" name="TextBox 4">
            <a:extLst>
              <a:ext uri="{FF2B5EF4-FFF2-40B4-BE49-F238E27FC236}">
                <a16:creationId xmlns:a16="http://schemas.microsoft.com/office/drawing/2014/main" id="{E909E21B-9103-2701-6083-625565706287}"/>
              </a:ext>
            </a:extLst>
          </p:cNvPr>
          <p:cNvSpPr txBox="1"/>
          <p:nvPr/>
        </p:nvSpPr>
        <p:spPr>
          <a:xfrm>
            <a:off x="588723" y="618220"/>
            <a:ext cx="11014554" cy="338554"/>
          </a:xfrm>
          <a:prstGeom prst="rect">
            <a:avLst/>
          </a:prstGeom>
          <a:noFill/>
        </p:spPr>
        <p:txBody>
          <a:bodyPr wrap="none" rtlCol="0">
            <a:spAutoFit/>
          </a:bodyPr>
          <a:lstStyle/>
          <a:p>
            <a:r>
              <a:rPr lang="en-US" sz="1600" dirty="0">
                <a:latin typeface="Arial" panose="020B0604020202020204" pitchFamily="34" charset="0"/>
                <a:cs typeface="Arial" panose="020B0604020202020204" pitchFamily="34" charset="0"/>
              </a:rPr>
              <a:t>Most mechanisms which control biological functions (like cell respiration and photosynthesis) involve redox processes.  </a:t>
            </a:r>
            <a:endParaRPr lang="en-IN" sz="1600"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86BE88AE-2E1A-2B41-426C-161DDCCC311F}"/>
              </a:ext>
            </a:extLst>
          </p:cNvPr>
          <p:cNvSpPr txBox="1"/>
          <p:nvPr/>
        </p:nvSpPr>
        <p:spPr>
          <a:xfrm>
            <a:off x="588723" y="1114222"/>
            <a:ext cx="10761149" cy="584775"/>
          </a:xfrm>
          <a:prstGeom prst="rect">
            <a:avLst/>
          </a:prstGeom>
          <a:noFill/>
        </p:spPr>
        <p:txBody>
          <a:bodyPr wrap="square" rtlCol="0">
            <a:spAutoFit/>
          </a:bodyPr>
          <a:lstStyle/>
          <a:p>
            <a:pPr algn="just"/>
            <a:r>
              <a:rPr lang="en-US" sz="1600" dirty="0">
                <a:latin typeface="Arial" panose="020B0604020202020204" pitchFamily="34" charset="0"/>
                <a:cs typeface="Arial" panose="020B0604020202020204" pitchFamily="34" charset="0"/>
              </a:rPr>
              <a:t>In photosynthesis: Electron carriers like iron-sulfur proteins, cytochromes and blue copper proteins provide a means of electron transport , which is triggered by the light absorption.</a:t>
            </a:r>
            <a:endParaRPr lang="en-IN" sz="1600" dirty="0">
              <a:latin typeface="Arial" panose="020B0604020202020204" pitchFamily="34" charset="0"/>
              <a:cs typeface="Arial" panose="020B0604020202020204" pitchFamily="34" charset="0"/>
            </a:endParaRPr>
          </a:p>
        </p:txBody>
      </p:sp>
      <p:grpSp>
        <p:nvGrpSpPr>
          <p:cNvPr id="3" name="Group 2">
            <a:extLst>
              <a:ext uri="{FF2B5EF4-FFF2-40B4-BE49-F238E27FC236}">
                <a16:creationId xmlns:a16="http://schemas.microsoft.com/office/drawing/2014/main" id="{3FB1F6B7-CA0D-9FF2-1172-DAD3EE022A6E}"/>
              </a:ext>
            </a:extLst>
          </p:cNvPr>
          <p:cNvGrpSpPr/>
          <p:nvPr/>
        </p:nvGrpSpPr>
        <p:grpSpPr>
          <a:xfrm>
            <a:off x="7962996" y="1814288"/>
            <a:ext cx="4326539" cy="3221555"/>
            <a:chOff x="7962996" y="1814288"/>
            <a:chExt cx="4326539" cy="3221555"/>
          </a:xfrm>
        </p:grpSpPr>
        <p:sp>
          <p:nvSpPr>
            <p:cNvPr id="11" name="TextBox 10">
              <a:extLst>
                <a:ext uri="{FF2B5EF4-FFF2-40B4-BE49-F238E27FC236}">
                  <a16:creationId xmlns:a16="http://schemas.microsoft.com/office/drawing/2014/main" id="{B3052943-E24B-4051-C11D-DE4BB519D799}"/>
                </a:ext>
              </a:extLst>
            </p:cNvPr>
            <p:cNvSpPr txBox="1"/>
            <p:nvPr/>
          </p:nvSpPr>
          <p:spPr>
            <a:xfrm>
              <a:off x="7982712" y="1814288"/>
              <a:ext cx="4306823" cy="553998"/>
            </a:xfrm>
            <a:prstGeom prst="rect">
              <a:avLst/>
            </a:prstGeom>
            <a:noFill/>
          </p:spPr>
          <p:txBody>
            <a:bodyPr wrap="square">
              <a:spAutoFit/>
            </a:bodyPr>
            <a:lstStyle/>
            <a:p>
              <a:r>
                <a:rPr lang="en-US" sz="1500" b="0" i="0" u="none" strike="noStrike" baseline="0" dirty="0">
                  <a:solidFill>
                    <a:srgbClr val="C00000"/>
                  </a:solidFill>
                  <a:latin typeface="Arial" panose="020B0604020202020204" pitchFamily="34" charset="0"/>
                  <a:cs typeface="Arial" panose="020B0604020202020204" pitchFamily="34" charset="0"/>
                </a:rPr>
                <a:t>The overall process occurring in photosynthesis is</a:t>
              </a:r>
              <a:endParaRPr lang="en-IN" sz="1500" dirty="0">
                <a:solidFill>
                  <a:srgbClr val="C00000"/>
                </a:solidFill>
                <a:latin typeface="Arial" panose="020B0604020202020204" pitchFamily="34" charset="0"/>
                <a:cs typeface="Arial" panose="020B0604020202020204" pitchFamily="34" charset="0"/>
              </a:endParaRPr>
            </a:p>
          </p:txBody>
        </p:sp>
        <p:sp>
          <p:nvSpPr>
            <p:cNvPr id="13" name="TextBox 12">
              <a:extLst>
                <a:ext uri="{FF2B5EF4-FFF2-40B4-BE49-F238E27FC236}">
                  <a16:creationId xmlns:a16="http://schemas.microsoft.com/office/drawing/2014/main" id="{8A2BB075-311E-6069-6416-AC5F3D24FDDC}"/>
                </a:ext>
              </a:extLst>
            </p:cNvPr>
            <p:cNvSpPr txBox="1"/>
            <p:nvPr/>
          </p:nvSpPr>
          <p:spPr>
            <a:xfrm>
              <a:off x="7962996" y="2969325"/>
              <a:ext cx="4041648" cy="553998"/>
            </a:xfrm>
            <a:prstGeom prst="rect">
              <a:avLst/>
            </a:prstGeom>
            <a:noFill/>
          </p:spPr>
          <p:txBody>
            <a:bodyPr wrap="square">
              <a:spAutoFit/>
            </a:bodyPr>
            <a:lstStyle/>
            <a:p>
              <a:r>
                <a:rPr lang="en-US" sz="1500" dirty="0">
                  <a:latin typeface="Arial" panose="020B0604020202020204" pitchFamily="34" charset="0"/>
                  <a:cs typeface="Arial" panose="020B0604020202020204" pitchFamily="34" charset="0"/>
                </a:rPr>
                <a:t>R</a:t>
              </a:r>
              <a:r>
                <a:rPr lang="en-US" sz="1500" b="0" i="0" u="none" strike="noStrike" baseline="0" dirty="0">
                  <a:latin typeface="Arial" panose="020B0604020202020204" pitchFamily="34" charset="0"/>
                  <a:cs typeface="Arial" panose="020B0604020202020204" pitchFamily="34" charset="0"/>
                </a:rPr>
                <a:t>eduction of carbon dioxide to carbohydrates</a:t>
              </a:r>
            </a:p>
            <a:p>
              <a:r>
                <a:rPr lang="en-US" sz="1500" dirty="0">
                  <a:latin typeface="Arial" panose="020B0604020202020204" pitchFamily="34" charset="0"/>
                  <a:cs typeface="Arial" panose="020B0604020202020204" pitchFamily="34" charset="0"/>
                </a:rPr>
                <a:t>                     (photosystem I)</a:t>
              </a:r>
              <a:endParaRPr lang="en-IN" sz="1500" dirty="0">
                <a:latin typeface="Arial" panose="020B0604020202020204" pitchFamily="34" charset="0"/>
                <a:cs typeface="Arial" panose="020B0604020202020204" pitchFamily="34" charset="0"/>
              </a:endParaRPr>
            </a:p>
          </p:txBody>
        </p:sp>
        <p:sp>
          <p:nvSpPr>
            <p:cNvPr id="14" name="TextBox 13">
              <a:extLst>
                <a:ext uri="{FF2B5EF4-FFF2-40B4-BE49-F238E27FC236}">
                  <a16:creationId xmlns:a16="http://schemas.microsoft.com/office/drawing/2014/main" id="{9C553DF6-D3DB-6FE3-E55E-D2634FB7856D}"/>
                </a:ext>
              </a:extLst>
            </p:cNvPr>
            <p:cNvSpPr txBox="1"/>
            <p:nvPr/>
          </p:nvSpPr>
          <p:spPr>
            <a:xfrm>
              <a:off x="8174736" y="2468271"/>
              <a:ext cx="3618168" cy="323165"/>
            </a:xfrm>
            <a:prstGeom prst="rect">
              <a:avLst/>
            </a:prstGeom>
            <a:noFill/>
          </p:spPr>
          <p:txBody>
            <a:bodyPr wrap="square" rtlCol="0">
              <a:spAutoFit/>
            </a:bodyPr>
            <a:lstStyle/>
            <a:p>
              <a:r>
                <a:rPr lang="en-US" sz="1500" dirty="0">
                  <a:latin typeface="Arial" panose="020B0604020202020204" pitchFamily="34" charset="0"/>
                  <a:cs typeface="Arial" panose="020B0604020202020204" pitchFamily="34" charset="0"/>
                </a:rPr>
                <a:t>6CO</a:t>
              </a:r>
              <a:r>
                <a:rPr lang="en-US" sz="1500" baseline="-25000" dirty="0">
                  <a:latin typeface="Arial" panose="020B0604020202020204" pitchFamily="34" charset="0"/>
                  <a:cs typeface="Arial" panose="020B0604020202020204" pitchFamily="34" charset="0"/>
                </a:rPr>
                <a:t>2</a:t>
              </a:r>
              <a:r>
                <a:rPr lang="en-US" sz="1500" dirty="0">
                  <a:latin typeface="Arial" panose="020B0604020202020204" pitchFamily="34" charset="0"/>
                  <a:cs typeface="Arial" panose="020B0604020202020204" pitchFamily="34" charset="0"/>
                </a:rPr>
                <a:t> + 6H</a:t>
              </a:r>
              <a:r>
                <a:rPr lang="en-US" sz="1500" baseline="-25000" dirty="0">
                  <a:latin typeface="Arial" panose="020B0604020202020204" pitchFamily="34" charset="0"/>
                  <a:cs typeface="Arial" panose="020B0604020202020204" pitchFamily="34" charset="0"/>
                </a:rPr>
                <a:t>2</a:t>
              </a:r>
              <a:r>
                <a:rPr lang="en-US" sz="1500" dirty="0">
                  <a:latin typeface="Arial" panose="020B0604020202020204" pitchFamily="34" charset="0"/>
                  <a:cs typeface="Arial" panose="020B0604020202020204" pitchFamily="34" charset="0"/>
                </a:rPr>
                <a:t>O  </a:t>
              </a:r>
              <a:r>
                <a:rPr lang="en-US" sz="1500" dirty="0">
                  <a:latin typeface="Arial" panose="020B0604020202020204" pitchFamily="34" charset="0"/>
                  <a:cs typeface="Arial" panose="020B0604020202020204" pitchFamily="34" charset="0"/>
                  <a:sym typeface="Symbol" panose="05050102010706020507" pitchFamily="18" charset="2"/>
                </a:rPr>
                <a:t> C</a:t>
              </a:r>
              <a:r>
                <a:rPr lang="en-US" sz="1500" baseline="-25000" dirty="0">
                  <a:latin typeface="Arial" panose="020B0604020202020204" pitchFamily="34" charset="0"/>
                  <a:cs typeface="Arial" panose="020B0604020202020204" pitchFamily="34" charset="0"/>
                  <a:sym typeface="Symbol" panose="05050102010706020507" pitchFamily="18" charset="2"/>
                </a:rPr>
                <a:t>6</a:t>
              </a:r>
              <a:r>
                <a:rPr lang="en-US" sz="1500" dirty="0">
                  <a:latin typeface="Arial" panose="020B0604020202020204" pitchFamily="34" charset="0"/>
                  <a:cs typeface="Arial" panose="020B0604020202020204" pitchFamily="34" charset="0"/>
                  <a:sym typeface="Symbol" panose="05050102010706020507" pitchFamily="18" charset="2"/>
                </a:rPr>
                <a:t>H</a:t>
              </a:r>
              <a:r>
                <a:rPr lang="en-US" sz="1500" baseline="-25000" dirty="0">
                  <a:latin typeface="Arial" panose="020B0604020202020204" pitchFamily="34" charset="0"/>
                  <a:cs typeface="Arial" panose="020B0604020202020204" pitchFamily="34" charset="0"/>
                  <a:sym typeface="Symbol" panose="05050102010706020507" pitchFamily="18" charset="2"/>
                </a:rPr>
                <a:t>12</a:t>
              </a:r>
              <a:r>
                <a:rPr lang="en-US" sz="1500" dirty="0">
                  <a:latin typeface="Arial" panose="020B0604020202020204" pitchFamily="34" charset="0"/>
                  <a:cs typeface="Arial" panose="020B0604020202020204" pitchFamily="34" charset="0"/>
                  <a:sym typeface="Symbol" panose="05050102010706020507" pitchFamily="18" charset="2"/>
                </a:rPr>
                <a:t>O</a:t>
              </a:r>
              <a:r>
                <a:rPr lang="en-US" sz="1500" baseline="-25000" dirty="0">
                  <a:latin typeface="Arial" panose="020B0604020202020204" pitchFamily="34" charset="0"/>
                  <a:cs typeface="Arial" panose="020B0604020202020204" pitchFamily="34" charset="0"/>
                  <a:sym typeface="Symbol" panose="05050102010706020507" pitchFamily="18" charset="2"/>
                </a:rPr>
                <a:t>6</a:t>
              </a:r>
              <a:r>
                <a:rPr lang="en-US" sz="1500" dirty="0">
                  <a:latin typeface="Arial" panose="020B0604020202020204" pitchFamily="34" charset="0"/>
                  <a:cs typeface="Arial" panose="020B0604020202020204" pitchFamily="34" charset="0"/>
                  <a:sym typeface="Symbol" panose="05050102010706020507" pitchFamily="18" charset="2"/>
                </a:rPr>
                <a:t> + 6O</a:t>
              </a:r>
              <a:r>
                <a:rPr lang="en-US" sz="1500" baseline="-25000" dirty="0">
                  <a:latin typeface="Arial" panose="020B0604020202020204" pitchFamily="34" charset="0"/>
                  <a:cs typeface="Arial" panose="020B0604020202020204" pitchFamily="34" charset="0"/>
                  <a:sym typeface="Symbol" panose="05050102010706020507" pitchFamily="18" charset="2"/>
                </a:rPr>
                <a:t>2</a:t>
              </a:r>
              <a:endParaRPr lang="en-IN" sz="1500" baseline="-25000" dirty="0">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5A36CFD9-732B-5D93-214F-4042C35F21A9}"/>
                </a:ext>
              </a:extLst>
            </p:cNvPr>
            <p:cNvSpPr txBox="1"/>
            <p:nvPr/>
          </p:nvSpPr>
          <p:spPr>
            <a:xfrm>
              <a:off x="8293608" y="3554058"/>
              <a:ext cx="3898392" cy="323165"/>
            </a:xfrm>
            <a:prstGeom prst="rect">
              <a:avLst/>
            </a:prstGeom>
            <a:noFill/>
          </p:spPr>
          <p:txBody>
            <a:bodyPr wrap="square" rtlCol="0">
              <a:spAutoFit/>
            </a:bodyPr>
            <a:lstStyle/>
            <a:p>
              <a:r>
                <a:rPr lang="en-US" sz="1500" dirty="0">
                  <a:latin typeface="Arial" panose="020B0604020202020204" pitchFamily="34" charset="0"/>
                  <a:cs typeface="Arial" panose="020B0604020202020204" pitchFamily="34" charset="0"/>
                </a:rPr>
                <a:t>6CO2 + 24H</a:t>
              </a:r>
              <a:r>
                <a:rPr lang="en-US" sz="1500" baseline="30000" dirty="0">
                  <a:latin typeface="Arial" panose="020B0604020202020204" pitchFamily="34" charset="0"/>
                  <a:cs typeface="Arial" panose="020B0604020202020204" pitchFamily="34" charset="0"/>
                </a:rPr>
                <a:t>+</a:t>
              </a:r>
              <a:r>
                <a:rPr lang="en-US" sz="1500" dirty="0">
                  <a:latin typeface="Arial" panose="020B0604020202020204" pitchFamily="34" charset="0"/>
                  <a:cs typeface="Arial" panose="020B0604020202020204" pitchFamily="34" charset="0"/>
                </a:rPr>
                <a:t> + 24e</a:t>
              </a:r>
              <a:r>
                <a:rPr lang="en-US" sz="1500" baseline="30000" dirty="0">
                  <a:latin typeface="Arial" panose="020B0604020202020204" pitchFamily="34" charset="0"/>
                  <a:cs typeface="Arial" panose="020B0604020202020204" pitchFamily="34" charset="0"/>
                </a:rPr>
                <a:t>-</a:t>
              </a:r>
              <a:r>
                <a:rPr lang="en-US" sz="1500" dirty="0">
                  <a:latin typeface="Arial" panose="020B0604020202020204" pitchFamily="34" charset="0"/>
                  <a:cs typeface="Arial" panose="020B0604020202020204" pitchFamily="34" charset="0"/>
                </a:rPr>
                <a:t> </a:t>
              </a:r>
              <a:r>
                <a:rPr lang="en-US" sz="1500" dirty="0">
                  <a:latin typeface="Arial" panose="020B0604020202020204" pitchFamily="34" charset="0"/>
                  <a:cs typeface="Arial" panose="020B0604020202020204" pitchFamily="34" charset="0"/>
                  <a:sym typeface="Symbol" panose="05050102010706020507" pitchFamily="18" charset="2"/>
                </a:rPr>
                <a:t> C6H12O6 + 6H</a:t>
              </a:r>
              <a:r>
                <a:rPr lang="en-US" sz="1500" baseline="-25000" dirty="0">
                  <a:latin typeface="Arial" panose="020B0604020202020204" pitchFamily="34" charset="0"/>
                  <a:cs typeface="Arial" panose="020B0604020202020204" pitchFamily="34" charset="0"/>
                  <a:sym typeface="Symbol" panose="05050102010706020507" pitchFamily="18" charset="2"/>
                </a:rPr>
                <a:t>2</a:t>
              </a:r>
              <a:r>
                <a:rPr lang="en-US" sz="1500" dirty="0">
                  <a:latin typeface="Arial" panose="020B0604020202020204" pitchFamily="34" charset="0"/>
                  <a:cs typeface="Arial" panose="020B0604020202020204" pitchFamily="34" charset="0"/>
                  <a:sym typeface="Symbol" panose="05050102010706020507" pitchFamily="18" charset="2"/>
                </a:rPr>
                <a:t>O</a:t>
              </a:r>
              <a:endParaRPr lang="en-IN" sz="1500" dirty="0">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9F4B09B6-A8D6-4F02-EE0F-9650974BBF24}"/>
                </a:ext>
              </a:extLst>
            </p:cNvPr>
            <p:cNvSpPr txBox="1"/>
            <p:nvPr/>
          </p:nvSpPr>
          <p:spPr>
            <a:xfrm>
              <a:off x="8174736" y="4133368"/>
              <a:ext cx="3175136" cy="553998"/>
            </a:xfrm>
            <a:prstGeom prst="rect">
              <a:avLst/>
            </a:prstGeom>
            <a:noFill/>
          </p:spPr>
          <p:txBody>
            <a:bodyPr wrap="square">
              <a:spAutoFit/>
            </a:bodyPr>
            <a:lstStyle/>
            <a:p>
              <a:r>
                <a:rPr lang="en-US" sz="1500" dirty="0">
                  <a:latin typeface="Arial" panose="020B0604020202020204" pitchFamily="34" charset="0"/>
                  <a:cs typeface="Arial" panose="020B0604020202020204" pitchFamily="34" charset="0"/>
                </a:rPr>
                <a:t>O</a:t>
              </a:r>
              <a:r>
                <a:rPr lang="en-US" sz="1500" b="0" i="0" u="none" strike="noStrike" baseline="0" dirty="0">
                  <a:latin typeface="Arial" panose="020B0604020202020204" pitchFamily="34" charset="0"/>
                  <a:cs typeface="Arial" panose="020B0604020202020204" pitchFamily="34" charset="0"/>
                </a:rPr>
                <a:t>xidation of water to dioxygen</a:t>
              </a:r>
            </a:p>
            <a:p>
              <a:r>
                <a:rPr lang="en-US" sz="1500" dirty="0">
                  <a:latin typeface="Arial" panose="020B0604020202020204" pitchFamily="34" charset="0"/>
                  <a:cs typeface="Arial" panose="020B0604020202020204" pitchFamily="34" charset="0"/>
                </a:rPr>
                <a:t>                (photosystem II)</a:t>
              </a:r>
              <a:endParaRPr lang="en-IN" sz="1500" dirty="0">
                <a:latin typeface="Arial" panose="020B0604020202020204" pitchFamily="34" charset="0"/>
                <a:cs typeface="Arial" panose="020B0604020202020204" pitchFamily="34" charset="0"/>
              </a:endParaRPr>
            </a:p>
          </p:txBody>
        </p:sp>
        <p:sp>
          <p:nvSpPr>
            <p:cNvPr id="18" name="TextBox 17">
              <a:extLst>
                <a:ext uri="{FF2B5EF4-FFF2-40B4-BE49-F238E27FC236}">
                  <a16:creationId xmlns:a16="http://schemas.microsoft.com/office/drawing/2014/main" id="{C248A584-34D0-280F-B6C0-5A6753051A94}"/>
                </a:ext>
              </a:extLst>
            </p:cNvPr>
            <p:cNvSpPr txBox="1"/>
            <p:nvPr/>
          </p:nvSpPr>
          <p:spPr>
            <a:xfrm>
              <a:off x="8327039" y="4712678"/>
              <a:ext cx="3618168" cy="323165"/>
            </a:xfrm>
            <a:prstGeom prst="rect">
              <a:avLst/>
            </a:prstGeom>
            <a:noFill/>
          </p:spPr>
          <p:txBody>
            <a:bodyPr wrap="square" rtlCol="0">
              <a:spAutoFit/>
            </a:bodyPr>
            <a:lstStyle/>
            <a:p>
              <a:r>
                <a:rPr lang="en-US" sz="1500" dirty="0">
                  <a:latin typeface="Arial" panose="020B0604020202020204" pitchFamily="34" charset="0"/>
                  <a:cs typeface="Arial" panose="020B0604020202020204" pitchFamily="34" charset="0"/>
                </a:rPr>
                <a:t>6H</a:t>
              </a:r>
              <a:r>
                <a:rPr lang="en-US" sz="1500" baseline="-25000" dirty="0">
                  <a:latin typeface="Arial" panose="020B0604020202020204" pitchFamily="34" charset="0"/>
                  <a:cs typeface="Arial" panose="020B0604020202020204" pitchFamily="34" charset="0"/>
                </a:rPr>
                <a:t>2</a:t>
              </a:r>
              <a:r>
                <a:rPr lang="en-US" sz="1500" dirty="0">
                  <a:latin typeface="Arial" panose="020B0604020202020204" pitchFamily="34" charset="0"/>
                  <a:cs typeface="Arial" panose="020B0604020202020204" pitchFamily="34" charset="0"/>
                </a:rPr>
                <a:t>O  </a:t>
              </a:r>
              <a:r>
                <a:rPr lang="en-US" sz="1500" dirty="0">
                  <a:latin typeface="Arial" panose="020B0604020202020204" pitchFamily="34" charset="0"/>
                  <a:cs typeface="Arial" panose="020B0604020202020204" pitchFamily="34" charset="0"/>
                  <a:sym typeface="Symbol" panose="05050102010706020507" pitchFamily="18" charset="2"/>
                </a:rPr>
                <a:t> 6O</a:t>
              </a:r>
              <a:r>
                <a:rPr lang="en-US" sz="1500" baseline="-25000" dirty="0">
                  <a:latin typeface="Arial" panose="020B0604020202020204" pitchFamily="34" charset="0"/>
                  <a:cs typeface="Arial" panose="020B0604020202020204" pitchFamily="34" charset="0"/>
                  <a:sym typeface="Symbol" panose="05050102010706020507" pitchFamily="18" charset="2"/>
                </a:rPr>
                <a:t>2 </a:t>
              </a:r>
              <a:r>
                <a:rPr lang="en-US" sz="1500" dirty="0">
                  <a:latin typeface="Arial" panose="020B0604020202020204" pitchFamily="34" charset="0"/>
                  <a:cs typeface="Arial" panose="020B0604020202020204" pitchFamily="34" charset="0"/>
                  <a:sym typeface="Symbol" panose="05050102010706020507" pitchFamily="18" charset="2"/>
                </a:rPr>
                <a:t>+ </a:t>
              </a:r>
              <a:r>
                <a:rPr lang="en-US" sz="1500" dirty="0">
                  <a:latin typeface="Arial" panose="020B0604020202020204" pitchFamily="34" charset="0"/>
                  <a:cs typeface="Arial" panose="020B0604020202020204" pitchFamily="34" charset="0"/>
                </a:rPr>
                <a:t>24H</a:t>
              </a:r>
              <a:r>
                <a:rPr lang="en-US" sz="1500" baseline="30000" dirty="0">
                  <a:latin typeface="Arial" panose="020B0604020202020204" pitchFamily="34" charset="0"/>
                  <a:cs typeface="Arial" panose="020B0604020202020204" pitchFamily="34" charset="0"/>
                </a:rPr>
                <a:t>+</a:t>
              </a:r>
              <a:r>
                <a:rPr lang="en-US" sz="1500" dirty="0">
                  <a:latin typeface="Arial" panose="020B0604020202020204" pitchFamily="34" charset="0"/>
                  <a:cs typeface="Arial" panose="020B0604020202020204" pitchFamily="34" charset="0"/>
                </a:rPr>
                <a:t> + 24e</a:t>
              </a:r>
              <a:r>
                <a:rPr lang="en-US" sz="1500" baseline="30000" dirty="0">
                  <a:latin typeface="Arial" panose="020B0604020202020204" pitchFamily="34" charset="0"/>
                  <a:cs typeface="Arial" panose="020B0604020202020204" pitchFamily="34" charset="0"/>
                </a:rPr>
                <a:t>-</a:t>
              </a:r>
              <a:r>
                <a:rPr lang="en-US" sz="1500" dirty="0">
                  <a:latin typeface="Arial" panose="020B0604020202020204" pitchFamily="34" charset="0"/>
                  <a:cs typeface="Arial" panose="020B0604020202020204" pitchFamily="34" charset="0"/>
                  <a:sym typeface="Symbol" panose="05050102010706020507" pitchFamily="18" charset="2"/>
                </a:rPr>
                <a:t> </a:t>
              </a:r>
              <a:endParaRPr lang="en-IN" sz="1500" baseline="-25000" dirty="0">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467877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8BD4B86D-1155-7CC6-5BC4-96417DC5585B}"/>
              </a:ext>
            </a:extLst>
          </p:cNvPr>
          <p:cNvGrpSpPr/>
          <p:nvPr/>
        </p:nvGrpSpPr>
        <p:grpSpPr>
          <a:xfrm>
            <a:off x="460521" y="330451"/>
            <a:ext cx="7310557" cy="1750850"/>
            <a:chOff x="8446384" y="1637289"/>
            <a:chExt cx="3755009" cy="1750850"/>
          </a:xfrm>
        </p:grpSpPr>
        <p:sp>
          <p:nvSpPr>
            <p:cNvPr id="3" name="TextBox 2">
              <a:extLst>
                <a:ext uri="{FF2B5EF4-FFF2-40B4-BE49-F238E27FC236}">
                  <a16:creationId xmlns:a16="http://schemas.microsoft.com/office/drawing/2014/main" id="{B9007707-34B6-E6E3-09A6-04EAEAB36CD6}"/>
                </a:ext>
              </a:extLst>
            </p:cNvPr>
            <p:cNvSpPr txBox="1"/>
            <p:nvPr/>
          </p:nvSpPr>
          <p:spPr>
            <a:xfrm>
              <a:off x="8587106" y="1637289"/>
              <a:ext cx="3454778" cy="553998"/>
            </a:xfrm>
            <a:prstGeom prst="rect">
              <a:avLst/>
            </a:prstGeom>
            <a:noFill/>
          </p:spPr>
          <p:txBody>
            <a:bodyPr wrap="square" rtlCol="0">
              <a:spAutoFit/>
            </a:bodyPr>
            <a:lstStyle/>
            <a:p>
              <a:pPr algn="just"/>
              <a:r>
                <a:rPr lang="en-US" sz="1500" dirty="0">
                  <a:solidFill>
                    <a:srgbClr val="C00000"/>
                  </a:solidFill>
                  <a:latin typeface="Arial" panose="020B0604020202020204" pitchFamily="34" charset="0"/>
                  <a:cs typeface="Arial" panose="020B0604020202020204" pitchFamily="34" charset="0"/>
                </a:rPr>
                <a:t>Difficulties in studying electrochemistry with biological systems </a:t>
              </a:r>
              <a:endParaRPr lang="en-IN" sz="1500" dirty="0">
                <a:solidFill>
                  <a:srgbClr val="C00000"/>
                </a:solidFill>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6AD006A0-54BE-DC9E-ECDD-23A2998D663D}"/>
                </a:ext>
              </a:extLst>
            </p:cNvPr>
            <p:cNvSpPr txBox="1"/>
            <p:nvPr/>
          </p:nvSpPr>
          <p:spPr>
            <a:xfrm>
              <a:off x="8446384" y="2141644"/>
              <a:ext cx="3755009" cy="1246495"/>
            </a:xfrm>
            <a:prstGeom prst="rect">
              <a:avLst/>
            </a:prstGeom>
            <a:noFill/>
          </p:spPr>
          <p:txBody>
            <a:bodyPr wrap="square" rtlCol="0">
              <a:spAutoFit/>
            </a:bodyPr>
            <a:lstStyle/>
            <a:p>
              <a:pPr algn="just"/>
              <a:r>
                <a:rPr lang="en-US" sz="1500" dirty="0">
                  <a:latin typeface="Arial" panose="020B0604020202020204" pitchFamily="34" charset="0"/>
                  <a:cs typeface="Arial" panose="020B0604020202020204" pitchFamily="34" charset="0"/>
                </a:rPr>
                <a:t>Slow rate of diffusion- less Faradaic current</a:t>
              </a:r>
            </a:p>
            <a:p>
              <a:pPr algn="just"/>
              <a:endParaRPr lang="en-US" sz="1500" dirty="0">
                <a:latin typeface="Arial" panose="020B0604020202020204" pitchFamily="34" charset="0"/>
                <a:cs typeface="Arial" panose="020B0604020202020204" pitchFamily="34" charset="0"/>
              </a:endParaRPr>
            </a:p>
            <a:p>
              <a:pPr algn="just"/>
              <a:r>
                <a:rPr lang="en-US" sz="1500" dirty="0">
                  <a:latin typeface="Arial" panose="020B0604020202020204" pitchFamily="34" charset="0"/>
                  <a:cs typeface="Arial" panose="020B0604020202020204" pitchFamily="34" charset="0"/>
                </a:rPr>
                <a:t>Electroactive species present inside the protein chain-direct exchange is difficult</a:t>
              </a:r>
            </a:p>
            <a:p>
              <a:pPr algn="just"/>
              <a:endParaRPr lang="en-US" sz="1500" dirty="0">
                <a:latin typeface="Arial" panose="020B0604020202020204" pitchFamily="34" charset="0"/>
                <a:cs typeface="Arial" panose="020B0604020202020204" pitchFamily="34" charset="0"/>
              </a:endParaRPr>
            </a:p>
            <a:p>
              <a:pPr algn="just"/>
              <a:r>
                <a:rPr lang="en-US" sz="1500" dirty="0">
                  <a:latin typeface="Arial" panose="020B0604020202020204" pitchFamily="34" charset="0"/>
                  <a:cs typeface="Arial" panose="020B0604020202020204" pitchFamily="34" charset="0"/>
                </a:rPr>
                <a:t>Adsorption of protein to surface- sometimes cause poisoning of electrode</a:t>
              </a:r>
              <a:endParaRPr lang="en-IN" sz="1500" dirty="0">
                <a:latin typeface="Arial" panose="020B0604020202020204" pitchFamily="34" charset="0"/>
                <a:cs typeface="Arial" panose="020B0604020202020204" pitchFamily="34" charset="0"/>
              </a:endParaRPr>
            </a:p>
          </p:txBody>
        </p:sp>
      </p:grpSp>
      <p:sp>
        <p:nvSpPr>
          <p:cNvPr id="5" name="TextBox 4">
            <a:extLst>
              <a:ext uri="{FF2B5EF4-FFF2-40B4-BE49-F238E27FC236}">
                <a16:creationId xmlns:a16="http://schemas.microsoft.com/office/drawing/2014/main" id="{00B9E8C3-85E0-BF5F-D1C2-856DAEA6FF6F}"/>
              </a:ext>
            </a:extLst>
          </p:cNvPr>
          <p:cNvSpPr txBox="1"/>
          <p:nvPr/>
        </p:nvSpPr>
        <p:spPr>
          <a:xfrm>
            <a:off x="460521" y="2534226"/>
            <a:ext cx="6086923" cy="1434560"/>
          </a:xfrm>
          <a:prstGeom prst="rect">
            <a:avLst/>
          </a:prstGeom>
          <a:noFill/>
        </p:spPr>
        <p:txBody>
          <a:bodyPr wrap="none" rtlCol="0">
            <a:spAutoFit/>
          </a:bodyPr>
          <a:lstStyle/>
          <a:p>
            <a:pPr>
              <a:lnSpc>
                <a:spcPct val="150000"/>
              </a:lnSpc>
            </a:pPr>
            <a:r>
              <a:rPr lang="en-US" sz="1500" dirty="0">
                <a:solidFill>
                  <a:srgbClr val="C00000"/>
                </a:solidFill>
                <a:latin typeface="Arial" panose="020B0604020202020204" pitchFamily="34" charset="0"/>
                <a:cs typeface="Arial" panose="020B0604020202020204" pitchFamily="34" charset="0"/>
              </a:rPr>
              <a:t>The electron transfer processes depend on</a:t>
            </a:r>
          </a:p>
          <a:p>
            <a:pPr marL="342900" indent="-342900">
              <a:lnSpc>
                <a:spcPct val="150000"/>
              </a:lnSpc>
              <a:buAutoNum type="arabicPeriod"/>
            </a:pPr>
            <a:r>
              <a:rPr lang="en-US" sz="1500" dirty="0">
                <a:latin typeface="Arial" panose="020B0604020202020204" pitchFamily="34" charset="0"/>
                <a:cs typeface="Arial" panose="020B0604020202020204" pitchFamily="34" charset="0"/>
              </a:rPr>
              <a:t>Distance between redox centres</a:t>
            </a:r>
          </a:p>
          <a:p>
            <a:pPr marL="342900" indent="-342900">
              <a:lnSpc>
                <a:spcPct val="150000"/>
              </a:lnSpc>
              <a:buAutoNum type="arabicPeriod"/>
            </a:pPr>
            <a:r>
              <a:rPr lang="en-US" sz="1500" dirty="0">
                <a:latin typeface="Arial" panose="020B0604020202020204" pitchFamily="34" charset="0"/>
                <a:cs typeface="Arial" panose="020B0604020202020204" pitchFamily="34" charset="0"/>
              </a:rPr>
              <a:t>Structural changes concomitant with the electron transfer</a:t>
            </a:r>
          </a:p>
          <a:p>
            <a:pPr marL="342900" indent="-342900">
              <a:lnSpc>
                <a:spcPct val="150000"/>
              </a:lnSpc>
              <a:buAutoNum type="arabicPeriod"/>
            </a:pPr>
            <a:r>
              <a:rPr lang="en-US" sz="1500" dirty="0">
                <a:latin typeface="Arial" panose="020B0604020202020204" pitchFamily="34" charset="0"/>
                <a:cs typeface="Arial" panose="020B0604020202020204" pitchFamily="34" charset="0"/>
              </a:rPr>
              <a:t>Spatial disposition of the protein with respect to electrode surface</a:t>
            </a:r>
            <a:endParaRPr lang="en-IN" sz="15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244478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51EB129-D063-7175-C025-FE86F0316EC4}"/>
              </a:ext>
            </a:extLst>
          </p:cNvPr>
          <p:cNvSpPr txBox="1"/>
          <p:nvPr/>
        </p:nvSpPr>
        <p:spPr>
          <a:xfrm>
            <a:off x="3638748" y="169682"/>
            <a:ext cx="5275803" cy="369332"/>
          </a:xfrm>
          <a:prstGeom prst="rect">
            <a:avLst/>
          </a:prstGeom>
          <a:noFill/>
        </p:spPr>
        <p:txBody>
          <a:bodyPr wrap="none" rtlCol="0">
            <a:spAutoFit/>
          </a:bodyPr>
          <a:lstStyle/>
          <a:p>
            <a:r>
              <a:rPr lang="en-US" dirty="0">
                <a:solidFill>
                  <a:srgbClr val="C00000"/>
                </a:solidFill>
                <a:latin typeface="Arial" panose="020B0604020202020204" pitchFamily="34" charset="0"/>
                <a:cs typeface="Arial" panose="020B0604020202020204" pitchFamily="34" charset="0"/>
              </a:rPr>
              <a:t>Cytochromes (</a:t>
            </a:r>
            <a:r>
              <a:rPr lang="en-US" dirty="0">
                <a:latin typeface="Arial" panose="020B0604020202020204" pitchFamily="34" charset="0"/>
                <a:cs typeface="Arial" panose="020B0604020202020204" pitchFamily="34" charset="0"/>
              </a:rPr>
              <a:t>Iron-porphyrin based heme protein</a:t>
            </a:r>
            <a:r>
              <a:rPr lang="en-US" dirty="0">
                <a:solidFill>
                  <a:srgbClr val="C00000"/>
                </a:solidFill>
                <a:latin typeface="Arial" panose="020B0604020202020204" pitchFamily="34" charset="0"/>
                <a:cs typeface="Arial" panose="020B0604020202020204" pitchFamily="34" charset="0"/>
              </a:rPr>
              <a:t>)</a:t>
            </a:r>
            <a:endParaRPr lang="en-IN" dirty="0">
              <a:solidFill>
                <a:srgbClr val="C00000"/>
              </a:solidFill>
              <a:latin typeface="Arial" panose="020B0604020202020204" pitchFamily="34" charset="0"/>
              <a:cs typeface="Arial" panose="020B0604020202020204" pitchFamily="34" charset="0"/>
            </a:endParaRPr>
          </a:p>
        </p:txBody>
      </p:sp>
      <p:pic>
        <p:nvPicPr>
          <p:cNvPr id="8" name="Picture 7">
            <a:extLst>
              <a:ext uri="{FF2B5EF4-FFF2-40B4-BE49-F238E27FC236}">
                <a16:creationId xmlns:a16="http://schemas.microsoft.com/office/drawing/2014/main" id="{08820D61-6797-DE79-F151-8C30B70A7F75}"/>
              </a:ext>
            </a:extLst>
          </p:cNvPr>
          <p:cNvPicPr>
            <a:picLocks noChangeAspect="1"/>
          </p:cNvPicPr>
          <p:nvPr/>
        </p:nvPicPr>
        <p:blipFill>
          <a:blip r:embed="rId2"/>
          <a:stretch>
            <a:fillRect/>
          </a:stretch>
        </p:blipFill>
        <p:spPr>
          <a:xfrm>
            <a:off x="464633" y="613985"/>
            <a:ext cx="3517310" cy="4815670"/>
          </a:xfrm>
          <a:prstGeom prst="rect">
            <a:avLst/>
          </a:prstGeom>
        </p:spPr>
      </p:pic>
      <p:sp>
        <p:nvSpPr>
          <p:cNvPr id="9" name="TextBox 8">
            <a:extLst>
              <a:ext uri="{FF2B5EF4-FFF2-40B4-BE49-F238E27FC236}">
                <a16:creationId xmlns:a16="http://schemas.microsoft.com/office/drawing/2014/main" id="{C590EECF-F686-4008-6B84-F30490D6EA75}"/>
              </a:ext>
            </a:extLst>
          </p:cNvPr>
          <p:cNvSpPr txBox="1"/>
          <p:nvPr/>
        </p:nvSpPr>
        <p:spPr>
          <a:xfrm>
            <a:off x="327473" y="5715000"/>
            <a:ext cx="3517310" cy="323165"/>
          </a:xfrm>
          <a:prstGeom prst="rect">
            <a:avLst/>
          </a:prstGeom>
          <a:noFill/>
        </p:spPr>
        <p:txBody>
          <a:bodyPr wrap="none" rtlCol="0">
            <a:spAutoFit/>
          </a:bodyPr>
          <a:lstStyle/>
          <a:p>
            <a:r>
              <a:rPr lang="en-US" sz="1500" dirty="0">
                <a:latin typeface="Arial" panose="020B0604020202020204" pitchFamily="34" charset="0"/>
                <a:cs typeface="Arial" panose="020B0604020202020204" pitchFamily="34" charset="0"/>
              </a:rPr>
              <a:t>Classified depending on the heme type</a:t>
            </a:r>
            <a:endParaRPr lang="en-IN" sz="1500" dirty="0">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95C82281-AE30-5C85-DE63-F12C27D12EDF}"/>
              </a:ext>
            </a:extLst>
          </p:cNvPr>
          <p:cNvSpPr txBox="1"/>
          <p:nvPr/>
        </p:nvSpPr>
        <p:spPr>
          <a:xfrm>
            <a:off x="4226886" y="994811"/>
            <a:ext cx="7738872" cy="1015663"/>
          </a:xfrm>
          <a:prstGeom prst="rect">
            <a:avLst/>
          </a:prstGeom>
          <a:noFill/>
        </p:spPr>
        <p:txBody>
          <a:bodyPr wrap="square" rtlCol="0">
            <a:spAutoFit/>
          </a:bodyPr>
          <a:lstStyle/>
          <a:p>
            <a:pPr algn="just"/>
            <a:r>
              <a:rPr lang="en-US" sz="1500" dirty="0">
                <a:latin typeface="Arial" panose="020B0604020202020204" pitchFamily="34" charset="0"/>
                <a:cs typeface="Arial" panose="020B0604020202020204" pitchFamily="34" charset="0"/>
              </a:rPr>
              <a:t>Addition of one electron corresponding to Fe</a:t>
            </a:r>
            <a:r>
              <a:rPr lang="en-US" sz="1500" baseline="30000" dirty="0">
                <a:latin typeface="Arial" panose="020B0604020202020204" pitchFamily="34" charset="0"/>
                <a:cs typeface="Arial" panose="020B0604020202020204" pitchFamily="34" charset="0"/>
              </a:rPr>
              <a:t>3+</a:t>
            </a:r>
            <a:r>
              <a:rPr lang="en-US" sz="1500" dirty="0">
                <a:latin typeface="Arial" panose="020B0604020202020204" pitchFamily="34" charset="0"/>
                <a:cs typeface="Arial" panose="020B0604020202020204" pitchFamily="34" charset="0"/>
              </a:rPr>
              <a:t>/Fe</a:t>
            </a:r>
            <a:r>
              <a:rPr lang="en-US" sz="1500" baseline="30000" dirty="0">
                <a:latin typeface="Arial" panose="020B0604020202020204" pitchFamily="34" charset="0"/>
                <a:cs typeface="Arial" panose="020B0604020202020204" pitchFamily="34" charset="0"/>
              </a:rPr>
              <a:t>2+</a:t>
            </a:r>
            <a:r>
              <a:rPr lang="en-US" sz="1500" dirty="0">
                <a:latin typeface="Arial" panose="020B0604020202020204" pitchFamily="34" charset="0"/>
                <a:cs typeface="Arial" panose="020B0604020202020204" pitchFamily="34" charset="0"/>
              </a:rPr>
              <a:t> reduction hardly alters the structure of the octahedral coordination sphere of the Fe </a:t>
            </a:r>
            <a:r>
              <a:rPr lang="en-US" sz="1500" dirty="0" err="1">
                <a:latin typeface="Arial" panose="020B0604020202020204" pitchFamily="34" charset="0"/>
                <a:cs typeface="Arial" panose="020B0604020202020204" pitchFamily="34" charset="0"/>
              </a:rPr>
              <a:t>centre</a:t>
            </a:r>
            <a:r>
              <a:rPr lang="en-US" sz="1500" dirty="0">
                <a:latin typeface="Arial" panose="020B0604020202020204" pitchFamily="34" charset="0"/>
                <a:cs typeface="Arial" panose="020B0604020202020204" pitchFamily="34" charset="0"/>
              </a:rPr>
              <a:t>. However, due to protonation/deprotonation due to electron transport structural alterations occur at the peripheral. </a:t>
            </a:r>
            <a:endParaRPr lang="en-IN" sz="1500" dirty="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B7DB8EDB-FBDF-34E3-61E0-78273BBC19D6}"/>
              </a:ext>
            </a:extLst>
          </p:cNvPr>
          <p:cNvSpPr txBox="1"/>
          <p:nvPr/>
        </p:nvSpPr>
        <p:spPr>
          <a:xfrm>
            <a:off x="4298623" y="2243973"/>
            <a:ext cx="7550870" cy="1015663"/>
          </a:xfrm>
          <a:prstGeom prst="rect">
            <a:avLst/>
          </a:prstGeom>
          <a:noFill/>
        </p:spPr>
        <p:txBody>
          <a:bodyPr wrap="square" rtlCol="0">
            <a:spAutoFit/>
          </a:bodyPr>
          <a:lstStyle/>
          <a:p>
            <a:pPr algn="just"/>
            <a:r>
              <a:rPr lang="en-US" sz="1500" b="0" i="0" u="none" strike="noStrike" baseline="0" dirty="0">
                <a:latin typeface="Arial" panose="020B0604020202020204" pitchFamily="34" charset="0"/>
                <a:cs typeface="Arial" panose="020B0604020202020204" pitchFamily="34" charset="0"/>
              </a:rPr>
              <a:t>With direct electro-reduction of the Fe(III)/Fe(II), it is important to keep in mind that cytochrome c, at pH 7, in the </a:t>
            </a:r>
            <a:r>
              <a:rPr lang="en-US" sz="1500" b="0" i="0" u="none" strike="noStrike" baseline="0" dirty="0" err="1">
                <a:latin typeface="Arial" panose="020B0604020202020204" pitchFamily="34" charset="0"/>
                <a:cs typeface="Arial" panose="020B0604020202020204" pitchFamily="34" charset="0"/>
              </a:rPr>
              <a:t>oxidised</a:t>
            </a:r>
            <a:r>
              <a:rPr lang="en-US" sz="1500" b="0" i="0" u="none" strike="noStrike" baseline="0" dirty="0">
                <a:latin typeface="Arial" panose="020B0604020202020204" pitchFamily="34" charset="0"/>
                <a:cs typeface="Arial" panose="020B0604020202020204" pitchFamily="34" charset="0"/>
              </a:rPr>
              <a:t> state has an overall charge of + 7.5, whereas in the reduced state it has a charge of </a:t>
            </a:r>
            <a:r>
              <a:rPr lang="en-US" sz="1500" b="0" i="1" u="none" strike="noStrike" baseline="0" dirty="0">
                <a:latin typeface="Arial" panose="020B0604020202020204" pitchFamily="34" charset="0"/>
                <a:cs typeface="Arial" panose="020B0604020202020204" pitchFamily="34" charset="0"/>
              </a:rPr>
              <a:t>+6.5. (</a:t>
            </a:r>
            <a:r>
              <a:rPr lang="en-US" sz="1500" b="0" u="none" strike="noStrike" baseline="0" dirty="0">
                <a:latin typeface="Arial" panose="020B0604020202020204" pitchFamily="34" charset="0"/>
                <a:cs typeface="Arial" panose="020B0604020202020204" pitchFamily="34" charset="0"/>
              </a:rPr>
              <a:t>the charges are due to COO</a:t>
            </a:r>
            <a:r>
              <a:rPr lang="en-US" sz="1500" b="0" u="none" strike="noStrike" baseline="30000" dirty="0">
                <a:latin typeface="Arial" panose="020B0604020202020204" pitchFamily="34" charset="0"/>
                <a:cs typeface="Arial" panose="020B0604020202020204" pitchFamily="34" charset="0"/>
              </a:rPr>
              <a:t>-</a:t>
            </a:r>
            <a:r>
              <a:rPr lang="en-US" sz="1500" b="0" u="none" strike="noStrike" dirty="0">
                <a:latin typeface="Arial" panose="020B0604020202020204" pitchFamily="34" charset="0"/>
                <a:cs typeface="Arial" panose="020B0604020202020204" pitchFamily="34" charset="0"/>
              </a:rPr>
              <a:t> and NH</a:t>
            </a:r>
            <a:r>
              <a:rPr lang="en-US" sz="1500" b="0" u="none" strike="noStrike" baseline="-25000" dirty="0">
                <a:latin typeface="Arial" panose="020B0604020202020204" pitchFamily="34" charset="0"/>
                <a:cs typeface="Arial" panose="020B0604020202020204" pitchFamily="34" charset="0"/>
              </a:rPr>
              <a:t>3</a:t>
            </a:r>
            <a:r>
              <a:rPr lang="en-US" sz="1500" b="0" u="none" strike="noStrike" baseline="30000" dirty="0">
                <a:latin typeface="Arial" panose="020B0604020202020204" pitchFamily="34" charset="0"/>
                <a:cs typeface="Arial" panose="020B0604020202020204" pitchFamily="34" charset="0"/>
              </a:rPr>
              <a:t>+ </a:t>
            </a:r>
            <a:r>
              <a:rPr lang="en-US" sz="1500" b="0" u="none" strike="noStrike" dirty="0">
                <a:latin typeface="Arial" panose="020B0604020202020204" pitchFamily="34" charset="0"/>
                <a:cs typeface="Arial" panose="020B0604020202020204" pitchFamily="34" charset="0"/>
              </a:rPr>
              <a:t>groups of </a:t>
            </a:r>
            <a:r>
              <a:rPr lang="en-US" sz="1500" b="0" u="none" strike="noStrike" dirty="0" err="1">
                <a:latin typeface="Arial" panose="020B0604020202020204" pitchFamily="34" charset="0"/>
                <a:cs typeface="Arial" panose="020B0604020202020204" pitchFamily="34" charset="0"/>
              </a:rPr>
              <a:t>aminoacids</a:t>
            </a:r>
            <a:r>
              <a:rPr lang="en-US" sz="1500" b="0" u="none" strike="noStrike" dirty="0">
                <a:latin typeface="Arial" panose="020B0604020202020204" pitchFamily="34" charset="0"/>
                <a:cs typeface="Arial" panose="020B0604020202020204" pitchFamily="34" charset="0"/>
              </a:rPr>
              <a:t> and metals.</a:t>
            </a:r>
            <a:endParaRPr lang="en-IN" sz="1500" baseline="30000" dirty="0">
              <a:latin typeface="Arial" panose="020B0604020202020204" pitchFamily="34" charset="0"/>
              <a:cs typeface="Arial" panose="020B0604020202020204" pitchFamily="34" charset="0"/>
            </a:endParaRPr>
          </a:p>
        </p:txBody>
      </p:sp>
      <p:grpSp>
        <p:nvGrpSpPr>
          <p:cNvPr id="16" name="Group 15">
            <a:extLst>
              <a:ext uri="{FF2B5EF4-FFF2-40B4-BE49-F238E27FC236}">
                <a16:creationId xmlns:a16="http://schemas.microsoft.com/office/drawing/2014/main" id="{AA4B5854-E426-D819-2155-0E9ADAC0A116}"/>
              </a:ext>
            </a:extLst>
          </p:cNvPr>
          <p:cNvGrpSpPr/>
          <p:nvPr/>
        </p:nvGrpSpPr>
        <p:grpSpPr>
          <a:xfrm>
            <a:off x="4581401" y="3357083"/>
            <a:ext cx="7767714" cy="3211810"/>
            <a:chOff x="4581401" y="3357083"/>
            <a:chExt cx="7767714" cy="3211810"/>
          </a:xfrm>
        </p:grpSpPr>
        <p:pic>
          <p:nvPicPr>
            <p:cNvPr id="13" name="Picture 12">
              <a:extLst>
                <a:ext uri="{FF2B5EF4-FFF2-40B4-BE49-F238E27FC236}">
                  <a16:creationId xmlns:a16="http://schemas.microsoft.com/office/drawing/2014/main" id="{D84B4F1F-73BD-2274-FE7D-F763A335F84E}"/>
                </a:ext>
              </a:extLst>
            </p:cNvPr>
            <p:cNvPicPr>
              <a:picLocks noChangeAspect="1"/>
            </p:cNvPicPr>
            <p:nvPr/>
          </p:nvPicPr>
          <p:blipFill>
            <a:blip r:embed="rId3"/>
            <a:stretch>
              <a:fillRect/>
            </a:stretch>
          </p:blipFill>
          <p:spPr>
            <a:xfrm>
              <a:off x="4672552" y="3357083"/>
              <a:ext cx="6017444" cy="2519499"/>
            </a:xfrm>
            <a:prstGeom prst="rect">
              <a:avLst/>
            </a:prstGeom>
          </p:spPr>
        </p:pic>
        <p:sp>
          <p:nvSpPr>
            <p:cNvPr id="14" name="TextBox 13">
              <a:extLst>
                <a:ext uri="{FF2B5EF4-FFF2-40B4-BE49-F238E27FC236}">
                  <a16:creationId xmlns:a16="http://schemas.microsoft.com/office/drawing/2014/main" id="{E1F1BA96-2AE6-9B86-7E46-60F38787F0B6}"/>
                </a:ext>
              </a:extLst>
            </p:cNvPr>
            <p:cNvSpPr txBox="1"/>
            <p:nvPr/>
          </p:nvSpPr>
          <p:spPr>
            <a:xfrm>
              <a:off x="4581401" y="5948499"/>
              <a:ext cx="3417257" cy="553998"/>
            </a:xfrm>
            <a:prstGeom prst="rect">
              <a:avLst/>
            </a:prstGeom>
            <a:noFill/>
          </p:spPr>
          <p:txBody>
            <a:bodyPr wrap="square" rtlCol="0">
              <a:spAutoFit/>
            </a:bodyPr>
            <a:lstStyle/>
            <a:p>
              <a:r>
                <a:rPr lang="en-US" sz="1500" dirty="0">
                  <a:latin typeface="Arial" panose="020B0604020202020204" pitchFamily="34" charset="0"/>
                  <a:cs typeface="Arial" panose="020B0604020202020204" pitchFamily="34" charset="0"/>
                </a:rPr>
                <a:t>Protein immobilized on the SnO</a:t>
              </a:r>
              <a:r>
                <a:rPr lang="en-US" sz="1500" baseline="-25000" dirty="0">
                  <a:latin typeface="Arial" panose="020B0604020202020204" pitchFamily="34" charset="0"/>
                  <a:cs typeface="Arial" panose="020B0604020202020204" pitchFamily="34" charset="0"/>
                </a:rPr>
                <a:t>2 </a:t>
              </a:r>
              <a:r>
                <a:rPr lang="en-US" sz="1500" dirty="0">
                  <a:latin typeface="Arial" panose="020B0604020202020204" pitchFamily="34" charset="0"/>
                  <a:cs typeface="Arial" panose="020B0604020202020204" pitchFamily="34" charset="0"/>
                </a:rPr>
                <a:t>electrode</a:t>
              </a:r>
              <a:endParaRPr lang="en-IN" sz="1500" dirty="0">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61E6A1FB-86F6-FF58-3773-AA153A0953DE}"/>
                </a:ext>
              </a:extLst>
            </p:cNvPr>
            <p:cNvSpPr txBox="1"/>
            <p:nvPr/>
          </p:nvSpPr>
          <p:spPr>
            <a:xfrm>
              <a:off x="8282993" y="6014895"/>
              <a:ext cx="4066122" cy="553998"/>
            </a:xfrm>
            <a:prstGeom prst="rect">
              <a:avLst/>
            </a:prstGeom>
            <a:noFill/>
          </p:spPr>
          <p:txBody>
            <a:bodyPr wrap="square" rtlCol="0">
              <a:spAutoFit/>
            </a:bodyPr>
            <a:lstStyle/>
            <a:p>
              <a:r>
                <a:rPr lang="en-US" sz="1500" dirty="0">
                  <a:latin typeface="Arial" panose="020B0604020202020204" pitchFamily="34" charset="0"/>
                  <a:cs typeface="Arial" panose="020B0604020202020204" pitchFamily="34" charset="0"/>
                </a:rPr>
                <a:t>Au electrode pretreated with bipyridyl and protein in solution</a:t>
              </a:r>
              <a:endParaRPr lang="en-IN" sz="1500" dirty="0">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10675713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12515D6-EAD7-D720-DC0D-73BD275C3751}"/>
              </a:ext>
            </a:extLst>
          </p:cNvPr>
          <p:cNvSpPr txBox="1"/>
          <p:nvPr/>
        </p:nvSpPr>
        <p:spPr>
          <a:xfrm>
            <a:off x="642712" y="644498"/>
            <a:ext cx="6242720" cy="338554"/>
          </a:xfrm>
          <a:prstGeom prst="rect">
            <a:avLst/>
          </a:prstGeom>
          <a:noFill/>
        </p:spPr>
        <p:txBody>
          <a:bodyPr wrap="square" rtlCol="0">
            <a:spAutoFit/>
          </a:bodyPr>
          <a:lstStyle/>
          <a:p>
            <a:pPr algn="l"/>
            <a:r>
              <a:rPr lang="en-US" sz="1600" b="0" i="0" u="none" strike="noStrike" baseline="0" dirty="0">
                <a:latin typeface="Arial" panose="020B0604020202020204" pitchFamily="34" charset="0"/>
                <a:cs typeface="Arial" panose="020B0604020202020204" pitchFamily="34" charset="0"/>
              </a:rPr>
              <a:t>the reduction process is really reversible </a:t>
            </a:r>
            <a:r>
              <a:rPr lang="en-US" sz="1600" b="1" i="1" u="none" strike="noStrike" baseline="0" dirty="0">
                <a:latin typeface="Arial" panose="020B0604020202020204" pitchFamily="34" charset="0"/>
                <a:cs typeface="Arial" panose="020B0604020202020204" pitchFamily="34" charset="0"/>
              </a:rPr>
              <a:t>(</a:t>
            </a:r>
            <a:r>
              <a:rPr lang="en-US" sz="1600" b="1" i="1" u="none" strike="noStrike" baseline="0" dirty="0" err="1">
                <a:latin typeface="Arial" panose="020B0604020202020204" pitchFamily="34" charset="0"/>
                <a:cs typeface="Arial" panose="020B0604020202020204" pitchFamily="34" charset="0"/>
              </a:rPr>
              <a:t>E</a:t>
            </a:r>
            <a:r>
              <a:rPr lang="en-US" sz="1600" b="1" i="1" u="none" strike="noStrike" baseline="30000" dirty="0" err="1">
                <a:latin typeface="Arial" panose="020B0604020202020204" pitchFamily="34" charset="0"/>
                <a:cs typeface="Arial" panose="020B0604020202020204" pitchFamily="34" charset="0"/>
              </a:rPr>
              <a:t>o</a:t>
            </a:r>
            <a:r>
              <a:rPr lang="en-US" sz="1600" b="1" i="1" u="none" strike="noStrike" baseline="0" dirty="0">
                <a:latin typeface="Arial" panose="020B0604020202020204" pitchFamily="34" charset="0"/>
                <a:cs typeface="Arial" panose="020B0604020202020204" pitchFamily="34" charset="0"/>
              </a:rPr>
              <a:t> </a:t>
            </a:r>
            <a:r>
              <a:rPr lang="en-US" sz="1600" b="0" i="0" u="none" strike="noStrike" baseline="0" dirty="0">
                <a:latin typeface="Arial" panose="020B0604020202020204" pitchFamily="34" charset="0"/>
                <a:cs typeface="Arial" panose="020B0604020202020204" pitchFamily="34" charset="0"/>
              </a:rPr>
              <a:t>= + 0.26 V </a:t>
            </a:r>
            <a:r>
              <a:rPr lang="en-IN" sz="1600" b="0" i="1" u="none" strike="noStrike" baseline="0" dirty="0">
                <a:latin typeface="Arial" panose="020B0604020202020204" pitchFamily="34" charset="0"/>
                <a:cs typeface="Arial" panose="020B0604020202020204" pitchFamily="34" charset="0"/>
              </a:rPr>
              <a:t>vs. </a:t>
            </a:r>
            <a:r>
              <a:rPr lang="en-IN" sz="1600" b="0" i="0" u="none" strike="noStrike" baseline="0" dirty="0">
                <a:latin typeface="Arial" panose="020B0604020202020204" pitchFamily="34" charset="0"/>
                <a:cs typeface="Arial" panose="020B0604020202020204" pitchFamily="34" charset="0"/>
              </a:rPr>
              <a:t>NHE)</a:t>
            </a:r>
            <a:endParaRPr lang="en-IN" sz="1600"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FF4BC71B-8FE4-80D7-CB19-DE24AE3041FB}"/>
              </a:ext>
            </a:extLst>
          </p:cNvPr>
          <p:cNvSpPr txBox="1"/>
          <p:nvPr/>
        </p:nvSpPr>
        <p:spPr>
          <a:xfrm>
            <a:off x="642712" y="1134591"/>
            <a:ext cx="9479696" cy="584775"/>
          </a:xfrm>
          <a:prstGeom prst="rect">
            <a:avLst/>
          </a:prstGeom>
          <a:noFill/>
        </p:spPr>
        <p:txBody>
          <a:bodyPr wrap="square" rtlCol="0">
            <a:spAutoFit/>
          </a:bodyPr>
          <a:lstStyle/>
          <a:p>
            <a:pPr algn="l"/>
            <a:r>
              <a:rPr lang="en-US" sz="1600" b="0" i="0" u="none" strike="noStrike" baseline="0" dirty="0">
                <a:latin typeface="Arial" panose="020B0604020202020204" pitchFamily="34" charset="0"/>
                <a:cs typeface="Arial" panose="020B0604020202020204" pitchFamily="34" charset="0"/>
              </a:rPr>
              <a:t>In Figure (a) the current is expected to increase linearly with the scan rate, whereas in the case of simple diffusion, Figure (b) the current increases linearly with the square root of the scan rate</a:t>
            </a:r>
            <a:endParaRPr lang="en-IN" sz="1600" dirty="0">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48F90201-8B1A-1B2F-7787-50691B6A9129}"/>
              </a:ext>
            </a:extLst>
          </p:cNvPr>
          <p:cNvSpPr txBox="1"/>
          <p:nvPr/>
        </p:nvSpPr>
        <p:spPr>
          <a:xfrm>
            <a:off x="522991" y="1817587"/>
            <a:ext cx="8391560" cy="1569660"/>
          </a:xfrm>
          <a:prstGeom prst="rect">
            <a:avLst/>
          </a:prstGeom>
          <a:noFill/>
        </p:spPr>
        <p:txBody>
          <a:bodyPr wrap="square" rtlCol="0">
            <a:spAutoFit/>
          </a:bodyPr>
          <a:lstStyle/>
          <a:p>
            <a:pPr algn="just"/>
            <a:r>
              <a:rPr lang="en-US" sz="1600" b="0" i="0" u="none" strike="noStrike" baseline="0" dirty="0">
                <a:latin typeface="Arial" panose="020B0604020202020204" pitchFamily="34" charset="0"/>
                <a:cs typeface="Arial" panose="020B0604020202020204" pitchFamily="34" charset="0"/>
              </a:rPr>
              <a:t>Since oxidized cytochrome c, at pH 7, has an overall positive charge of </a:t>
            </a:r>
            <a:r>
              <a:rPr lang="en-US" sz="1600" b="0" i="1" u="none" strike="noStrike" baseline="0" dirty="0">
                <a:latin typeface="Arial" panose="020B0604020202020204" pitchFamily="34" charset="0"/>
                <a:cs typeface="Arial" panose="020B0604020202020204" pitchFamily="34" charset="0"/>
              </a:rPr>
              <a:t>+7.5, </a:t>
            </a:r>
            <a:r>
              <a:rPr lang="en-US" sz="1600" b="0" i="0" u="none" strike="noStrike" baseline="0" dirty="0">
                <a:latin typeface="Arial" panose="020B0604020202020204" pitchFamily="34" charset="0"/>
                <a:cs typeface="Arial" panose="020B0604020202020204" pitchFamily="34" charset="0"/>
              </a:rPr>
              <a:t>it means that it bears an excess of NH</a:t>
            </a:r>
            <a:r>
              <a:rPr lang="en-US" sz="1600" b="0" i="0" u="none" strike="noStrike" baseline="-25000" dirty="0">
                <a:latin typeface="Arial" panose="020B0604020202020204" pitchFamily="34" charset="0"/>
                <a:cs typeface="Arial" panose="020B0604020202020204" pitchFamily="34" charset="0"/>
              </a:rPr>
              <a:t>3</a:t>
            </a:r>
            <a:r>
              <a:rPr lang="en-US" sz="1600" b="0" i="0" u="none" strike="noStrike" baseline="30000" dirty="0">
                <a:latin typeface="Arial" panose="020B0604020202020204" pitchFamily="34" charset="0"/>
                <a:cs typeface="Arial" panose="020B0604020202020204" pitchFamily="34" charset="0"/>
              </a:rPr>
              <a:t>+</a:t>
            </a:r>
            <a:r>
              <a:rPr lang="en-US" sz="1600" b="0" i="0" u="none" strike="noStrike" baseline="0" dirty="0">
                <a:latin typeface="Arial" panose="020B0604020202020204" pitchFamily="34" charset="0"/>
                <a:cs typeface="Arial" panose="020B0604020202020204" pitchFamily="34" charset="0"/>
              </a:rPr>
              <a:t> groups. </a:t>
            </a:r>
          </a:p>
          <a:p>
            <a:pPr algn="just"/>
            <a:endParaRPr lang="en-US" sz="1600" dirty="0">
              <a:latin typeface="Arial" panose="020B0604020202020204" pitchFamily="34" charset="0"/>
              <a:cs typeface="Arial" panose="020B0604020202020204" pitchFamily="34" charset="0"/>
            </a:endParaRPr>
          </a:p>
          <a:p>
            <a:pPr algn="just"/>
            <a:r>
              <a:rPr lang="en-US" sz="1600" b="0" i="0" u="none" strike="noStrike" baseline="0" dirty="0">
                <a:latin typeface="Arial" panose="020B0604020202020204" pitchFamily="34" charset="0"/>
                <a:cs typeface="Arial" panose="020B0604020202020204" pitchFamily="34" charset="0"/>
              </a:rPr>
              <a:t>The activated complex formed through hydrogen bonds between the lysine groups of the protein and the pyridyl nitrogen atoms adsorbed on the electrode surface, is thought to provide a good route for the rapid </a:t>
            </a:r>
            <a:r>
              <a:rPr lang="en-IN" sz="1600" b="0" i="0" u="none" strike="noStrike" baseline="0" dirty="0">
                <a:latin typeface="Arial" panose="020B0604020202020204" pitchFamily="34" charset="0"/>
                <a:cs typeface="Arial" panose="020B0604020202020204" pitchFamily="34" charset="0"/>
              </a:rPr>
              <a:t>exchange of electrons.</a:t>
            </a:r>
            <a:endParaRPr lang="en-IN" sz="1600"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D3DEAA4B-743C-70C9-72C6-A0E7C4100CDD}"/>
              </a:ext>
            </a:extLst>
          </p:cNvPr>
          <p:cNvSpPr txBox="1"/>
          <p:nvPr/>
        </p:nvSpPr>
        <p:spPr>
          <a:xfrm>
            <a:off x="404119" y="3824571"/>
            <a:ext cx="6481313" cy="1154675"/>
          </a:xfrm>
          <a:prstGeom prst="rect">
            <a:avLst/>
          </a:prstGeom>
          <a:noFill/>
        </p:spPr>
        <p:txBody>
          <a:bodyPr wrap="square" rtlCol="0">
            <a:spAutoFit/>
          </a:bodyPr>
          <a:lstStyle/>
          <a:p>
            <a:pPr algn="just">
              <a:lnSpc>
                <a:spcPct val="150000"/>
              </a:lnSpc>
            </a:pPr>
            <a:r>
              <a:rPr lang="en-US" sz="1600" dirty="0">
                <a:latin typeface="Arial" panose="020B0604020202020204" pitchFamily="34" charset="0"/>
                <a:cs typeface="Arial" panose="020B0604020202020204" pitchFamily="34" charset="0"/>
              </a:rPr>
              <a:t>The formation of the activated complex is confirmed by performing the measurement at pH 4, where the pyridyl nitrogen atoms are expected to be protonated. Indeed, no electrochemical activity is noted. </a:t>
            </a:r>
            <a:endParaRPr lang="en-IN" sz="1600"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1D194B22-0169-369D-11E6-27273436630F}"/>
              </a:ext>
            </a:extLst>
          </p:cNvPr>
          <p:cNvSpPr txBox="1"/>
          <p:nvPr/>
        </p:nvSpPr>
        <p:spPr>
          <a:xfrm>
            <a:off x="3638748" y="169682"/>
            <a:ext cx="5275803" cy="369332"/>
          </a:xfrm>
          <a:prstGeom prst="rect">
            <a:avLst/>
          </a:prstGeom>
          <a:noFill/>
        </p:spPr>
        <p:txBody>
          <a:bodyPr wrap="none" rtlCol="0">
            <a:spAutoFit/>
          </a:bodyPr>
          <a:lstStyle/>
          <a:p>
            <a:r>
              <a:rPr lang="en-US" dirty="0">
                <a:solidFill>
                  <a:srgbClr val="C00000"/>
                </a:solidFill>
                <a:latin typeface="Arial" panose="020B0604020202020204" pitchFamily="34" charset="0"/>
                <a:cs typeface="Arial" panose="020B0604020202020204" pitchFamily="34" charset="0"/>
              </a:rPr>
              <a:t>Cytochromes (</a:t>
            </a:r>
            <a:r>
              <a:rPr lang="en-US" dirty="0">
                <a:latin typeface="Arial" panose="020B0604020202020204" pitchFamily="34" charset="0"/>
                <a:cs typeface="Arial" panose="020B0604020202020204" pitchFamily="34" charset="0"/>
              </a:rPr>
              <a:t>Iron-porphyrin based heme protein</a:t>
            </a:r>
            <a:r>
              <a:rPr lang="en-US" dirty="0">
                <a:solidFill>
                  <a:srgbClr val="C00000"/>
                </a:solidFill>
                <a:latin typeface="Arial" panose="020B0604020202020204" pitchFamily="34" charset="0"/>
                <a:cs typeface="Arial" panose="020B0604020202020204" pitchFamily="34" charset="0"/>
              </a:rPr>
              <a:t>)</a:t>
            </a:r>
            <a:endParaRPr lang="en-IN" dirty="0">
              <a:solidFill>
                <a:srgbClr val="C00000"/>
              </a:solidFill>
              <a:latin typeface="Arial" panose="020B0604020202020204" pitchFamily="34" charset="0"/>
              <a:cs typeface="Arial" panose="020B0604020202020204" pitchFamily="34" charset="0"/>
            </a:endParaRPr>
          </a:p>
        </p:txBody>
      </p:sp>
      <p:pic>
        <p:nvPicPr>
          <p:cNvPr id="11" name="Picture 10">
            <a:extLst>
              <a:ext uri="{FF2B5EF4-FFF2-40B4-BE49-F238E27FC236}">
                <a16:creationId xmlns:a16="http://schemas.microsoft.com/office/drawing/2014/main" id="{071FA6AE-0544-2880-8988-594234D0F00C}"/>
              </a:ext>
            </a:extLst>
          </p:cNvPr>
          <p:cNvPicPr>
            <a:picLocks noChangeAspect="1"/>
          </p:cNvPicPr>
          <p:nvPr/>
        </p:nvPicPr>
        <p:blipFill>
          <a:blip r:embed="rId2"/>
          <a:stretch>
            <a:fillRect/>
          </a:stretch>
        </p:blipFill>
        <p:spPr>
          <a:xfrm>
            <a:off x="7526274" y="3387247"/>
            <a:ext cx="3665982" cy="2813540"/>
          </a:xfrm>
          <a:prstGeom prst="rect">
            <a:avLst/>
          </a:prstGeom>
        </p:spPr>
      </p:pic>
    </p:spTree>
    <p:extLst>
      <p:ext uri="{BB962C8B-B14F-4D97-AF65-F5344CB8AC3E}">
        <p14:creationId xmlns:p14="http://schemas.microsoft.com/office/powerpoint/2010/main" val="41962568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07131B6-2159-31E7-0F50-DC58A40591C5}"/>
              </a:ext>
            </a:extLst>
          </p:cNvPr>
          <p:cNvSpPr txBox="1"/>
          <p:nvPr/>
        </p:nvSpPr>
        <p:spPr>
          <a:xfrm>
            <a:off x="4480560" y="164592"/>
            <a:ext cx="3097899" cy="369332"/>
          </a:xfrm>
          <a:prstGeom prst="rect">
            <a:avLst/>
          </a:prstGeom>
          <a:noFill/>
        </p:spPr>
        <p:txBody>
          <a:bodyPr wrap="none" rtlCol="0">
            <a:spAutoFit/>
          </a:bodyPr>
          <a:lstStyle/>
          <a:p>
            <a:r>
              <a:rPr lang="en-IN" b="1" dirty="0">
                <a:solidFill>
                  <a:srgbClr val="C00000"/>
                </a:solidFill>
                <a:latin typeface="AdvTimes"/>
              </a:rPr>
              <a:t>Fe-</a:t>
            </a:r>
            <a:r>
              <a:rPr lang="en-IN" b="1" dirty="0" err="1">
                <a:solidFill>
                  <a:srgbClr val="C00000"/>
                </a:solidFill>
                <a:latin typeface="AdvTimes"/>
              </a:rPr>
              <a:t>Sulfur</a:t>
            </a:r>
            <a:r>
              <a:rPr lang="en-IN" b="1" dirty="0">
                <a:solidFill>
                  <a:srgbClr val="C00000"/>
                </a:solidFill>
                <a:latin typeface="AdvTimes"/>
              </a:rPr>
              <a:t> proteins (non </a:t>
            </a:r>
            <a:r>
              <a:rPr lang="en-IN" b="1" dirty="0" err="1">
                <a:solidFill>
                  <a:srgbClr val="C00000"/>
                </a:solidFill>
                <a:latin typeface="AdvTimes"/>
              </a:rPr>
              <a:t>heme</a:t>
            </a:r>
            <a:r>
              <a:rPr lang="en-IN" b="1" dirty="0">
                <a:solidFill>
                  <a:srgbClr val="C00000"/>
                </a:solidFill>
                <a:latin typeface="AdvTimes"/>
              </a:rPr>
              <a:t>)</a:t>
            </a:r>
          </a:p>
        </p:txBody>
      </p:sp>
      <p:sp>
        <p:nvSpPr>
          <p:cNvPr id="3" name="TextBox 2">
            <a:extLst>
              <a:ext uri="{FF2B5EF4-FFF2-40B4-BE49-F238E27FC236}">
                <a16:creationId xmlns:a16="http://schemas.microsoft.com/office/drawing/2014/main" id="{041772DD-423E-B196-240B-A4DED9293BE0}"/>
              </a:ext>
            </a:extLst>
          </p:cNvPr>
          <p:cNvSpPr txBox="1"/>
          <p:nvPr/>
        </p:nvSpPr>
        <p:spPr>
          <a:xfrm>
            <a:off x="676656" y="614868"/>
            <a:ext cx="9281160" cy="3108543"/>
          </a:xfrm>
          <a:prstGeom prst="rect">
            <a:avLst/>
          </a:prstGeom>
          <a:noFill/>
        </p:spPr>
        <p:txBody>
          <a:bodyPr wrap="square" rtlCol="0">
            <a:spAutoFit/>
          </a:bodyPr>
          <a:lstStyle/>
          <a:p>
            <a:pPr algn="l"/>
            <a:r>
              <a:rPr lang="en-IN" sz="1600" dirty="0">
                <a:latin typeface="Arial" panose="020B0604020202020204" pitchFamily="34" charset="0"/>
                <a:cs typeface="Arial" panose="020B0604020202020204" pitchFamily="34" charset="0"/>
              </a:rPr>
              <a:t>Rubredoxins : </a:t>
            </a:r>
            <a:r>
              <a:rPr lang="en-US" sz="1600" b="0" i="0" u="none" strike="noStrike" baseline="0" dirty="0">
                <a:latin typeface="Arial" panose="020B0604020202020204" pitchFamily="34" charset="0"/>
                <a:cs typeface="Arial" panose="020B0604020202020204" pitchFamily="34" charset="0"/>
              </a:rPr>
              <a:t>FeS</a:t>
            </a:r>
            <a:r>
              <a:rPr lang="en-US" sz="1600" b="0" i="0" u="none" strike="noStrike" baseline="-25000" dirty="0">
                <a:latin typeface="Arial" panose="020B0604020202020204" pitchFamily="34" charset="0"/>
                <a:cs typeface="Arial" panose="020B0604020202020204" pitchFamily="34" charset="0"/>
              </a:rPr>
              <a:t>4</a:t>
            </a:r>
            <a:r>
              <a:rPr lang="en-US" sz="1600" b="0" i="0" u="none" strike="noStrike" baseline="0" dirty="0">
                <a:latin typeface="Arial" panose="020B0604020202020204" pitchFamily="34" charset="0"/>
                <a:cs typeface="Arial" panose="020B0604020202020204" pitchFamily="34" charset="0"/>
              </a:rPr>
              <a:t> assembly, consisting of an Fe(III) ion coordinated to four cysteine groups.</a:t>
            </a:r>
          </a:p>
          <a:p>
            <a:pPr algn="l"/>
            <a:endParaRPr lang="en-US" sz="1600" dirty="0">
              <a:latin typeface="Arial" panose="020B0604020202020204" pitchFamily="34" charset="0"/>
              <a:cs typeface="Arial" panose="020B0604020202020204" pitchFamily="34" charset="0"/>
            </a:endParaRPr>
          </a:p>
          <a:p>
            <a:pPr algn="l"/>
            <a:r>
              <a:rPr lang="en-IN" sz="1600" dirty="0">
                <a:latin typeface="Arial" panose="020B0604020202020204" pitchFamily="34" charset="0"/>
                <a:cs typeface="Arial" panose="020B0604020202020204" pitchFamily="34" charset="0"/>
              </a:rPr>
              <a:t>T</a:t>
            </a:r>
            <a:r>
              <a:rPr lang="en-IN" sz="1600" b="0" i="0" u="none" strike="noStrike" baseline="0" dirty="0">
                <a:latin typeface="Arial" panose="020B0604020202020204" pitchFamily="34" charset="0"/>
                <a:cs typeface="Arial" panose="020B0604020202020204" pitchFamily="34" charset="0"/>
              </a:rPr>
              <a:t>otal negative charge </a:t>
            </a:r>
            <a:r>
              <a:rPr lang="en-US" sz="1600" b="0" i="0" u="none" strike="noStrike" baseline="0" dirty="0">
                <a:latin typeface="Arial" panose="020B0604020202020204" pitchFamily="34" charset="0"/>
                <a:cs typeface="Arial" panose="020B0604020202020204" pitchFamily="34" charset="0"/>
              </a:rPr>
              <a:t>of -13 at pH 7 (</a:t>
            </a:r>
            <a:r>
              <a:rPr lang="en-US" sz="1600" b="0" i="0" u="none" strike="noStrike" baseline="0" dirty="0" err="1">
                <a:latin typeface="Arial" panose="020B0604020202020204" pitchFamily="34" charset="0"/>
                <a:cs typeface="Arial" panose="020B0604020202020204" pitchFamily="34" charset="0"/>
              </a:rPr>
              <a:t>pI</a:t>
            </a:r>
            <a:r>
              <a:rPr lang="en-US" sz="1600" b="0" i="0" u="none" strike="noStrike" baseline="0" dirty="0">
                <a:latin typeface="Arial" panose="020B0604020202020204" pitchFamily="34" charset="0"/>
                <a:cs typeface="Arial" panose="020B0604020202020204" pitchFamily="34" charset="0"/>
              </a:rPr>
              <a:t> = 3)</a:t>
            </a:r>
          </a:p>
          <a:p>
            <a:pPr algn="l"/>
            <a:endParaRPr lang="en-US" sz="1600" dirty="0">
              <a:latin typeface="Arial" panose="020B0604020202020204" pitchFamily="34" charset="0"/>
              <a:cs typeface="Arial" panose="020B0604020202020204" pitchFamily="34" charset="0"/>
            </a:endParaRPr>
          </a:p>
          <a:p>
            <a:pPr algn="l"/>
            <a:r>
              <a:rPr lang="en-US" sz="1600" dirty="0">
                <a:latin typeface="Arial" panose="020B0604020202020204" pitchFamily="34" charset="0"/>
                <a:cs typeface="Arial" panose="020B0604020202020204" pitchFamily="34" charset="0"/>
              </a:rPr>
              <a:t>G</a:t>
            </a:r>
            <a:r>
              <a:rPr lang="en-US" sz="1600" b="0" i="0" u="none" strike="noStrike" baseline="0" dirty="0">
                <a:latin typeface="Arial" panose="020B0604020202020204" pitchFamily="34" charset="0"/>
                <a:cs typeface="Arial" panose="020B0604020202020204" pitchFamily="34" charset="0"/>
              </a:rPr>
              <a:t>raphite electrode does not </a:t>
            </a:r>
            <a:r>
              <a:rPr lang="en-US" sz="1600" b="0" i="0" u="none" strike="noStrike" baseline="0" dirty="0" err="1">
                <a:latin typeface="Arial" panose="020B0604020202020204" pitchFamily="34" charset="0"/>
                <a:cs typeface="Arial" panose="020B0604020202020204" pitchFamily="34" charset="0"/>
              </a:rPr>
              <a:t>favour</a:t>
            </a:r>
            <a:r>
              <a:rPr lang="en-US" sz="1600" b="0" i="0" u="none" strike="noStrike" baseline="0" dirty="0">
                <a:latin typeface="Arial" panose="020B0604020202020204" pitchFamily="34" charset="0"/>
                <a:cs typeface="Arial" panose="020B0604020202020204" pitchFamily="34" charset="0"/>
              </a:rPr>
              <a:t> the electrostatic interaction between the electrode surface and the protein.</a:t>
            </a:r>
            <a:r>
              <a:rPr lang="en-IN" sz="1600" dirty="0">
                <a:latin typeface="Arial" panose="020B0604020202020204" pitchFamily="34" charset="0"/>
                <a:cs typeface="Arial" panose="020B0604020202020204" pitchFamily="34" charset="0"/>
              </a:rPr>
              <a:t> </a:t>
            </a:r>
          </a:p>
          <a:p>
            <a:pPr algn="l"/>
            <a:endParaRPr lang="en-IN" sz="1600" dirty="0">
              <a:latin typeface="Arial" panose="020B0604020202020204" pitchFamily="34" charset="0"/>
              <a:cs typeface="Arial" panose="020B0604020202020204" pitchFamily="34" charset="0"/>
            </a:endParaRPr>
          </a:p>
          <a:p>
            <a:pPr algn="l"/>
            <a:r>
              <a:rPr lang="en-IN" sz="1600" b="0" i="0" u="none" strike="noStrike" baseline="0" dirty="0">
                <a:latin typeface="Arial" panose="020B0604020202020204" pitchFamily="34" charset="0"/>
                <a:cs typeface="Arial" panose="020B0604020202020204" pitchFamily="34" charset="0"/>
              </a:rPr>
              <a:t>use of positively charged </a:t>
            </a:r>
            <a:r>
              <a:rPr lang="en-US" sz="1600" b="0" i="0" u="none" strike="noStrike" baseline="0" dirty="0">
                <a:latin typeface="Arial" panose="020B0604020202020204" pitchFamily="34" charset="0"/>
                <a:cs typeface="Arial" panose="020B0604020202020204" pitchFamily="34" charset="0"/>
              </a:rPr>
              <a:t>additives (Mg</a:t>
            </a:r>
            <a:r>
              <a:rPr lang="en-US" sz="1600" b="0" i="0" u="none" strike="noStrike" baseline="30000" dirty="0">
                <a:latin typeface="Arial" panose="020B0604020202020204" pitchFamily="34" charset="0"/>
                <a:cs typeface="Arial" panose="020B0604020202020204" pitchFamily="34" charset="0"/>
              </a:rPr>
              <a:t>2+</a:t>
            </a:r>
            <a:r>
              <a:rPr lang="en-US" sz="1600" b="0" i="0" u="none" strike="noStrike" baseline="0" dirty="0">
                <a:latin typeface="Arial" panose="020B0604020202020204" pitchFamily="34" charset="0"/>
                <a:cs typeface="Arial" panose="020B0604020202020204" pitchFamily="34" charset="0"/>
              </a:rPr>
              <a:t> salts, [Cr(NH</a:t>
            </a:r>
            <a:r>
              <a:rPr lang="en-US" sz="1600" b="0" i="0" u="none" strike="noStrike" baseline="-25000" dirty="0">
                <a:latin typeface="Arial" panose="020B0604020202020204" pitchFamily="34" charset="0"/>
                <a:cs typeface="Arial" panose="020B0604020202020204" pitchFamily="34" charset="0"/>
              </a:rPr>
              <a:t>3</a:t>
            </a:r>
            <a:r>
              <a:rPr lang="en-US" sz="1600" b="0" i="0" u="none" strike="noStrike" dirty="0">
                <a:latin typeface="Arial" panose="020B0604020202020204" pitchFamily="34" charset="0"/>
                <a:cs typeface="Arial" panose="020B0604020202020204" pitchFamily="34" charset="0"/>
              </a:rPr>
              <a:t>)</a:t>
            </a:r>
            <a:r>
              <a:rPr lang="en-US" sz="1600" b="0" i="0" u="none" strike="noStrike" baseline="-25000" dirty="0">
                <a:latin typeface="Arial" panose="020B0604020202020204" pitchFamily="34" charset="0"/>
                <a:cs typeface="Arial" panose="020B0604020202020204" pitchFamily="34" charset="0"/>
              </a:rPr>
              <a:t>6</a:t>
            </a:r>
            <a:r>
              <a:rPr lang="en-US" sz="1600" b="0" i="0" u="none" strike="noStrike" baseline="30000" dirty="0">
                <a:latin typeface="Arial" panose="020B0604020202020204" pitchFamily="34" charset="0"/>
                <a:cs typeface="Arial" panose="020B0604020202020204" pitchFamily="34" charset="0"/>
              </a:rPr>
              <a:t>3+</a:t>
            </a:r>
            <a:r>
              <a:rPr lang="en-US" sz="1600" b="0" i="0" u="none" strike="noStrike" dirty="0">
                <a:latin typeface="Arial" panose="020B0604020202020204" pitchFamily="34" charset="0"/>
                <a:cs typeface="Arial" panose="020B0604020202020204" pitchFamily="34" charset="0"/>
              </a:rPr>
              <a:t>]</a:t>
            </a:r>
            <a:r>
              <a:rPr lang="en-US" sz="1600" b="0" i="0" u="none" strike="noStrike" baseline="0" dirty="0">
                <a:latin typeface="Arial" panose="020B0604020202020204" pitchFamily="34" charset="0"/>
                <a:cs typeface="Arial" panose="020B0604020202020204" pitchFamily="34" charset="0"/>
              </a:rPr>
              <a:t> compensate the negative charge of the electrode.</a:t>
            </a:r>
          </a:p>
          <a:p>
            <a:pPr algn="l"/>
            <a:endParaRPr lang="en-US" sz="1600" dirty="0">
              <a:latin typeface="Arial" panose="020B0604020202020204" pitchFamily="34" charset="0"/>
              <a:cs typeface="Arial" panose="020B0604020202020204" pitchFamily="34" charset="0"/>
            </a:endParaRPr>
          </a:p>
          <a:p>
            <a:pPr algn="l"/>
            <a:r>
              <a:rPr lang="en-US" sz="1600" b="0" i="0" u="none" strike="noStrike" baseline="0" dirty="0">
                <a:latin typeface="Arial" panose="020B0604020202020204" pitchFamily="34" charset="0"/>
                <a:cs typeface="Arial" panose="020B0604020202020204" pitchFamily="34" charset="0"/>
              </a:rPr>
              <a:t>Rubredoxins have </a:t>
            </a:r>
            <a:r>
              <a:rPr lang="en-US" sz="1600" b="1" i="1" u="none" strike="noStrike" baseline="0" dirty="0" err="1">
                <a:latin typeface="Arial" panose="020B0604020202020204" pitchFamily="34" charset="0"/>
                <a:cs typeface="Arial" panose="020B0604020202020204" pitchFamily="34" charset="0"/>
              </a:rPr>
              <a:t>E</a:t>
            </a:r>
            <a:r>
              <a:rPr lang="en-US" sz="1600" b="1" i="1" u="none" strike="noStrike" baseline="30000" dirty="0" err="1">
                <a:latin typeface="Arial" panose="020B0604020202020204" pitchFamily="34" charset="0"/>
                <a:cs typeface="Arial" panose="020B0604020202020204" pitchFamily="34" charset="0"/>
              </a:rPr>
              <a:t>o</a:t>
            </a:r>
            <a:r>
              <a:rPr lang="en-US" sz="1600" b="1" i="1" u="none" strike="noStrike" baseline="0" dirty="0">
                <a:latin typeface="Arial" panose="020B0604020202020204" pitchFamily="34" charset="0"/>
                <a:cs typeface="Arial" panose="020B0604020202020204" pitchFamily="34" charset="0"/>
              </a:rPr>
              <a:t> </a:t>
            </a:r>
            <a:r>
              <a:rPr lang="en-US" sz="1600" b="0" i="0" u="none" strike="noStrike" baseline="0" dirty="0">
                <a:latin typeface="Arial" panose="020B0604020202020204" pitchFamily="34" charset="0"/>
                <a:cs typeface="Arial" panose="020B0604020202020204" pitchFamily="34" charset="0"/>
              </a:rPr>
              <a:t>values for the Fe(III)/Fe(II) reduction</a:t>
            </a:r>
          </a:p>
          <a:p>
            <a:pPr algn="l"/>
            <a:r>
              <a:rPr lang="en-US" sz="1600" b="0" i="0" u="none" strike="noStrike" baseline="0" dirty="0">
                <a:latin typeface="Arial" panose="020B0604020202020204" pitchFamily="34" charset="0"/>
                <a:cs typeface="Arial" panose="020B0604020202020204" pitchFamily="34" charset="0"/>
              </a:rPr>
              <a:t>range from </a:t>
            </a:r>
            <a:r>
              <a:rPr lang="en-US" sz="1600" b="0" i="1" u="none" strike="noStrike" baseline="0" dirty="0">
                <a:latin typeface="Arial" panose="020B0604020202020204" pitchFamily="34" charset="0"/>
                <a:cs typeface="Arial" panose="020B0604020202020204" pitchFamily="34" charset="0"/>
              </a:rPr>
              <a:t>+0.05 </a:t>
            </a:r>
            <a:r>
              <a:rPr lang="en-US" sz="1600" b="0" i="0" u="none" strike="noStrike" baseline="0" dirty="0">
                <a:latin typeface="Arial" panose="020B0604020202020204" pitchFamily="34" charset="0"/>
                <a:cs typeface="Arial" panose="020B0604020202020204" pitchFamily="34" charset="0"/>
              </a:rPr>
              <a:t>V to -0.05 V </a:t>
            </a:r>
            <a:r>
              <a:rPr lang="en-US" sz="1600" b="1" i="1" u="none" strike="noStrike" baseline="0" dirty="0" err="1">
                <a:latin typeface="Arial" panose="020B0604020202020204" pitchFamily="34" charset="0"/>
                <a:cs typeface="Arial" panose="020B0604020202020204" pitchFamily="34" charset="0"/>
              </a:rPr>
              <a:t>vs.</a:t>
            </a:r>
            <a:r>
              <a:rPr lang="en-US" sz="1600" b="0" i="0" u="none" strike="noStrike" baseline="0" dirty="0" err="1">
                <a:latin typeface="Arial" panose="020B0604020202020204" pitchFamily="34" charset="0"/>
                <a:cs typeface="Arial" panose="020B0604020202020204" pitchFamily="34" charset="0"/>
              </a:rPr>
              <a:t>NHE</a:t>
            </a:r>
            <a:endParaRPr lang="en-IN" sz="1600"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28634364-EF49-418C-35D0-9B8438DD51FE}"/>
              </a:ext>
            </a:extLst>
          </p:cNvPr>
          <p:cNvPicPr>
            <a:picLocks noChangeAspect="1"/>
          </p:cNvPicPr>
          <p:nvPr/>
        </p:nvPicPr>
        <p:blipFill>
          <a:blip r:embed="rId2"/>
          <a:stretch>
            <a:fillRect/>
          </a:stretch>
        </p:blipFill>
        <p:spPr>
          <a:xfrm>
            <a:off x="7796590" y="2825496"/>
            <a:ext cx="2422017" cy="3493008"/>
          </a:xfrm>
          <a:prstGeom prst="rect">
            <a:avLst/>
          </a:prstGeom>
        </p:spPr>
      </p:pic>
      <p:sp>
        <p:nvSpPr>
          <p:cNvPr id="6" name="TextBox 5">
            <a:extLst>
              <a:ext uri="{FF2B5EF4-FFF2-40B4-BE49-F238E27FC236}">
                <a16:creationId xmlns:a16="http://schemas.microsoft.com/office/drawing/2014/main" id="{6B79BF7B-0CC2-3269-0836-ED00AF2F3BC7}"/>
              </a:ext>
            </a:extLst>
          </p:cNvPr>
          <p:cNvSpPr txBox="1"/>
          <p:nvPr/>
        </p:nvSpPr>
        <p:spPr>
          <a:xfrm>
            <a:off x="785197" y="4572000"/>
            <a:ext cx="6902852" cy="369332"/>
          </a:xfrm>
          <a:prstGeom prst="rect">
            <a:avLst/>
          </a:prstGeom>
          <a:noFill/>
        </p:spPr>
        <p:txBody>
          <a:bodyPr wrap="none" rtlCol="0">
            <a:spAutoFit/>
          </a:bodyPr>
          <a:lstStyle/>
          <a:p>
            <a:r>
              <a:rPr lang="en-IN" dirty="0">
                <a:solidFill>
                  <a:srgbClr val="C00000"/>
                </a:solidFill>
                <a:latin typeface="Arial" panose="020B0604020202020204" pitchFamily="34" charset="0"/>
                <a:cs typeface="Arial" panose="020B0604020202020204" pitchFamily="34" charset="0"/>
              </a:rPr>
              <a:t>CV measured in the (a) absence and (b) presence of</a:t>
            </a:r>
            <a:r>
              <a:rPr lang="en-US" sz="1800" b="0" i="0" u="none" strike="noStrike" baseline="0" dirty="0">
                <a:solidFill>
                  <a:srgbClr val="C00000"/>
                </a:solidFill>
                <a:latin typeface="Arial" panose="020B0604020202020204" pitchFamily="34" charset="0"/>
                <a:cs typeface="Arial" panose="020B0604020202020204" pitchFamily="34" charset="0"/>
              </a:rPr>
              <a:t> [Cr(NH</a:t>
            </a:r>
            <a:r>
              <a:rPr lang="en-US" sz="1800" b="0" i="0" u="none" strike="noStrike" baseline="-25000" dirty="0">
                <a:solidFill>
                  <a:srgbClr val="C00000"/>
                </a:solidFill>
                <a:latin typeface="Arial" panose="020B0604020202020204" pitchFamily="34" charset="0"/>
                <a:cs typeface="Arial" panose="020B0604020202020204" pitchFamily="34" charset="0"/>
              </a:rPr>
              <a:t>3</a:t>
            </a:r>
            <a:r>
              <a:rPr lang="en-US" sz="1800" b="0" i="0" u="none" strike="noStrike" dirty="0">
                <a:solidFill>
                  <a:srgbClr val="C00000"/>
                </a:solidFill>
                <a:latin typeface="Arial" panose="020B0604020202020204" pitchFamily="34" charset="0"/>
                <a:cs typeface="Arial" panose="020B0604020202020204" pitchFamily="34" charset="0"/>
              </a:rPr>
              <a:t>)</a:t>
            </a:r>
            <a:r>
              <a:rPr lang="en-US" sz="1800" b="0" i="0" u="none" strike="noStrike" baseline="-25000" dirty="0">
                <a:solidFill>
                  <a:srgbClr val="C00000"/>
                </a:solidFill>
                <a:latin typeface="Arial" panose="020B0604020202020204" pitchFamily="34" charset="0"/>
                <a:cs typeface="Arial" panose="020B0604020202020204" pitchFamily="34" charset="0"/>
              </a:rPr>
              <a:t>6</a:t>
            </a:r>
            <a:r>
              <a:rPr lang="en-US" sz="1800" b="0" i="0" u="none" strike="noStrike" baseline="30000" dirty="0">
                <a:solidFill>
                  <a:srgbClr val="C00000"/>
                </a:solidFill>
                <a:latin typeface="Arial" panose="020B0604020202020204" pitchFamily="34" charset="0"/>
                <a:cs typeface="Arial" panose="020B0604020202020204" pitchFamily="34" charset="0"/>
              </a:rPr>
              <a:t>3+</a:t>
            </a:r>
            <a:r>
              <a:rPr lang="en-US" sz="1800" b="0" i="0" u="none" strike="noStrike" dirty="0">
                <a:solidFill>
                  <a:srgbClr val="C00000"/>
                </a:solidFill>
                <a:latin typeface="Arial" panose="020B0604020202020204" pitchFamily="34" charset="0"/>
                <a:cs typeface="Arial" panose="020B0604020202020204" pitchFamily="34" charset="0"/>
              </a:rPr>
              <a:t>]</a:t>
            </a:r>
            <a:r>
              <a:rPr lang="en-IN" dirty="0">
                <a:solidFill>
                  <a:srgbClr val="C00000"/>
                </a:solidFill>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97752604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6787</TotalTime>
  <Words>1546</Words>
  <Application>Microsoft Office PowerPoint</Application>
  <PresentationFormat>Widescreen</PresentationFormat>
  <Paragraphs>112</Paragraphs>
  <Slides>11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AdvTimes</vt: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Venkataramanan Mahalingam</dc:creator>
  <cp:lastModifiedBy>Venkataramanan Mahalingam</cp:lastModifiedBy>
  <cp:revision>36</cp:revision>
  <dcterms:created xsi:type="dcterms:W3CDTF">2025-03-20T07:34:51Z</dcterms:created>
  <dcterms:modified xsi:type="dcterms:W3CDTF">2025-03-25T12:57:50Z</dcterms:modified>
</cp:coreProperties>
</file>