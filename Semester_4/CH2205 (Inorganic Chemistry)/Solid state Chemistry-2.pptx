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82" r:id="rId2"/>
    <p:sldId id="283" r:id="rId3"/>
    <p:sldId id="284" r:id="rId4"/>
    <p:sldId id="285" r:id="rId5"/>
    <p:sldId id="257" r:id="rId6"/>
    <p:sldId id="287" r:id="rId7"/>
    <p:sldId id="288" r:id="rId8"/>
    <p:sldId id="289" r:id="rId9"/>
    <p:sldId id="290" r:id="rId10"/>
    <p:sldId id="292" r:id="rId11"/>
    <p:sldId id="291" r:id="rId12"/>
    <p:sldId id="293" r:id="rId13"/>
    <p:sldId id="296" r:id="rId14"/>
    <p:sldId id="294" r:id="rId15"/>
    <p:sldId id="295" r:id="rId16"/>
    <p:sldId id="298" r:id="rId17"/>
    <p:sldId id="297" r:id="rId18"/>
    <p:sldId id="299" r:id="rId19"/>
    <p:sldId id="300" r:id="rId20"/>
    <p:sldId id="28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10" autoAdjust="0"/>
  </p:normalViewPr>
  <p:slideViewPr>
    <p:cSldViewPr snapToGrid="0">
      <p:cViewPr varScale="1">
        <p:scale>
          <a:sx n="74" d="100"/>
          <a:sy n="74" d="100"/>
        </p:scale>
        <p:origin x="104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 Basak" userId="f8b72392e668bf96" providerId="LiveId" clId="{8673AAA1-F233-4852-9F3E-B5ECC8D14266}"/>
    <pc:docChg chg="modSld">
      <pc:chgData name="Arya Basak" userId="f8b72392e668bf96" providerId="LiveId" clId="{8673AAA1-F233-4852-9F3E-B5ECC8D14266}" dt="2025-05-01T10:35:14.919" v="1" actId="20577"/>
      <pc:docMkLst>
        <pc:docMk/>
      </pc:docMkLst>
      <pc:sldChg chg="modSp mod">
        <pc:chgData name="Arya Basak" userId="f8b72392e668bf96" providerId="LiveId" clId="{8673AAA1-F233-4852-9F3E-B5ECC8D14266}" dt="2025-05-01T10:35:14.919" v="1" actId="20577"/>
        <pc:sldMkLst>
          <pc:docMk/>
          <pc:sldMk cId="3515030550" sldId="257"/>
        </pc:sldMkLst>
        <pc:spChg chg="mod">
          <ac:chgData name="Arya Basak" userId="f8b72392e668bf96" providerId="LiveId" clId="{8673AAA1-F233-4852-9F3E-B5ECC8D14266}" dt="2025-05-01T10:35:14.919" v="1" actId="20577"/>
          <ac:spMkLst>
            <pc:docMk/>
            <pc:sldMk cId="3515030550" sldId="257"/>
            <ac:spMk id="15" creationId="{EA789592-8134-1D20-89FB-E4D01EC043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F5E0EA-19DE-4F9E-92CE-C770DB4F767E}"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D4117-E124-4299-9E95-ED3EA9A6173C}" type="slidenum">
              <a:rPr lang="en-IN" smtClean="0"/>
              <a:t>‹#›</a:t>
            </a:fld>
            <a:endParaRPr lang="en-IN"/>
          </a:p>
        </p:txBody>
      </p:sp>
    </p:spTree>
    <p:extLst>
      <p:ext uri="{BB962C8B-B14F-4D97-AF65-F5344CB8AC3E}">
        <p14:creationId xmlns:p14="http://schemas.microsoft.com/office/powerpoint/2010/main" val="1151184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64A624-C660-4D4C-A6B5-7882439155E0}" type="slidenum">
              <a:rPr lang="en-IN" smtClean="0"/>
              <a:t>20</a:t>
            </a:fld>
            <a:endParaRPr lang="en-IN"/>
          </a:p>
        </p:txBody>
      </p:sp>
    </p:spTree>
    <p:extLst>
      <p:ext uri="{BB962C8B-B14F-4D97-AF65-F5344CB8AC3E}">
        <p14:creationId xmlns:p14="http://schemas.microsoft.com/office/powerpoint/2010/main" val="1015320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A289-7376-F98D-1412-EECDD09807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DB27CA5-9F2B-0D10-4B94-5935FC0AD8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943767-99C9-70B9-ACD1-40AB2EAE7E91}"/>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5" name="Footer Placeholder 4">
            <a:extLst>
              <a:ext uri="{FF2B5EF4-FFF2-40B4-BE49-F238E27FC236}">
                <a16:creationId xmlns:a16="http://schemas.microsoft.com/office/drawing/2014/main" id="{23D00A81-DE8C-5A05-3547-7C81F0481A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5B2964-98DB-25DC-96A6-3056651058FA}"/>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2988463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7546-D4D0-109F-C683-8288283AE2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497AB3-AA12-3974-5D7A-7846F6339F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ABAC9F-92ED-3FE6-D7B0-873151BC6FB9}"/>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5" name="Footer Placeholder 4">
            <a:extLst>
              <a:ext uri="{FF2B5EF4-FFF2-40B4-BE49-F238E27FC236}">
                <a16:creationId xmlns:a16="http://schemas.microsoft.com/office/drawing/2014/main" id="{6F7C3DFA-5D71-4D8C-92A3-7409D6D79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1AB9FE-26B0-8C75-EC0B-0716BF38F10E}"/>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438668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E453-E84C-F246-2B65-C7A31FC2B5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A3D50D-BE90-7A67-C96A-D6EFA37630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8B51E5-C9D2-A77B-1675-5BF2877FB697}"/>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5" name="Footer Placeholder 4">
            <a:extLst>
              <a:ext uri="{FF2B5EF4-FFF2-40B4-BE49-F238E27FC236}">
                <a16:creationId xmlns:a16="http://schemas.microsoft.com/office/drawing/2014/main" id="{707CCC76-EFB6-4ACC-D351-533AD8C19D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E746FE-6914-29E3-2089-D48B825F3E94}"/>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3373281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F3872-93B3-F239-A379-72C6A73922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C4C549-6BE7-D608-CDE9-8E037F390B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EDAD98-1C6A-A7AA-8E3F-9C91796AD5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59CB33-8355-E82E-F8AB-62C8ADA8CBA2}"/>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6" name="Footer Placeholder 5">
            <a:extLst>
              <a:ext uri="{FF2B5EF4-FFF2-40B4-BE49-F238E27FC236}">
                <a16:creationId xmlns:a16="http://schemas.microsoft.com/office/drawing/2014/main" id="{91DE0287-F508-9220-E198-8B7B50AA04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2B3537-6657-2BA9-BA96-B1D91F5BB35B}"/>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3221531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D396C-38EC-DCC1-C763-B47C24736A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C9CF12-A090-5663-87CF-8F2D17A58F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35DDF3-3729-DD7D-66EB-38B5B507C4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201E56-5046-A298-74E2-54D057DEEA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A80DAC-E3F2-F2A5-4F32-CE0BEECB94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768939-0E72-A1A4-7C8D-4866EA537F39}"/>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8" name="Footer Placeholder 7">
            <a:extLst>
              <a:ext uri="{FF2B5EF4-FFF2-40B4-BE49-F238E27FC236}">
                <a16:creationId xmlns:a16="http://schemas.microsoft.com/office/drawing/2014/main" id="{6DF3A3DE-E868-A694-4F61-73A15E7F87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0F9C3E-B7DA-A0D5-7CB8-670DD84D6D78}"/>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1563477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3F8F9-047E-BE54-3E50-AA36BD004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47EB02-B5DB-432A-F52F-6E8EFC57D78A}"/>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4" name="Footer Placeholder 3">
            <a:extLst>
              <a:ext uri="{FF2B5EF4-FFF2-40B4-BE49-F238E27FC236}">
                <a16:creationId xmlns:a16="http://schemas.microsoft.com/office/drawing/2014/main" id="{E99C4C32-0EAE-76B3-9615-A56983D55C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E91A85-0585-883E-806E-8370269C25F5}"/>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1736637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E83BA-77F0-3F41-E394-BD00A3F9E43E}"/>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3" name="Footer Placeholder 2">
            <a:extLst>
              <a:ext uri="{FF2B5EF4-FFF2-40B4-BE49-F238E27FC236}">
                <a16:creationId xmlns:a16="http://schemas.microsoft.com/office/drawing/2014/main" id="{3BE5022F-9A45-FCD0-B8DE-443F2F0BAA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B04E1A-63CC-E1E1-3163-CF34BE05F398}"/>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1821515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C48E9-8A0D-4FAF-264A-AD34D965D4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69F501-D3A4-212D-CF5A-579BB9996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4481C1-9737-EA9B-4C53-4615DD1838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679F2D-29DA-48EC-F4B8-C05081C44F94}"/>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6" name="Footer Placeholder 5">
            <a:extLst>
              <a:ext uri="{FF2B5EF4-FFF2-40B4-BE49-F238E27FC236}">
                <a16:creationId xmlns:a16="http://schemas.microsoft.com/office/drawing/2014/main" id="{2FBD7368-65E1-C3F5-148C-8F31918AD9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7BC818-6D09-97DA-0F64-DF962A470C2B}"/>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393737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F1568-AD91-D006-0AE2-CBA6046E62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39E338-5C4B-B901-56D2-D63D89710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F4C9F14-0421-BBF1-FE89-F9E295C746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646ECD-E9FC-86A2-B2E6-67102427ACC9}"/>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6" name="Footer Placeholder 5">
            <a:extLst>
              <a:ext uri="{FF2B5EF4-FFF2-40B4-BE49-F238E27FC236}">
                <a16:creationId xmlns:a16="http://schemas.microsoft.com/office/drawing/2014/main" id="{1C43BAAE-9B81-5972-4655-4C1BB23B16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552D2F-76CC-5440-81E8-DDAED568F562}"/>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1732555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AFBB2-D594-CAC7-43B6-54A65B6A4C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B8C306-6F61-57D8-33BE-441DE9CED2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F41A7E-F3B8-AB7C-6BA3-478E61C46DD6}"/>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5" name="Footer Placeholder 4">
            <a:extLst>
              <a:ext uri="{FF2B5EF4-FFF2-40B4-BE49-F238E27FC236}">
                <a16:creationId xmlns:a16="http://schemas.microsoft.com/office/drawing/2014/main" id="{5344754B-6666-0115-22A2-83905FFD9D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F43B23-0277-8CCD-BB27-0A6A2B7AAC59}"/>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1109638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1594DE-7AC0-AD17-8621-4548054421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533AA1-9F89-7EEE-552E-9F2E03566E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73D004-F92C-EF13-C991-D2B142BF8375}"/>
              </a:ext>
            </a:extLst>
          </p:cNvPr>
          <p:cNvSpPr>
            <a:spLocks noGrp="1"/>
          </p:cNvSpPr>
          <p:nvPr>
            <p:ph type="dt" sz="half" idx="10"/>
          </p:nvPr>
        </p:nvSpPr>
        <p:spPr/>
        <p:txBody>
          <a:bodyPr/>
          <a:lstStyle/>
          <a:p>
            <a:fld id="{9DE887F8-9A21-49B9-8195-7418FBB2C75F}" type="datetimeFigureOut">
              <a:rPr lang="en-IN" smtClean="0"/>
              <a:t>01-05-2025</a:t>
            </a:fld>
            <a:endParaRPr lang="en-IN"/>
          </a:p>
        </p:txBody>
      </p:sp>
      <p:sp>
        <p:nvSpPr>
          <p:cNvPr id="5" name="Footer Placeholder 4">
            <a:extLst>
              <a:ext uri="{FF2B5EF4-FFF2-40B4-BE49-F238E27FC236}">
                <a16:creationId xmlns:a16="http://schemas.microsoft.com/office/drawing/2014/main" id="{A737F59C-1780-8A2C-541C-C89E2D3039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78700D-54F8-F65C-166F-CA8DE87DF23F}"/>
              </a:ext>
            </a:extLst>
          </p:cNvPr>
          <p:cNvSpPr>
            <a:spLocks noGrp="1"/>
          </p:cNvSpPr>
          <p:nvPr>
            <p:ph type="sldNum" sz="quarter" idx="12"/>
          </p:nvPr>
        </p:nvSpPr>
        <p:spPr/>
        <p:txBody>
          <a:bodyPr/>
          <a:lstStyle/>
          <a:p>
            <a:fld id="{08F0B42D-790A-4B2E-84FF-ACBECE80C505}" type="slidenum">
              <a:rPr lang="en-IN" smtClean="0"/>
              <a:t>‹#›</a:t>
            </a:fld>
            <a:endParaRPr lang="en-IN"/>
          </a:p>
        </p:txBody>
      </p:sp>
    </p:spTree>
    <p:extLst>
      <p:ext uri="{BB962C8B-B14F-4D97-AF65-F5344CB8AC3E}">
        <p14:creationId xmlns:p14="http://schemas.microsoft.com/office/powerpoint/2010/main" val="393288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41DB58-3043-6047-6FE5-D002AACA42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111B25-B8F1-FFFC-1FD5-A6ADF9FF1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12EBED-11CD-99DE-1611-1FB7BEEEB6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E887F8-9A21-49B9-8195-7418FBB2C75F}" type="datetimeFigureOut">
              <a:rPr lang="en-IN" smtClean="0"/>
              <a:t>01-05-2025</a:t>
            </a:fld>
            <a:endParaRPr lang="en-IN"/>
          </a:p>
        </p:txBody>
      </p:sp>
      <p:sp>
        <p:nvSpPr>
          <p:cNvPr id="5" name="Footer Placeholder 4">
            <a:extLst>
              <a:ext uri="{FF2B5EF4-FFF2-40B4-BE49-F238E27FC236}">
                <a16:creationId xmlns:a16="http://schemas.microsoft.com/office/drawing/2014/main" id="{69F8E48A-A11D-EE1D-B985-31711A8BC7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A6B709C-9BAD-A697-5F48-181BA4FA79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F0B42D-790A-4B2E-84FF-ACBECE80C505}" type="slidenum">
              <a:rPr lang="en-IN" smtClean="0"/>
              <a:t>‹#›</a:t>
            </a:fld>
            <a:endParaRPr lang="en-IN"/>
          </a:p>
        </p:txBody>
      </p:sp>
    </p:spTree>
    <p:extLst>
      <p:ext uri="{BB962C8B-B14F-4D97-AF65-F5344CB8AC3E}">
        <p14:creationId xmlns:p14="http://schemas.microsoft.com/office/powerpoint/2010/main" val="1916891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image" Target="../media/image3.emf"/><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image" Target="../media/image12.emf"/><Relationship Id="rId1" Type="http://schemas.openxmlformats.org/officeDocument/2006/relationships/slideLayout" Target="../slideLayouts/slideLayout7.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7.xml"/><Relationship Id="rId4" Type="http://schemas.openxmlformats.org/officeDocument/2006/relationships/image" Target="../media/image20.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7.xml"/><Relationship Id="rId4" Type="http://schemas.openxmlformats.org/officeDocument/2006/relationships/image" Target="../media/image25.emf"/></Relationships>
</file>

<file path=ppt/slides/_rels/slide1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7.xml"/><Relationship Id="rId4" Type="http://schemas.openxmlformats.org/officeDocument/2006/relationships/image" Target="../media/image28.emf"/></Relationships>
</file>

<file path=ppt/slides/_rels/slide1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44650A-E2F5-363D-2AF1-D03D25FAFB9C}"/>
              </a:ext>
            </a:extLst>
          </p:cNvPr>
          <p:cNvSpPr txBox="1"/>
          <p:nvPr/>
        </p:nvSpPr>
        <p:spPr>
          <a:xfrm>
            <a:off x="4244453" y="272956"/>
            <a:ext cx="3570208" cy="369332"/>
          </a:xfrm>
          <a:prstGeom prst="rect">
            <a:avLst/>
          </a:prstGeom>
          <a:noFill/>
        </p:spPr>
        <p:txBody>
          <a:bodyPr wrap="none" rtlCol="0">
            <a:spAutoFit/>
          </a:bodyPr>
          <a:lstStyle/>
          <a:p>
            <a:r>
              <a:rPr lang="en-US" sz="1800" b="1" i="0" u="none" strike="noStrike" baseline="0" dirty="0">
                <a:solidFill>
                  <a:srgbClr val="C00000"/>
                </a:solidFill>
                <a:latin typeface="Arial" panose="020B0604020202020204" pitchFamily="34" charset="0"/>
                <a:cs typeface="Arial" panose="020B0604020202020204" pitchFamily="34" charset="0"/>
              </a:rPr>
              <a:t>Lattice energy of ionic crystals</a:t>
            </a:r>
            <a:endParaRPr lang="en-IN" dirty="0">
              <a:solidFill>
                <a:srgbClr val="C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0BAA507-5AAA-097C-CFA4-AE99028C8CDC}"/>
              </a:ext>
            </a:extLst>
          </p:cNvPr>
          <p:cNvSpPr txBox="1"/>
          <p:nvPr/>
        </p:nvSpPr>
        <p:spPr>
          <a:xfrm>
            <a:off x="688494" y="834429"/>
            <a:ext cx="10682126"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Ionic crystals is considered as 3D arrays of point charges.  The forces that held them together is electrostatic and can Be calculated by adding all the electrostatic repulsion and attractions. </a:t>
            </a:r>
            <a:endParaRPr lang="en-IN" sz="1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0D2DEB0-C095-1A6D-0346-A904AAE6424C}"/>
              </a:ext>
            </a:extLst>
          </p:cNvPr>
          <p:cNvSpPr txBox="1"/>
          <p:nvPr/>
        </p:nvSpPr>
        <p:spPr>
          <a:xfrm>
            <a:off x="688494" y="1732548"/>
            <a:ext cx="10269158" cy="1077218"/>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The Lattice energy (U) is the net potential energy of the arrangement of charges that forms the crystal structure</a:t>
            </a:r>
          </a:p>
          <a:p>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This lattice energy is equivalent to the energy need to sublime the crystal (i.e. into gaseous ions)</a:t>
            </a:r>
          </a:p>
          <a:p>
            <a:endParaRPr lang="en-IN" sz="16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C3FD6CCF-E4D3-80BA-49D0-88A45E804E42}"/>
              </a:ext>
            </a:extLst>
          </p:cNvPr>
          <p:cNvPicPr>
            <a:picLocks noChangeAspect="1"/>
          </p:cNvPicPr>
          <p:nvPr/>
        </p:nvPicPr>
        <p:blipFill>
          <a:blip r:embed="rId2"/>
          <a:stretch>
            <a:fillRect/>
          </a:stretch>
        </p:blipFill>
        <p:spPr>
          <a:xfrm>
            <a:off x="2463978" y="2727147"/>
            <a:ext cx="5350683" cy="567496"/>
          </a:xfrm>
          <a:prstGeom prst="rect">
            <a:avLst/>
          </a:prstGeom>
        </p:spPr>
      </p:pic>
      <p:sp>
        <p:nvSpPr>
          <p:cNvPr id="10" name="TextBox 9">
            <a:extLst>
              <a:ext uri="{FF2B5EF4-FFF2-40B4-BE49-F238E27FC236}">
                <a16:creationId xmlns:a16="http://schemas.microsoft.com/office/drawing/2014/main" id="{97C49ADC-1AA0-F95E-EA94-07E00D659DCB}"/>
              </a:ext>
            </a:extLst>
          </p:cNvPr>
          <p:cNvSpPr txBox="1"/>
          <p:nvPr/>
        </p:nvSpPr>
        <p:spPr>
          <a:xfrm>
            <a:off x="479231" y="3393613"/>
            <a:ext cx="11286811" cy="1200329"/>
          </a:xfrm>
          <a:prstGeom prst="rect">
            <a:avLst/>
          </a:prstGeom>
          <a:noFill/>
        </p:spPr>
        <p:txBody>
          <a:bodyPr wrap="square" rtlCol="0">
            <a:spAutoFit/>
          </a:bodyPr>
          <a:lstStyle/>
          <a:p>
            <a:pPr algn="just"/>
            <a:r>
              <a:rPr lang="en-US" sz="1800" b="0" i="0" u="none" strike="noStrike" baseline="0" dirty="0">
                <a:latin typeface="Arial" panose="020B0604020202020204" pitchFamily="34" charset="0"/>
                <a:cs typeface="Arial" panose="020B0604020202020204" pitchFamily="34" charset="0"/>
              </a:rPr>
              <a:t>The value of </a:t>
            </a:r>
            <a:r>
              <a:rPr lang="en-US" sz="1800" b="0" i="1" u="none" strike="noStrike" baseline="0" dirty="0">
                <a:latin typeface="Arial" panose="020B0604020202020204" pitchFamily="34" charset="0"/>
                <a:cs typeface="Arial" panose="020B0604020202020204" pitchFamily="34" charset="0"/>
              </a:rPr>
              <a:t>U </a:t>
            </a:r>
            <a:r>
              <a:rPr lang="en-US" sz="1800" b="0" i="0" u="none" strike="noStrike" baseline="0" dirty="0">
                <a:latin typeface="Arial" panose="020B0604020202020204" pitchFamily="34" charset="0"/>
                <a:cs typeface="Arial" panose="020B0604020202020204" pitchFamily="34" charset="0"/>
              </a:rPr>
              <a:t>depends on the crystal structure, the charge on the ions and the internuclear separation between anions and cations.</a:t>
            </a:r>
          </a:p>
          <a:p>
            <a:pPr algn="just"/>
            <a:endParaRPr lang="en-US" dirty="0">
              <a:latin typeface="Arial" panose="020B0604020202020204" pitchFamily="34" charset="0"/>
              <a:cs typeface="Arial" panose="020B0604020202020204" pitchFamily="34" charset="0"/>
            </a:endParaRPr>
          </a:p>
          <a:p>
            <a:pPr algn="just"/>
            <a:r>
              <a:rPr lang="en-US" sz="1800" b="0" i="0" u="none" strike="noStrike" baseline="0" dirty="0">
                <a:latin typeface="Arial" panose="020B0604020202020204" pitchFamily="34" charset="0"/>
                <a:cs typeface="Arial" panose="020B0604020202020204" pitchFamily="34" charset="0"/>
              </a:rPr>
              <a:t> Two principal kinds of force determine ionic crystal structures</a:t>
            </a:r>
            <a:endParaRPr lang="en-IN"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EBDA09A0-3E3C-195A-99F3-4F20EBF7CFE5}"/>
              </a:ext>
            </a:extLst>
          </p:cNvPr>
          <p:cNvSpPr txBox="1"/>
          <p:nvPr/>
        </p:nvSpPr>
        <p:spPr>
          <a:xfrm>
            <a:off x="479231" y="4631742"/>
            <a:ext cx="5198859"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(a) Electrostatic forces of attraction and repulsion</a:t>
            </a:r>
            <a:endParaRPr lang="en-IN" dirty="0">
              <a:solidFill>
                <a:srgbClr val="C00000"/>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543020A7-FC9B-AE1A-C742-EE21A0D79B08}"/>
              </a:ext>
            </a:extLst>
          </p:cNvPr>
          <p:cNvPicPr>
            <a:picLocks noChangeAspect="1"/>
          </p:cNvPicPr>
          <p:nvPr/>
        </p:nvPicPr>
        <p:blipFill>
          <a:blip r:embed="rId3"/>
          <a:stretch>
            <a:fillRect/>
          </a:stretch>
        </p:blipFill>
        <p:spPr>
          <a:xfrm>
            <a:off x="5022532" y="5577684"/>
            <a:ext cx="1780475" cy="997068"/>
          </a:xfrm>
          <a:prstGeom prst="rect">
            <a:avLst/>
          </a:prstGeom>
        </p:spPr>
      </p:pic>
      <p:sp>
        <p:nvSpPr>
          <p:cNvPr id="14" name="TextBox 13">
            <a:extLst>
              <a:ext uri="{FF2B5EF4-FFF2-40B4-BE49-F238E27FC236}">
                <a16:creationId xmlns:a16="http://schemas.microsoft.com/office/drawing/2014/main" id="{8039E6F0-C9A7-4A43-1061-C8E4F2995C32}"/>
              </a:ext>
            </a:extLst>
          </p:cNvPr>
          <p:cNvSpPr txBox="1"/>
          <p:nvPr/>
        </p:nvSpPr>
        <p:spPr>
          <a:xfrm>
            <a:off x="1124102" y="5891552"/>
            <a:ext cx="3518912"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The attractive force F is given by</a:t>
            </a:r>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9A01F1D-DF1D-A158-70B5-6F410355B24B}"/>
              </a:ext>
            </a:extLst>
          </p:cNvPr>
          <p:cNvSpPr txBox="1"/>
          <p:nvPr/>
        </p:nvSpPr>
        <p:spPr>
          <a:xfrm>
            <a:off x="934974" y="5120102"/>
            <a:ext cx="6094476" cy="338554"/>
          </a:xfrm>
          <a:prstGeom prst="rect">
            <a:avLst/>
          </a:prstGeom>
          <a:noFill/>
        </p:spPr>
        <p:txBody>
          <a:bodyPr wrap="square">
            <a:spAutoFit/>
          </a:bodyPr>
          <a:lstStyle/>
          <a:p>
            <a:r>
              <a:rPr lang="en-US" sz="1600" b="0" i="0" u="none" strike="noStrike" baseline="0" dirty="0">
                <a:latin typeface="Arial" panose="020B0604020202020204" pitchFamily="34" charset="0"/>
                <a:cs typeface="Arial" panose="020B0604020202020204" pitchFamily="34" charset="0"/>
              </a:rPr>
              <a:t>Consider two ions M</a:t>
            </a:r>
            <a:r>
              <a:rPr lang="en-US" sz="1600" b="0" i="1" u="none" strike="noStrike" baseline="0" dirty="0">
                <a:latin typeface="Arial" panose="020B0604020202020204" pitchFamily="34" charset="0"/>
                <a:cs typeface="Arial" panose="020B0604020202020204" pitchFamily="34" charset="0"/>
              </a:rPr>
              <a:t>Z</a:t>
            </a:r>
            <a:r>
              <a:rPr lang="en-US" sz="1600" b="0" i="0" u="none" strike="noStrike" baseline="0" dirty="0">
                <a:latin typeface="Arial" panose="020B0604020202020204" pitchFamily="34" charset="0"/>
                <a:cs typeface="Arial" panose="020B0604020202020204" pitchFamily="34" charset="0"/>
              </a:rPr>
              <a:t>+ and X</a:t>
            </a:r>
            <a:r>
              <a:rPr lang="en-US" sz="1600" b="0" i="1" u="none" strike="noStrike" baseline="0" dirty="0">
                <a:latin typeface="Arial" panose="020B0604020202020204" pitchFamily="34" charset="0"/>
                <a:cs typeface="Arial" panose="020B0604020202020204" pitchFamily="34" charset="0"/>
              </a:rPr>
              <a:t>Z</a:t>
            </a:r>
            <a:r>
              <a:rPr lang="en-US" sz="1600" b="0" i="0" u="none" strike="noStrike" baseline="0" dirty="0">
                <a:latin typeface="Arial" panose="020B0604020202020204" pitchFamily="34" charset="0"/>
                <a:cs typeface="Arial" panose="020B0604020202020204" pitchFamily="34" charset="0"/>
              </a:rPr>
              <a:t>− separated by a distance </a:t>
            </a:r>
            <a:r>
              <a:rPr lang="en-US" sz="1600" b="0" i="1" u="none" strike="noStrike" baseline="0" dirty="0">
                <a:latin typeface="Arial" panose="020B0604020202020204" pitchFamily="34" charset="0"/>
                <a:cs typeface="Arial" panose="020B0604020202020204" pitchFamily="34" charset="0"/>
              </a:rPr>
              <a:t>r</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304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2979DE-3140-2559-7D5F-69C8895B2660}"/>
              </a:ext>
            </a:extLst>
          </p:cNvPr>
          <p:cNvPicPr>
            <a:picLocks noChangeAspect="1"/>
          </p:cNvPicPr>
          <p:nvPr/>
        </p:nvPicPr>
        <p:blipFill>
          <a:blip r:embed="rId2"/>
          <a:stretch>
            <a:fillRect/>
          </a:stretch>
        </p:blipFill>
        <p:spPr>
          <a:xfrm>
            <a:off x="5194377" y="465629"/>
            <a:ext cx="3009713" cy="866002"/>
          </a:xfrm>
          <a:prstGeom prst="rect">
            <a:avLst/>
          </a:prstGeom>
        </p:spPr>
      </p:pic>
      <p:sp>
        <p:nvSpPr>
          <p:cNvPr id="5" name="TextBox 4">
            <a:extLst>
              <a:ext uri="{FF2B5EF4-FFF2-40B4-BE49-F238E27FC236}">
                <a16:creationId xmlns:a16="http://schemas.microsoft.com/office/drawing/2014/main" id="{D4DC1AF5-F933-AED6-5168-65E9CB50E2A6}"/>
              </a:ext>
            </a:extLst>
          </p:cNvPr>
          <p:cNvSpPr txBox="1"/>
          <p:nvPr/>
        </p:nvSpPr>
        <p:spPr>
          <a:xfrm>
            <a:off x="529389" y="713964"/>
            <a:ext cx="4082913" cy="369332"/>
          </a:xfrm>
          <a:prstGeom prst="rect">
            <a:avLst/>
          </a:prstGeom>
          <a:noFill/>
        </p:spPr>
        <p:txBody>
          <a:bodyPr wrap="none" rtlCol="0">
            <a:spAutoFit/>
          </a:bodyPr>
          <a:lstStyle/>
          <a:p>
            <a:r>
              <a:rPr lang="en-US" dirty="0"/>
              <a:t>The coulomb potential energy is given by </a:t>
            </a:r>
            <a:endParaRPr lang="en-IN" dirty="0"/>
          </a:p>
        </p:txBody>
      </p:sp>
      <p:grpSp>
        <p:nvGrpSpPr>
          <p:cNvPr id="2" name="Group 1">
            <a:extLst>
              <a:ext uri="{FF2B5EF4-FFF2-40B4-BE49-F238E27FC236}">
                <a16:creationId xmlns:a16="http://schemas.microsoft.com/office/drawing/2014/main" id="{6D66BD74-B575-D739-C90A-85E23132C51A}"/>
              </a:ext>
            </a:extLst>
          </p:cNvPr>
          <p:cNvGrpSpPr/>
          <p:nvPr/>
        </p:nvGrpSpPr>
        <p:grpSpPr>
          <a:xfrm>
            <a:off x="397128" y="1230844"/>
            <a:ext cx="10861503" cy="922830"/>
            <a:chOff x="397128" y="1230844"/>
            <a:chExt cx="10861503" cy="922830"/>
          </a:xfrm>
        </p:grpSpPr>
        <p:sp>
          <p:nvSpPr>
            <p:cNvPr id="6" name="TextBox 5">
              <a:extLst>
                <a:ext uri="{FF2B5EF4-FFF2-40B4-BE49-F238E27FC236}">
                  <a16:creationId xmlns:a16="http://schemas.microsoft.com/office/drawing/2014/main" id="{1EA61131-A551-3BEC-E2D6-125A828F2511}"/>
                </a:ext>
              </a:extLst>
            </p:cNvPr>
            <p:cNvSpPr txBox="1"/>
            <p:nvPr/>
          </p:nvSpPr>
          <p:spPr>
            <a:xfrm>
              <a:off x="397128" y="1523636"/>
              <a:ext cx="5416868"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(b) </a:t>
              </a:r>
              <a:r>
                <a:rPr lang="en-US" sz="1600" dirty="0">
                  <a:solidFill>
                    <a:srgbClr val="C00000"/>
                  </a:solidFill>
                  <a:latin typeface="Arial" panose="020B0604020202020204" pitchFamily="34" charset="0"/>
                  <a:cs typeface="Arial" panose="020B0604020202020204" pitchFamily="34" charset="0"/>
                </a:rPr>
                <a:t>Short range repulsive force (when ions are very close)</a:t>
              </a:r>
              <a:endParaRPr lang="en-IN" sz="1600" dirty="0">
                <a:solidFill>
                  <a:srgbClr val="C00000"/>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C2E31B4-6827-58AF-45E6-3CBB3179EBB8}"/>
                </a:ext>
              </a:extLst>
            </p:cNvPr>
            <p:cNvPicPr>
              <a:picLocks noChangeAspect="1"/>
            </p:cNvPicPr>
            <p:nvPr/>
          </p:nvPicPr>
          <p:blipFill>
            <a:blip r:embed="rId3"/>
            <a:stretch>
              <a:fillRect/>
            </a:stretch>
          </p:blipFill>
          <p:spPr>
            <a:xfrm>
              <a:off x="6501612" y="1230844"/>
              <a:ext cx="1384244" cy="922830"/>
            </a:xfrm>
            <a:prstGeom prst="rect">
              <a:avLst/>
            </a:prstGeom>
          </p:spPr>
        </p:pic>
        <p:sp>
          <p:nvSpPr>
            <p:cNvPr id="9" name="TextBox 8">
              <a:extLst>
                <a:ext uri="{FF2B5EF4-FFF2-40B4-BE49-F238E27FC236}">
                  <a16:creationId xmlns:a16="http://schemas.microsoft.com/office/drawing/2014/main" id="{D8722058-ECF8-C9FA-E683-16FF0C302C05}"/>
                </a:ext>
              </a:extLst>
            </p:cNvPr>
            <p:cNvSpPr txBox="1"/>
            <p:nvPr/>
          </p:nvSpPr>
          <p:spPr>
            <a:xfrm>
              <a:off x="8467931" y="1507593"/>
              <a:ext cx="2790700" cy="369332"/>
            </a:xfrm>
            <a:prstGeom prst="rect">
              <a:avLst/>
            </a:prstGeom>
            <a:noFill/>
          </p:spPr>
          <p:txBody>
            <a:bodyPr wrap="none" rtlCol="0">
              <a:spAutoFit/>
            </a:bodyPr>
            <a:lstStyle/>
            <a:p>
              <a:r>
                <a:rPr lang="en-US" dirty="0"/>
                <a:t>B a constant and n = 5 to 12</a:t>
              </a:r>
              <a:endParaRPr lang="en-IN" dirty="0"/>
            </a:p>
          </p:txBody>
        </p:sp>
      </p:grpSp>
      <p:sp>
        <p:nvSpPr>
          <p:cNvPr id="10" name="TextBox 9">
            <a:extLst>
              <a:ext uri="{FF2B5EF4-FFF2-40B4-BE49-F238E27FC236}">
                <a16:creationId xmlns:a16="http://schemas.microsoft.com/office/drawing/2014/main" id="{32BA4C7B-34A3-22DB-4BDE-D008198F3427}"/>
              </a:ext>
            </a:extLst>
          </p:cNvPr>
          <p:cNvSpPr txBox="1"/>
          <p:nvPr/>
        </p:nvSpPr>
        <p:spPr>
          <a:xfrm>
            <a:off x="474933" y="2157345"/>
            <a:ext cx="11187678" cy="646331"/>
          </a:xfrm>
          <a:prstGeom prst="rect">
            <a:avLst/>
          </a:prstGeom>
          <a:noFill/>
        </p:spPr>
        <p:txBody>
          <a:bodyPr wrap="none" rtlCol="0">
            <a:spAutoFit/>
          </a:bodyPr>
          <a:lstStyle/>
          <a:p>
            <a:pPr algn="l"/>
            <a:r>
              <a:rPr lang="en-US" sz="1800" b="0" i="0" u="none" strike="noStrike" baseline="0" dirty="0">
                <a:latin typeface="Arial" panose="020B0604020202020204" pitchFamily="34" charset="0"/>
                <a:cs typeface="Arial" panose="020B0604020202020204" pitchFamily="34" charset="0"/>
              </a:rPr>
              <a:t>The lattice energy is calculated by combining the net electrostatic attraction and the Born repulsion energies</a:t>
            </a:r>
          </a:p>
          <a:p>
            <a:pPr algn="l"/>
            <a:r>
              <a:rPr lang="en-US" sz="1800" b="0" i="0" u="none" strike="noStrike" baseline="0" dirty="0">
                <a:latin typeface="Arial" panose="020B0604020202020204" pitchFamily="34" charset="0"/>
                <a:cs typeface="Arial" panose="020B0604020202020204" pitchFamily="34" charset="0"/>
              </a:rPr>
              <a:t>and finding the internuclear separation, </a:t>
            </a:r>
            <a:r>
              <a:rPr lang="en-US" sz="1800" b="0" i="1" u="none" strike="noStrike" baseline="0" dirty="0">
                <a:latin typeface="Arial" panose="020B0604020202020204" pitchFamily="34" charset="0"/>
                <a:cs typeface="Arial" panose="020B0604020202020204" pitchFamily="34" charset="0"/>
              </a:rPr>
              <a:t>r</a:t>
            </a:r>
            <a:r>
              <a:rPr lang="en-US" sz="1800" b="0" i="0" u="none" strike="noStrike" baseline="-25000" dirty="0">
                <a:latin typeface="Arial" panose="020B0604020202020204" pitchFamily="34" charset="0"/>
                <a:cs typeface="Arial" panose="020B0604020202020204" pitchFamily="34" charset="0"/>
              </a:rPr>
              <a:t>e</a:t>
            </a:r>
            <a:r>
              <a:rPr lang="en-US" sz="1800" b="0" i="0" u="none" strike="noStrike" baseline="0" dirty="0">
                <a:latin typeface="Arial" panose="020B0604020202020204" pitchFamily="34" charset="0"/>
                <a:cs typeface="Arial" panose="020B0604020202020204" pitchFamily="34" charset="0"/>
              </a:rPr>
              <a:t>, which gives the maximum </a:t>
            </a:r>
            <a:r>
              <a:rPr lang="en-US" sz="1800" b="0" i="1" u="none" strike="noStrike" baseline="0" dirty="0">
                <a:latin typeface="Arial" panose="020B0604020202020204" pitchFamily="34" charset="0"/>
                <a:cs typeface="Arial" panose="020B0604020202020204" pitchFamily="34" charset="0"/>
              </a:rPr>
              <a:t>U </a:t>
            </a:r>
            <a:r>
              <a:rPr lang="en-US" sz="1800" b="0" i="0" u="none" strike="noStrike" baseline="0" dirty="0">
                <a:latin typeface="Arial" panose="020B0604020202020204" pitchFamily="34" charset="0"/>
                <a:cs typeface="Arial" panose="020B0604020202020204" pitchFamily="34" charset="0"/>
              </a:rPr>
              <a:t>value.</a:t>
            </a:r>
            <a:endParaRPr lang="en-IN"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E23357E0-C6BF-AD38-4B9F-C0988B72AA1A}"/>
              </a:ext>
            </a:extLst>
          </p:cNvPr>
          <p:cNvGrpSpPr/>
          <p:nvPr/>
        </p:nvGrpSpPr>
        <p:grpSpPr>
          <a:xfrm>
            <a:off x="474933" y="2963596"/>
            <a:ext cx="11152970" cy="3677479"/>
            <a:chOff x="474933" y="2963596"/>
            <a:chExt cx="11152970" cy="3677479"/>
          </a:xfrm>
        </p:grpSpPr>
        <p:pic>
          <p:nvPicPr>
            <p:cNvPr id="11" name="Picture 10">
              <a:extLst>
                <a:ext uri="{FF2B5EF4-FFF2-40B4-BE49-F238E27FC236}">
                  <a16:creationId xmlns:a16="http://schemas.microsoft.com/office/drawing/2014/main" id="{13BC0A0F-5188-9763-2D89-7854A9F2AE8B}"/>
                </a:ext>
              </a:extLst>
            </p:cNvPr>
            <p:cNvPicPr>
              <a:picLocks noChangeAspect="1"/>
            </p:cNvPicPr>
            <p:nvPr/>
          </p:nvPicPr>
          <p:blipFill>
            <a:blip r:embed="rId4"/>
            <a:stretch>
              <a:fillRect/>
            </a:stretch>
          </p:blipFill>
          <p:spPr>
            <a:xfrm>
              <a:off x="474933" y="2963596"/>
              <a:ext cx="3423940" cy="3677479"/>
            </a:xfrm>
            <a:prstGeom prst="rect">
              <a:avLst/>
            </a:prstGeom>
          </p:spPr>
        </p:pic>
        <p:sp>
          <p:nvSpPr>
            <p:cNvPr id="12" name="TextBox 11">
              <a:extLst>
                <a:ext uri="{FF2B5EF4-FFF2-40B4-BE49-F238E27FC236}">
                  <a16:creationId xmlns:a16="http://schemas.microsoft.com/office/drawing/2014/main" id="{D430C693-837C-7471-5537-68299B97E42C}"/>
                </a:ext>
              </a:extLst>
            </p:cNvPr>
            <p:cNvSpPr txBox="1"/>
            <p:nvPr/>
          </p:nvSpPr>
          <p:spPr>
            <a:xfrm>
              <a:off x="4152780" y="3105834"/>
              <a:ext cx="7475123" cy="584775"/>
            </a:xfrm>
            <a:prstGeom prst="rect">
              <a:avLst/>
            </a:prstGeom>
            <a:noFill/>
          </p:spPr>
          <p:txBody>
            <a:bodyPr wrap="none" rtlCol="0">
              <a:spAutoFit/>
            </a:bodyPr>
            <a:lstStyle/>
            <a:p>
              <a:r>
                <a:rPr lang="en-US" sz="1600" b="0" i="0" u="none" strike="noStrike" baseline="0" dirty="0">
                  <a:latin typeface="Arial" panose="020B0604020202020204" pitchFamily="34" charset="0"/>
                  <a:cs typeface="Arial" panose="020B0604020202020204" pitchFamily="34" charset="0"/>
                </a:rPr>
                <a:t>Consider the NaCl structure. . Between each pair of ions there is an electrostatic</a:t>
              </a:r>
            </a:p>
            <a:p>
              <a:r>
                <a:rPr lang="en-US" sz="1600" b="0" i="0" u="none" strike="noStrike" baseline="0" dirty="0">
                  <a:latin typeface="Arial" panose="020B0604020202020204" pitchFamily="34" charset="0"/>
                  <a:cs typeface="Arial" panose="020B0604020202020204" pitchFamily="34" charset="0"/>
                </a:rPr>
                <a:t> interaction</a:t>
              </a:r>
              <a:endParaRPr lang="en-IN" sz="1600" dirty="0">
                <a:latin typeface="Arial" panose="020B0604020202020204" pitchFamily="34" charset="0"/>
                <a:cs typeface="Arial" panose="020B0604020202020204" pitchFamily="34" charset="0"/>
              </a:endParaRPr>
            </a:p>
          </p:txBody>
        </p:sp>
      </p:grpSp>
      <p:grpSp>
        <p:nvGrpSpPr>
          <p:cNvPr id="7" name="Group 6">
            <a:extLst>
              <a:ext uri="{FF2B5EF4-FFF2-40B4-BE49-F238E27FC236}">
                <a16:creationId xmlns:a16="http://schemas.microsoft.com/office/drawing/2014/main" id="{824E5AEC-8E56-A844-0225-DA0DDFC5DB0C}"/>
              </a:ext>
            </a:extLst>
          </p:cNvPr>
          <p:cNvGrpSpPr/>
          <p:nvPr/>
        </p:nvGrpSpPr>
        <p:grpSpPr>
          <a:xfrm>
            <a:off x="4187543" y="3752165"/>
            <a:ext cx="7205550" cy="826801"/>
            <a:chOff x="4187543" y="3752165"/>
            <a:chExt cx="7205550" cy="826801"/>
          </a:xfrm>
        </p:grpSpPr>
        <p:pic>
          <p:nvPicPr>
            <p:cNvPr id="14" name="Picture 13">
              <a:extLst>
                <a:ext uri="{FF2B5EF4-FFF2-40B4-BE49-F238E27FC236}">
                  <a16:creationId xmlns:a16="http://schemas.microsoft.com/office/drawing/2014/main" id="{6D1CE79B-30BD-EBA0-9EAB-DA796369817B}"/>
                </a:ext>
              </a:extLst>
            </p:cNvPr>
            <p:cNvPicPr>
              <a:picLocks noChangeAspect="1"/>
            </p:cNvPicPr>
            <p:nvPr/>
          </p:nvPicPr>
          <p:blipFill>
            <a:blip r:embed="rId5"/>
            <a:stretch>
              <a:fillRect/>
            </a:stretch>
          </p:blipFill>
          <p:spPr>
            <a:xfrm>
              <a:off x="9103491" y="3752165"/>
              <a:ext cx="2289602" cy="826801"/>
            </a:xfrm>
            <a:prstGeom prst="rect">
              <a:avLst/>
            </a:prstGeom>
          </p:spPr>
        </p:pic>
        <p:sp>
          <p:nvSpPr>
            <p:cNvPr id="15" name="TextBox 14">
              <a:extLst>
                <a:ext uri="{FF2B5EF4-FFF2-40B4-BE49-F238E27FC236}">
                  <a16:creationId xmlns:a16="http://schemas.microsoft.com/office/drawing/2014/main" id="{AF49225A-B805-0276-0D8E-0BC4D7989230}"/>
                </a:ext>
              </a:extLst>
            </p:cNvPr>
            <p:cNvSpPr txBox="1"/>
            <p:nvPr/>
          </p:nvSpPr>
          <p:spPr>
            <a:xfrm>
              <a:off x="4187543" y="4054323"/>
              <a:ext cx="4777783" cy="369332"/>
            </a:xfrm>
            <a:prstGeom prst="rect">
              <a:avLst/>
            </a:prstGeom>
            <a:noFill/>
          </p:spPr>
          <p:txBody>
            <a:bodyPr wrap="none" rtlCol="0">
              <a:spAutoFit/>
            </a:bodyPr>
            <a:lstStyle/>
            <a:p>
              <a:r>
                <a:rPr lang="en-US" dirty="0"/>
                <a:t>For each Na</a:t>
              </a:r>
              <a:r>
                <a:rPr lang="en-US" baseline="30000" dirty="0"/>
                <a:t>+</a:t>
              </a:r>
              <a:r>
                <a:rPr lang="en-US" dirty="0"/>
                <a:t>, there are 6 nearest neighbors  (Cl</a:t>
              </a:r>
              <a:r>
                <a:rPr lang="en-US" baseline="30000" dirty="0"/>
                <a:t>--</a:t>
              </a:r>
              <a:r>
                <a:rPr lang="en-US" dirty="0"/>
                <a:t>)</a:t>
              </a:r>
              <a:endParaRPr lang="en-IN" dirty="0"/>
            </a:p>
          </p:txBody>
        </p:sp>
      </p:grpSp>
      <p:grpSp>
        <p:nvGrpSpPr>
          <p:cNvPr id="13" name="Group 12">
            <a:extLst>
              <a:ext uri="{FF2B5EF4-FFF2-40B4-BE49-F238E27FC236}">
                <a16:creationId xmlns:a16="http://schemas.microsoft.com/office/drawing/2014/main" id="{5FDB7DE3-37E8-A84A-63CD-8EE12234A6C1}"/>
              </a:ext>
            </a:extLst>
          </p:cNvPr>
          <p:cNvGrpSpPr/>
          <p:nvPr/>
        </p:nvGrpSpPr>
        <p:grpSpPr>
          <a:xfrm>
            <a:off x="4102415" y="4578966"/>
            <a:ext cx="7421520" cy="976005"/>
            <a:chOff x="4102415" y="4578966"/>
            <a:chExt cx="7421520" cy="976005"/>
          </a:xfrm>
        </p:grpSpPr>
        <p:sp>
          <p:nvSpPr>
            <p:cNvPr id="16" name="TextBox 15">
              <a:extLst>
                <a:ext uri="{FF2B5EF4-FFF2-40B4-BE49-F238E27FC236}">
                  <a16:creationId xmlns:a16="http://schemas.microsoft.com/office/drawing/2014/main" id="{5150C86F-7D92-1BBD-359C-D37E11D77109}"/>
                </a:ext>
              </a:extLst>
            </p:cNvPr>
            <p:cNvSpPr txBox="1"/>
            <p:nvPr/>
          </p:nvSpPr>
          <p:spPr>
            <a:xfrm>
              <a:off x="4102415" y="4965032"/>
              <a:ext cx="5098832" cy="369332"/>
            </a:xfrm>
            <a:prstGeom prst="rect">
              <a:avLst/>
            </a:prstGeom>
            <a:noFill/>
          </p:spPr>
          <p:txBody>
            <a:bodyPr wrap="none" rtlCol="0">
              <a:spAutoFit/>
            </a:bodyPr>
            <a:lstStyle/>
            <a:p>
              <a:r>
                <a:rPr lang="en-US" dirty="0"/>
                <a:t>Next nearest neighbors (12 Na</a:t>
              </a:r>
              <a:r>
                <a:rPr lang="en-US" baseline="30000" dirty="0"/>
                <a:t>+ </a:t>
              </a:r>
              <a:r>
                <a:rPr lang="en-US" dirty="0"/>
                <a:t>ions) at edge centres</a:t>
              </a:r>
              <a:endParaRPr lang="en-IN" dirty="0"/>
            </a:p>
          </p:txBody>
        </p:sp>
        <p:pic>
          <p:nvPicPr>
            <p:cNvPr id="18" name="Picture 17">
              <a:extLst>
                <a:ext uri="{FF2B5EF4-FFF2-40B4-BE49-F238E27FC236}">
                  <a16:creationId xmlns:a16="http://schemas.microsoft.com/office/drawing/2014/main" id="{F131C963-517B-6D04-F208-6060B8A41119}"/>
                </a:ext>
              </a:extLst>
            </p:cNvPr>
            <p:cNvPicPr>
              <a:picLocks noChangeAspect="1"/>
            </p:cNvPicPr>
            <p:nvPr/>
          </p:nvPicPr>
          <p:blipFill>
            <a:blip r:embed="rId6"/>
            <a:stretch>
              <a:fillRect/>
            </a:stretch>
          </p:blipFill>
          <p:spPr>
            <a:xfrm>
              <a:off x="9293068" y="4578966"/>
              <a:ext cx="2230867" cy="976005"/>
            </a:xfrm>
            <a:prstGeom prst="rect">
              <a:avLst/>
            </a:prstGeom>
          </p:spPr>
        </p:pic>
      </p:grpSp>
      <p:grpSp>
        <p:nvGrpSpPr>
          <p:cNvPr id="17" name="Group 16">
            <a:extLst>
              <a:ext uri="{FF2B5EF4-FFF2-40B4-BE49-F238E27FC236}">
                <a16:creationId xmlns:a16="http://schemas.microsoft.com/office/drawing/2014/main" id="{AD508D99-E4D9-4C01-91C3-7C47DC406F38}"/>
              </a:ext>
            </a:extLst>
          </p:cNvPr>
          <p:cNvGrpSpPr/>
          <p:nvPr/>
        </p:nvGrpSpPr>
        <p:grpSpPr>
          <a:xfrm>
            <a:off x="4046269" y="5722744"/>
            <a:ext cx="7346824" cy="816673"/>
            <a:chOff x="4046269" y="5722744"/>
            <a:chExt cx="7346824" cy="816673"/>
          </a:xfrm>
        </p:grpSpPr>
        <p:sp>
          <p:nvSpPr>
            <p:cNvPr id="19" name="TextBox 18">
              <a:extLst>
                <a:ext uri="{FF2B5EF4-FFF2-40B4-BE49-F238E27FC236}">
                  <a16:creationId xmlns:a16="http://schemas.microsoft.com/office/drawing/2014/main" id="{CFF3523C-3990-377F-54A0-48564CF94327}"/>
                </a:ext>
              </a:extLst>
            </p:cNvPr>
            <p:cNvSpPr txBox="1"/>
            <p:nvPr/>
          </p:nvSpPr>
          <p:spPr>
            <a:xfrm>
              <a:off x="4046269" y="6047873"/>
              <a:ext cx="4956934" cy="369332"/>
            </a:xfrm>
            <a:prstGeom prst="rect">
              <a:avLst/>
            </a:prstGeom>
            <a:noFill/>
          </p:spPr>
          <p:txBody>
            <a:bodyPr wrap="none" rtlCol="0">
              <a:spAutoFit/>
            </a:bodyPr>
            <a:lstStyle/>
            <a:p>
              <a:r>
                <a:rPr lang="en-US" dirty="0"/>
                <a:t>third nearest neighbors (8 Cl</a:t>
              </a:r>
              <a:r>
                <a:rPr lang="en-US" baseline="30000" dirty="0"/>
                <a:t>-</a:t>
              </a:r>
              <a:r>
                <a:rPr lang="en-US" dirty="0"/>
                <a:t>)</a:t>
              </a:r>
              <a:r>
                <a:rPr lang="en-US" baseline="30000" dirty="0"/>
                <a:t> </a:t>
              </a:r>
              <a:r>
                <a:rPr lang="en-US" dirty="0"/>
                <a:t>ions) at cube corners</a:t>
              </a:r>
              <a:endParaRPr lang="en-IN" dirty="0"/>
            </a:p>
          </p:txBody>
        </p:sp>
        <p:pic>
          <p:nvPicPr>
            <p:cNvPr id="21" name="Picture 20">
              <a:extLst>
                <a:ext uri="{FF2B5EF4-FFF2-40B4-BE49-F238E27FC236}">
                  <a16:creationId xmlns:a16="http://schemas.microsoft.com/office/drawing/2014/main" id="{041ED00F-591A-57DE-D64D-92851F4C4250}"/>
                </a:ext>
              </a:extLst>
            </p:cNvPr>
            <p:cNvPicPr>
              <a:picLocks noChangeAspect="1"/>
            </p:cNvPicPr>
            <p:nvPr/>
          </p:nvPicPr>
          <p:blipFill>
            <a:blip r:embed="rId7"/>
            <a:stretch>
              <a:fillRect/>
            </a:stretch>
          </p:blipFill>
          <p:spPr>
            <a:xfrm>
              <a:off x="9559160" y="5722744"/>
              <a:ext cx="1833933" cy="816673"/>
            </a:xfrm>
            <a:prstGeom prst="rect">
              <a:avLst/>
            </a:prstGeom>
          </p:spPr>
        </p:pic>
      </p:grpSp>
    </p:spTree>
    <p:extLst>
      <p:ext uri="{BB962C8B-B14F-4D97-AF65-F5344CB8AC3E}">
        <p14:creationId xmlns:p14="http://schemas.microsoft.com/office/powerpoint/2010/main" val="235969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108684-2974-C87D-5B6F-C3FD0CA515ED}"/>
              </a:ext>
            </a:extLst>
          </p:cNvPr>
          <p:cNvPicPr>
            <a:picLocks noChangeAspect="1"/>
          </p:cNvPicPr>
          <p:nvPr/>
        </p:nvPicPr>
        <p:blipFill>
          <a:blip r:embed="rId2"/>
          <a:stretch>
            <a:fillRect/>
          </a:stretch>
        </p:blipFill>
        <p:spPr>
          <a:xfrm>
            <a:off x="2833563" y="858117"/>
            <a:ext cx="5241505" cy="1089145"/>
          </a:xfrm>
          <a:prstGeom prst="rect">
            <a:avLst/>
          </a:prstGeom>
        </p:spPr>
      </p:pic>
      <p:sp>
        <p:nvSpPr>
          <p:cNvPr id="4" name="TextBox 3">
            <a:extLst>
              <a:ext uri="{FF2B5EF4-FFF2-40B4-BE49-F238E27FC236}">
                <a16:creationId xmlns:a16="http://schemas.microsoft.com/office/drawing/2014/main" id="{6AE349D7-0EA3-EC24-E983-0D1467727E3B}"/>
              </a:ext>
            </a:extLst>
          </p:cNvPr>
          <p:cNvSpPr txBox="1"/>
          <p:nvPr/>
        </p:nvSpPr>
        <p:spPr>
          <a:xfrm>
            <a:off x="866275" y="401052"/>
            <a:ext cx="8440772" cy="369332"/>
          </a:xfrm>
          <a:prstGeom prst="rect">
            <a:avLst/>
          </a:prstGeom>
          <a:noFill/>
        </p:spPr>
        <p:txBody>
          <a:bodyPr wrap="none" rtlCol="0">
            <a:spAutoFit/>
          </a:bodyPr>
          <a:lstStyle/>
          <a:p>
            <a:r>
              <a:rPr lang="en-US" sz="1800" b="0" i="0" u="none" strike="noStrike" baseline="0" dirty="0">
                <a:latin typeface="Times-Roman"/>
              </a:rPr>
              <a:t>The net attractive energy between our Na</a:t>
            </a:r>
            <a:r>
              <a:rPr lang="en-US" sz="1800" b="0" i="0" u="none" strike="noStrike" baseline="0" dirty="0">
                <a:latin typeface="MTSY"/>
              </a:rPr>
              <a:t>+ </a:t>
            </a:r>
            <a:r>
              <a:rPr lang="en-US" sz="1800" b="0" i="0" u="none" strike="noStrike" baseline="0" dirty="0">
                <a:latin typeface="Times-Roman"/>
              </a:rPr>
              <a:t>ion and all other ions in the crystal is given by</a:t>
            </a:r>
            <a:endParaRPr lang="en-IN" dirty="0"/>
          </a:p>
        </p:txBody>
      </p:sp>
      <p:sp>
        <p:nvSpPr>
          <p:cNvPr id="6" name="TextBox 5">
            <a:extLst>
              <a:ext uri="{FF2B5EF4-FFF2-40B4-BE49-F238E27FC236}">
                <a16:creationId xmlns:a16="http://schemas.microsoft.com/office/drawing/2014/main" id="{7B0DB7AD-0728-9CD8-7F4E-F2F53349FB5B}"/>
              </a:ext>
            </a:extLst>
          </p:cNvPr>
          <p:cNvSpPr txBox="1"/>
          <p:nvPr/>
        </p:nvSpPr>
        <p:spPr>
          <a:xfrm>
            <a:off x="866274" y="2067713"/>
            <a:ext cx="9176084" cy="584775"/>
          </a:xfrm>
          <a:prstGeom prst="rect">
            <a:avLst/>
          </a:prstGeom>
          <a:noFill/>
        </p:spPr>
        <p:txBody>
          <a:bodyPr wrap="square">
            <a:spAutoFit/>
          </a:bodyPr>
          <a:lstStyle/>
          <a:p>
            <a:pPr algn="l"/>
            <a:r>
              <a:rPr lang="en-US" sz="1600" b="0" i="0" u="none" strike="noStrike" baseline="0" dirty="0">
                <a:latin typeface="Arial" panose="020B0604020202020204" pitchFamily="34" charset="0"/>
                <a:cs typeface="Arial" panose="020B0604020202020204" pitchFamily="34" charset="0"/>
              </a:rPr>
              <a:t>This summation is repeated for each ion in the crystal, i.e. for 2</a:t>
            </a:r>
            <a:r>
              <a:rPr lang="en-US" sz="1600" b="0" i="1" u="none" strike="noStrike" baseline="0" dirty="0">
                <a:latin typeface="Arial" panose="020B0604020202020204" pitchFamily="34" charset="0"/>
                <a:cs typeface="Arial" panose="020B0604020202020204" pitchFamily="34" charset="0"/>
              </a:rPr>
              <a:t>N </a:t>
            </a:r>
            <a:r>
              <a:rPr lang="en-US" sz="1600" b="0" i="0" u="none" strike="noStrike" baseline="0" dirty="0">
                <a:latin typeface="Arial" panose="020B0604020202020204" pitchFamily="34" charset="0"/>
                <a:cs typeface="Arial" panose="020B0604020202020204" pitchFamily="34" charset="0"/>
              </a:rPr>
              <a:t>ions per mole of NaCl. Since each ion pair interaction is counted twice, it is necessary to divide the final value by 2</a:t>
            </a:r>
            <a:endParaRPr lang="en-IN" sz="1600" dirty="0">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A0903465-31EA-D269-69E0-87D404B31CC7}"/>
              </a:ext>
            </a:extLst>
          </p:cNvPr>
          <p:cNvGrpSpPr/>
          <p:nvPr/>
        </p:nvGrpSpPr>
        <p:grpSpPr>
          <a:xfrm>
            <a:off x="1799707" y="2877177"/>
            <a:ext cx="9834225" cy="916405"/>
            <a:chOff x="1799707" y="2877177"/>
            <a:chExt cx="9834225" cy="916405"/>
          </a:xfrm>
        </p:grpSpPr>
        <p:pic>
          <p:nvPicPr>
            <p:cNvPr id="8" name="Picture 7">
              <a:extLst>
                <a:ext uri="{FF2B5EF4-FFF2-40B4-BE49-F238E27FC236}">
                  <a16:creationId xmlns:a16="http://schemas.microsoft.com/office/drawing/2014/main" id="{379B463A-A8D3-2580-03AB-BA294366D6FE}"/>
                </a:ext>
              </a:extLst>
            </p:cNvPr>
            <p:cNvPicPr>
              <a:picLocks noChangeAspect="1"/>
            </p:cNvPicPr>
            <p:nvPr/>
          </p:nvPicPr>
          <p:blipFill>
            <a:blip r:embed="rId3"/>
            <a:stretch>
              <a:fillRect/>
            </a:stretch>
          </p:blipFill>
          <p:spPr>
            <a:xfrm>
              <a:off x="1799707" y="2877177"/>
              <a:ext cx="2515620" cy="916405"/>
            </a:xfrm>
            <a:prstGeom prst="rect">
              <a:avLst/>
            </a:prstGeom>
          </p:spPr>
        </p:pic>
        <p:sp>
          <p:nvSpPr>
            <p:cNvPr id="9" name="TextBox 8">
              <a:extLst>
                <a:ext uri="{FF2B5EF4-FFF2-40B4-BE49-F238E27FC236}">
                  <a16:creationId xmlns:a16="http://schemas.microsoft.com/office/drawing/2014/main" id="{D9C5ADE3-480D-6569-0387-0B87F74C732C}"/>
                </a:ext>
              </a:extLst>
            </p:cNvPr>
            <p:cNvSpPr txBox="1"/>
            <p:nvPr/>
          </p:nvSpPr>
          <p:spPr>
            <a:xfrm>
              <a:off x="4908886" y="2945624"/>
              <a:ext cx="6725046" cy="646331"/>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Where A is the Madelung constant (summation of the numerical </a:t>
              </a:r>
            </a:p>
            <a:p>
              <a:r>
                <a:rPr lang="en-US" dirty="0">
                  <a:solidFill>
                    <a:srgbClr val="C00000"/>
                  </a:solidFill>
                  <a:latin typeface="Arial" panose="020B0604020202020204" pitchFamily="34" charset="0"/>
                  <a:cs typeface="Arial" panose="020B0604020202020204" pitchFamily="34" charset="0"/>
                </a:rPr>
                <a:t>values </a:t>
              </a:r>
              <a:endParaRPr lang="en-IN" dirty="0">
                <a:solidFill>
                  <a:srgbClr val="C00000"/>
                </a:solidFill>
                <a:latin typeface="Arial" panose="020B0604020202020204" pitchFamily="34" charset="0"/>
                <a:cs typeface="Arial" panose="020B0604020202020204" pitchFamily="34" charset="0"/>
              </a:endParaRPr>
            </a:p>
          </p:txBody>
        </p:sp>
      </p:grpSp>
      <p:sp>
        <p:nvSpPr>
          <p:cNvPr id="10" name="TextBox 9">
            <a:extLst>
              <a:ext uri="{FF2B5EF4-FFF2-40B4-BE49-F238E27FC236}">
                <a16:creationId xmlns:a16="http://schemas.microsoft.com/office/drawing/2014/main" id="{EF8E3374-C015-6A1F-30D8-ABA1DAADA4FB}"/>
              </a:ext>
            </a:extLst>
          </p:cNvPr>
          <p:cNvSpPr txBox="1"/>
          <p:nvPr/>
        </p:nvSpPr>
        <p:spPr>
          <a:xfrm>
            <a:off x="946357" y="3823040"/>
            <a:ext cx="996939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The Madelung constant depends only on the geometric arrangement of the point charges</a:t>
            </a:r>
            <a:endParaRPr lang="en-IN" b="1"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ADA8FC29-3028-307F-F31C-3F9F12E785DB}"/>
              </a:ext>
            </a:extLst>
          </p:cNvPr>
          <p:cNvPicPr>
            <a:picLocks noChangeAspect="1"/>
          </p:cNvPicPr>
          <p:nvPr/>
        </p:nvPicPr>
        <p:blipFill>
          <a:blip r:embed="rId4"/>
          <a:stretch>
            <a:fillRect/>
          </a:stretch>
        </p:blipFill>
        <p:spPr>
          <a:xfrm>
            <a:off x="1767623" y="4280105"/>
            <a:ext cx="5499452" cy="2384072"/>
          </a:xfrm>
          <a:prstGeom prst="rect">
            <a:avLst/>
          </a:prstGeom>
        </p:spPr>
      </p:pic>
    </p:spTree>
    <p:extLst>
      <p:ext uri="{BB962C8B-B14F-4D97-AF65-F5344CB8AC3E}">
        <p14:creationId xmlns:p14="http://schemas.microsoft.com/office/powerpoint/2010/main" val="382686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7346E7-49EC-3791-F8DF-8E8F3CDAC0D9}"/>
              </a:ext>
            </a:extLst>
          </p:cNvPr>
          <p:cNvPicPr>
            <a:picLocks noChangeAspect="1"/>
          </p:cNvPicPr>
          <p:nvPr/>
        </p:nvPicPr>
        <p:blipFill>
          <a:blip r:embed="rId2"/>
          <a:stretch>
            <a:fillRect/>
          </a:stretch>
        </p:blipFill>
        <p:spPr>
          <a:xfrm>
            <a:off x="4220763" y="364127"/>
            <a:ext cx="4068421" cy="1266191"/>
          </a:xfrm>
          <a:prstGeom prst="rect">
            <a:avLst/>
          </a:prstGeom>
        </p:spPr>
      </p:pic>
      <p:sp>
        <p:nvSpPr>
          <p:cNvPr id="4" name="TextBox 3">
            <a:extLst>
              <a:ext uri="{FF2B5EF4-FFF2-40B4-BE49-F238E27FC236}">
                <a16:creationId xmlns:a16="http://schemas.microsoft.com/office/drawing/2014/main" id="{AC87E714-ADCD-31F1-119F-E6910585F98E}"/>
              </a:ext>
            </a:extLst>
          </p:cNvPr>
          <p:cNvSpPr txBox="1"/>
          <p:nvPr/>
        </p:nvSpPr>
        <p:spPr>
          <a:xfrm>
            <a:off x="628209" y="217884"/>
            <a:ext cx="4442242"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The total energy of the crystal is given by </a:t>
            </a:r>
            <a:endParaRPr lang="en-IN"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513C61B-4615-49D2-AC43-FFEE39F7D684}"/>
              </a:ext>
            </a:extLst>
          </p:cNvPr>
          <p:cNvSpPr txBox="1"/>
          <p:nvPr/>
        </p:nvSpPr>
        <p:spPr>
          <a:xfrm>
            <a:off x="3796039" y="1564854"/>
            <a:ext cx="5979009" cy="584775"/>
          </a:xfrm>
          <a:prstGeom prst="rect">
            <a:avLst/>
          </a:prstGeom>
          <a:noFill/>
        </p:spPr>
        <p:txBody>
          <a:bodyPr wrap="none" rtlCol="0">
            <a:spAutoFit/>
          </a:bodyPr>
          <a:lstStyle/>
          <a:p>
            <a:pPr algn="l"/>
            <a:r>
              <a:rPr lang="en-US" sz="1600" b="0" i="0" u="none" strike="noStrike" baseline="0" dirty="0">
                <a:latin typeface="Arial" panose="020B0604020202020204" pitchFamily="34" charset="0"/>
                <a:cs typeface="Arial" panose="020B0604020202020204" pitchFamily="34" charset="0"/>
              </a:rPr>
              <a:t>differentiating with respect to </a:t>
            </a:r>
            <a:r>
              <a:rPr lang="en-US" sz="1600" b="0" i="1" u="none" strike="noStrike" baseline="0" dirty="0">
                <a:latin typeface="Arial" panose="020B0604020202020204" pitchFamily="34" charset="0"/>
                <a:cs typeface="Arial" panose="020B0604020202020204" pitchFamily="34" charset="0"/>
              </a:rPr>
              <a:t>r </a:t>
            </a:r>
            <a:r>
              <a:rPr lang="en-US" sz="1600" b="0" i="0" u="none" strike="noStrike" baseline="0" dirty="0">
                <a:latin typeface="Arial" panose="020B0604020202020204" pitchFamily="34" charset="0"/>
                <a:cs typeface="Arial" panose="020B0604020202020204" pitchFamily="34" charset="0"/>
              </a:rPr>
              <a:t>to find the maximum </a:t>
            </a:r>
            <a:r>
              <a:rPr lang="en-US" sz="1600" b="0" i="1" u="none" strike="noStrike" baseline="0" dirty="0">
                <a:latin typeface="Arial" panose="020B0604020202020204" pitchFamily="34" charset="0"/>
                <a:cs typeface="Arial" panose="020B0604020202020204" pitchFamily="34" charset="0"/>
              </a:rPr>
              <a:t>U </a:t>
            </a:r>
            <a:r>
              <a:rPr lang="en-US" sz="1600" b="0" i="0" u="none" strike="noStrike" baseline="0" dirty="0">
                <a:latin typeface="Arial" panose="020B0604020202020204" pitchFamily="34" charset="0"/>
                <a:cs typeface="Arial" panose="020B0604020202020204" pitchFamily="34" charset="0"/>
              </a:rPr>
              <a:t>value and</a:t>
            </a:r>
          </a:p>
          <a:p>
            <a:pPr algn="l"/>
            <a:r>
              <a:rPr lang="en-IN" sz="1600" b="0" i="0" u="none" strike="noStrike" baseline="0" dirty="0">
                <a:latin typeface="Arial" panose="020B0604020202020204" pitchFamily="34" charset="0"/>
                <a:cs typeface="Arial" panose="020B0604020202020204" pitchFamily="34" charset="0"/>
              </a:rPr>
              <a:t>equilibrium interatomic distance, </a:t>
            </a:r>
            <a:r>
              <a:rPr lang="en-IN" sz="1600" b="0" i="1" u="none" strike="noStrike" baseline="0" dirty="0">
                <a:latin typeface="Arial" panose="020B0604020202020204" pitchFamily="34" charset="0"/>
                <a:cs typeface="Arial" panose="020B0604020202020204" pitchFamily="34" charset="0"/>
              </a:rPr>
              <a:t>r</a:t>
            </a:r>
            <a:r>
              <a:rPr lang="en-IN" sz="1600" b="0" i="0" u="none" strike="noStrike" baseline="-25000" dirty="0">
                <a:latin typeface="Arial" panose="020B0604020202020204" pitchFamily="34" charset="0"/>
                <a:cs typeface="Arial" panose="020B0604020202020204" pitchFamily="34" charset="0"/>
              </a:rPr>
              <a:t>e</a:t>
            </a:r>
            <a:endParaRPr lang="en-IN" sz="1600" baseline="-25000"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78214157-09CB-1C1D-5C1D-261A32CC179E}"/>
              </a:ext>
            </a:extLst>
          </p:cNvPr>
          <p:cNvGrpSpPr/>
          <p:nvPr/>
        </p:nvGrpSpPr>
        <p:grpSpPr>
          <a:xfrm>
            <a:off x="223034" y="2248685"/>
            <a:ext cx="7419716" cy="4120718"/>
            <a:chOff x="223034" y="2248685"/>
            <a:chExt cx="7419716" cy="4120718"/>
          </a:xfrm>
        </p:grpSpPr>
        <p:sp>
          <p:nvSpPr>
            <p:cNvPr id="7" name="TextBox 6">
              <a:extLst>
                <a:ext uri="{FF2B5EF4-FFF2-40B4-BE49-F238E27FC236}">
                  <a16:creationId xmlns:a16="http://schemas.microsoft.com/office/drawing/2014/main" id="{F1333BCC-96C0-6E1B-1496-9D77A10E6CDB}"/>
                </a:ext>
              </a:extLst>
            </p:cNvPr>
            <p:cNvSpPr txBox="1"/>
            <p:nvPr/>
          </p:nvSpPr>
          <p:spPr>
            <a:xfrm>
              <a:off x="223034" y="6000071"/>
              <a:ext cx="5252592" cy="369332"/>
            </a:xfrm>
            <a:prstGeom prst="rect">
              <a:avLst/>
            </a:prstGeom>
            <a:noFill/>
          </p:spPr>
          <p:txBody>
            <a:bodyPr wrap="none" rtlCol="0">
              <a:spAutoFit/>
            </a:bodyPr>
            <a:lstStyle/>
            <a:p>
              <a:r>
                <a:rPr lang="en-US" dirty="0"/>
                <a:t>Lattice energy as a function of internuclear separation</a:t>
              </a:r>
              <a:endParaRPr lang="en-IN" dirty="0"/>
            </a:p>
          </p:txBody>
        </p:sp>
        <p:grpSp>
          <p:nvGrpSpPr>
            <p:cNvPr id="5" name="Group 4">
              <a:extLst>
                <a:ext uri="{FF2B5EF4-FFF2-40B4-BE49-F238E27FC236}">
                  <a16:creationId xmlns:a16="http://schemas.microsoft.com/office/drawing/2014/main" id="{BA285DCC-4409-A2F7-5012-2176D6B0253D}"/>
                </a:ext>
              </a:extLst>
            </p:cNvPr>
            <p:cNvGrpSpPr/>
            <p:nvPr/>
          </p:nvGrpSpPr>
          <p:grpSpPr>
            <a:xfrm>
              <a:off x="848054" y="2248685"/>
              <a:ext cx="6794696" cy="3616241"/>
              <a:chOff x="848054" y="2248685"/>
              <a:chExt cx="6794696" cy="3616241"/>
            </a:xfrm>
          </p:grpSpPr>
          <p:pic>
            <p:nvPicPr>
              <p:cNvPr id="6" name="Picture 5">
                <a:extLst>
                  <a:ext uri="{FF2B5EF4-FFF2-40B4-BE49-F238E27FC236}">
                    <a16:creationId xmlns:a16="http://schemas.microsoft.com/office/drawing/2014/main" id="{FDA7EB2F-1FEF-9A3C-E941-11A26E0B140B}"/>
                  </a:ext>
                </a:extLst>
              </p:cNvPr>
              <p:cNvPicPr>
                <a:picLocks noChangeAspect="1"/>
              </p:cNvPicPr>
              <p:nvPr/>
            </p:nvPicPr>
            <p:blipFill>
              <a:blip r:embed="rId3"/>
              <a:stretch>
                <a:fillRect/>
              </a:stretch>
            </p:blipFill>
            <p:spPr>
              <a:xfrm>
                <a:off x="848054" y="2248685"/>
                <a:ext cx="3267568" cy="3616241"/>
              </a:xfrm>
              <a:prstGeom prst="rect">
                <a:avLst/>
              </a:prstGeom>
            </p:spPr>
          </p:pic>
          <p:pic>
            <p:nvPicPr>
              <p:cNvPr id="10" name="Picture 9">
                <a:extLst>
                  <a:ext uri="{FF2B5EF4-FFF2-40B4-BE49-F238E27FC236}">
                    <a16:creationId xmlns:a16="http://schemas.microsoft.com/office/drawing/2014/main" id="{056F4B28-21E4-1FBA-ED31-BC1864BA32A7}"/>
                  </a:ext>
                </a:extLst>
              </p:cNvPr>
              <p:cNvPicPr>
                <a:picLocks noChangeAspect="1"/>
              </p:cNvPicPr>
              <p:nvPr/>
            </p:nvPicPr>
            <p:blipFill>
              <a:blip r:embed="rId4"/>
              <a:stretch>
                <a:fillRect/>
              </a:stretch>
            </p:blipFill>
            <p:spPr>
              <a:xfrm>
                <a:off x="4549250" y="2476404"/>
                <a:ext cx="3093500" cy="989920"/>
              </a:xfrm>
              <a:prstGeom prst="rect">
                <a:avLst/>
              </a:prstGeom>
            </p:spPr>
          </p:pic>
        </p:grpSp>
      </p:grpSp>
      <p:grpSp>
        <p:nvGrpSpPr>
          <p:cNvPr id="9" name="Group 8">
            <a:extLst>
              <a:ext uri="{FF2B5EF4-FFF2-40B4-BE49-F238E27FC236}">
                <a16:creationId xmlns:a16="http://schemas.microsoft.com/office/drawing/2014/main" id="{C6874021-777F-112D-1546-C15655F81A7D}"/>
              </a:ext>
            </a:extLst>
          </p:cNvPr>
          <p:cNvGrpSpPr/>
          <p:nvPr/>
        </p:nvGrpSpPr>
        <p:grpSpPr>
          <a:xfrm>
            <a:off x="5244784" y="3738236"/>
            <a:ext cx="3874066" cy="1385286"/>
            <a:chOff x="5244784" y="3738236"/>
            <a:chExt cx="3874066" cy="1385286"/>
          </a:xfrm>
        </p:grpSpPr>
        <p:pic>
          <p:nvPicPr>
            <p:cNvPr id="12" name="Picture 11">
              <a:extLst>
                <a:ext uri="{FF2B5EF4-FFF2-40B4-BE49-F238E27FC236}">
                  <a16:creationId xmlns:a16="http://schemas.microsoft.com/office/drawing/2014/main" id="{5F758733-D316-0B14-91FD-36859761537C}"/>
                </a:ext>
              </a:extLst>
            </p:cNvPr>
            <p:cNvPicPr>
              <a:picLocks noChangeAspect="1"/>
            </p:cNvPicPr>
            <p:nvPr/>
          </p:nvPicPr>
          <p:blipFill>
            <a:blip r:embed="rId5"/>
            <a:stretch>
              <a:fillRect/>
            </a:stretch>
          </p:blipFill>
          <p:spPr>
            <a:xfrm>
              <a:off x="5244784" y="3738236"/>
              <a:ext cx="1427422" cy="827257"/>
            </a:xfrm>
            <a:prstGeom prst="rect">
              <a:avLst/>
            </a:prstGeom>
          </p:spPr>
        </p:pic>
        <p:pic>
          <p:nvPicPr>
            <p:cNvPr id="14" name="Picture 13">
              <a:extLst>
                <a:ext uri="{FF2B5EF4-FFF2-40B4-BE49-F238E27FC236}">
                  <a16:creationId xmlns:a16="http://schemas.microsoft.com/office/drawing/2014/main" id="{0321B061-ADE8-7688-91F6-699A46E068C9}"/>
                </a:ext>
              </a:extLst>
            </p:cNvPr>
            <p:cNvPicPr>
              <a:picLocks noChangeAspect="1"/>
            </p:cNvPicPr>
            <p:nvPr/>
          </p:nvPicPr>
          <p:blipFill>
            <a:blip r:embed="rId6"/>
            <a:stretch>
              <a:fillRect/>
            </a:stretch>
          </p:blipFill>
          <p:spPr>
            <a:xfrm>
              <a:off x="6483885" y="4296266"/>
              <a:ext cx="2634965" cy="827256"/>
            </a:xfrm>
            <a:prstGeom prst="rect">
              <a:avLst/>
            </a:prstGeom>
          </p:spPr>
        </p:pic>
      </p:grpSp>
      <p:pic>
        <p:nvPicPr>
          <p:cNvPr id="16" name="Picture 15">
            <a:extLst>
              <a:ext uri="{FF2B5EF4-FFF2-40B4-BE49-F238E27FC236}">
                <a16:creationId xmlns:a16="http://schemas.microsoft.com/office/drawing/2014/main" id="{779C62AF-8BC9-4CE2-7005-B5D2F869096A}"/>
              </a:ext>
            </a:extLst>
          </p:cNvPr>
          <p:cNvPicPr>
            <a:picLocks noChangeAspect="1"/>
          </p:cNvPicPr>
          <p:nvPr/>
        </p:nvPicPr>
        <p:blipFill>
          <a:blip r:embed="rId7"/>
          <a:stretch>
            <a:fillRect/>
          </a:stretch>
        </p:blipFill>
        <p:spPr>
          <a:xfrm>
            <a:off x="5958495" y="5205116"/>
            <a:ext cx="4661379" cy="1341245"/>
          </a:xfrm>
          <a:prstGeom prst="rect">
            <a:avLst/>
          </a:prstGeom>
        </p:spPr>
      </p:pic>
      <p:sp>
        <p:nvSpPr>
          <p:cNvPr id="17" name="TextBox 16">
            <a:extLst>
              <a:ext uri="{FF2B5EF4-FFF2-40B4-BE49-F238E27FC236}">
                <a16:creationId xmlns:a16="http://schemas.microsoft.com/office/drawing/2014/main" id="{ECFF0131-CCC6-BC5F-B1E1-258A6395BB24}"/>
              </a:ext>
            </a:extLst>
          </p:cNvPr>
          <p:cNvSpPr txBox="1"/>
          <p:nvPr/>
        </p:nvSpPr>
        <p:spPr>
          <a:xfrm>
            <a:off x="6858629" y="6337145"/>
            <a:ext cx="2861109" cy="369332"/>
          </a:xfrm>
          <a:prstGeom prst="rect">
            <a:avLst/>
          </a:prstGeom>
          <a:noFill/>
        </p:spPr>
        <p:txBody>
          <a:bodyPr wrap="square">
            <a:spAutoFit/>
          </a:bodyPr>
          <a:lstStyle/>
          <a:p>
            <a:r>
              <a:rPr lang="en-IN" sz="1800" b="1" dirty="0">
                <a:solidFill>
                  <a:srgbClr val="C00000"/>
                </a:solidFill>
                <a:latin typeface="Arial" panose="020B0604020202020204" pitchFamily="34" charset="0"/>
                <a:ea typeface="Calibri" panose="020F0502020204030204" pitchFamily="34" charset="0"/>
                <a:cs typeface="Arial" panose="020B0604020202020204" pitchFamily="34" charset="0"/>
              </a:rPr>
              <a:t>Born-Lande equation</a:t>
            </a:r>
            <a:endParaRPr lang="en-IN" b="1" dirty="0">
              <a:solidFill>
                <a:srgbClr val="C00000"/>
              </a:solidFill>
            </a:endParaRPr>
          </a:p>
        </p:txBody>
      </p:sp>
    </p:spTree>
    <p:extLst>
      <p:ext uri="{BB962C8B-B14F-4D97-AF65-F5344CB8AC3E}">
        <p14:creationId xmlns:p14="http://schemas.microsoft.com/office/powerpoint/2010/main" val="101797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D08BE8-0F30-F8C8-09EE-B12F734262F0}"/>
              </a:ext>
            </a:extLst>
          </p:cNvPr>
          <p:cNvSpPr txBox="1"/>
          <p:nvPr/>
        </p:nvSpPr>
        <p:spPr>
          <a:xfrm>
            <a:off x="4276015" y="222422"/>
            <a:ext cx="2133918" cy="369332"/>
          </a:xfrm>
          <a:prstGeom prst="rect">
            <a:avLst/>
          </a:prstGeom>
          <a:noFill/>
        </p:spPr>
        <p:txBody>
          <a:bodyPr wrap="none" rtlCol="0">
            <a:spAutoFit/>
          </a:bodyPr>
          <a:lstStyle/>
          <a:p>
            <a:r>
              <a:rPr lang="en-US" b="1" dirty="0">
                <a:solidFill>
                  <a:srgbClr val="C00000"/>
                </a:solidFill>
                <a:latin typeface="Arial" panose="020B0604020202020204" pitchFamily="34" charset="0"/>
                <a:cs typeface="Arial" panose="020B0604020202020204" pitchFamily="34" charset="0"/>
              </a:rPr>
              <a:t>Born-Haber Cycle</a:t>
            </a:r>
            <a:endParaRPr lang="en-IN" b="1"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2454243-4788-340F-D2D7-AFD030CFCB57}"/>
              </a:ext>
            </a:extLst>
          </p:cNvPr>
          <p:cNvSpPr txBox="1"/>
          <p:nvPr/>
        </p:nvSpPr>
        <p:spPr>
          <a:xfrm>
            <a:off x="988351" y="766118"/>
            <a:ext cx="11059438" cy="646331"/>
          </a:xfrm>
          <a:prstGeom prst="rect">
            <a:avLst/>
          </a:prstGeom>
          <a:noFill/>
        </p:spPr>
        <p:txBody>
          <a:bodyPr wrap="none" rtlCol="0">
            <a:spAutoFit/>
          </a:bodyPr>
          <a:lstStyle/>
          <a:p>
            <a:pPr algn="l"/>
            <a:r>
              <a:rPr lang="en-US" sz="1800" b="0" i="0" u="none" strike="noStrike" baseline="0" dirty="0">
                <a:latin typeface="Arial" panose="020B0604020202020204" pitchFamily="34" charset="0"/>
                <a:cs typeface="Arial" panose="020B0604020202020204" pitchFamily="34" charset="0"/>
              </a:rPr>
              <a:t>The lattice energy of a crystal is equivalent to its heat of formation from 1 mol of its ionic constituents in the</a:t>
            </a:r>
          </a:p>
          <a:p>
            <a:pPr algn="l"/>
            <a:r>
              <a:rPr lang="en-IN" sz="1800" b="0" i="0" u="none" strike="noStrike" baseline="0" dirty="0">
                <a:latin typeface="Arial" panose="020B0604020202020204" pitchFamily="34" charset="0"/>
                <a:cs typeface="Arial" panose="020B0604020202020204" pitchFamily="34" charset="0"/>
              </a:rPr>
              <a:t>gas phase</a:t>
            </a:r>
            <a:endParaRPr lang="en-IN"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0B24106-60EB-0EF7-1954-BFC483FA9034}"/>
              </a:ext>
            </a:extLst>
          </p:cNvPr>
          <p:cNvSpPr txBox="1"/>
          <p:nvPr/>
        </p:nvSpPr>
        <p:spPr>
          <a:xfrm>
            <a:off x="2152473" y="1601229"/>
            <a:ext cx="3557384" cy="369332"/>
          </a:xfrm>
          <a:prstGeom prst="rect">
            <a:avLst/>
          </a:prstGeom>
          <a:noFill/>
        </p:spPr>
        <p:txBody>
          <a:bodyPr wrap="none" rtlCol="0">
            <a:spAutoFit/>
          </a:bodyPr>
          <a:lstStyle/>
          <a:p>
            <a:r>
              <a:rPr lang="en-IN" sz="1800" b="0" i="0" u="none" strike="noStrike" baseline="0" dirty="0">
                <a:latin typeface="Times-Roman"/>
              </a:rPr>
              <a:t>Na</a:t>
            </a:r>
            <a:r>
              <a:rPr lang="en-IN" sz="1800" b="0" i="0" u="none" strike="noStrike" baseline="30000" dirty="0">
                <a:latin typeface="MTSY"/>
              </a:rPr>
              <a:t>+</a:t>
            </a:r>
            <a:r>
              <a:rPr lang="en-IN" sz="1800" b="0" i="0" u="none" strike="noStrike" baseline="0" dirty="0">
                <a:latin typeface="Times-Roman"/>
              </a:rPr>
              <a:t>(g) </a:t>
            </a:r>
            <a:r>
              <a:rPr lang="en-IN" sz="1800" b="0" i="0" u="none" strike="noStrike" baseline="0" dirty="0">
                <a:latin typeface="MTSY"/>
              </a:rPr>
              <a:t>+ </a:t>
            </a:r>
            <a:r>
              <a:rPr lang="en-IN" sz="1800" b="0" i="0" u="none" strike="noStrike" baseline="0" dirty="0">
                <a:latin typeface="Times-Roman"/>
              </a:rPr>
              <a:t>Cl</a:t>
            </a:r>
            <a:r>
              <a:rPr lang="en-IN" baseline="30000" dirty="0">
                <a:latin typeface="MTSY"/>
              </a:rPr>
              <a:t>- </a:t>
            </a:r>
            <a:r>
              <a:rPr lang="en-IN" sz="1800" b="0" i="0" u="none" strike="noStrike" baseline="0" dirty="0">
                <a:latin typeface="Times-Roman"/>
              </a:rPr>
              <a:t>(g) </a:t>
            </a:r>
            <a:r>
              <a:rPr lang="en-IN" sz="1800" b="0" i="0" u="none" strike="noStrike" baseline="0" dirty="0">
                <a:latin typeface="MTSY"/>
              </a:rPr>
              <a:t>→ </a:t>
            </a:r>
            <a:r>
              <a:rPr lang="en-IN" sz="1800" b="0" i="0" u="none" strike="noStrike" baseline="0" dirty="0">
                <a:latin typeface="Times-Roman"/>
              </a:rPr>
              <a:t>NaCl(s)</a:t>
            </a:r>
            <a:r>
              <a:rPr lang="en-IN" sz="1800" b="0" i="1" u="none" strike="noStrike" baseline="0" dirty="0">
                <a:latin typeface="RMTMI"/>
              </a:rPr>
              <a:t>,  </a:t>
            </a:r>
            <a:r>
              <a:rPr lang="en-IN" sz="1800" b="0" i="1" u="none" strike="noStrike" baseline="0" dirty="0">
                <a:latin typeface="RMTMI"/>
                <a:sym typeface="Symbol" panose="05050102010706020507" pitchFamily="18" charset="2"/>
              </a:rPr>
              <a:t></a:t>
            </a:r>
            <a:r>
              <a:rPr lang="en-IN" sz="1800" b="0" i="1" u="none" strike="noStrike" baseline="0" dirty="0">
                <a:latin typeface="Times-Italic"/>
              </a:rPr>
              <a:t>H </a:t>
            </a:r>
            <a:r>
              <a:rPr lang="en-IN" sz="1800" b="0" i="0" u="none" strike="noStrike" baseline="0" dirty="0">
                <a:latin typeface="MTSY"/>
              </a:rPr>
              <a:t>= </a:t>
            </a:r>
            <a:r>
              <a:rPr lang="en-IN" sz="1800" b="0" i="1" u="none" strike="noStrike" baseline="0" dirty="0">
                <a:latin typeface="Times-Italic"/>
              </a:rPr>
              <a:t>U</a:t>
            </a:r>
            <a:endParaRPr lang="en-IN" dirty="0"/>
          </a:p>
        </p:txBody>
      </p:sp>
      <p:sp>
        <p:nvSpPr>
          <p:cNvPr id="5" name="TextBox 4">
            <a:extLst>
              <a:ext uri="{FF2B5EF4-FFF2-40B4-BE49-F238E27FC236}">
                <a16:creationId xmlns:a16="http://schemas.microsoft.com/office/drawing/2014/main" id="{FE9599D7-909F-CCFB-3CE9-E601B8C1E68E}"/>
              </a:ext>
            </a:extLst>
          </p:cNvPr>
          <p:cNvSpPr txBox="1"/>
          <p:nvPr/>
        </p:nvSpPr>
        <p:spPr>
          <a:xfrm>
            <a:off x="824622" y="2155227"/>
            <a:ext cx="11170622" cy="646331"/>
          </a:xfrm>
          <a:prstGeom prst="rect">
            <a:avLst/>
          </a:prstGeom>
          <a:noFill/>
        </p:spPr>
        <p:txBody>
          <a:bodyPr wrap="none" rtlCol="0">
            <a:spAutoFit/>
          </a:bodyPr>
          <a:lstStyle/>
          <a:p>
            <a:pPr algn="l"/>
            <a:r>
              <a:rPr lang="en-US" dirty="0">
                <a:latin typeface="Arial" panose="020B0604020202020204" pitchFamily="34" charset="0"/>
                <a:cs typeface="Arial" panose="020B0604020202020204" pitchFamily="34" charset="0"/>
              </a:rPr>
              <a:t>This can not be measured </a:t>
            </a:r>
            <a:r>
              <a:rPr lang="en-US" sz="1800" b="0" i="0" u="none" strike="noStrike" baseline="0" dirty="0">
                <a:latin typeface="Arial" panose="020B0604020202020204" pitchFamily="34" charset="0"/>
                <a:cs typeface="Arial" panose="020B0604020202020204" pitchFamily="34" charset="0"/>
              </a:rPr>
              <a:t>experimentally. However, the heat of formation of a crystal, </a:t>
            </a:r>
            <a:r>
              <a:rPr lang="en-US" sz="1800" b="0" i="1" u="none" strike="noStrike" baseline="0" dirty="0">
                <a:latin typeface="Arial" panose="020B0604020202020204" pitchFamily="34" charset="0"/>
                <a:cs typeface="Arial" panose="020B0604020202020204" pitchFamily="34" charset="0"/>
              </a:rPr>
              <a:t>H</a:t>
            </a:r>
            <a:r>
              <a:rPr lang="en-US" sz="1800" b="0" i="0" u="none" strike="noStrike" baseline="0" dirty="0">
                <a:latin typeface="Arial" panose="020B0604020202020204" pitchFamily="34" charset="0"/>
                <a:cs typeface="Arial" panose="020B0604020202020204" pitchFamily="34" charset="0"/>
              </a:rPr>
              <a:t>f , can be measured</a:t>
            </a:r>
          </a:p>
          <a:p>
            <a:pPr algn="l"/>
            <a:r>
              <a:rPr lang="en-US" sz="1800" b="0" i="0" u="none" strike="noStrike" baseline="0" dirty="0">
                <a:latin typeface="Arial" panose="020B0604020202020204" pitchFamily="34" charset="0"/>
                <a:cs typeface="Arial" panose="020B0604020202020204" pitchFamily="34" charset="0"/>
              </a:rPr>
              <a:t>relative to the reagents in their standard states</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A426B61-8DB5-6D84-37AA-3BC88D8CBE03}"/>
              </a:ext>
            </a:extLst>
          </p:cNvPr>
          <p:cNvSpPr txBox="1"/>
          <p:nvPr/>
        </p:nvSpPr>
        <p:spPr>
          <a:xfrm>
            <a:off x="1814145" y="2902752"/>
            <a:ext cx="3993401" cy="369332"/>
          </a:xfrm>
          <a:prstGeom prst="rect">
            <a:avLst/>
          </a:prstGeom>
          <a:noFill/>
        </p:spPr>
        <p:txBody>
          <a:bodyPr wrap="none" rtlCol="0">
            <a:spAutoFit/>
          </a:bodyPr>
          <a:lstStyle/>
          <a:p>
            <a:r>
              <a:rPr lang="pt-BR" sz="1800" b="0" i="0" u="none" strike="noStrike" baseline="0" dirty="0">
                <a:latin typeface="Times-Roman"/>
              </a:rPr>
              <a:t>Na(s) </a:t>
            </a:r>
            <a:r>
              <a:rPr lang="pt-BR" sz="1800" b="0" i="0" u="none" strike="noStrike" baseline="0" dirty="0">
                <a:latin typeface="MTSY"/>
              </a:rPr>
              <a:t>+ </a:t>
            </a:r>
            <a:r>
              <a:rPr lang="pt-BR" b="0" i="0" u="none" strike="noStrike" baseline="0" dirty="0">
                <a:latin typeface="Times-Roman"/>
              </a:rPr>
              <a:t>1</a:t>
            </a:r>
            <a:r>
              <a:rPr lang="pt-BR" dirty="0">
                <a:latin typeface="STIXMath-Regular"/>
              </a:rPr>
              <a:t>/</a:t>
            </a:r>
            <a:r>
              <a:rPr lang="pt-BR" b="0" i="0" u="none" strike="noStrike" baseline="0" dirty="0">
                <a:latin typeface="Times-Roman"/>
              </a:rPr>
              <a:t>2</a:t>
            </a:r>
            <a:r>
              <a:rPr lang="pt-BR" sz="1800" b="0" i="0" u="none" strike="noStrike" baseline="0" dirty="0">
                <a:latin typeface="Times-Roman"/>
              </a:rPr>
              <a:t>Cl</a:t>
            </a:r>
            <a:r>
              <a:rPr lang="pt-BR" sz="1800" b="0" i="0" u="none" strike="noStrike" baseline="-25000" dirty="0">
                <a:latin typeface="Times-Roman"/>
              </a:rPr>
              <a:t>2</a:t>
            </a:r>
            <a:r>
              <a:rPr lang="pt-BR" sz="1800" b="0" i="0" u="none" strike="noStrike" baseline="0" dirty="0">
                <a:latin typeface="Times-Roman"/>
              </a:rPr>
              <a:t>(g) </a:t>
            </a:r>
            <a:r>
              <a:rPr lang="pt-BR" sz="1800" b="0" i="0" u="none" strike="noStrike" baseline="0" dirty="0">
                <a:latin typeface="MTSY"/>
              </a:rPr>
              <a:t>→ </a:t>
            </a:r>
            <a:r>
              <a:rPr lang="pt-BR" sz="1800" b="0" i="0" u="none" strike="noStrike" baseline="0" dirty="0">
                <a:latin typeface="Times-Roman"/>
              </a:rPr>
              <a:t>NaCl(s)</a:t>
            </a:r>
            <a:r>
              <a:rPr lang="pt-BR" sz="1800" b="0" i="1" u="none" strike="noStrike" baseline="0" dirty="0">
                <a:latin typeface="RMTMI"/>
              </a:rPr>
              <a:t>,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 </a:t>
            </a:r>
            <a:r>
              <a:rPr lang="pt-BR" sz="1800" b="0" i="0" u="none" strike="noStrike" baseline="0" dirty="0">
                <a:latin typeface="MTSY"/>
              </a:rPr>
              <a:t>=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sz="1800" b="0" i="0" u="none" strike="noStrike" baseline="-25000" dirty="0">
                <a:latin typeface="Times-Roman"/>
              </a:rPr>
              <a:t>f</a:t>
            </a:r>
            <a:endParaRPr lang="en-IN" baseline="-25000" dirty="0"/>
          </a:p>
        </p:txBody>
      </p:sp>
      <p:sp>
        <p:nvSpPr>
          <p:cNvPr id="8" name="TextBox 7">
            <a:extLst>
              <a:ext uri="{FF2B5EF4-FFF2-40B4-BE49-F238E27FC236}">
                <a16:creationId xmlns:a16="http://schemas.microsoft.com/office/drawing/2014/main" id="{59AED3B5-3B8C-ABFE-AF58-51E27C69CA15}"/>
              </a:ext>
            </a:extLst>
          </p:cNvPr>
          <p:cNvSpPr txBox="1"/>
          <p:nvPr/>
        </p:nvSpPr>
        <p:spPr>
          <a:xfrm>
            <a:off x="988351" y="3437861"/>
            <a:ext cx="9884437" cy="369332"/>
          </a:xfrm>
          <a:prstGeom prst="rect">
            <a:avLst/>
          </a:prstGeom>
          <a:noFill/>
        </p:spPr>
        <p:txBody>
          <a:bodyPr wrap="none" rtlCol="0">
            <a:spAutoFit/>
          </a:bodyPr>
          <a:lstStyle/>
          <a:p>
            <a:r>
              <a:rPr lang="en-US" sz="1800" b="0" i="1" u="none" strike="noStrike" baseline="0" dirty="0">
                <a:latin typeface="Arial" panose="020B0604020202020204" pitchFamily="34" charset="0"/>
                <a:cs typeface="Arial" panose="020B0604020202020204" pitchFamily="34" charset="0"/>
              </a:rPr>
              <a:t>H</a:t>
            </a:r>
            <a:r>
              <a:rPr lang="en-US" sz="1800" b="0" i="0" u="none" strike="noStrike" baseline="-25000" dirty="0">
                <a:latin typeface="Arial" panose="020B0604020202020204" pitchFamily="34" charset="0"/>
                <a:cs typeface="Arial" panose="020B0604020202020204" pitchFamily="34" charset="0"/>
              </a:rPr>
              <a:t>f</a:t>
            </a:r>
            <a:r>
              <a:rPr lang="en-US" sz="1800" b="0" i="0" u="none" strike="noStrike" baseline="0" dirty="0">
                <a:latin typeface="Arial" panose="020B0604020202020204" pitchFamily="34" charset="0"/>
                <a:cs typeface="Arial" panose="020B0604020202020204" pitchFamily="34" charset="0"/>
              </a:rPr>
              <a:t> may be related to </a:t>
            </a:r>
            <a:r>
              <a:rPr lang="en-US" sz="1800" b="0" i="1" u="none" strike="noStrike" baseline="0" dirty="0">
                <a:latin typeface="Arial" panose="020B0604020202020204" pitchFamily="34" charset="0"/>
                <a:cs typeface="Arial" panose="020B0604020202020204" pitchFamily="34" charset="0"/>
              </a:rPr>
              <a:t>U </a:t>
            </a:r>
            <a:r>
              <a:rPr lang="en-US" sz="1800" b="0" i="0" u="none" strike="noStrike" baseline="0" dirty="0">
                <a:latin typeface="Arial" panose="020B0604020202020204" pitchFamily="34" charset="0"/>
                <a:cs typeface="Arial" panose="020B0604020202020204" pitchFamily="34" charset="0"/>
              </a:rPr>
              <a:t>by constructing a thermochemical cycle known as a </a:t>
            </a:r>
            <a:r>
              <a:rPr lang="en-US" sz="1800" b="1" i="0" u="none" strike="noStrike" baseline="0" dirty="0">
                <a:latin typeface="Arial" panose="020B0604020202020204" pitchFamily="34" charset="0"/>
                <a:cs typeface="Arial" panose="020B0604020202020204" pitchFamily="34" charset="0"/>
              </a:rPr>
              <a:t>Born–Haber cycle</a:t>
            </a:r>
            <a:r>
              <a:rPr lang="en-US" sz="1800" b="0" i="0" u="none" strike="noStrike" baseline="0"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3BA003A-A2F7-D96A-EFA6-DF6F4D8AF2EF}"/>
              </a:ext>
            </a:extLst>
          </p:cNvPr>
          <p:cNvGrpSpPr/>
          <p:nvPr/>
        </p:nvGrpSpPr>
        <p:grpSpPr>
          <a:xfrm>
            <a:off x="1312430" y="4056443"/>
            <a:ext cx="9529947" cy="2695965"/>
            <a:chOff x="1312430" y="4056443"/>
            <a:chExt cx="9529947" cy="2695965"/>
          </a:xfrm>
        </p:grpSpPr>
        <p:grpSp>
          <p:nvGrpSpPr>
            <p:cNvPr id="16" name="Group 15">
              <a:extLst>
                <a:ext uri="{FF2B5EF4-FFF2-40B4-BE49-F238E27FC236}">
                  <a16:creationId xmlns:a16="http://schemas.microsoft.com/office/drawing/2014/main" id="{2573A47C-BC44-FA1C-D8F8-08718E96207E}"/>
                </a:ext>
              </a:extLst>
            </p:cNvPr>
            <p:cNvGrpSpPr/>
            <p:nvPr/>
          </p:nvGrpSpPr>
          <p:grpSpPr>
            <a:xfrm>
              <a:off x="1349623" y="4056443"/>
              <a:ext cx="9492754" cy="2123662"/>
              <a:chOff x="2058345" y="4337552"/>
              <a:chExt cx="9492754" cy="2123662"/>
            </a:xfrm>
          </p:grpSpPr>
          <p:sp>
            <p:nvSpPr>
              <p:cNvPr id="10" name="TextBox 9">
                <a:extLst>
                  <a:ext uri="{FF2B5EF4-FFF2-40B4-BE49-F238E27FC236}">
                    <a16:creationId xmlns:a16="http://schemas.microsoft.com/office/drawing/2014/main" id="{BE196507-E2EC-6035-3DFD-D3E646A44749}"/>
                  </a:ext>
                </a:extLst>
              </p:cNvPr>
              <p:cNvSpPr txBox="1"/>
              <p:nvPr/>
            </p:nvSpPr>
            <p:spPr>
              <a:xfrm>
                <a:off x="2136891" y="4337552"/>
                <a:ext cx="3572966" cy="369332"/>
              </a:xfrm>
              <a:prstGeom prst="rect">
                <a:avLst/>
              </a:prstGeom>
              <a:noFill/>
            </p:spPr>
            <p:txBody>
              <a:bodyPr wrap="none" rtlCol="0">
                <a:spAutoFit/>
              </a:bodyPr>
              <a:lstStyle/>
              <a:p>
                <a:r>
                  <a:rPr lang="en-US" dirty="0"/>
                  <a:t>Na(s) → Na(g)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sz="1800" b="0" i="1" u="none" strike="noStrike" baseline="-25000" dirty="0">
                    <a:latin typeface="Times-Italic"/>
                  </a:rPr>
                  <a:t>atm</a:t>
                </a:r>
                <a:r>
                  <a:rPr lang="en-US" dirty="0"/>
                  <a:t>                </a:t>
                </a:r>
                <a:endParaRPr lang="en-IN" dirty="0"/>
              </a:p>
            </p:txBody>
          </p:sp>
          <p:sp>
            <p:nvSpPr>
              <p:cNvPr id="11" name="TextBox 10">
                <a:extLst>
                  <a:ext uri="{FF2B5EF4-FFF2-40B4-BE49-F238E27FC236}">
                    <a16:creationId xmlns:a16="http://schemas.microsoft.com/office/drawing/2014/main" id="{304CB0AB-12BB-A7B5-7EE7-024831293B8A}"/>
                  </a:ext>
                </a:extLst>
              </p:cNvPr>
              <p:cNvSpPr txBox="1"/>
              <p:nvPr/>
            </p:nvSpPr>
            <p:spPr>
              <a:xfrm>
                <a:off x="2058345" y="4903911"/>
                <a:ext cx="3588546" cy="369332"/>
              </a:xfrm>
              <a:prstGeom prst="rect">
                <a:avLst/>
              </a:prstGeom>
              <a:noFill/>
            </p:spPr>
            <p:txBody>
              <a:bodyPr wrap="none" rtlCol="0">
                <a:spAutoFit/>
              </a:bodyPr>
              <a:lstStyle/>
              <a:p>
                <a:r>
                  <a:rPr lang="en-US" dirty="0"/>
                  <a:t>Cl</a:t>
                </a:r>
                <a:r>
                  <a:rPr lang="en-US" baseline="-25000" dirty="0"/>
                  <a:t>2</a:t>
                </a:r>
                <a:r>
                  <a:rPr lang="en-US" dirty="0"/>
                  <a:t>(g) → 2Cl(g)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sz="1800" b="0" i="1" u="none" strike="noStrike" baseline="-25000" dirty="0">
                    <a:latin typeface="Times-Italic"/>
                  </a:rPr>
                  <a:t>dis</a:t>
                </a:r>
                <a:r>
                  <a:rPr lang="en-US" dirty="0"/>
                  <a:t>                </a:t>
                </a:r>
                <a:endParaRPr lang="en-IN" dirty="0"/>
              </a:p>
            </p:txBody>
          </p:sp>
          <p:sp>
            <p:nvSpPr>
              <p:cNvPr id="12" name="TextBox 11">
                <a:extLst>
                  <a:ext uri="{FF2B5EF4-FFF2-40B4-BE49-F238E27FC236}">
                    <a16:creationId xmlns:a16="http://schemas.microsoft.com/office/drawing/2014/main" id="{E0466488-BFE4-492C-8516-78036151B486}"/>
                  </a:ext>
                </a:extLst>
              </p:cNvPr>
              <p:cNvSpPr txBox="1"/>
              <p:nvPr/>
            </p:nvSpPr>
            <p:spPr>
              <a:xfrm>
                <a:off x="2060749" y="5519579"/>
                <a:ext cx="3583738" cy="369332"/>
              </a:xfrm>
              <a:prstGeom prst="rect">
                <a:avLst/>
              </a:prstGeom>
              <a:noFill/>
            </p:spPr>
            <p:txBody>
              <a:bodyPr wrap="none" rtlCol="0">
                <a:spAutoFit/>
              </a:bodyPr>
              <a:lstStyle/>
              <a:p>
                <a:r>
                  <a:rPr lang="en-US" dirty="0"/>
                  <a:t>Na(g) → Na</a:t>
                </a:r>
                <a:r>
                  <a:rPr lang="en-US" baseline="30000" dirty="0"/>
                  <a:t>+</a:t>
                </a:r>
                <a:r>
                  <a:rPr lang="en-US" dirty="0"/>
                  <a:t>(g)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i="1" baseline="-25000" dirty="0">
                    <a:latin typeface="Times-Italic"/>
                  </a:rPr>
                  <a:t>ion</a:t>
                </a:r>
                <a:r>
                  <a:rPr lang="en-US" dirty="0"/>
                  <a:t>               </a:t>
                </a:r>
                <a:endParaRPr lang="en-IN" dirty="0"/>
              </a:p>
            </p:txBody>
          </p:sp>
          <p:sp>
            <p:nvSpPr>
              <p:cNvPr id="13" name="TextBox 12">
                <a:extLst>
                  <a:ext uri="{FF2B5EF4-FFF2-40B4-BE49-F238E27FC236}">
                    <a16:creationId xmlns:a16="http://schemas.microsoft.com/office/drawing/2014/main" id="{85861384-B18B-4512-A810-FB9141CD8B51}"/>
                  </a:ext>
                </a:extLst>
              </p:cNvPr>
              <p:cNvSpPr txBox="1"/>
              <p:nvPr/>
            </p:nvSpPr>
            <p:spPr>
              <a:xfrm>
                <a:off x="2102598" y="6091882"/>
                <a:ext cx="3431452" cy="369332"/>
              </a:xfrm>
              <a:prstGeom prst="rect">
                <a:avLst/>
              </a:prstGeom>
              <a:noFill/>
            </p:spPr>
            <p:txBody>
              <a:bodyPr wrap="none" rtlCol="0">
                <a:spAutoFit/>
              </a:bodyPr>
              <a:lstStyle/>
              <a:p>
                <a:r>
                  <a:rPr lang="en-US" dirty="0"/>
                  <a:t>Cl(g) → Cl</a:t>
                </a:r>
                <a:r>
                  <a:rPr lang="en-US" baseline="30000" dirty="0"/>
                  <a:t>-</a:t>
                </a:r>
                <a:r>
                  <a:rPr lang="en-US" dirty="0"/>
                  <a:t>(g)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sz="1800" b="0" i="1" u="none" strike="noStrike" baseline="-25000" dirty="0">
                    <a:latin typeface="Times-Italic"/>
                  </a:rPr>
                  <a:t>EA</a:t>
                </a:r>
                <a:r>
                  <a:rPr lang="en-US" dirty="0"/>
                  <a:t>                </a:t>
                </a:r>
                <a:endParaRPr lang="en-IN" dirty="0"/>
              </a:p>
            </p:txBody>
          </p:sp>
          <p:sp>
            <p:nvSpPr>
              <p:cNvPr id="14" name="TextBox 13">
                <a:extLst>
                  <a:ext uri="{FF2B5EF4-FFF2-40B4-BE49-F238E27FC236}">
                    <a16:creationId xmlns:a16="http://schemas.microsoft.com/office/drawing/2014/main" id="{38516B9E-EF65-F4F6-BF75-0420FC41948D}"/>
                  </a:ext>
                </a:extLst>
              </p:cNvPr>
              <p:cNvSpPr txBox="1"/>
              <p:nvPr/>
            </p:nvSpPr>
            <p:spPr>
              <a:xfrm>
                <a:off x="5709857" y="4522218"/>
                <a:ext cx="5841242"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unknown lattice enthalpy can be calculated by summing up all the enthalpy changes. Sum of enthalpy changes round a complete cycle is zero. </a:t>
                </a:r>
                <a:endParaRPr lang="en-IN"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A789592-8134-1D20-89FB-E4D01EC0438E}"/>
                  </a:ext>
                </a:extLst>
              </p:cNvPr>
              <p:cNvSpPr txBox="1"/>
              <p:nvPr/>
            </p:nvSpPr>
            <p:spPr>
              <a:xfrm>
                <a:off x="6011008" y="5795991"/>
                <a:ext cx="4007379" cy="369332"/>
              </a:xfrm>
              <a:prstGeom prst="rect">
                <a:avLst/>
              </a:prstGeom>
              <a:noFill/>
            </p:spPr>
            <p:txBody>
              <a:bodyPr wrap="none" rtlCol="0">
                <a:spAutoFit/>
              </a:bodyPr>
              <a:lstStyle/>
              <a:p>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sz="1800" b="0" i="0" u="none" strike="noStrike" baseline="-25000" dirty="0">
                    <a:latin typeface="Times-Roman"/>
                  </a:rPr>
                  <a:t>f  </a:t>
                </a:r>
                <a:r>
                  <a:rPr lang="pt-BR" sz="1800" b="0" i="0" u="none" strike="noStrike" dirty="0">
                    <a:latin typeface="Times-Roman"/>
                  </a:rPr>
                  <a:t>= </a:t>
                </a:r>
                <a:r>
                  <a:rPr lang="en-IN" sz="1800" b="0" i="1" u="none" strike="noStrike" baseline="0" dirty="0">
                    <a:latin typeface="RMTMI"/>
                    <a:sym typeface="Symbol" panose="05050102010706020507" pitchFamily="18" charset="2"/>
                  </a:rPr>
                  <a:t> </a:t>
                </a:r>
                <a:r>
                  <a:rPr lang="pt-BR" sz="1800" b="0" i="1" u="none" strike="noStrike" baseline="0">
                    <a:latin typeface="Times-Italic"/>
                  </a:rPr>
                  <a:t>H</a:t>
                </a:r>
                <a:r>
                  <a:rPr lang="pt-BR" baseline="-25000">
                    <a:latin typeface="Times-Roman"/>
                  </a:rPr>
                  <a:t>atm </a:t>
                </a:r>
                <a:r>
                  <a:rPr lang="en-IN" sz="1800" b="0" i="1" u="none" strike="noStrike" baseline="0">
                    <a:latin typeface="RMTMI"/>
                    <a:sym typeface="Symbol" panose="05050102010706020507" pitchFamily="18" charset="2"/>
                  </a:rPr>
                  <a:t> </a:t>
                </a:r>
                <a:r>
                  <a:rPr lang="pt-BR" sz="1800" b="0" i="1" u="none" strike="noStrike" baseline="0" dirty="0">
                    <a:latin typeface="Times-Italic"/>
                  </a:rPr>
                  <a:t>H</a:t>
                </a:r>
                <a:r>
                  <a:rPr lang="pt-BR" baseline="-25000" dirty="0">
                    <a:latin typeface="Times-Roman"/>
                  </a:rPr>
                  <a:t>dis </a:t>
                </a:r>
                <a:r>
                  <a:rPr lang="pt-BR" dirty="0">
                    <a:latin typeface="Times-Roman"/>
                  </a:rPr>
                  <a:t> +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baseline="-25000" dirty="0">
                    <a:latin typeface="Times-Roman"/>
                  </a:rPr>
                  <a:t>ion </a:t>
                </a:r>
                <a:r>
                  <a:rPr lang="en-IN" sz="1800" b="0" i="1" u="none" strike="noStrike" baseline="0" dirty="0">
                    <a:latin typeface="RMTMI"/>
                    <a:sym typeface="Symbol" panose="05050102010706020507" pitchFamily="18" charset="2"/>
                  </a:rPr>
                  <a:t> </a:t>
                </a:r>
                <a:r>
                  <a:rPr lang="pt-BR" sz="1800" b="0" i="1" u="none" strike="noStrike" baseline="0" dirty="0">
                    <a:latin typeface="Times-Italic"/>
                  </a:rPr>
                  <a:t>H</a:t>
                </a:r>
                <a:r>
                  <a:rPr lang="pt-BR" baseline="-25000" dirty="0">
                    <a:latin typeface="Times-Roman"/>
                  </a:rPr>
                  <a:t>EA </a:t>
                </a:r>
                <a:r>
                  <a:rPr lang="pt-BR" dirty="0">
                    <a:latin typeface="Times-Roman"/>
                  </a:rPr>
                  <a:t>+ U</a:t>
                </a:r>
                <a:r>
                  <a:rPr lang="pt-BR" sz="1800" b="0" i="0" u="none" strike="noStrike" dirty="0">
                    <a:latin typeface="Times-Roman"/>
                  </a:rPr>
                  <a:t> </a:t>
                </a:r>
                <a:endParaRPr lang="en-IN" dirty="0"/>
              </a:p>
            </p:txBody>
          </p:sp>
        </p:grpSp>
        <p:sp>
          <p:nvSpPr>
            <p:cNvPr id="7" name="TextBox 6">
              <a:extLst>
                <a:ext uri="{FF2B5EF4-FFF2-40B4-BE49-F238E27FC236}">
                  <a16:creationId xmlns:a16="http://schemas.microsoft.com/office/drawing/2014/main" id="{9C51681E-0317-C953-7531-474486F30DBD}"/>
                </a:ext>
              </a:extLst>
            </p:cNvPr>
            <p:cNvSpPr txBox="1"/>
            <p:nvPr/>
          </p:nvSpPr>
          <p:spPr>
            <a:xfrm>
              <a:off x="1312430" y="6383076"/>
              <a:ext cx="3557384" cy="369332"/>
            </a:xfrm>
            <a:prstGeom prst="rect">
              <a:avLst/>
            </a:prstGeom>
            <a:noFill/>
          </p:spPr>
          <p:txBody>
            <a:bodyPr wrap="none" rtlCol="0">
              <a:spAutoFit/>
            </a:bodyPr>
            <a:lstStyle/>
            <a:p>
              <a:r>
                <a:rPr lang="en-IN" sz="1800" b="0" i="0" u="none" strike="noStrike" baseline="0" dirty="0">
                  <a:latin typeface="Times-Roman"/>
                </a:rPr>
                <a:t>Na</a:t>
              </a:r>
              <a:r>
                <a:rPr lang="en-IN" sz="1800" b="0" i="0" u="none" strike="noStrike" baseline="30000" dirty="0">
                  <a:latin typeface="MTSY"/>
                </a:rPr>
                <a:t>+</a:t>
              </a:r>
              <a:r>
                <a:rPr lang="en-IN" sz="1800" b="0" i="0" u="none" strike="noStrike" baseline="0" dirty="0">
                  <a:latin typeface="Times-Roman"/>
                </a:rPr>
                <a:t>(g) </a:t>
              </a:r>
              <a:r>
                <a:rPr lang="en-IN" sz="1800" b="0" i="0" u="none" strike="noStrike" baseline="0" dirty="0">
                  <a:latin typeface="MTSY"/>
                </a:rPr>
                <a:t>+ </a:t>
              </a:r>
              <a:r>
                <a:rPr lang="en-IN" sz="1800" b="0" i="0" u="none" strike="noStrike" baseline="0" dirty="0">
                  <a:latin typeface="Times-Roman"/>
                </a:rPr>
                <a:t>Cl</a:t>
              </a:r>
              <a:r>
                <a:rPr lang="en-IN" baseline="30000" dirty="0">
                  <a:latin typeface="MTSY"/>
                </a:rPr>
                <a:t>- </a:t>
              </a:r>
              <a:r>
                <a:rPr lang="en-IN" sz="1800" b="0" i="0" u="none" strike="noStrike" baseline="0" dirty="0">
                  <a:latin typeface="Times-Roman"/>
                </a:rPr>
                <a:t>(g) </a:t>
              </a:r>
              <a:r>
                <a:rPr lang="en-IN" sz="1800" b="0" i="0" u="none" strike="noStrike" baseline="0" dirty="0">
                  <a:latin typeface="MTSY"/>
                </a:rPr>
                <a:t>→ </a:t>
              </a:r>
              <a:r>
                <a:rPr lang="en-IN" sz="1800" b="0" i="0" u="none" strike="noStrike" baseline="0" dirty="0">
                  <a:latin typeface="Times-Roman"/>
                </a:rPr>
                <a:t>NaCl(s)</a:t>
              </a:r>
              <a:r>
                <a:rPr lang="en-IN" sz="1800" b="0" i="1" u="none" strike="noStrike" baseline="0" dirty="0">
                  <a:latin typeface="RMTMI"/>
                </a:rPr>
                <a:t>,  </a:t>
              </a:r>
              <a:r>
                <a:rPr lang="en-IN" sz="1800" b="0" i="1" u="none" strike="noStrike" baseline="0" dirty="0">
                  <a:latin typeface="RMTMI"/>
                  <a:sym typeface="Symbol" panose="05050102010706020507" pitchFamily="18" charset="2"/>
                </a:rPr>
                <a:t></a:t>
              </a:r>
              <a:r>
                <a:rPr lang="en-IN" sz="1800" b="0" i="1" u="none" strike="noStrike" baseline="0" dirty="0">
                  <a:latin typeface="Times-Italic"/>
                </a:rPr>
                <a:t>H </a:t>
              </a:r>
              <a:r>
                <a:rPr lang="en-IN" sz="1800" b="0" i="0" u="none" strike="noStrike" baseline="0" dirty="0">
                  <a:latin typeface="MTSY"/>
                </a:rPr>
                <a:t>= </a:t>
              </a:r>
              <a:r>
                <a:rPr lang="en-IN" sz="1800" b="0" i="1" u="none" strike="noStrike" baseline="0" dirty="0">
                  <a:latin typeface="Times-Italic"/>
                </a:rPr>
                <a:t>U</a:t>
              </a:r>
              <a:endParaRPr lang="en-IN" dirty="0"/>
            </a:p>
          </p:txBody>
        </p:sp>
      </p:grpSp>
    </p:spTree>
    <p:extLst>
      <p:ext uri="{BB962C8B-B14F-4D97-AF65-F5344CB8AC3E}">
        <p14:creationId xmlns:p14="http://schemas.microsoft.com/office/powerpoint/2010/main" val="351503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3C6E28-0BF2-F3B0-420B-B540E33A1A06}"/>
              </a:ext>
            </a:extLst>
          </p:cNvPr>
          <p:cNvPicPr>
            <a:picLocks noChangeAspect="1"/>
          </p:cNvPicPr>
          <p:nvPr/>
        </p:nvPicPr>
        <p:blipFill>
          <a:blip r:embed="rId2"/>
          <a:stretch>
            <a:fillRect/>
          </a:stretch>
        </p:blipFill>
        <p:spPr>
          <a:xfrm>
            <a:off x="532682" y="407088"/>
            <a:ext cx="3450725" cy="5355812"/>
          </a:xfrm>
          <a:prstGeom prst="rect">
            <a:avLst/>
          </a:prstGeom>
        </p:spPr>
      </p:pic>
      <p:pic>
        <p:nvPicPr>
          <p:cNvPr id="5" name="Picture 4">
            <a:extLst>
              <a:ext uri="{FF2B5EF4-FFF2-40B4-BE49-F238E27FC236}">
                <a16:creationId xmlns:a16="http://schemas.microsoft.com/office/drawing/2014/main" id="{265139B9-A247-458A-719B-4A64EA84DCA5}"/>
              </a:ext>
            </a:extLst>
          </p:cNvPr>
          <p:cNvPicPr>
            <a:picLocks noChangeAspect="1"/>
          </p:cNvPicPr>
          <p:nvPr/>
        </p:nvPicPr>
        <p:blipFill>
          <a:blip r:embed="rId3"/>
          <a:stretch>
            <a:fillRect/>
          </a:stretch>
        </p:blipFill>
        <p:spPr>
          <a:xfrm>
            <a:off x="5576782" y="801075"/>
            <a:ext cx="3450726" cy="2627925"/>
          </a:xfrm>
          <a:prstGeom prst="rect">
            <a:avLst/>
          </a:prstGeom>
        </p:spPr>
      </p:pic>
      <p:sp>
        <p:nvSpPr>
          <p:cNvPr id="6" name="TextBox 5">
            <a:extLst>
              <a:ext uri="{FF2B5EF4-FFF2-40B4-BE49-F238E27FC236}">
                <a16:creationId xmlns:a16="http://schemas.microsoft.com/office/drawing/2014/main" id="{CFA122AB-F804-5CDC-2E1F-D5E0FABFA638}"/>
              </a:ext>
            </a:extLst>
          </p:cNvPr>
          <p:cNvSpPr txBox="1"/>
          <p:nvPr/>
        </p:nvSpPr>
        <p:spPr>
          <a:xfrm>
            <a:off x="4276015" y="222422"/>
            <a:ext cx="2133918" cy="369332"/>
          </a:xfrm>
          <a:prstGeom prst="rect">
            <a:avLst/>
          </a:prstGeom>
          <a:noFill/>
        </p:spPr>
        <p:txBody>
          <a:bodyPr wrap="none" rtlCol="0">
            <a:spAutoFit/>
          </a:bodyPr>
          <a:lstStyle/>
          <a:p>
            <a:r>
              <a:rPr lang="en-US" b="1" dirty="0">
                <a:solidFill>
                  <a:srgbClr val="C00000"/>
                </a:solidFill>
                <a:latin typeface="Arial" panose="020B0604020202020204" pitchFamily="34" charset="0"/>
                <a:cs typeface="Arial" panose="020B0604020202020204" pitchFamily="34" charset="0"/>
              </a:rPr>
              <a:t>Born-Haber Cycle</a:t>
            </a:r>
            <a:endParaRPr lang="en-IN" b="1" dirty="0">
              <a:solidFill>
                <a:srgbClr val="C00000"/>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A4BB086-1EC3-6FD2-3C2C-4E34B144B4DE}"/>
              </a:ext>
            </a:extLst>
          </p:cNvPr>
          <p:cNvPicPr>
            <a:picLocks noChangeAspect="1"/>
          </p:cNvPicPr>
          <p:nvPr/>
        </p:nvPicPr>
        <p:blipFill>
          <a:blip r:embed="rId4"/>
          <a:stretch>
            <a:fillRect/>
          </a:stretch>
        </p:blipFill>
        <p:spPr>
          <a:xfrm>
            <a:off x="4592896" y="4510706"/>
            <a:ext cx="6773814" cy="2027254"/>
          </a:xfrm>
          <a:prstGeom prst="rect">
            <a:avLst/>
          </a:prstGeom>
        </p:spPr>
      </p:pic>
      <p:sp>
        <p:nvSpPr>
          <p:cNvPr id="9" name="TextBox 8">
            <a:extLst>
              <a:ext uri="{FF2B5EF4-FFF2-40B4-BE49-F238E27FC236}">
                <a16:creationId xmlns:a16="http://schemas.microsoft.com/office/drawing/2014/main" id="{A57D9184-EE39-2825-459F-B695271FC230}"/>
              </a:ext>
            </a:extLst>
          </p:cNvPr>
          <p:cNvSpPr txBox="1"/>
          <p:nvPr/>
        </p:nvSpPr>
        <p:spPr>
          <a:xfrm>
            <a:off x="4708478" y="3792451"/>
            <a:ext cx="4252383" cy="369332"/>
          </a:xfrm>
          <a:prstGeom prst="rect">
            <a:avLst/>
          </a:prstGeom>
          <a:noFill/>
        </p:spPr>
        <p:txBody>
          <a:bodyPr wrap="none" rtlCol="0">
            <a:spAutoFit/>
          </a:bodyPr>
          <a:lstStyle/>
          <a:p>
            <a:r>
              <a:rPr lang="en-US" b="1" dirty="0"/>
              <a:t>Lattice energies (KJ/mol) of group I halides</a:t>
            </a:r>
            <a:endParaRPr lang="en-IN" b="1" dirty="0"/>
          </a:p>
        </p:txBody>
      </p:sp>
    </p:spTree>
    <p:extLst>
      <p:ext uri="{BB962C8B-B14F-4D97-AF65-F5344CB8AC3E}">
        <p14:creationId xmlns:p14="http://schemas.microsoft.com/office/powerpoint/2010/main" val="2601868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E08CE5-2637-7B71-71CF-9A5403414910}"/>
              </a:ext>
            </a:extLst>
          </p:cNvPr>
          <p:cNvSpPr txBox="1"/>
          <p:nvPr/>
        </p:nvSpPr>
        <p:spPr>
          <a:xfrm>
            <a:off x="4628808" y="232011"/>
            <a:ext cx="2021707"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Crystal defects</a:t>
            </a:r>
            <a:endParaRPr lang="en-IN" sz="2000" b="1"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2E17AFB-5E72-2535-90DB-93D5A360C594}"/>
              </a:ext>
            </a:extLst>
          </p:cNvPr>
          <p:cNvSpPr txBox="1"/>
          <p:nvPr/>
        </p:nvSpPr>
        <p:spPr>
          <a:xfrm>
            <a:off x="1143362" y="982639"/>
            <a:ext cx="9905276" cy="1200329"/>
          </a:xfrm>
          <a:prstGeom prst="rect">
            <a:avLst/>
          </a:prstGeom>
          <a:noFill/>
        </p:spPr>
        <p:txBody>
          <a:bodyPr wrap="none" rtlCol="0">
            <a:spAutoFit/>
          </a:bodyPr>
          <a:lstStyle/>
          <a:p>
            <a:pPr algn="l"/>
            <a:r>
              <a:rPr lang="en-US" sz="1800" b="0" i="0" u="none" strike="noStrike" baseline="0" dirty="0">
                <a:latin typeface="Times-Roman"/>
              </a:rPr>
              <a:t>In a perfect crystal, all the atoms are at rest on their correct lattice positions. Such a perfect crystal can be</a:t>
            </a:r>
          </a:p>
          <a:p>
            <a:pPr algn="l"/>
            <a:r>
              <a:rPr lang="en-US" sz="1800" b="0" i="0" u="none" strike="noStrike" baseline="0" dirty="0">
                <a:latin typeface="Times-Roman"/>
              </a:rPr>
              <a:t>obtained, hypothetically, only at absolute zero; </a:t>
            </a:r>
          </a:p>
          <a:p>
            <a:pPr algn="l"/>
            <a:endParaRPr lang="en-US" dirty="0">
              <a:latin typeface="Times-Roman"/>
            </a:endParaRPr>
          </a:p>
          <a:p>
            <a:pPr algn="l"/>
            <a:r>
              <a:rPr lang="en-US" sz="1800" b="0" i="0" u="none" strike="noStrike" baseline="0" dirty="0">
                <a:latin typeface="Times-Roman"/>
              </a:rPr>
              <a:t>At all real temperatures, crystals are imperfect.</a:t>
            </a:r>
            <a:endParaRPr lang="en-IN" dirty="0"/>
          </a:p>
        </p:txBody>
      </p:sp>
      <p:sp>
        <p:nvSpPr>
          <p:cNvPr id="4" name="TextBox 3">
            <a:extLst>
              <a:ext uri="{FF2B5EF4-FFF2-40B4-BE49-F238E27FC236}">
                <a16:creationId xmlns:a16="http://schemas.microsoft.com/office/drawing/2014/main" id="{CB38F418-102A-8D15-5E6C-ED0E5AA0D530}"/>
              </a:ext>
            </a:extLst>
          </p:cNvPr>
          <p:cNvSpPr txBox="1"/>
          <p:nvPr/>
        </p:nvSpPr>
        <p:spPr>
          <a:xfrm>
            <a:off x="1143362" y="2372904"/>
            <a:ext cx="9905276" cy="646331"/>
          </a:xfrm>
          <a:prstGeom prst="rect">
            <a:avLst/>
          </a:prstGeom>
          <a:noFill/>
        </p:spPr>
        <p:txBody>
          <a:bodyPr wrap="square" rtlCol="0">
            <a:spAutoFit/>
          </a:bodyPr>
          <a:lstStyle/>
          <a:p>
            <a:pPr algn="just"/>
            <a:r>
              <a:rPr lang="en-US" sz="1800" b="0" i="0" u="none" strike="noStrike" baseline="0" dirty="0">
                <a:latin typeface="Times-Roman"/>
              </a:rPr>
              <a:t>Crystals are invariably imperfect because the presence of defects up to a certain concentration leads to a</a:t>
            </a:r>
          </a:p>
          <a:p>
            <a:pPr algn="just"/>
            <a:r>
              <a:rPr lang="en-IN" sz="1800" b="0" i="0" u="none" strike="noStrike" baseline="0" dirty="0">
                <a:latin typeface="Times-Roman"/>
              </a:rPr>
              <a:t>reduction of free energy.</a:t>
            </a:r>
            <a:endParaRPr lang="en-IN" dirty="0"/>
          </a:p>
        </p:txBody>
      </p:sp>
      <p:grpSp>
        <p:nvGrpSpPr>
          <p:cNvPr id="10" name="Group 9">
            <a:extLst>
              <a:ext uri="{FF2B5EF4-FFF2-40B4-BE49-F238E27FC236}">
                <a16:creationId xmlns:a16="http://schemas.microsoft.com/office/drawing/2014/main" id="{A0BF8F47-B7B3-234C-558F-8F2A5ED3891F}"/>
              </a:ext>
            </a:extLst>
          </p:cNvPr>
          <p:cNvGrpSpPr/>
          <p:nvPr/>
        </p:nvGrpSpPr>
        <p:grpSpPr>
          <a:xfrm>
            <a:off x="1143362" y="3239958"/>
            <a:ext cx="10375348" cy="1482598"/>
            <a:chOff x="1143362" y="3239958"/>
            <a:chExt cx="10375348" cy="1482598"/>
          </a:xfrm>
        </p:grpSpPr>
        <p:sp>
          <p:nvSpPr>
            <p:cNvPr id="5" name="TextBox 4">
              <a:extLst>
                <a:ext uri="{FF2B5EF4-FFF2-40B4-BE49-F238E27FC236}">
                  <a16:creationId xmlns:a16="http://schemas.microsoft.com/office/drawing/2014/main" id="{406A1E20-BDAF-3134-8C07-98EE9E603CA4}"/>
                </a:ext>
              </a:extLst>
            </p:cNvPr>
            <p:cNvSpPr txBox="1"/>
            <p:nvPr/>
          </p:nvSpPr>
          <p:spPr>
            <a:xfrm>
              <a:off x="1143362" y="3239958"/>
              <a:ext cx="10375348"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Consider a perfect crystal with a single defect (vacant cation site). Creation of defects requires  some amount energy </a:t>
              </a:r>
              <a:r>
                <a:rPr lang="en-US" dirty="0">
                  <a:latin typeface="Times New Roman" panose="02020603050405020304" pitchFamily="18" charset="0"/>
                  <a:cs typeface="Times New Roman" panose="02020603050405020304" pitchFamily="18" charset="0"/>
                  <a:sym typeface="Symbol" panose="05050102010706020507" pitchFamily="18" charset="2"/>
                </a:rPr>
                <a:t>H, but increases the entropy, S.  </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A2E5C41-28E3-767B-F3B0-23310B5F1A80}"/>
                </a:ext>
              </a:extLst>
            </p:cNvPr>
            <p:cNvSpPr txBox="1"/>
            <p:nvPr/>
          </p:nvSpPr>
          <p:spPr>
            <a:xfrm>
              <a:off x="1143362" y="4076225"/>
              <a:ext cx="10375348"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 is due to the large number of positions this defect can occupy. For 1 mol of cations there will be 10</a:t>
              </a:r>
              <a:r>
                <a:rPr lang="en-US" baseline="30000" dirty="0">
                  <a:latin typeface="Times New Roman" panose="02020603050405020304" pitchFamily="18" charset="0"/>
                  <a:cs typeface="Times New Roman" panose="02020603050405020304" pitchFamily="18" charset="0"/>
                </a:rPr>
                <a:t>23</a:t>
              </a:r>
              <a:r>
                <a:rPr lang="en-US" dirty="0">
                  <a:latin typeface="Times New Roman" panose="02020603050405020304" pitchFamily="18" charset="0"/>
                  <a:cs typeface="Times New Roman" panose="02020603050405020304" pitchFamily="18" charset="0"/>
                </a:rPr>
                <a:t> possible positions</a:t>
              </a:r>
              <a:r>
                <a:rPr lang="en-US" dirty="0">
                  <a:latin typeface="Times New Roman" panose="02020603050405020304" pitchFamily="18" charset="0"/>
                  <a:cs typeface="Times New Roman" panose="02020603050405020304" pitchFamily="18" charset="0"/>
                  <a:sym typeface="Symbol" panose="05050102010706020507" pitchFamily="18" charset="2"/>
                </a:rPr>
                <a:t>.  </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3C39B745-F93A-7334-B6FB-3D329979E6B6}"/>
              </a:ext>
            </a:extLst>
          </p:cNvPr>
          <p:cNvGrpSpPr/>
          <p:nvPr/>
        </p:nvGrpSpPr>
        <p:grpSpPr>
          <a:xfrm>
            <a:off x="985290" y="4977039"/>
            <a:ext cx="8911479" cy="1441522"/>
            <a:chOff x="985290" y="4977039"/>
            <a:chExt cx="8911479" cy="1441522"/>
          </a:xfrm>
        </p:grpSpPr>
        <p:sp>
          <p:nvSpPr>
            <p:cNvPr id="7" name="TextBox 6">
              <a:extLst>
                <a:ext uri="{FF2B5EF4-FFF2-40B4-BE49-F238E27FC236}">
                  <a16:creationId xmlns:a16="http://schemas.microsoft.com/office/drawing/2014/main" id="{48588C67-997B-5E7E-865C-8B1DDB909551}"/>
                </a:ext>
              </a:extLst>
            </p:cNvPr>
            <p:cNvSpPr txBox="1"/>
            <p:nvPr/>
          </p:nvSpPr>
          <p:spPr>
            <a:xfrm>
              <a:off x="1143362" y="4977039"/>
              <a:ext cx="337162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According to Boltzmann equation </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DED7B22-5F9D-BB32-7AB8-7662AF282835}"/>
                </a:ext>
              </a:extLst>
            </p:cNvPr>
            <p:cNvSpPr txBox="1"/>
            <p:nvPr/>
          </p:nvSpPr>
          <p:spPr>
            <a:xfrm>
              <a:off x="3225907" y="5513134"/>
              <a:ext cx="1159292" cy="369332"/>
            </a:xfrm>
            <a:prstGeom prst="rect">
              <a:avLst/>
            </a:prstGeom>
            <a:noFill/>
          </p:spPr>
          <p:txBody>
            <a:bodyPr wrap="none" rtlCol="0">
              <a:spAutoFit/>
            </a:bodyPr>
            <a:lstStyle/>
            <a:p>
              <a:r>
                <a:rPr lang="en-US" dirty="0"/>
                <a:t>S  = </a:t>
              </a:r>
              <a:r>
                <a:rPr lang="en-US" dirty="0" err="1"/>
                <a:t>k.ln</a:t>
              </a:r>
              <a:r>
                <a:rPr lang="en-US" dirty="0"/>
                <a:t> W</a:t>
              </a:r>
              <a:endParaRPr lang="en-IN" dirty="0"/>
            </a:p>
          </p:txBody>
        </p:sp>
        <p:sp>
          <p:nvSpPr>
            <p:cNvPr id="9" name="TextBox 8">
              <a:extLst>
                <a:ext uri="{FF2B5EF4-FFF2-40B4-BE49-F238E27FC236}">
                  <a16:creationId xmlns:a16="http://schemas.microsoft.com/office/drawing/2014/main" id="{3D50A005-D257-30A0-637B-A43A966C6FA0}"/>
                </a:ext>
              </a:extLst>
            </p:cNvPr>
            <p:cNvSpPr txBox="1"/>
            <p:nvPr/>
          </p:nvSpPr>
          <p:spPr>
            <a:xfrm>
              <a:off x="5085627" y="5430703"/>
              <a:ext cx="2020746"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W is the probability</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C160823-3D3E-8FBA-8359-B8273592C495}"/>
                </a:ext>
              </a:extLst>
            </p:cNvPr>
            <p:cNvSpPr txBox="1"/>
            <p:nvPr/>
          </p:nvSpPr>
          <p:spPr>
            <a:xfrm>
              <a:off x="985290" y="6049229"/>
              <a:ext cx="891147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The energy needed to create a defect is more then compensated by the increase in the entropy. </a:t>
              </a:r>
              <a:endParaRPr lang="en-IN"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0062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DC0087-DF0B-4F6C-5DAF-AAF1C3790402}"/>
              </a:ext>
            </a:extLst>
          </p:cNvPr>
          <p:cNvSpPr txBox="1"/>
          <p:nvPr/>
        </p:nvSpPr>
        <p:spPr>
          <a:xfrm>
            <a:off x="2497540" y="500440"/>
            <a:ext cx="2006221" cy="369332"/>
          </a:xfrm>
          <a:prstGeom prst="rect">
            <a:avLst/>
          </a:prstGeom>
          <a:noFill/>
        </p:spPr>
        <p:txBody>
          <a:bodyPr wrap="square" rtlCol="0">
            <a:spAutoFit/>
          </a:bodyPr>
          <a:lstStyle/>
          <a:p>
            <a:r>
              <a:rPr lang="en-IN" sz="1800" b="0" i="1" u="none" strike="noStrike" baseline="0" dirty="0">
                <a:latin typeface="Arial" panose="020B0604020202020204" pitchFamily="34" charset="0"/>
                <a:cs typeface="Arial" panose="020B0604020202020204" pitchFamily="34" charset="0"/>
                <a:sym typeface="Symbol" panose="05050102010706020507" pitchFamily="18" charset="2"/>
              </a:rPr>
              <a:t></a:t>
            </a:r>
            <a:r>
              <a:rPr lang="en-IN" sz="1800" b="0" i="1" u="none" strike="noStrike" baseline="0" dirty="0">
                <a:latin typeface="Arial" panose="020B0604020202020204" pitchFamily="34" charset="0"/>
                <a:cs typeface="Arial" panose="020B0604020202020204" pitchFamily="34" charset="0"/>
              </a:rPr>
              <a:t>G </a:t>
            </a:r>
            <a:r>
              <a:rPr lang="en-IN" sz="1800" b="0" i="0" u="none" strike="noStrike" baseline="0" dirty="0">
                <a:latin typeface="Arial" panose="020B0604020202020204" pitchFamily="34" charset="0"/>
                <a:cs typeface="Arial" panose="020B0604020202020204" pitchFamily="34" charset="0"/>
              </a:rPr>
              <a:t>= </a:t>
            </a:r>
            <a:r>
              <a:rPr lang="en-IN" sz="1800" b="0" i="1" u="none" strike="noStrike" baseline="0" dirty="0">
                <a:latin typeface="Arial" panose="020B0604020202020204" pitchFamily="34" charset="0"/>
                <a:cs typeface="Arial" panose="020B0604020202020204" pitchFamily="34" charset="0"/>
                <a:sym typeface="Symbol" panose="05050102010706020507" pitchFamily="18" charset="2"/>
              </a:rPr>
              <a:t> </a:t>
            </a:r>
            <a:r>
              <a:rPr lang="en-IN" sz="1800" b="0" i="1" u="none" strike="noStrike" baseline="0" dirty="0">
                <a:latin typeface="Arial" panose="020B0604020202020204" pitchFamily="34" charset="0"/>
                <a:cs typeface="Arial" panose="020B0604020202020204" pitchFamily="34" charset="0"/>
              </a:rPr>
              <a:t>H </a:t>
            </a:r>
            <a:r>
              <a:rPr lang="en-IN" sz="1800" b="0" i="0" u="none" strike="noStrike" baseline="0" dirty="0">
                <a:latin typeface="Arial" panose="020B0604020202020204" pitchFamily="34" charset="0"/>
                <a:cs typeface="Arial" panose="020B0604020202020204" pitchFamily="34" charset="0"/>
              </a:rPr>
              <a:t>− </a:t>
            </a:r>
            <a:r>
              <a:rPr lang="en-IN" sz="1800" b="0" i="1" u="none" strike="noStrike" baseline="0" dirty="0">
                <a:latin typeface="Arial" panose="020B0604020202020204" pitchFamily="34" charset="0"/>
                <a:cs typeface="Arial" panose="020B0604020202020204" pitchFamily="34" charset="0"/>
              </a:rPr>
              <a:t>T</a:t>
            </a:r>
            <a:r>
              <a:rPr lang="en-IN" sz="1800" b="0" i="1" u="none" strike="noStrike" baseline="0" dirty="0">
                <a:latin typeface="Arial" panose="020B0604020202020204" pitchFamily="34" charset="0"/>
                <a:cs typeface="Arial" panose="020B0604020202020204" pitchFamily="34" charset="0"/>
                <a:sym typeface="Symbol" panose="05050102010706020507" pitchFamily="18" charset="2"/>
              </a:rPr>
              <a:t>  </a:t>
            </a:r>
            <a:r>
              <a:rPr lang="en-IN" sz="1800" b="0" i="1" u="none" strike="noStrike" baseline="0" dirty="0">
                <a:latin typeface="Arial" panose="020B0604020202020204" pitchFamily="34" charset="0"/>
                <a:cs typeface="Arial" panose="020B0604020202020204" pitchFamily="34" charset="0"/>
              </a:rPr>
              <a:t>S</a:t>
            </a:r>
            <a:endParaRPr lang="en-IN"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B1928B3-42C4-003C-054D-C9B9D44558C6}"/>
              </a:ext>
            </a:extLst>
          </p:cNvPr>
          <p:cNvSpPr txBox="1"/>
          <p:nvPr/>
        </p:nvSpPr>
        <p:spPr>
          <a:xfrm>
            <a:off x="380552" y="1266558"/>
            <a:ext cx="4868382"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However, at higher defect concentration (&gt;10%) the entropy contribution is small as the crystal is already disordered. Further, the energy required to create more defects will be higher.</a:t>
            </a:r>
            <a:endParaRPr lang="en-IN"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D0317727-EF33-EFA3-E7BF-F170606D21EA}"/>
              </a:ext>
            </a:extLst>
          </p:cNvPr>
          <p:cNvGrpSpPr/>
          <p:nvPr/>
        </p:nvGrpSpPr>
        <p:grpSpPr>
          <a:xfrm>
            <a:off x="454257" y="2960238"/>
            <a:ext cx="4868382" cy="3042895"/>
            <a:chOff x="454257" y="2237862"/>
            <a:chExt cx="4868382" cy="3042895"/>
          </a:xfrm>
        </p:grpSpPr>
        <p:sp>
          <p:nvSpPr>
            <p:cNvPr id="6" name="TextBox 5">
              <a:extLst>
                <a:ext uri="{FF2B5EF4-FFF2-40B4-BE49-F238E27FC236}">
                  <a16:creationId xmlns:a16="http://schemas.microsoft.com/office/drawing/2014/main" id="{02E8C96E-E304-B176-1564-CBA64283A3A8}"/>
                </a:ext>
              </a:extLst>
            </p:cNvPr>
            <p:cNvSpPr txBox="1"/>
            <p:nvPr/>
          </p:nvSpPr>
          <p:spPr>
            <a:xfrm>
              <a:off x="476217" y="2237862"/>
              <a:ext cx="1864678"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Types of defects</a:t>
              </a:r>
              <a:endParaRPr lang="en-IN" dirty="0">
                <a:solidFill>
                  <a:srgbClr val="C00000"/>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32C3602-1AC1-9E74-8F28-E2BFFBE193EA}"/>
                </a:ext>
              </a:extLst>
            </p:cNvPr>
            <p:cNvSpPr txBox="1"/>
            <p:nvPr/>
          </p:nvSpPr>
          <p:spPr>
            <a:xfrm>
              <a:off x="454257" y="2695434"/>
              <a:ext cx="4868382" cy="2585323"/>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Defects are broadly divided into two types</a:t>
              </a:r>
            </a:p>
            <a:p>
              <a:pPr algn="just"/>
              <a:endParaRPr lang="en-US" dirty="0">
                <a:latin typeface="Times New Roman" panose="02020603050405020304" pitchFamily="18" charset="0"/>
                <a:cs typeface="Times New Roman" panose="02020603050405020304" pitchFamily="18" charset="0"/>
              </a:endParaRPr>
            </a:p>
            <a:p>
              <a:pPr algn="just"/>
              <a:r>
                <a:rPr lang="en-US" dirty="0">
                  <a:solidFill>
                    <a:srgbClr val="C00000"/>
                  </a:solidFill>
                  <a:latin typeface="Times New Roman" panose="02020603050405020304" pitchFamily="18" charset="0"/>
                  <a:cs typeface="Times New Roman" panose="02020603050405020304" pitchFamily="18" charset="0"/>
                </a:rPr>
                <a:t>Stoichiometric defects (intrinsic defects)</a:t>
              </a:r>
            </a:p>
            <a:p>
              <a:pPr algn="just"/>
              <a:r>
                <a:rPr lang="en-US"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Where the composition of the crystals is unchanged</a:t>
              </a:r>
            </a:p>
            <a:p>
              <a:pPr algn="just"/>
              <a:endParaRPr lang="en-US" dirty="0">
                <a:latin typeface="Times New Roman" panose="02020603050405020304" pitchFamily="18" charset="0"/>
                <a:cs typeface="Times New Roman" panose="02020603050405020304" pitchFamily="18" charset="0"/>
              </a:endParaRPr>
            </a:p>
            <a:p>
              <a:pPr algn="just"/>
              <a:r>
                <a:rPr lang="en-US" dirty="0">
                  <a:solidFill>
                    <a:srgbClr val="C00000"/>
                  </a:solidFill>
                  <a:latin typeface="Times New Roman" panose="02020603050405020304" pitchFamily="18" charset="0"/>
                  <a:cs typeface="Times New Roman" panose="02020603050405020304" pitchFamily="18" charset="0"/>
                </a:rPr>
                <a:t>Non</a:t>
              </a:r>
              <a:r>
                <a:rPr lang="en-US" dirty="0">
                  <a:latin typeface="Times New Roman" panose="02020603050405020304" pitchFamily="18" charset="0"/>
                  <a:cs typeface="Times New Roman" panose="02020603050405020304" pitchFamily="18" charset="0"/>
                </a:rPr>
                <a:t>-</a:t>
              </a:r>
              <a:r>
                <a:rPr lang="en-US" dirty="0">
                  <a:solidFill>
                    <a:srgbClr val="C00000"/>
                  </a:solidFill>
                  <a:latin typeface="Times New Roman" panose="02020603050405020304" pitchFamily="18" charset="0"/>
                  <a:cs typeface="Times New Roman" panose="02020603050405020304" pitchFamily="18" charset="0"/>
                </a:rPr>
                <a:t>Stoichiometric defects (extrinsic defects)</a:t>
              </a:r>
            </a:p>
            <a:p>
              <a:pPr algn="just"/>
              <a:r>
                <a:rPr lang="en-US" dirty="0">
                  <a:latin typeface="Times New Roman" panose="02020603050405020304" pitchFamily="18" charset="0"/>
                  <a:cs typeface="Times New Roman" panose="02020603050405020304" pitchFamily="18" charset="0"/>
                </a:rPr>
                <a:t>Change in composition of the crystals is observed</a:t>
              </a:r>
            </a:p>
            <a:p>
              <a:pPr algn="just"/>
              <a:endParaRPr lang="en-US" dirty="0">
                <a:solidFill>
                  <a:srgbClr val="C00000"/>
                </a:solidFill>
                <a:latin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99915F2B-361A-F1F0-EA4E-D5399CF6E92F}"/>
              </a:ext>
            </a:extLst>
          </p:cNvPr>
          <p:cNvGrpSpPr/>
          <p:nvPr/>
        </p:nvGrpSpPr>
        <p:grpSpPr>
          <a:xfrm>
            <a:off x="5996056" y="3488269"/>
            <a:ext cx="6195944" cy="2323006"/>
            <a:chOff x="5996056" y="3488269"/>
            <a:chExt cx="6195944" cy="2323006"/>
          </a:xfrm>
        </p:grpSpPr>
        <p:sp>
          <p:nvSpPr>
            <p:cNvPr id="9" name="TextBox 8">
              <a:extLst>
                <a:ext uri="{FF2B5EF4-FFF2-40B4-BE49-F238E27FC236}">
                  <a16:creationId xmlns:a16="http://schemas.microsoft.com/office/drawing/2014/main" id="{7656FA79-2F56-7D59-F430-13C16316BAEF}"/>
                </a:ext>
              </a:extLst>
            </p:cNvPr>
            <p:cNvSpPr txBox="1"/>
            <p:nvPr/>
          </p:nvSpPr>
          <p:spPr>
            <a:xfrm>
              <a:off x="5996056" y="3488269"/>
              <a:ext cx="6195944"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Defects are classified depending on their size and shape. </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6203BA-52A2-BA5D-09B3-A7AEE799B647}"/>
                </a:ext>
              </a:extLst>
            </p:cNvPr>
            <p:cNvSpPr txBox="1"/>
            <p:nvPr/>
          </p:nvSpPr>
          <p:spPr>
            <a:xfrm>
              <a:off x="6344279" y="4333947"/>
              <a:ext cx="5393464" cy="1477328"/>
            </a:xfrm>
            <a:prstGeom prst="rect">
              <a:avLst/>
            </a:prstGeom>
            <a:noFill/>
          </p:spPr>
          <p:txBody>
            <a:bodyPr wrap="none" rtlCol="0">
              <a:spAutoFit/>
            </a:bodyPr>
            <a:lstStyle/>
            <a:p>
              <a:r>
                <a:rPr lang="en-US" dirty="0">
                  <a:solidFill>
                    <a:srgbClr val="C00000"/>
                  </a:solidFill>
                  <a:latin typeface="Times New Roman" panose="02020603050405020304" pitchFamily="18" charset="0"/>
                  <a:cs typeface="Times New Roman" panose="02020603050405020304" pitchFamily="18" charset="0"/>
                </a:rPr>
                <a:t>Point defect </a:t>
              </a:r>
              <a:r>
                <a:rPr lang="en-US" dirty="0">
                  <a:latin typeface="Times New Roman" panose="02020603050405020304" pitchFamily="18" charset="0"/>
                  <a:cs typeface="Times New Roman" panose="02020603050405020304" pitchFamily="18" charset="0"/>
                </a:rPr>
                <a:t>:involves one atom/site (vacancies)</a:t>
              </a:r>
            </a:p>
            <a:p>
              <a:endParaRPr lang="en-US" dirty="0">
                <a:latin typeface="Times New Roman" panose="02020603050405020304" pitchFamily="18" charset="0"/>
                <a:cs typeface="Times New Roman" panose="02020603050405020304" pitchFamily="18" charset="0"/>
              </a:endParaRPr>
            </a:p>
            <a:p>
              <a:r>
                <a:rPr lang="en-US" dirty="0">
                  <a:solidFill>
                    <a:srgbClr val="C00000"/>
                  </a:solidFill>
                  <a:latin typeface="Times New Roman" panose="02020603050405020304" pitchFamily="18" charset="0"/>
                  <a:cs typeface="Times New Roman" panose="02020603050405020304" pitchFamily="18" charset="0"/>
                </a:rPr>
                <a:t>Line defect: </a:t>
              </a:r>
              <a:r>
                <a:rPr lang="en-US" dirty="0">
                  <a:latin typeface="Times New Roman" panose="02020603050405020304" pitchFamily="18" charset="0"/>
                  <a:cs typeface="Times New Roman" panose="02020603050405020304" pitchFamily="18" charset="0"/>
                </a:rPr>
                <a:t>dislocations</a:t>
              </a:r>
            </a:p>
            <a:p>
              <a:endParaRPr lang="en-US" dirty="0">
                <a:latin typeface="Times New Roman" panose="02020603050405020304" pitchFamily="18" charset="0"/>
                <a:cs typeface="Times New Roman" panose="02020603050405020304" pitchFamily="18" charset="0"/>
              </a:endParaRPr>
            </a:p>
            <a:p>
              <a:r>
                <a:rPr lang="en-US" dirty="0">
                  <a:solidFill>
                    <a:srgbClr val="C00000"/>
                  </a:solidFill>
                  <a:latin typeface="Times New Roman" panose="02020603050405020304" pitchFamily="18" charset="0"/>
                  <a:cs typeface="Times New Roman" panose="02020603050405020304" pitchFamily="18" charset="0"/>
                </a:rPr>
                <a:t>Plane defect: </a:t>
              </a:r>
              <a:r>
                <a:rPr lang="en-US" dirty="0">
                  <a:latin typeface="Times New Roman" panose="02020603050405020304" pitchFamily="18" charset="0"/>
                  <a:cs typeface="Times New Roman" panose="02020603050405020304" pitchFamily="18" charset="0"/>
                </a:rPr>
                <a:t>Whole layer of the crystal can be defective</a:t>
              </a:r>
              <a:endParaRPr lang="en-IN" dirty="0">
                <a:latin typeface="Times New Roman" panose="02020603050405020304" pitchFamily="18" charset="0"/>
                <a:cs typeface="Times New Roman" panose="02020603050405020304" pitchFamily="18" charset="0"/>
              </a:endParaRPr>
            </a:p>
          </p:txBody>
        </p:sp>
      </p:grpSp>
      <p:grpSp>
        <p:nvGrpSpPr>
          <p:cNvPr id="14" name="Group 13">
            <a:extLst>
              <a:ext uri="{FF2B5EF4-FFF2-40B4-BE49-F238E27FC236}">
                <a16:creationId xmlns:a16="http://schemas.microsoft.com/office/drawing/2014/main" id="{D22781B4-B107-E850-EF9D-898315BB1475}"/>
              </a:ext>
            </a:extLst>
          </p:cNvPr>
          <p:cNvGrpSpPr/>
          <p:nvPr/>
        </p:nvGrpSpPr>
        <p:grpSpPr>
          <a:xfrm>
            <a:off x="5322639" y="411166"/>
            <a:ext cx="3053265" cy="2800858"/>
            <a:chOff x="8468155" y="330701"/>
            <a:chExt cx="3411401" cy="3039031"/>
          </a:xfrm>
        </p:grpSpPr>
        <p:pic>
          <p:nvPicPr>
            <p:cNvPr id="5" name="Picture 4">
              <a:extLst>
                <a:ext uri="{FF2B5EF4-FFF2-40B4-BE49-F238E27FC236}">
                  <a16:creationId xmlns:a16="http://schemas.microsoft.com/office/drawing/2014/main" id="{EE465B28-CB08-2B6C-FB7B-9A2ACEDEDA63}"/>
                </a:ext>
              </a:extLst>
            </p:cNvPr>
            <p:cNvPicPr>
              <a:picLocks noChangeAspect="1"/>
            </p:cNvPicPr>
            <p:nvPr/>
          </p:nvPicPr>
          <p:blipFill>
            <a:blip r:embed="rId2"/>
            <a:stretch>
              <a:fillRect/>
            </a:stretch>
          </p:blipFill>
          <p:spPr>
            <a:xfrm>
              <a:off x="8468155" y="330701"/>
              <a:ext cx="3411401" cy="3039031"/>
            </a:xfrm>
            <a:prstGeom prst="rect">
              <a:avLst/>
            </a:prstGeom>
          </p:spPr>
        </p:pic>
        <p:cxnSp>
          <p:nvCxnSpPr>
            <p:cNvPr id="8" name="Straight Arrow Connector 7">
              <a:extLst>
                <a:ext uri="{FF2B5EF4-FFF2-40B4-BE49-F238E27FC236}">
                  <a16:creationId xmlns:a16="http://schemas.microsoft.com/office/drawing/2014/main" id="{BF488508-B4F9-43C6-3EDC-174417A1C685}"/>
                </a:ext>
              </a:extLst>
            </p:cNvPr>
            <p:cNvCxnSpPr>
              <a:cxnSpLocks/>
            </p:cNvCxnSpPr>
            <p:nvPr/>
          </p:nvCxnSpPr>
          <p:spPr>
            <a:xfrm>
              <a:off x="9464511" y="2237862"/>
              <a:ext cx="0" cy="6467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pic>
        <p:nvPicPr>
          <p:cNvPr id="16" name="Picture 15">
            <a:extLst>
              <a:ext uri="{FF2B5EF4-FFF2-40B4-BE49-F238E27FC236}">
                <a16:creationId xmlns:a16="http://schemas.microsoft.com/office/drawing/2014/main" id="{ED533D7B-5182-FE32-8355-75FB8834D0A3}"/>
              </a:ext>
            </a:extLst>
          </p:cNvPr>
          <p:cNvPicPr>
            <a:picLocks noChangeAspect="1"/>
          </p:cNvPicPr>
          <p:nvPr/>
        </p:nvPicPr>
        <p:blipFill>
          <a:blip r:embed="rId3"/>
          <a:stretch>
            <a:fillRect/>
          </a:stretch>
        </p:blipFill>
        <p:spPr>
          <a:xfrm>
            <a:off x="8449609" y="363452"/>
            <a:ext cx="3266174" cy="2800859"/>
          </a:xfrm>
          <a:prstGeom prst="rect">
            <a:avLst/>
          </a:prstGeom>
        </p:spPr>
      </p:pic>
    </p:spTree>
    <p:extLst>
      <p:ext uri="{BB962C8B-B14F-4D97-AF65-F5344CB8AC3E}">
        <p14:creationId xmlns:p14="http://schemas.microsoft.com/office/powerpoint/2010/main" val="734791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A12AE30F-72BE-F95F-F9A9-1E1AB607887F}"/>
              </a:ext>
            </a:extLst>
          </p:cNvPr>
          <p:cNvSpPr txBox="1"/>
          <p:nvPr/>
        </p:nvSpPr>
        <p:spPr>
          <a:xfrm>
            <a:off x="3414156" y="126250"/>
            <a:ext cx="4543231"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Point defects: Schottky and Frenkel</a:t>
            </a:r>
            <a:endParaRPr lang="en-IN" sz="2000" b="1" dirty="0">
              <a:solidFill>
                <a:srgbClr val="C00000"/>
              </a:solidFill>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F4160D07-5AF0-9D65-B125-4BDD23966D79}"/>
              </a:ext>
            </a:extLst>
          </p:cNvPr>
          <p:cNvGrpSpPr/>
          <p:nvPr/>
        </p:nvGrpSpPr>
        <p:grpSpPr>
          <a:xfrm>
            <a:off x="633860" y="1425637"/>
            <a:ext cx="3032884" cy="3133144"/>
            <a:chOff x="1168327" y="1249812"/>
            <a:chExt cx="2898706" cy="3349977"/>
          </a:xfrm>
        </p:grpSpPr>
        <p:pic>
          <p:nvPicPr>
            <p:cNvPr id="13" name="Picture 12">
              <a:extLst>
                <a:ext uri="{FF2B5EF4-FFF2-40B4-BE49-F238E27FC236}">
                  <a16:creationId xmlns:a16="http://schemas.microsoft.com/office/drawing/2014/main" id="{7E9D579C-BF16-8386-6FC1-9A59460B9D4F}"/>
                </a:ext>
              </a:extLst>
            </p:cNvPr>
            <p:cNvPicPr>
              <a:picLocks noChangeAspect="1"/>
            </p:cNvPicPr>
            <p:nvPr/>
          </p:nvPicPr>
          <p:blipFill>
            <a:blip r:embed="rId2"/>
            <a:stretch>
              <a:fillRect/>
            </a:stretch>
          </p:blipFill>
          <p:spPr>
            <a:xfrm>
              <a:off x="1474497" y="1249812"/>
              <a:ext cx="2592536" cy="3076354"/>
            </a:xfrm>
            <a:prstGeom prst="rect">
              <a:avLst/>
            </a:prstGeom>
          </p:spPr>
        </p:pic>
        <p:grpSp>
          <p:nvGrpSpPr>
            <p:cNvPr id="21" name="Group 20">
              <a:extLst>
                <a:ext uri="{FF2B5EF4-FFF2-40B4-BE49-F238E27FC236}">
                  <a16:creationId xmlns:a16="http://schemas.microsoft.com/office/drawing/2014/main" id="{FD46E847-5A20-4776-6B2A-9BCB280CF610}"/>
                </a:ext>
              </a:extLst>
            </p:cNvPr>
            <p:cNvGrpSpPr/>
            <p:nvPr/>
          </p:nvGrpSpPr>
          <p:grpSpPr>
            <a:xfrm>
              <a:off x="1168327" y="4230457"/>
              <a:ext cx="2768607" cy="369332"/>
              <a:chOff x="1168327" y="4230457"/>
              <a:chExt cx="2768607" cy="369332"/>
            </a:xfrm>
          </p:grpSpPr>
          <p:sp>
            <p:nvSpPr>
              <p:cNvPr id="17" name="TextBox 16">
                <a:extLst>
                  <a:ext uri="{FF2B5EF4-FFF2-40B4-BE49-F238E27FC236}">
                    <a16:creationId xmlns:a16="http://schemas.microsoft.com/office/drawing/2014/main" id="{50DFE40B-0843-B2FD-FD18-454AEF5B61EF}"/>
                  </a:ext>
                </a:extLst>
              </p:cNvPr>
              <p:cNvSpPr txBox="1"/>
              <p:nvPr/>
            </p:nvSpPr>
            <p:spPr>
              <a:xfrm>
                <a:off x="1168327" y="4230457"/>
                <a:ext cx="864339"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cation</a:t>
                </a:r>
                <a:endParaRPr lang="en-IN" b="1"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B2ED156-6520-DBD7-497B-280C8A04E7C2}"/>
                  </a:ext>
                </a:extLst>
              </p:cNvPr>
              <p:cNvSpPr txBox="1"/>
              <p:nvPr/>
            </p:nvSpPr>
            <p:spPr>
              <a:xfrm>
                <a:off x="3136715" y="4230457"/>
                <a:ext cx="800219"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anion</a:t>
                </a:r>
                <a:endParaRPr lang="en-IN" b="1" dirty="0">
                  <a:latin typeface="Arial" panose="020B0604020202020204" pitchFamily="34" charset="0"/>
                  <a:cs typeface="Arial" panose="020B0604020202020204" pitchFamily="34" charset="0"/>
                </a:endParaRPr>
              </a:p>
            </p:txBody>
          </p:sp>
        </p:grpSp>
      </p:grpSp>
      <p:grpSp>
        <p:nvGrpSpPr>
          <p:cNvPr id="23" name="Group 22">
            <a:extLst>
              <a:ext uri="{FF2B5EF4-FFF2-40B4-BE49-F238E27FC236}">
                <a16:creationId xmlns:a16="http://schemas.microsoft.com/office/drawing/2014/main" id="{2AAB1C38-BAAD-1577-18D1-3FD98A5381EC}"/>
              </a:ext>
            </a:extLst>
          </p:cNvPr>
          <p:cNvGrpSpPr/>
          <p:nvPr/>
        </p:nvGrpSpPr>
        <p:grpSpPr>
          <a:xfrm>
            <a:off x="6394410" y="1295722"/>
            <a:ext cx="2954922" cy="3047982"/>
            <a:chOff x="6946092" y="1249812"/>
            <a:chExt cx="2852999" cy="3095932"/>
          </a:xfrm>
        </p:grpSpPr>
        <p:pic>
          <p:nvPicPr>
            <p:cNvPr id="15" name="Picture 14">
              <a:extLst>
                <a:ext uri="{FF2B5EF4-FFF2-40B4-BE49-F238E27FC236}">
                  <a16:creationId xmlns:a16="http://schemas.microsoft.com/office/drawing/2014/main" id="{532C22DF-5D55-1C64-0D9E-377FB4483F3E}"/>
                </a:ext>
              </a:extLst>
            </p:cNvPr>
            <p:cNvPicPr>
              <a:picLocks noChangeAspect="1"/>
            </p:cNvPicPr>
            <p:nvPr/>
          </p:nvPicPr>
          <p:blipFill>
            <a:blip r:embed="rId3"/>
            <a:stretch>
              <a:fillRect/>
            </a:stretch>
          </p:blipFill>
          <p:spPr>
            <a:xfrm>
              <a:off x="6946092" y="1249812"/>
              <a:ext cx="2852999" cy="2726600"/>
            </a:xfrm>
            <a:prstGeom prst="rect">
              <a:avLst/>
            </a:prstGeom>
          </p:spPr>
        </p:pic>
        <p:sp>
          <p:nvSpPr>
            <p:cNvPr id="19" name="TextBox 18">
              <a:extLst>
                <a:ext uri="{FF2B5EF4-FFF2-40B4-BE49-F238E27FC236}">
                  <a16:creationId xmlns:a16="http://schemas.microsoft.com/office/drawing/2014/main" id="{FC4ED481-41E3-7B51-E0DD-9216E723E53B}"/>
                </a:ext>
              </a:extLst>
            </p:cNvPr>
            <p:cNvSpPr txBox="1"/>
            <p:nvPr/>
          </p:nvSpPr>
          <p:spPr>
            <a:xfrm>
              <a:off x="7246323" y="3976412"/>
              <a:ext cx="2031325"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Interstitial cation</a:t>
              </a:r>
              <a:endParaRPr lang="en-IN" b="1" dirty="0">
                <a:latin typeface="Arial" panose="020B0604020202020204" pitchFamily="34" charset="0"/>
                <a:cs typeface="Arial" panose="020B0604020202020204" pitchFamily="34" charset="0"/>
              </a:endParaRPr>
            </a:p>
          </p:txBody>
        </p:sp>
      </p:grpSp>
      <p:sp>
        <p:nvSpPr>
          <p:cNvPr id="20" name="TextBox 19">
            <a:extLst>
              <a:ext uri="{FF2B5EF4-FFF2-40B4-BE49-F238E27FC236}">
                <a16:creationId xmlns:a16="http://schemas.microsoft.com/office/drawing/2014/main" id="{A8B88F68-E630-5A05-017B-1B127356CCC1}"/>
              </a:ext>
            </a:extLst>
          </p:cNvPr>
          <p:cNvSpPr txBox="1"/>
          <p:nvPr/>
        </p:nvSpPr>
        <p:spPr>
          <a:xfrm>
            <a:off x="1622776" y="848871"/>
            <a:ext cx="1159292" cy="369332"/>
          </a:xfrm>
          <a:prstGeom prst="rect">
            <a:avLst/>
          </a:prstGeom>
          <a:noFill/>
        </p:spPr>
        <p:txBody>
          <a:bodyPr wrap="none" rtlCol="0">
            <a:spAutoFit/>
          </a:bodyPr>
          <a:lstStyle/>
          <a:p>
            <a:r>
              <a:rPr lang="en-US" sz="1800" b="1" dirty="0">
                <a:solidFill>
                  <a:srgbClr val="C00000"/>
                </a:solidFill>
                <a:latin typeface="Arial" panose="020B0604020202020204" pitchFamily="34" charset="0"/>
                <a:cs typeface="Arial" panose="020B0604020202020204" pitchFamily="34" charset="0"/>
              </a:rPr>
              <a:t>Schottky</a:t>
            </a:r>
            <a:endParaRPr lang="en-IN" dirty="0"/>
          </a:p>
        </p:txBody>
      </p:sp>
      <p:sp>
        <p:nvSpPr>
          <p:cNvPr id="24" name="TextBox 23">
            <a:extLst>
              <a:ext uri="{FF2B5EF4-FFF2-40B4-BE49-F238E27FC236}">
                <a16:creationId xmlns:a16="http://schemas.microsoft.com/office/drawing/2014/main" id="{48B8B2E2-EF5E-BB3D-B433-6D2C9A3BCEA9}"/>
              </a:ext>
            </a:extLst>
          </p:cNvPr>
          <p:cNvSpPr txBox="1"/>
          <p:nvPr/>
        </p:nvSpPr>
        <p:spPr>
          <a:xfrm>
            <a:off x="7454686" y="848871"/>
            <a:ext cx="1005403" cy="369332"/>
          </a:xfrm>
          <a:prstGeom prst="rect">
            <a:avLst/>
          </a:prstGeom>
          <a:noFill/>
        </p:spPr>
        <p:txBody>
          <a:bodyPr wrap="none" rtlCol="0">
            <a:spAutoFit/>
          </a:bodyPr>
          <a:lstStyle/>
          <a:p>
            <a:r>
              <a:rPr lang="en-US" sz="1800" b="1" dirty="0">
                <a:solidFill>
                  <a:srgbClr val="C00000"/>
                </a:solidFill>
                <a:latin typeface="Arial" panose="020B0604020202020204" pitchFamily="34" charset="0"/>
                <a:cs typeface="Arial" panose="020B0604020202020204" pitchFamily="34" charset="0"/>
              </a:rPr>
              <a:t>Frenkel</a:t>
            </a:r>
            <a:endParaRPr lang="en-IN" dirty="0"/>
          </a:p>
        </p:txBody>
      </p:sp>
      <p:sp>
        <p:nvSpPr>
          <p:cNvPr id="25" name="TextBox 24">
            <a:extLst>
              <a:ext uri="{FF2B5EF4-FFF2-40B4-BE49-F238E27FC236}">
                <a16:creationId xmlns:a16="http://schemas.microsoft.com/office/drawing/2014/main" id="{172C58CC-1076-BBB5-3086-9EF196953BC5}"/>
              </a:ext>
            </a:extLst>
          </p:cNvPr>
          <p:cNvSpPr txBox="1"/>
          <p:nvPr/>
        </p:nvSpPr>
        <p:spPr>
          <a:xfrm>
            <a:off x="449332" y="4629007"/>
            <a:ext cx="5139143" cy="147732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Equal numbers to anion and cation vacancies will be formed to maintain electroneutrality.</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charge of the cation vacancy is -1 it is +1 for anion vacancy.</a:t>
            </a:r>
            <a:endParaRPr lang="en-IN"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250DFA9F-DEC7-FEAD-5F99-1AFA98AFC74D}"/>
              </a:ext>
            </a:extLst>
          </p:cNvPr>
          <p:cNvSpPr txBox="1"/>
          <p:nvPr/>
        </p:nvSpPr>
        <p:spPr>
          <a:xfrm>
            <a:off x="2954896" y="907385"/>
            <a:ext cx="1146468" cy="369332"/>
          </a:xfrm>
          <a:prstGeom prst="rect">
            <a:avLst/>
          </a:prstGeom>
          <a:noFill/>
        </p:spPr>
        <p:txBody>
          <a:bodyPr wrap="none" rtlCol="0">
            <a:spAutoFit/>
          </a:bodyPr>
          <a:lstStyle/>
          <a:p>
            <a:r>
              <a:rPr lang="en-US" b="1" dirty="0" err="1">
                <a:latin typeface="Arial" panose="020B0604020202020204" pitchFamily="34" charset="0"/>
                <a:cs typeface="Arial" panose="020B0604020202020204" pitchFamily="34" charset="0"/>
              </a:rPr>
              <a:t>Eg</a:t>
            </a:r>
            <a:r>
              <a:rPr lang="en-US" b="1" dirty="0">
                <a:latin typeface="Arial" panose="020B0604020202020204" pitchFamily="34" charset="0"/>
                <a:cs typeface="Arial" panose="020B0604020202020204" pitchFamily="34" charset="0"/>
              </a:rPr>
              <a:t>: NaCl</a:t>
            </a:r>
            <a:endParaRPr lang="en-IN" b="1"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C36C7E40-04C6-6721-68E0-C4DECC852391}"/>
              </a:ext>
            </a:extLst>
          </p:cNvPr>
          <p:cNvSpPr txBox="1"/>
          <p:nvPr/>
        </p:nvSpPr>
        <p:spPr>
          <a:xfrm>
            <a:off x="8773982" y="786080"/>
            <a:ext cx="1150700" cy="369332"/>
          </a:xfrm>
          <a:prstGeom prst="rect">
            <a:avLst/>
          </a:prstGeom>
          <a:noFill/>
        </p:spPr>
        <p:txBody>
          <a:bodyPr wrap="none" rtlCol="0">
            <a:spAutoFit/>
          </a:bodyPr>
          <a:lstStyle/>
          <a:p>
            <a:r>
              <a:rPr lang="en-US" b="1" dirty="0" err="1">
                <a:latin typeface="Arial" panose="020B0604020202020204" pitchFamily="34" charset="0"/>
                <a:cs typeface="Arial" panose="020B0604020202020204" pitchFamily="34" charset="0"/>
              </a:rPr>
              <a:t>Eg</a:t>
            </a:r>
            <a:r>
              <a:rPr lang="en-US" b="1" dirty="0">
                <a:latin typeface="Arial" panose="020B0604020202020204" pitchFamily="34" charset="0"/>
                <a:cs typeface="Arial" panose="020B0604020202020204" pitchFamily="34" charset="0"/>
              </a:rPr>
              <a:t>: AgCl</a:t>
            </a:r>
            <a:endParaRPr lang="en-IN" b="1" dirty="0">
              <a:latin typeface="Arial" panose="020B0604020202020204" pitchFamily="34" charset="0"/>
              <a:cs typeface="Arial" panose="020B0604020202020204" pitchFamily="34" charset="0"/>
            </a:endParaRPr>
          </a:p>
        </p:txBody>
      </p:sp>
      <p:pic>
        <p:nvPicPr>
          <p:cNvPr id="58" name="Picture 57">
            <a:extLst>
              <a:ext uri="{FF2B5EF4-FFF2-40B4-BE49-F238E27FC236}">
                <a16:creationId xmlns:a16="http://schemas.microsoft.com/office/drawing/2014/main" id="{7FEBDC50-58B5-A544-4586-548FB3F11E47}"/>
              </a:ext>
            </a:extLst>
          </p:cNvPr>
          <p:cNvPicPr>
            <a:picLocks noChangeAspect="1"/>
          </p:cNvPicPr>
          <p:nvPr/>
        </p:nvPicPr>
        <p:blipFill>
          <a:blip r:embed="rId4"/>
          <a:stretch>
            <a:fillRect/>
          </a:stretch>
        </p:blipFill>
        <p:spPr>
          <a:xfrm>
            <a:off x="9924682" y="1773799"/>
            <a:ext cx="1828800" cy="1728216"/>
          </a:xfrm>
          <a:prstGeom prst="rect">
            <a:avLst/>
          </a:prstGeom>
        </p:spPr>
      </p:pic>
      <p:sp>
        <p:nvSpPr>
          <p:cNvPr id="62" name="TextBox 61">
            <a:extLst>
              <a:ext uri="{FF2B5EF4-FFF2-40B4-BE49-F238E27FC236}">
                <a16:creationId xmlns:a16="http://schemas.microsoft.com/office/drawing/2014/main" id="{AB5D36D2-43E9-BE64-4AD4-2BD13FBC03DE}"/>
              </a:ext>
            </a:extLst>
          </p:cNvPr>
          <p:cNvSpPr txBox="1"/>
          <p:nvPr/>
        </p:nvSpPr>
        <p:spPr>
          <a:xfrm flipH="1">
            <a:off x="6297632" y="4551220"/>
            <a:ext cx="5139143"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interstitial Ag is in 8 co-ordination. Some covalent interaction is possible resulting in stability</a:t>
            </a:r>
          </a:p>
        </p:txBody>
      </p:sp>
      <p:sp>
        <p:nvSpPr>
          <p:cNvPr id="2" name="TextBox 1">
            <a:extLst>
              <a:ext uri="{FF2B5EF4-FFF2-40B4-BE49-F238E27FC236}">
                <a16:creationId xmlns:a16="http://schemas.microsoft.com/office/drawing/2014/main" id="{C8DF24E0-AC9B-3089-6CF3-964990660E62}"/>
              </a:ext>
            </a:extLst>
          </p:cNvPr>
          <p:cNvSpPr txBox="1"/>
          <p:nvPr/>
        </p:nvSpPr>
        <p:spPr>
          <a:xfrm flipH="1">
            <a:off x="449332" y="6174704"/>
            <a:ext cx="5139143" cy="369332"/>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is observed in high CN crystals</a:t>
            </a:r>
          </a:p>
        </p:txBody>
      </p:sp>
      <p:sp>
        <p:nvSpPr>
          <p:cNvPr id="3" name="TextBox 2">
            <a:extLst>
              <a:ext uri="{FF2B5EF4-FFF2-40B4-BE49-F238E27FC236}">
                <a16:creationId xmlns:a16="http://schemas.microsoft.com/office/drawing/2014/main" id="{6651888E-8B2A-2034-28F1-C12BE21C0E3A}"/>
              </a:ext>
            </a:extLst>
          </p:cNvPr>
          <p:cNvSpPr txBox="1"/>
          <p:nvPr/>
        </p:nvSpPr>
        <p:spPr>
          <a:xfrm flipH="1">
            <a:off x="6297632" y="5307014"/>
            <a:ext cx="5139143"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In some cases the ions will move from Tb to Oh sites. Thus, these defects are noted in low coordination structures</a:t>
            </a:r>
          </a:p>
        </p:txBody>
      </p:sp>
    </p:spTree>
    <p:extLst>
      <p:ext uri="{BB962C8B-B14F-4D97-AF65-F5344CB8AC3E}">
        <p14:creationId xmlns:p14="http://schemas.microsoft.com/office/powerpoint/2010/main" val="76973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E5CBAD-2C42-54E3-449C-6CFBEF1D4495}"/>
              </a:ext>
            </a:extLst>
          </p:cNvPr>
          <p:cNvPicPr>
            <a:picLocks noChangeAspect="1"/>
          </p:cNvPicPr>
          <p:nvPr/>
        </p:nvPicPr>
        <p:blipFill>
          <a:blip r:embed="rId2"/>
          <a:stretch>
            <a:fillRect/>
          </a:stretch>
        </p:blipFill>
        <p:spPr>
          <a:xfrm>
            <a:off x="8186829" y="74518"/>
            <a:ext cx="2237331" cy="2723633"/>
          </a:xfrm>
          <a:prstGeom prst="rect">
            <a:avLst/>
          </a:prstGeom>
        </p:spPr>
      </p:pic>
      <p:sp>
        <p:nvSpPr>
          <p:cNvPr id="4" name="TextBox 3">
            <a:extLst>
              <a:ext uri="{FF2B5EF4-FFF2-40B4-BE49-F238E27FC236}">
                <a16:creationId xmlns:a16="http://schemas.microsoft.com/office/drawing/2014/main" id="{0DE6D169-C4C5-FB8F-F404-B3D3E5E0AF38}"/>
              </a:ext>
            </a:extLst>
          </p:cNvPr>
          <p:cNvSpPr txBox="1"/>
          <p:nvPr/>
        </p:nvSpPr>
        <p:spPr>
          <a:xfrm>
            <a:off x="4274585" y="74518"/>
            <a:ext cx="3445307" cy="400110"/>
          </a:xfrm>
          <a:prstGeom prst="rect">
            <a:avLst/>
          </a:prstGeom>
          <a:noFill/>
        </p:spPr>
        <p:txBody>
          <a:bodyPr wrap="square" rtlCol="0">
            <a:spAutoFit/>
          </a:bodyPr>
          <a:lstStyle/>
          <a:p>
            <a:r>
              <a:rPr lang="en-US" sz="2000" b="1" dirty="0">
                <a:solidFill>
                  <a:srgbClr val="C00000"/>
                </a:solidFill>
                <a:latin typeface="Arial" panose="020B0604020202020204" pitchFamily="34" charset="0"/>
                <a:cs typeface="Arial" panose="020B0604020202020204" pitchFamily="34" charset="0"/>
              </a:rPr>
              <a:t>Anti-exchange or anti-site</a:t>
            </a:r>
            <a:endParaRPr lang="en-IN" sz="2000" b="1" dirty="0">
              <a:solidFill>
                <a:srgbClr val="C0000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8DC9C93-1781-4414-F347-9600A33E026F}"/>
              </a:ext>
            </a:extLst>
          </p:cNvPr>
          <p:cNvSpPr txBox="1"/>
          <p:nvPr/>
        </p:nvSpPr>
        <p:spPr>
          <a:xfrm>
            <a:off x="676656" y="477698"/>
            <a:ext cx="6236208" cy="584775"/>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This type of defect is common in metal alloys with exchange of neutral atoms where pair of ions are interchange their positions. </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F42153D-543A-83C7-F141-94CB32A3AD33}"/>
              </a:ext>
            </a:extLst>
          </p:cNvPr>
          <p:cNvSpPr txBox="1"/>
          <p:nvPr/>
        </p:nvSpPr>
        <p:spPr>
          <a:xfrm>
            <a:off x="679455" y="1246259"/>
            <a:ext cx="6666569" cy="369332"/>
          </a:xfrm>
          <a:prstGeom prst="rect">
            <a:avLst/>
          </a:prstGeom>
          <a:noFill/>
        </p:spPr>
        <p:txBody>
          <a:bodyPr wrap="none" rtlCol="0">
            <a:spAutoFit/>
          </a:bodyPr>
          <a:lstStyle/>
          <a:p>
            <a:r>
              <a:rPr lang="en-US" sz="1800" b="0" i="0" u="none" strike="noStrike" baseline="0" dirty="0">
                <a:latin typeface="SabonLTStd-Roman"/>
              </a:rPr>
              <a:t>This is an unfavorable arrangement. It is noted at high temperatures. </a:t>
            </a:r>
            <a:endParaRPr lang="en-IN" dirty="0"/>
          </a:p>
        </p:txBody>
      </p:sp>
      <p:grpSp>
        <p:nvGrpSpPr>
          <p:cNvPr id="11" name="Group 10">
            <a:extLst>
              <a:ext uri="{FF2B5EF4-FFF2-40B4-BE49-F238E27FC236}">
                <a16:creationId xmlns:a16="http://schemas.microsoft.com/office/drawing/2014/main" id="{03FC5A36-47CD-A79D-AF19-6129B7D0B0A2}"/>
              </a:ext>
            </a:extLst>
          </p:cNvPr>
          <p:cNvGrpSpPr/>
          <p:nvPr/>
        </p:nvGrpSpPr>
        <p:grpSpPr>
          <a:xfrm>
            <a:off x="676656" y="1718698"/>
            <a:ext cx="5767926" cy="1164056"/>
            <a:chOff x="676656" y="1946471"/>
            <a:chExt cx="5767926" cy="1164056"/>
          </a:xfrm>
        </p:grpSpPr>
        <p:sp>
          <p:nvSpPr>
            <p:cNvPr id="7" name="TextBox 6">
              <a:extLst>
                <a:ext uri="{FF2B5EF4-FFF2-40B4-BE49-F238E27FC236}">
                  <a16:creationId xmlns:a16="http://schemas.microsoft.com/office/drawing/2014/main" id="{1AB678F3-6CF3-C596-A116-4BF1D19F0319}"/>
                </a:ext>
              </a:extLst>
            </p:cNvPr>
            <p:cNvSpPr txBox="1"/>
            <p:nvPr/>
          </p:nvSpPr>
          <p:spPr>
            <a:xfrm>
              <a:off x="676656" y="1946471"/>
              <a:ext cx="2084832" cy="338554"/>
            </a:xfrm>
            <a:prstGeom prst="rect">
              <a:avLst/>
            </a:prstGeom>
            <a:noFill/>
          </p:spPr>
          <p:txBody>
            <a:bodyPr wrap="square" rtlCol="0">
              <a:spAutoFit/>
            </a:bodyPr>
            <a:lstStyle/>
            <a:p>
              <a:r>
                <a:rPr lang="en-US" sz="1600" b="1" dirty="0">
                  <a:solidFill>
                    <a:srgbClr val="00B050"/>
                  </a:solidFill>
                  <a:latin typeface="Arial" panose="020B0604020202020204" pitchFamily="34" charset="0"/>
                  <a:cs typeface="Arial" panose="020B0604020202020204" pitchFamily="34" charset="0"/>
                </a:rPr>
                <a:t>Extrinsic defects</a:t>
              </a:r>
              <a:endParaRPr lang="en-IN" sz="1600" b="1" dirty="0">
                <a:solidFill>
                  <a:srgbClr val="00B05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A3D79D5-EBA7-EEDF-71BF-B947A2D3FB40}"/>
                </a:ext>
              </a:extLst>
            </p:cNvPr>
            <p:cNvSpPr txBox="1"/>
            <p:nvPr/>
          </p:nvSpPr>
          <p:spPr>
            <a:xfrm>
              <a:off x="676656" y="2386984"/>
              <a:ext cx="5767926"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This is resulted from doping of impurity atoms to the crystals. </a:t>
              </a:r>
            </a:p>
          </p:txBody>
        </p:sp>
        <p:sp>
          <p:nvSpPr>
            <p:cNvPr id="9" name="TextBox 8">
              <a:extLst>
                <a:ext uri="{FF2B5EF4-FFF2-40B4-BE49-F238E27FC236}">
                  <a16:creationId xmlns:a16="http://schemas.microsoft.com/office/drawing/2014/main" id="{AFECD22B-FDCA-DBA7-432D-A85C7F3963E5}"/>
                </a:ext>
              </a:extLst>
            </p:cNvPr>
            <p:cNvSpPr txBox="1"/>
            <p:nvPr/>
          </p:nvSpPr>
          <p:spPr>
            <a:xfrm>
              <a:off x="816015" y="2771973"/>
              <a:ext cx="997389" cy="338554"/>
            </a:xfrm>
            <a:prstGeom prst="rect">
              <a:avLst/>
            </a:prstGeom>
            <a:noFill/>
          </p:spPr>
          <p:txBody>
            <a:bodyPr wrap="none" rtlCol="0">
              <a:spAutoFit/>
            </a:bodyPr>
            <a:lstStyle/>
            <a:p>
              <a:r>
                <a:rPr lang="en-IN" sz="1600" b="1" dirty="0">
                  <a:solidFill>
                    <a:srgbClr val="C00000"/>
                  </a:solidFill>
                  <a:latin typeface="Arial" panose="020B0604020202020204" pitchFamily="34" charset="0"/>
                  <a:cs typeface="Arial" panose="020B0604020202020204" pitchFamily="34" charset="0"/>
                </a:rPr>
                <a:t>Cr:Al</a:t>
              </a:r>
              <a:r>
                <a:rPr lang="en-IN" sz="1600" b="1" baseline="-25000" dirty="0">
                  <a:solidFill>
                    <a:srgbClr val="C00000"/>
                  </a:solidFill>
                  <a:latin typeface="Arial" panose="020B0604020202020204" pitchFamily="34" charset="0"/>
                  <a:cs typeface="Arial" panose="020B0604020202020204" pitchFamily="34" charset="0"/>
                </a:rPr>
                <a:t>2</a:t>
              </a:r>
              <a:r>
                <a:rPr lang="en-IN" sz="1600" b="1" dirty="0">
                  <a:solidFill>
                    <a:srgbClr val="C00000"/>
                  </a:solidFill>
                  <a:latin typeface="Arial" panose="020B0604020202020204" pitchFamily="34" charset="0"/>
                  <a:cs typeface="Arial" panose="020B0604020202020204" pitchFamily="34" charset="0"/>
                </a:rPr>
                <a:t>O</a:t>
              </a:r>
              <a:r>
                <a:rPr lang="en-IN" sz="1600" b="1" baseline="-25000" dirty="0">
                  <a:solidFill>
                    <a:srgbClr val="C00000"/>
                  </a:solidFill>
                  <a:latin typeface="Arial" panose="020B0604020202020204" pitchFamily="34" charset="0"/>
                  <a:cs typeface="Arial" panose="020B0604020202020204" pitchFamily="34" charset="0"/>
                </a:rPr>
                <a:t>3</a:t>
              </a:r>
            </a:p>
          </p:txBody>
        </p:sp>
        <p:sp>
          <p:nvSpPr>
            <p:cNvPr id="10" name="TextBox 9">
              <a:extLst>
                <a:ext uri="{FF2B5EF4-FFF2-40B4-BE49-F238E27FC236}">
                  <a16:creationId xmlns:a16="http://schemas.microsoft.com/office/drawing/2014/main" id="{22EA6C79-9BCA-5439-6407-7C68B1B61B0D}"/>
                </a:ext>
              </a:extLst>
            </p:cNvPr>
            <p:cNvSpPr txBox="1"/>
            <p:nvPr/>
          </p:nvSpPr>
          <p:spPr>
            <a:xfrm>
              <a:off x="2287095" y="2761844"/>
              <a:ext cx="948786" cy="338554"/>
            </a:xfrm>
            <a:prstGeom prst="rect">
              <a:avLst/>
            </a:prstGeom>
            <a:noFill/>
          </p:spPr>
          <p:txBody>
            <a:bodyPr wrap="none" rtlCol="0">
              <a:spAutoFit/>
            </a:bodyPr>
            <a:lstStyle/>
            <a:p>
              <a:r>
                <a:rPr lang="en-IN" sz="1600" b="1" dirty="0">
                  <a:solidFill>
                    <a:srgbClr val="C00000"/>
                  </a:solidFill>
                  <a:latin typeface="Arial" panose="020B0604020202020204" pitchFamily="34" charset="0"/>
                  <a:cs typeface="Arial" panose="020B0604020202020204" pitchFamily="34" charset="0"/>
                </a:rPr>
                <a:t>Ti:Al</a:t>
              </a:r>
              <a:r>
                <a:rPr lang="en-IN" sz="1600" b="1" baseline="-25000" dirty="0">
                  <a:solidFill>
                    <a:srgbClr val="C00000"/>
                  </a:solidFill>
                  <a:latin typeface="Arial" panose="020B0604020202020204" pitchFamily="34" charset="0"/>
                  <a:cs typeface="Arial" panose="020B0604020202020204" pitchFamily="34" charset="0"/>
                </a:rPr>
                <a:t>2</a:t>
              </a:r>
              <a:r>
                <a:rPr lang="en-IN" sz="1600" b="1" dirty="0">
                  <a:solidFill>
                    <a:srgbClr val="C00000"/>
                  </a:solidFill>
                  <a:latin typeface="Arial" panose="020B0604020202020204" pitchFamily="34" charset="0"/>
                  <a:cs typeface="Arial" panose="020B0604020202020204" pitchFamily="34" charset="0"/>
                </a:rPr>
                <a:t>O</a:t>
              </a:r>
              <a:r>
                <a:rPr lang="en-IN" sz="1600" b="1" baseline="-25000" dirty="0">
                  <a:solidFill>
                    <a:srgbClr val="C00000"/>
                  </a:solidFill>
                  <a:latin typeface="Arial" panose="020B0604020202020204" pitchFamily="34" charset="0"/>
                  <a:cs typeface="Arial" panose="020B0604020202020204" pitchFamily="34" charset="0"/>
                </a:rPr>
                <a:t>3</a:t>
              </a:r>
            </a:p>
          </p:txBody>
        </p:sp>
      </p:grpSp>
      <p:pic>
        <p:nvPicPr>
          <p:cNvPr id="13" name="Picture 12">
            <a:extLst>
              <a:ext uri="{FF2B5EF4-FFF2-40B4-BE49-F238E27FC236}">
                <a16:creationId xmlns:a16="http://schemas.microsoft.com/office/drawing/2014/main" id="{7A0ED2A1-F600-5017-0385-DA3AAF99FE65}"/>
              </a:ext>
            </a:extLst>
          </p:cNvPr>
          <p:cNvPicPr>
            <a:picLocks noChangeAspect="1"/>
          </p:cNvPicPr>
          <p:nvPr/>
        </p:nvPicPr>
        <p:blipFill>
          <a:blip r:embed="rId3"/>
          <a:stretch>
            <a:fillRect/>
          </a:stretch>
        </p:blipFill>
        <p:spPr>
          <a:xfrm>
            <a:off x="816014" y="2929188"/>
            <a:ext cx="5911519" cy="3636203"/>
          </a:xfrm>
          <a:prstGeom prst="rect">
            <a:avLst/>
          </a:prstGeom>
        </p:spPr>
      </p:pic>
      <p:grpSp>
        <p:nvGrpSpPr>
          <p:cNvPr id="19" name="Group 18">
            <a:extLst>
              <a:ext uri="{FF2B5EF4-FFF2-40B4-BE49-F238E27FC236}">
                <a16:creationId xmlns:a16="http://schemas.microsoft.com/office/drawing/2014/main" id="{AF2CCB94-A207-FDFD-6655-50D94FAE388C}"/>
              </a:ext>
            </a:extLst>
          </p:cNvPr>
          <p:cNvGrpSpPr/>
          <p:nvPr/>
        </p:nvGrpSpPr>
        <p:grpSpPr>
          <a:xfrm>
            <a:off x="7149835" y="2846618"/>
            <a:ext cx="4823382" cy="1273678"/>
            <a:chOff x="7149835" y="2846618"/>
            <a:chExt cx="4823382" cy="1273678"/>
          </a:xfrm>
        </p:grpSpPr>
        <p:sp>
          <p:nvSpPr>
            <p:cNvPr id="14" name="TextBox 13">
              <a:extLst>
                <a:ext uri="{FF2B5EF4-FFF2-40B4-BE49-F238E27FC236}">
                  <a16:creationId xmlns:a16="http://schemas.microsoft.com/office/drawing/2014/main" id="{7EB88381-2CDF-66CB-A56F-F82B039B035A}"/>
                </a:ext>
              </a:extLst>
            </p:cNvPr>
            <p:cNvSpPr txBox="1"/>
            <p:nvPr/>
          </p:nvSpPr>
          <p:spPr>
            <a:xfrm>
              <a:off x="7149835" y="2846618"/>
              <a:ext cx="4823381" cy="584775"/>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Naturally occurring gemstones are with impurities. They possess trap states for electrons. </a:t>
              </a:r>
            </a:p>
          </p:txBody>
        </p:sp>
        <p:sp>
          <p:nvSpPr>
            <p:cNvPr id="15" name="TextBox 14">
              <a:extLst>
                <a:ext uri="{FF2B5EF4-FFF2-40B4-BE49-F238E27FC236}">
                  <a16:creationId xmlns:a16="http://schemas.microsoft.com/office/drawing/2014/main" id="{9B01F998-F9E4-B4BB-F11C-CB4816233F6C}"/>
                </a:ext>
              </a:extLst>
            </p:cNvPr>
            <p:cNvSpPr txBox="1"/>
            <p:nvPr/>
          </p:nvSpPr>
          <p:spPr>
            <a:xfrm>
              <a:off x="7149835" y="3535521"/>
              <a:ext cx="4823382" cy="584775"/>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Doping of d-metal is the origin of </a:t>
              </a:r>
              <a:r>
                <a:rPr lang="en-IN" sz="1600" dirty="0" err="1">
                  <a:latin typeface="Arial" panose="020B0604020202020204" pitchFamily="34" charset="0"/>
                  <a:cs typeface="Arial" panose="020B0604020202020204" pitchFamily="34" charset="0"/>
                </a:rPr>
                <a:t>color</a:t>
              </a:r>
              <a:r>
                <a:rPr lang="en-IN" sz="1600" dirty="0">
                  <a:latin typeface="Arial" panose="020B0604020202020204" pitchFamily="34" charset="0"/>
                  <a:cs typeface="Arial" panose="020B0604020202020204" pitchFamily="34" charset="0"/>
                </a:rPr>
                <a:t> of the gemstones </a:t>
              </a:r>
            </a:p>
          </p:txBody>
        </p:sp>
      </p:grpSp>
      <p:grpSp>
        <p:nvGrpSpPr>
          <p:cNvPr id="20" name="Group 19">
            <a:extLst>
              <a:ext uri="{FF2B5EF4-FFF2-40B4-BE49-F238E27FC236}">
                <a16:creationId xmlns:a16="http://schemas.microsoft.com/office/drawing/2014/main" id="{3F326886-3BC0-0C13-5C55-A9B4F3B0BC6D}"/>
              </a:ext>
            </a:extLst>
          </p:cNvPr>
          <p:cNvGrpSpPr/>
          <p:nvPr/>
        </p:nvGrpSpPr>
        <p:grpSpPr>
          <a:xfrm>
            <a:off x="6877598" y="4376073"/>
            <a:ext cx="5131665" cy="2051808"/>
            <a:chOff x="6877598" y="4376073"/>
            <a:chExt cx="5131665" cy="2051808"/>
          </a:xfrm>
        </p:grpSpPr>
        <p:pic>
          <p:nvPicPr>
            <p:cNvPr id="17" name="Picture 16">
              <a:extLst>
                <a:ext uri="{FF2B5EF4-FFF2-40B4-BE49-F238E27FC236}">
                  <a16:creationId xmlns:a16="http://schemas.microsoft.com/office/drawing/2014/main" id="{B7D44C84-4F24-6E5F-AB40-83A9ACC1CE80}"/>
                </a:ext>
              </a:extLst>
            </p:cNvPr>
            <p:cNvPicPr>
              <a:picLocks noChangeAspect="1"/>
            </p:cNvPicPr>
            <p:nvPr/>
          </p:nvPicPr>
          <p:blipFill>
            <a:blip r:embed="rId4"/>
            <a:stretch>
              <a:fillRect/>
            </a:stretch>
          </p:blipFill>
          <p:spPr>
            <a:xfrm>
              <a:off x="9771339" y="4376073"/>
              <a:ext cx="2237924" cy="2051808"/>
            </a:xfrm>
            <a:prstGeom prst="rect">
              <a:avLst/>
            </a:prstGeom>
          </p:spPr>
        </p:pic>
        <p:sp>
          <p:nvSpPr>
            <p:cNvPr id="18" name="TextBox 17">
              <a:extLst>
                <a:ext uri="{FF2B5EF4-FFF2-40B4-BE49-F238E27FC236}">
                  <a16:creationId xmlns:a16="http://schemas.microsoft.com/office/drawing/2014/main" id="{5242C714-3966-6A78-BFA6-50F611CD321B}"/>
                </a:ext>
              </a:extLst>
            </p:cNvPr>
            <p:cNvSpPr txBox="1"/>
            <p:nvPr/>
          </p:nvSpPr>
          <p:spPr>
            <a:xfrm>
              <a:off x="6877598" y="4863588"/>
              <a:ext cx="2893741" cy="830997"/>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Dopants cause vacancies</a:t>
              </a:r>
            </a:p>
            <a:p>
              <a:r>
                <a:rPr lang="en-IN" sz="1600" dirty="0">
                  <a:latin typeface="Arial" panose="020B0604020202020204" pitchFamily="34" charset="0"/>
                  <a:cs typeface="Arial" panose="020B0604020202020204" pitchFamily="34" charset="0"/>
                </a:rPr>
                <a:t>Ca</a:t>
              </a:r>
              <a:r>
                <a:rPr lang="en-IN" sz="1600" baseline="30000" dirty="0">
                  <a:latin typeface="Arial" panose="020B0604020202020204" pitchFamily="34" charset="0"/>
                  <a:cs typeface="Arial" panose="020B0604020202020204" pitchFamily="34" charset="0"/>
                </a:rPr>
                <a:t>2+</a:t>
              </a:r>
              <a:r>
                <a:rPr lang="en-IN" sz="1600" dirty="0">
                  <a:latin typeface="Arial" panose="020B0604020202020204" pitchFamily="34" charset="0"/>
                  <a:cs typeface="Arial" panose="020B0604020202020204" pitchFamily="34" charset="0"/>
                </a:rPr>
                <a:t> doping in ZrO</a:t>
              </a:r>
              <a:r>
                <a:rPr lang="en-IN" sz="1600" baseline="-25000" dirty="0">
                  <a:latin typeface="Arial" panose="020B0604020202020204" pitchFamily="34" charset="0"/>
                  <a:cs typeface="Arial" panose="020B0604020202020204" pitchFamily="34" charset="0"/>
                </a:rPr>
                <a:t>2 </a:t>
              </a:r>
              <a:r>
                <a:rPr lang="en-IN" sz="1600" dirty="0">
                  <a:latin typeface="Arial" panose="020B0604020202020204" pitchFamily="34" charset="0"/>
                  <a:cs typeface="Arial" panose="020B0604020202020204" pitchFamily="34" charset="0"/>
                </a:rPr>
                <a:t>results in </a:t>
              </a:r>
            </a:p>
            <a:p>
              <a:r>
                <a:rPr lang="en-IN" sz="1600" dirty="0">
                  <a:latin typeface="Arial" panose="020B0604020202020204" pitchFamily="34" charset="0"/>
                  <a:cs typeface="Arial" panose="020B0604020202020204" pitchFamily="34" charset="0"/>
                </a:rPr>
                <a:t>oxygen vacancies </a:t>
              </a:r>
            </a:p>
          </p:txBody>
        </p:sp>
      </p:grpSp>
    </p:spTree>
    <p:extLst>
      <p:ext uri="{BB962C8B-B14F-4D97-AF65-F5344CB8AC3E}">
        <p14:creationId xmlns:p14="http://schemas.microsoft.com/office/powerpoint/2010/main" val="16420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DEE19F-2B85-545C-1783-D06EDC499BA6}"/>
              </a:ext>
            </a:extLst>
          </p:cNvPr>
          <p:cNvSpPr txBox="1"/>
          <p:nvPr/>
        </p:nvSpPr>
        <p:spPr>
          <a:xfrm>
            <a:off x="4824515" y="130481"/>
            <a:ext cx="1907895"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Color centers </a:t>
            </a:r>
          </a:p>
        </p:txBody>
      </p:sp>
      <p:sp>
        <p:nvSpPr>
          <p:cNvPr id="3" name="TextBox 2">
            <a:extLst>
              <a:ext uri="{FF2B5EF4-FFF2-40B4-BE49-F238E27FC236}">
                <a16:creationId xmlns:a16="http://schemas.microsoft.com/office/drawing/2014/main" id="{F87263AE-0858-3EE5-9DB2-CEDC4F73328A}"/>
              </a:ext>
            </a:extLst>
          </p:cNvPr>
          <p:cNvSpPr txBox="1"/>
          <p:nvPr/>
        </p:nvSpPr>
        <p:spPr>
          <a:xfrm flipH="1">
            <a:off x="691680" y="1108450"/>
            <a:ext cx="5562815" cy="646331"/>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When alkali halides like NaCl, </a:t>
            </a:r>
            <a:r>
              <a:rPr lang="en-US" dirty="0" err="1">
                <a:latin typeface="Times New Roman" panose="02020603050405020304" pitchFamily="18" charset="0"/>
                <a:cs typeface="Times New Roman" panose="02020603050405020304" pitchFamily="18" charset="0"/>
              </a:rPr>
              <a:t>KCl</a:t>
            </a:r>
            <a:r>
              <a:rPr lang="en-US" dirty="0">
                <a:latin typeface="Times New Roman" panose="02020603050405020304" pitchFamily="18" charset="0"/>
                <a:cs typeface="Times New Roman" panose="02020603050405020304" pitchFamily="18" charset="0"/>
              </a:rPr>
              <a:t> are heated in the vapor of alkali metal produces color. </a:t>
            </a:r>
          </a:p>
        </p:txBody>
      </p:sp>
      <p:pic>
        <p:nvPicPr>
          <p:cNvPr id="5" name="Picture 4">
            <a:extLst>
              <a:ext uri="{FF2B5EF4-FFF2-40B4-BE49-F238E27FC236}">
                <a16:creationId xmlns:a16="http://schemas.microsoft.com/office/drawing/2014/main" id="{9602F9C9-01A8-BC15-FB92-6E5B60AEF3FC}"/>
              </a:ext>
            </a:extLst>
          </p:cNvPr>
          <p:cNvPicPr>
            <a:picLocks noChangeAspect="1"/>
          </p:cNvPicPr>
          <p:nvPr/>
        </p:nvPicPr>
        <p:blipFill>
          <a:blip r:embed="rId2"/>
          <a:stretch>
            <a:fillRect/>
          </a:stretch>
        </p:blipFill>
        <p:spPr>
          <a:xfrm>
            <a:off x="8380231" y="418240"/>
            <a:ext cx="2290818" cy="2673082"/>
          </a:xfrm>
          <a:prstGeom prst="rect">
            <a:avLst/>
          </a:prstGeom>
        </p:spPr>
      </p:pic>
      <p:sp>
        <p:nvSpPr>
          <p:cNvPr id="7" name="TextBox 6">
            <a:extLst>
              <a:ext uri="{FF2B5EF4-FFF2-40B4-BE49-F238E27FC236}">
                <a16:creationId xmlns:a16="http://schemas.microsoft.com/office/drawing/2014/main" id="{B4417998-6C20-8EEF-86B9-3485687F97DD}"/>
              </a:ext>
            </a:extLst>
          </p:cNvPr>
          <p:cNvSpPr txBox="1"/>
          <p:nvPr/>
        </p:nvSpPr>
        <p:spPr>
          <a:xfrm>
            <a:off x="809275" y="530591"/>
            <a:ext cx="3253678" cy="369332"/>
          </a:xfrm>
          <a:prstGeom prst="rect">
            <a:avLst/>
          </a:prstGeom>
          <a:noFill/>
        </p:spPr>
        <p:txBody>
          <a:bodyPr wrap="square">
            <a:spAutoFit/>
          </a:bodyPr>
          <a:lstStyle/>
          <a:p>
            <a:r>
              <a:rPr lang="en-US" sz="1800" b="1" dirty="0">
                <a:solidFill>
                  <a:srgbClr val="C00000"/>
                </a:solidFill>
                <a:latin typeface="Arial" panose="020B0604020202020204" pitchFamily="34" charset="0"/>
                <a:cs typeface="Arial" panose="020B0604020202020204" pitchFamily="34" charset="0"/>
              </a:rPr>
              <a:t>F-centers (</a:t>
            </a:r>
            <a:r>
              <a:rPr lang="en-US" sz="1800" b="1" dirty="0" err="1">
                <a:solidFill>
                  <a:srgbClr val="C00000"/>
                </a:solidFill>
                <a:latin typeface="Arial" panose="020B0604020202020204" pitchFamily="34" charset="0"/>
                <a:cs typeface="Arial" panose="020B0604020202020204" pitchFamily="34" charset="0"/>
              </a:rPr>
              <a:t>Farbenzcentre</a:t>
            </a:r>
            <a:r>
              <a:rPr lang="en-US" sz="1800" b="1" dirty="0">
                <a:solidFill>
                  <a:srgbClr val="C00000"/>
                </a:solidFill>
                <a:latin typeface="Arial" panose="020B0604020202020204" pitchFamily="34" charset="0"/>
                <a:cs typeface="Arial" panose="020B0604020202020204" pitchFamily="34" charset="0"/>
              </a:rPr>
              <a:t>)</a:t>
            </a:r>
            <a:endParaRPr lang="en-IN" sz="1800" b="1" dirty="0">
              <a:solidFill>
                <a:srgbClr val="C0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D448802-352B-A12B-AA3E-6CFA7D54E014}"/>
              </a:ext>
            </a:extLst>
          </p:cNvPr>
          <p:cNvSpPr txBox="1"/>
          <p:nvPr/>
        </p:nvSpPr>
        <p:spPr>
          <a:xfrm>
            <a:off x="691680" y="1941282"/>
            <a:ext cx="6583680" cy="584775"/>
          </a:xfrm>
          <a:prstGeom prst="rect">
            <a:avLst/>
          </a:prstGeom>
          <a:noFill/>
        </p:spPr>
        <p:txBody>
          <a:bodyPr wrap="square" rtlCol="0">
            <a:spAutoFit/>
          </a:bodyPr>
          <a:lstStyle/>
          <a:p>
            <a:r>
              <a:rPr lang="en-IN" sz="1600" b="0" i="0" u="none" strike="noStrike" baseline="0" dirty="0">
                <a:latin typeface="Arial" panose="020B0604020202020204" pitchFamily="34" charset="0"/>
                <a:cs typeface="Arial" panose="020B0604020202020204" pitchFamily="34" charset="0"/>
              </a:rPr>
              <a:t>For example, uptake of Na in NaCl </a:t>
            </a:r>
            <a:r>
              <a:rPr lang="en-US" sz="1600" b="0" i="0" u="none" strike="noStrike" baseline="0" dirty="0">
                <a:latin typeface="Arial" panose="020B0604020202020204" pitchFamily="34" charset="0"/>
                <a:cs typeface="Arial" panose="020B0604020202020204" pitchFamily="34" charset="0"/>
              </a:rPr>
              <a:t>gives </a:t>
            </a:r>
            <a:r>
              <a:rPr lang="en-US" sz="1600" dirty="0">
                <a:latin typeface="Arial" panose="020B0604020202020204" pitchFamily="34" charset="0"/>
                <a:cs typeface="Arial" panose="020B0604020202020204" pitchFamily="34" charset="0"/>
              </a:rPr>
              <a:t>nonstoichiometric Na</a:t>
            </a:r>
            <a:r>
              <a:rPr lang="en-US" sz="1600" baseline="-25000" dirty="0">
                <a:latin typeface="Arial" panose="020B0604020202020204" pitchFamily="34" charset="0"/>
                <a:cs typeface="Arial" panose="020B0604020202020204" pitchFamily="34" charset="0"/>
              </a:rPr>
              <a:t>1</a:t>
            </a:r>
            <a:r>
              <a:rPr lang="en-US" sz="1600" b="0" i="0" u="none" strike="noStrike" baseline="-25000" dirty="0">
                <a:latin typeface="Arial" panose="020B0604020202020204" pitchFamily="34" charset="0"/>
                <a:cs typeface="Arial" panose="020B0604020202020204" pitchFamily="34" charset="0"/>
              </a:rPr>
              <a:t>+</a:t>
            </a:r>
            <a:r>
              <a:rPr lang="en-US" sz="1600" b="0" i="1" u="none" strike="noStrike" baseline="-25000" dirty="0">
                <a:latin typeface="Arial" panose="020B0604020202020204" pitchFamily="34" charset="0"/>
                <a:cs typeface="Arial" panose="020B0604020202020204" pitchFamily="34" charset="0"/>
              </a:rPr>
              <a:t>δ</a:t>
            </a:r>
            <a:r>
              <a:rPr lang="en-US" sz="1600" b="0" i="0" u="none" strike="noStrike" baseline="0" dirty="0">
                <a:latin typeface="Arial" panose="020B0604020202020204" pitchFamily="34" charset="0"/>
                <a:cs typeface="Arial" panose="020B0604020202020204" pitchFamily="34" charset="0"/>
              </a:rPr>
              <a:t>Cl where  </a:t>
            </a:r>
            <a:r>
              <a:rPr lang="en-US" sz="1600" b="0" i="1" u="none" strike="noStrike" baseline="0" dirty="0">
                <a:latin typeface="Arial" panose="020B0604020202020204" pitchFamily="34" charset="0"/>
                <a:cs typeface="Arial" panose="020B0604020202020204" pitchFamily="34" charset="0"/>
              </a:rPr>
              <a:t>δ </a:t>
            </a:r>
            <a:r>
              <a:rPr lang="en-US" sz="1600" b="0" u="none" strike="noStrike" baseline="0" dirty="0">
                <a:latin typeface="Arial" panose="020B0604020202020204" pitchFamily="34" charset="0"/>
                <a:cs typeface="Arial" panose="020B0604020202020204" pitchFamily="34" charset="0"/>
              </a:rPr>
              <a:t>is very much lea than </a:t>
            </a:r>
            <a:r>
              <a:rPr lang="en-US" sz="1600" b="0" i="0" u="none" strike="noStrike" baseline="0" dirty="0">
                <a:latin typeface="Arial" panose="020B0604020202020204" pitchFamily="34" charset="0"/>
                <a:cs typeface="Arial" panose="020B0604020202020204" pitchFamily="34" charset="0"/>
              </a:rPr>
              <a:t>1, which has a greenish yellow </a:t>
            </a:r>
            <a:r>
              <a:rPr lang="en-US" sz="1600" b="0" i="0" u="none" strike="noStrike" baseline="0" dirty="0" err="1">
                <a:latin typeface="Arial" panose="020B0604020202020204" pitchFamily="34" charset="0"/>
                <a:cs typeface="Arial" panose="020B0604020202020204" pitchFamily="34" charset="0"/>
              </a:rPr>
              <a:t>colour</a:t>
            </a:r>
            <a:endParaRPr lang="en-IN" sz="16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A9B8F34-89B1-2D2D-F49C-69F2045A496B}"/>
              </a:ext>
            </a:extLst>
          </p:cNvPr>
          <p:cNvSpPr txBox="1"/>
          <p:nvPr/>
        </p:nvSpPr>
        <p:spPr>
          <a:xfrm>
            <a:off x="587379" y="2736780"/>
            <a:ext cx="6583680" cy="830997"/>
          </a:xfrm>
          <a:prstGeom prst="rect">
            <a:avLst/>
          </a:prstGeom>
          <a:noFill/>
        </p:spPr>
        <p:txBody>
          <a:bodyPr wrap="square" rtlCol="0">
            <a:spAutoFit/>
          </a:bodyPr>
          <a:lstStyle/>
          <a:p>
            <a:r>
              <a:rPr lang="en-IN" sz="1600" b="0" i="0" u="none" strike="noStrike" baseline="0" dirty="0">
                <a:latin typeface="Arial" panose="020B0604020202020204" pitchFamily="34" charset="0"/>
                <a:cs typeface="Arial" panose="020B0604020202020204" pitchFamily="34" charset="0"/>
              </a:rPr>
              <a:t>The Na atoms ionize at the crystals surface and the resulting Na</a:t>
            </a:r>
            <a:r>
              <a:rPr lang="en-IN" sz="1600" b="0" i="0" u="none" strike="noStrike" baseline="30000" dirty="0">
                <a:latin typeface="Arial" panose="020B0604020202020204" pitchFamily="34" charset="0"/>
                <a:cs typeface="Arial" panose="020B0604020202020204" pitchFamily="34" charset="0"/>
              </a:rPr>
              <a:t>+</a:t>
            </a:r>
            <a:r>
              <a:rPr lang="en-IN" sz="1600" b="0" i="0" u="none" strike="noStrike" dirty="0">
                <a:latin typeface="Arial" panose="020B0604020202020204" pitchFamily="34" charset="0"/>
                <a:cs typeface="Arial" panose="020B0604020202020204" pitchFamily="34" charset="0"/>
              </a:rPr>
              <a:t> ions reside at the surface but the electrons diffuse inside the crystal and occupy vacant anio</a:t>
            </a:r>
            <a:r>
              <a:rPr lang="en-IN" sz="1600" dirty="0">
                <a:latin typeface="Arial" panose="020B0604020202020204" pitchFamily="34" charset="0"/>
                <a:cs typeface="Arial" panose="020B0604020202020204" pitchFamily="34" charset="0"/>
              </a:rPr>
              <a:t>n sites</a:t>
            </a:r>
            <a:r>
              <a:rPr lang="en-IN" sz="1600" b="0" i="0" u="none" strike="noStrike"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AEA68EE-3A40-4129-9689-E36C510D23AA}"/>
              </a:ext>
            </a:extLst>
          </p:cNvPr>
          <p:cNvSpPr txBox="1"/>
          <p:nvPr/>
        </p:nvSpPr>
        <p:spPr>
          <a:xfrm>
            <a:off x="619995" y="3732540"/>
            <a:ext cx="8893460" cy="338554"/>
          </a:xfrm>
          <a:prstGeom prst="rect">
            <a:avLst/>
          </a:prstGeom>
          <a:noFill/>
        </p:spPr>
        <p:txBody>
          <a:bodyPr wrap="none" rtlCol="0">
            <a:spAutoFit/>
          </a:bodyPr>
          <a:lstStyle/>
          <a:p>
            <a:pPr algn="l"/>
            <a:r>
              <a:rPr lang="en-US" sz="1600" b="0" i="0" u="none" strike="noStrike" baseline="0" dirty="0">
                <a:latin typeface="Arial" panose="020B0604020202020204" pitchFamily="34" charset="0"/>
                <a:cs typeface="Arial" panose="020B0604020202020204" pitchFamily="34" charset="0"/>
              </a:rPr>
              <a:t>To preserve charge balance, an equal number of Cl</a:t>
            </a:r>
            <a:r>
              <a:rPr lang="en-US" sz="1600" b="0" i="0" u="none" strike="noStrike" baseline="30000" dirty="0">
                <a:latin typeface="Arial" panose="020B0604020202020204" pitchFamily="34" charset="0"/>
                <a:cs typeface="Arial" panose="020B0604020202020204" pitchFamily="34" charset="0"/>
              </a:rPr>
              <a:t>−</a:t>
            </a:r>
            <a:r>
              <a:rPr lang="en-US" sz="1600" b="0" i="0" u="none" strike="noStrike" baseline="0" dirty="0">
                <a:latin typeface="Arial" panose="020B0604020202020204" pitchFamily="34" charset="0"/>
                <a:cs typeface="Arial" panose="020B0604020202020204" pitchFamily="34" charset="0"/>
              </a:rPr>
              <a:t> ions must find their way out to the surface. </a:t>
            </a:r>
          </a:p>
        </p:txBody>
      </p:sp>
      <p:sp>
        <p:nvSpPr>
          <p:cNvPr id="11" name="TextBox 10">
            <a:extLst>
              <a:ext uri="{FF2B5EF4-FFF2-40B4-BE49-F238E27FC236}">
                <a16:creationId xmlns:a16="http://schemas.microsoft.com/office/drawing/2014/main" id="{DD610892-1A2C-EE3A-9AA9-8D815561F7A3}"/>
              </a:ext>
            </a:extLst>
          </p:cNvPr>
          <p:cNvSpPr txBox="1"/>
          <p:nvPr/>
        </p:nvSpPr>
        <p:spPr>
          <a:xfrm>
            <a:off x="619995" y="4385444"/>
            <a:ext cx="9377875" cy="1077218"/>
          </a:xfrm>
          <a:prstGeom prst="rect">
            <a:avLst/>
          </a:prstGeom>
          <a:noFill/>
        </p:spPr>
        <p:txBody>
          <a:bodyPr wrap="square" rtlCol="0">
            <a:spAutoFit/>
          </a:bodyPr>
          <a:lstStyle/>
          <a:p>
            <a:pPr algn="just"/>
            <a:r>
              <a:rPr lang="en-US" sz="1600" b="0" i="0" u="none" strike="noStrike" baseline="0" dirty="0">
                <a:latin typeface="Arial" panose="020B0604020202020204" pitchFamily="34" charset="0"/>
                <a:cs typeface="Arial" panose="020B0604020202020204" pitchFamily="34" charset="0"/>
              </a:rPr>
              <a:t>The trapped electron provides a classic example of an ‘electron in a box’. A series of energy levels are available for the electron within this box and the energy required to transfer from one level to another falls in the visible part of the electromagnetic spectrum; hence the </a:t>
            </a:r>
            <a:r>
              <a:rPr lang="en-US" sz="1600" b="0" i="0" u="none" strike="noStrike" baseline="0" dirty="0" err="1">
                <a:latin typeface="Arial" panose="020B0604020202020204" pitchFamily="34" charset="0"/>
                <a:cs typeface="Arial" panose="020B0604020202020204" pitchFamily="34" charset="0"/>
              </a:rPr>
              <a:t>colour</a:t>
            </a:r>
            <a:r>
              <a:rPr lang="en-US" sz="1600" b="0" i="0" u="none" strike="noStrike" baseline="0" dirty="0">
                <a:latin typeface="Arial" panose="020B0604020202020204" pitchFamily="34" charset="0"/>
                <a:cs typeface="Arial" panose="020B0604020202020204" pitchFamily="34" charset="0"/>
              </a:rPr>
              <a:t> of the F-</a:t>
            </a:r>
            <a:r>
              <a:rPr lang="en-US" sz="1600" b="0" i="0" u="none" strike="noStrike" baseline="0" dirty="0" err="1">
                <a:latin typeface="Arial" panose="020B0604020202020204" pitchFamily="34" charset="0"/>
                <a:cs typeface="Arial" panose="020B0604020202020204" pitchFamily="34" charset="0"/>
              </a:rPr>
              <a:t>centre</a:t>
            </a:r>
            <a:r>
              <a:rPr lang="en-US" sz="1600" b="0" i="0" u="none" strike="noStrike" baseline="0" dirty="0">
                <a:latin typeface="Arial" panose="020B0604020202020204" pitchFamily="34" charset="0"/>
                <a:cs typeface="Arial" panose="020B0604020202020204" pitchFamily="34" charset="0"/>
              </a:rPr>
              <a:t>.</a:t>
            </a:r>
            <a:endParaRPr lang="en-IN" sz="1600" dirty="0">
              <a:latin typeface="Arial" panose="020B0604020202020204" pitchFamily="34" charset="0"/>
              <a:cs typeface="Arial" panose="020B0604020202020204" pitchFamily="34" charset="0"/>
            </a:endParaRPr>
          </a:p>
          <a:p>
            <a:pPr algn="just"/>
            <a:endParaRPr lang="en-IN" sz="16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CF4CE1E-CF4C-5EA7-BF6F-522476BA5E62}"/>
              </a:ext>
            </a:extLst>
          </p:cNvPr>
          <p:cNvSpPr txBox="1"/>
          <p:nvPr/>
        </p:nvSpPr>
        <p:spPr>
          <a:xfrm>
            <a:off x="619995" y="5462662"/>
            <a:ext cx="10843033" cy="338554"/>
          </a:xfrm>
          <a:prstGeom prst="rect">
            <a:avLst/>
          </a:prstGeom>
          <a:noFill/>
        </p:spPr>
        <p:txBody>
          <a:bodyPr wrap="none" rtlCol="0">
            <a:spAutoFit/>
          </a:bodyPr>
          <a:lstStyle/>
          <a:p>
            <a:pPr algn="l"/>
            <a:r>
              <a:rPr lang="en-US" sz="1600" b="0" i="0" u="none" strike="noStrike" baseline="0" dirty="0">
                <a:solidFill>
                  <a:srgbClr val="C00000"/>
                </a:solidFill>
                <a:latin typeface="Arial" panose="020B0604020202020204" pitchFamily="34" charset="0"/>
                <a:cs typeface="Arial" panose="020B0604020202020204" pitchFamily="34" charset="0"/>
              </a:rPr>
              <a:t>The magnitude of the energy level and color depends on the host crystals and not on the way the defect is produced. </a:t>
            </a:r>
          </a:p>
        </p:txBody>
      </p:sp>
    </p:spTree>
    <p:extLst>
      <p:ext uri="{BB962C8B-B14F-4D97-AF65-F5344CB8AC3E}">
        <p14:creationId xmlns:p14="http://schemas.microsoft.com/office/powerpoint/2010/main" val="2534977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F94885C-A383-F3CE-515B-C938DE0F7E18}"/>
              </a:ext>
            </a:extLst>
          </p:cNvPr>
          <p:cNvPicPr>
            <a:picLocks noChangeAspect="1"/>
          </p:cNvPicPr>
          <p:nvPr/>
        </p:nvPicPr>
        <p:blipFill>
          <a:blip r:embed="rId2"/>
          <a:stretch>
            <a:fillRect/>
          </a:stretch>
        </p:blipFill>
        <p:spPr>
          <a:xfrm>
            <a:off x="878217" y="1817882"/>
            <a:ext cx="9517172" cy="2982058"/>
          </a:xfrm>
          <a:prstGeom prst="rect">
            <a:avLst/>
          </a:prstGeom>
        </p:spPr>
      </p:pic>
      <p:sp>
        <p:nvSpPr>
          <p:cNvPr id="12" name="TextBox 11">
            <a:extLst>
              <a:ext uri="{FF2B5EF4-FFF2-40B4-BE49-F238E27FC236}">
                <a16:creationId xmlns:a16="http://schemas.microsoft.com/office/drawing/2014/main" id="{0EE91068-C0AC-5AFA-FF42-04BF33FBAA50}"/>
              </a:ext>
            </a:extLst>
          </p:cNvPr>
          <p:cNvSpPr txBox="1"/>
          <p:nvPr/>
        </p:nvSpPr>
        <p:spPr>
          <a:xfrm>
            <a:off x="878217" y="720397"/>
            <a:ext cx="9832062" cy="646331"/>
          </a:xfrm>
          <a:prstGeom prst="rect">
            <a:avLst/>
          </a:prstGeom>
          <a:noFill/>
        </p:spPr>
        <p:txBody>
          <a:bodyPr wrap="square" rtlCol="0">
            <a:spAutoFit/>
          </a:bodyPr>
          <a:lstStyle/>
          <a:p>
            <a:r>
              <a:rPr lang="en-IN" sz="1800" b="0" i="0" u="none" strike="noStrike" baseline="0" dirty="0">
                <a:latin typeface="Times-Roman"/>
              </a:rPr>
              <a:t>F-centres can be created by irradiation. For example, bombardment of NaCl with X-rays produces </a:t>
            </a:r>
            <a:r>
              <a:rPr lang="en-IN" sz="1800" b="0" i="0" u="none" strike="noStrike" baseline="0" dirty="0" err="1">
                <a:latin typeface="Times-Roman"/>
              </a:rPr>
              <a:t>color</a:t>
            </a:r>
            <a:r>
              <a:rPr lang="en-IN" sz="1800" b="0" i="0" u="none" strike="noStrike" baseline="0" dirty="0">
                <a:latin typeface="Times-Roman"/>
              </a:rPr>
              <a:t> due to trapped electrons. </a:t>
            </a:r>
            <a:r>
              <a:rPr lang="en-IN" dirty="0">
                <a:latin typeface="Times-Roman"/>
              </a:rPr>
              <a:t>Which are released due to ionization of Cl</a:t>
            </a:r>
            <a:r>
              <a:rPr lang="en-IN" baseline="30000" dirty="0">
                <a:latin typeface="Times-Roman"/>
              </a:rPr>
              <a:t>-</a:t>
            </a:r>
            <a:r>
              <a:rPr lang="en-IN" dirty="0">
                <a:latin typeface="Times-Roman"/>
              </a:rPr>
              <a:t> ions. </a:t>
            </a:r>
            <a:endParaRPr lang="en-IN" dirty="0"/>
          </a:p>
        </p:txBody>
      </p:sp>
    </p:spTree>
    <p:extLst>
      <p:ext uri="{BB962C8B-B14F-4D97-AF65-F5344CB8AC3E}">
        <p14:creationId xmlns:p14="http://schemas.microsoft.com/office/powerpoint/2010/main" val="2670575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84BAC9-78AD-2F9B-D722-C5B349CCE1BD}"/>
              </a:ext>
            </a:extLst>
          </p:cNvPr>
          <p:cNvSpPr txBox="1"/>
          <p:nvPr/>
        </p:nvSpPr>
        <p:spPr>
          <a:xfrm>
            <a:off x="4818500" y="78762"/>
            <a:ext cx="2050561"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Solid Solutions</a:t>
            </a:r>
          </a:p>
        </p:txBody>
      </p:sp>
      <p:sp>
        <p:nvSpPr>
          <p:cNvPr id="3" name="TextBox 2">
            <a:extLst>
              <a:ext uri="{FF2B5EF4-FFF2-40B4-BE49-F238E27FC236}">
                <a16:creationId xmlns:a16="http://schemas.microsoft.com/office/drawing/2014/main" id="{E4B81F02-A391-8767-FE14-AED4B25F4112}"/>
              </a:ext>
            </a:extLst>
          </p:cNvPr>
          <p:cNvSpPr txBox="1"/>
          <p:nvPr/>
        </p:nvSpPr>
        <p:spPr>
          <a:xfrm>
            <a:off x="1024706" y="1029334"/>
            <a:ext cx="7683385" cy="338554"/>
          </a:xfrm>
          <a:prstGeom prst="rect">
            <a:avLst/>
          </a:prstGeom>
          <a:noFill/>
        </p:spPr>
        <p:txBody>
          <a:bodyPr wrap="none" rtlCol="0">
            <a:spAutoFit/>
          </a:bodyPr>
          <a:lstStyle/>
          <a:p>
            <a:r>
              <a:rPr lang="en-US" sz="1600" b="0" i="0" u="none" strike="noStrike" baseline="0" dirty="0">
                <a:latin typeface="Arial" panose="020B0604020202020204" pitchFamily="34" charset="0"/>
                <a:cs typeface="Arial" panose="020B0604020202020204" pitchFamily="34" charset="0"/>
              </a:rPr>
              <a:t>A solid solution is basically a crystalline phase that can have variable composition.  </a:t>
            </a:r>
            <a:endParaRPr lang="en-IN" sz="16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B634228-53ED-A8A9-2A1D-9BB4F66C891E}"/>
              </a:ext>
            </a:extLst>
          </p:cNvPr>
          <p:cNvSpPr txBox="1"/>
          <p:nvPr/>
        </p:nvSpPr>
        <p:spPr>
          <a:xfrm>
            <a:off x="1024706" y="507588"/>
            <a:ext cx="9089136" cy="338554"/>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If the dopant concentration is &gt; 1% it is appropriate to consider them as solid solutions </a:t>
            </a:r>
          </a:p>
        </p:txBody>
      </p:sp>
      <p:sp>
        <p:nvSpPr>
          <p:cNvPr id="5" name="TextBox 4">
            <a:extLst>
              <a:ext uri="{FF2B5EF4-FFF2-40B4-BE49-F238E27FC236}">
                <a16:creationId xmlns:a16="http://schemas.microsoft.com/office/drawing/2014/main" id="{65109539-E5EF-B1E4-58FC-FCF0520A076C}"/>
              </a:ext>
            </a:extLst>
          </p:cNvPr>
          <p:cNvSpPr txBox="1"/>
          <p:nvPr/>
        </p:nvSpPr>
        <p:spPr>
          <a:xfrm>
            <a:off x="998387" y="1596997"/>
            <a:ext cx="10392937" cy="646331"/>
          </a:xfrm>
          <a:prstGeom prst="rect">
            <a:avLst/>
          </a:prstGeom>
          <a:noFill/>
        </p:spPr>
        <p:txBody>
          <a:bodyPr wrap="square" rtlCol="0">
            <a:spAutoFit/>
          </a:bodyPr>
          <a:lstStyle/>
          <a:p>
            <a:r>
              <a:rPr lang="en-US" dirty="0"/>
              <a:t>In a solid solution, there can be more than two components. The one which is in higher concentration is called base metal or solvent and the other component is called an alloying element or solute.</a:t>
            </a:r>
            <a:endParaRPr lang="en-IN" dirty="0"/>
          </a:p>
        </p:txBody>
      </p:sp>
      <p:sp>
        <p:nvSpPr>
          <p:cNvPr id="6" name="TextBox 5">
            <a:extLst>
              <a:ext uri="{FF2B5EF4-FFF2-40B4-BE49-F238E27FC236}">
                <a16:creationId xmlns:a16="http://schemas.microsoft.com/office/drawing/2014/main" id="{425920F5-0B47-14FF-C645-55519A5A2033}"/>
              </a:ext>
            </a:extLst>
          </p:cNvPr>
          <p:cNvSpPr txBox="1"/>
          <p:nvPr/>
        </p:nvSpPr>
        <p:spPr>
          <a:xfrm>
            <a:off x="1023101" y="2513638"/>
            <a:ext cx="8870826" cy="369332"/>
          </a:xfrm>
          <a:prstGeom prst="rect">
            <a:avLst/>
          </a:prstGeom>
          <a:noFill/>
        </p:spPr>
        <p:txBody>
          <a:bodyPr wrap="none" rtlCol="0">
            <a:spAutoFit/>
          </a:bodyPr>
          <a:lstStyle/>
          <a:p>
            <a:r>
              <a:rPr lang="en-US" dirty="0"/>
              <a:t>In a solid solution, the solute components reside on the lattice structure of the base metal. </a:t>
            </a:r>
            <a:endParaRPr lang="en-IN" dirty="0"/>
          </a:p>
        </p:txBody>
      </p:sp>
      <p:sp>
        <p:nvSpPr>
          <p:cNvPr id="7" name="TextBox 6">
            <a:extLst>
              <a:ext uri="{FF2B5EF4-FFF2-40B4-BE49-F238E27FC236}">
                <a16:creationId xmlns:a16="http://schemas.microsoft.com/office/drawing/2014/main" id="{015E8BF3-E0FA-FC9B-A19B-B2C42E6979C0}"/>
              </a:ext>
            </a:extLst>
          </p:cNvPr>
          <p:cNvSpPr txBox="1"/>
          <p:nvPr/>
        </p:nvSpPr>
        <p:spPr>
          <a:xfrm>
            <a:off x="998387" y="3167048"/>
            <a:ext cx="9271641" cy="369332"/>
          </a:xfrm>
          <a:prstGeom prst="rect">
            <a:avLst/>
          </a:prstGeom>
          <a:noFill/>
        </p:spPr>
        <p:txBody>
          <a:bodyPr wrap="none" rtlCol="0">
            <a:spAutoFit/>
          </a:bodyPr>
          <a:lstStyle/>
          <a:p>
            <a:r>
              <a:rPr lang="en-US" dirty="0"/>
              <a:t>Depending on the location of the solute element, the solid solutions are divided into 2 categories</a:t>
            </a:r>
            <a:endParaRPr lang="en-IN" dirty="0"/>
          </a:p>
        </p:txBody>
      </p:sp>
      <p:sp>
        <p:nvSpPr>
          <p:cNvPr id="8" name="TextBox 7">
            <a:extLst>
              <a:ext uri="{FF2B5EF4-FFF2-40B4-BE49-F238E27FC236}">
                <a16:creationId xmlns:a16="http://schemas.microsoft.com/office/drawing/2014/main" id="{10A394C3-C515-088B-C347-6B49CF5E06E1}"/>
              </a:ext>
            </a:extLst>
          </p:cNvPr>
          <p:cNvSpPr txBox="1"/>
          <p:nvPr/>
        </p:nvSpPr>
        <p:spPr>
          <a:xfrm>
            <a:off x="998387" y="3806690"/>
            <a:ext cx="3060453" cy="338554"/>
          </a:xfrm>
          <a:prstGeom prst="rect">
            <a:avLst/>
          </a:prstGeom>
          <a:noFill/>
        </p:spPr>
        <p:txBody>
          <a:bodyPr wrap="none" rtlCol="0">
            <a:spAutoFit/>
          </a:bodyPr>
          <a:lstStyle/>
          <a:p>
            <a:r>
              <a:rPr lang="en-IN" sz="1600" b="1" i="0" u="none" strike="noStrike" baseline="0" dirty="0">
                <a:solidFill>
                  <a:srgbClr val="00B050"/>
                </a:solidFill>
                <a:latin typeface="Arial" panose="020B0604020202020204" pitchFamily="34" charset="0"/>
                <a:cs typeface="Arial" panose="020B0604020202020204" pitchFamily="34" charset="0"/>
              </a:rPr>
              <a:t>Substitutional solid solutions</a:t>
            </a:r>
            <a:endParaRPr lang="en-IN" sz="1600" b="1" dirty="0">
              <a:solidFill>
                <a:srgbClr val="00B050"/>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7052B71-E798-6EAE-779D-A5E9182016CB}"/>
              </a:ext>
            </a:extLst>
          </p:cNvPr>
          <p:cNvSpPr txBox="1"/>
          <p:nvPr/>
        </p:nvSpPr>
        <p:spPr>
          <a:xfrm>
            <a:off x="5051978" y="3806690"/>
            <a:ext cx="2675732" cy="338554"/>
          </a:xfrm>
          <a:prstGeom prst="rect">
            <a:avLst/>
          </a:prstGeom>
          <a:noFill/>
        </p:spPr>
        <p:txBody>
          <a:bodyPr wrap="none" rtlCol="0">
            <a:spAutoFit/>
          </a:bodyPr>
          <a:lstStyle/>
          <a:p>
            <a:r>
              <a:rPr lang="en-IN" sz="1600" b="1" i="0" u="none" strike="noStrike" baseline="0" dirty="0">
                <a:solidFill>
                  <a:srgbClr val="00B050"/>
                </a:solidFill>
                <a:latin typeface="Arial" panose="020B0604020202020204" pitchFamily="34" charset="0"/>
                <a:cs typeface="Arial" panose="020B0604020202020204" pitchFamily="34" charset="0"/>
              </a:rPr>
              <a:t>Interstitial solid solutions</a:t>
            </a:r>
            <a:endParaRPr lang="en-IN" sz="1600" b="1" dirty="0">
              <a:solidFill>
                <a:srgbClr val="00B05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5BDA2C5-6A76-2F49-105E-DD3E4C653489}"/>
              </a:ext>
            </a:extLst>
          </p:cNvPr>
          <p:cNvSpPr txBox="1"/>
          <p:nvPr/>
        </p:nvSpPr>
        <p:spPr>
          <a:xfrm>
            <a:off x="1023101" y="4929379"/>
            <a:ext cx="10021824" cy="584775"/>
          </a:xfrm>
          <a:prstGeom prst="rect">
            <a:avLst/>
          </a:prstGeom>
          <a:noFill/>
        </p:spPr>
        <p:txBody>
          <a:bodyPr wrap="square" rtlCol="0">
            <a:spAutoFit/>
          </a:bodyPr>
          <a:lstStyle/>
          <a:p>
            <a:pPr algn="l"/>
            <a:r>
              <a:rPr lang="en-US" sz="1600" b="0" i="0" u="none" strike="noStrike" baseline="0" dirty="0">
                <a:latin typeface="Arial" panose="020B0604020202020204" pitchFamily="34" charset="0"/>
                <a:cs typeface="Arial" panose="020B0604020202020204" pitchFamily="34" charset="0"/>
              </a:rPr>
              <a:t>Where, the atom or ion that is being introduced replaces an atom of the base metal and occupies their lattice sites </a:t>
            </a:r>
            <a:endParaRPr lang="en-IN"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54C32B6-315D-8170-B6B7-A22B8A4256F6}"/>
              </a:ext>
            </a:extLst>
          </p:cNvPr>
          <p:cNvSpPr txBox="1"/>
          <p:nvPr/>
        </p:nvSpPr>
        <p:spPr>
          <a:xfrm>
            <a:off x="1023101" y="4355990"/>
            <a:ext cx="3060453" cy="338554"/>
          </a:xfrm>
          <a:prstGeom prst="rect">
            <a:avLst/>
          </a:prstGeom>
          <a:noFill/>
        </p:spPr>
        <p:txBody>
          <a:bodyPr wrap="none" rtlCol="0">
            <a:spAutoFit/>
          </a:bodyPr>
          <a:lstStyle/>
          <a:p>
            <a:r>
              <a:rPr lang="en-IN" sz="1600" b="1" i="0" u="none" strike="noStrike" baseline="0" dirty="0">
                <a:solidFill>
                  <a:srgbClr val="C00000"/>
                </a:solidFill>
                <a:latin typeface="Arial" panose="020B0604020202020204" pitchFamily="34" charset="0"/>
                <a:cs typeface="Arial" panose="020B0604020202020204" pitchFamily="34" charset="0"/>
              </a:rPr>
              <a:t>Substitutional solid solutions</a:t>
            </a:r>
            <a:endParaRPr lang="en-IN" sz="1600" b="1" dirty="0">
              <a:solidFill>
                <a:srgbClr val="C0000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16BDB520-0FCF-ADEA-E7EA-2DC84354CCA0}"/>
              </a:ext>
            </a:extLst>
          </p:cNvPr>
          <p:cNvSpPr txBox="1"/>
          <p:nvPr/>
        </p:nvSpPr>
        <p:spPr>
          <a:xfrm>
            <a:off x="1039577" y="5671421"/>
            <a:ext cx="7086600" cy="584775"/>
          </a:xfrm>
          <a:prstGeom prst="rect">
            <a:avLst/>
          </a:prstGeom>
          <a:noFill/>
        </p:spPr>
        <p:txBody>
          <a:bodyPr wrap="square" rtlCol="0">
            <a:spAutoFit/>
          </a:bodyPr>
          <a:lstStyle/>
          <a:p>
            <a:r>
              <a:rPr lang="en-IN" sz="1600" dirty="0">
                <a:solidFill>
                  <a:srgbClr val="C00000"/>
                </a:solidFill>
                <a:latin typeface="Arial" panose="020B0604020202020204" pitchFamily="34" charset="0"/>
                <a:cs typeface="Arial" panose="020B0604020202020204" pitchFamily="34" charset="0"/>
              </a:rPr>
              <a:t>Example: Cr-Al</a:t>
            </a:r>
            <a:r>
              <a:rPr lang="en-IN" sz="1600" baseline="-25000" dirty="0">
                <a:solidFill>
                  <a:srgbClr val="C00000"/>
                </a:solidFill>
                <a:latin typeface="Arial" panose="020B0604020202020204" pitchFamily="34" charset="0"/>
                <a:cs typeface="Arial" panose="020B0604020202020204" pitchFamily="34" charset="0"/>
              </a:rPr>
              <a:t>2</a:t>
            </a:r>
            <a:r>
              <a:rPr lang="en-IN" sz="1600" dirty="0">
                <a:solidFill>
                  <a:srgbClr val="C00000"/>
                </a:solidFill>
                <a:latin typeface="Arial" panose="020B0604020202020204" pitchFamily="34" charset="0"/>
                <a:cs typeface="Arial" panose="020B0604020202020204" pitchFamily="34" charset="0"/>
              </a:rPr>
              <a:t>O</a:t>
            </a:r>
            <a:r>
              <a:rPr lang="en-IN" sz="1600" baseline="-25000" dirty="0">
                <a:solidFill>
                  <a:srgbClr val="C00000"/>
                </a:solidFill>
                <a:latin typeface="Arial" panose="020B0604020202020204" pitchFamily="34" charset="0"/>
                <a:cs typeface="Arial" panose="020B0604020202020204" pitchFamily="34" charset="0"/>
              </a:rPr>
              <a:t>3 (</a:t>
            </a:r>
            <a:r>
              <a:rPr lang="en-IN" sz="1600" b="0" i="0" u="none" strike="noStrike" baseline="0" dirty="0">
                <a:solidFill>
                  <a:srgbClr val="C00000"/>
                </a:solidFill>
                <a:latin typeface="Arial" panose="020B0604020202020204" pitchFamily="34" charset="0"/>
                <a:cs typeface="Arial" panose="020B0604020202020204" pitchFamily="34" charset="0"/>
              </a:rPr>
              <a:t>(Al</a:t>
            </a:r>
            <a:r>
              <a:rPr lang="en-IN" sz="1600" b="0" i="0" u="none" strike="noStrike" baseline="-25000" dirty="0">
                <a:solidFill>
                  <a:srgbClr val="C00000"/>
                </a:solidFill>
                <a:latin typeface="Arial" panose="020B0604020202020204" pitchFamily="34" charset="0"/>
                <a:cs typeface="Arial" panose="020B0604020202020204" pitchFamily="34" charset="0"/>
              </a:rPr>
              <a:t>2−</a:t>
            </a:r>
            <a:r>
              <a:rPr lang="en-IN" sz="1600" b="0" i="1" u="none" strike="noStrike" baseline="-25000" dirty="0">
                <a:solidFill>
                  <a:srgbClr val="C00000"/>
                </a:solidFill>
                <a:latin typeface="Arial" panose="020B0604020202020204" pitchFamily="34" charset="0"/>
                <a:cs typeface="Arial" panose="020B0604020202020204" pitchFamily="34" charset="0"/>
              </a:rPr>
              <a:t>x</a:t>
            </a:r>
            <a:r>
              <a:rPr lang="en-IN" sz="1600" b="0" i="0" u="none" strike="noStrike" baseline="0" dirty="0">
                <a:solidFill>
                  <a:srgbClr val="C00000"/>
                </a:solidFill>
                <a:latin typeface="Arial" panose="020B0604020202020204" pitchFamily="34" charset="0"/>
                <a:cs typeface="Arial" panose="020B0604020202020204" pitchFamily="34" charset="0"/>
              </a:rPr>
              <a:t>Cr</a:t>
            </a:r>
            <a:r>
              <a:rPr lang="en-IN" sz="1600" b="0" i="1" u="none" strike="noStrike" baseline="-25000" dirty="0">
                <a:solidFill>
                  <a:srgbClr val="C00000"/>
                </a:solidFill>
                <a:latin typeface="Arial" panose="020B0604020202020204" pitchFamily="34" charset="0"/>
                <a:cs typeface="Arial" panose="020B0604020202020204" pitchFamily="34" charset="0"/>
              </a:rPr>
              <a:t>x</a:t>
            </a:r>
            <a:r>
              <a:rPr lang="en-IN" sz="1600" b="0" i="0" u="none" strike="noStrike" baseline="0" dirty="0">
                <a:solidFill>
                  <a:srgbClr val="C00000"/>
                </a:solidFill>
                <a:latin typeface="Arial" panose="020B0604020202020204" pitchFamily="34" charset="0"/>
                <a:cs typeface="Arial" panose="020B0604020202020204" pitchFamily="34" charset="0"/>
              </a:rPr>
              <a:t>)O</a:t>
            </a:r>
            <a:r>
              <a:rPr lang="en-IN" sz="1600" b="0" i="0" u="none" strike="noStrike" baseline="-25000" dirty="0">
                <a:solidFill>
                  <a:srgbClr val="C00000"/>
                </a:solidFill>
                <a:latin typeface="Arial" panose="020B0604020202020204" pitchFamily="34" charset="0"/>
                <a:cs typeface="Arial" panose="020B0604020202020204" pitchFamily="34" charset="0"/>
              </a:rPr>
              <a:t>3</a:t>
            </a:r>
            <a:r>
              <a:rPr lang="en-IN" sz="1600" b="0" i="0" u="none" strike="noStrike" baseline="0" dirty="0">
                <a:solidFill>
                  <a:srgbClr val="C00000"/>
                </a:solidFill>
                <a:latin typeface="Arial" panose="020B0604020202020204" pitchFamily="34" charset="0"/>
                <a:cs typeface="Arial" panose="020B0604020202020204" pitchFamily="34" charset="0"/>
              </a:rPr>
              <a:t>: (0 ≤ </a:t>
            </a:r>
            <a:r>
              <a:rPr lang="en-IN" sz="1600" b="0" i="1" u="none" strike="noStrike" baseline="0" dirty="0">
                <a:solidFill>
                  <a:srgbClr val="C00000"/>
                </a:solidFill>
                <a:latin typeface="Arial" panose="020B0604020202020204" pitchFamily="34" charset="0"/>
                <a:cs typeface="Arial" panose="020B0604020202020204" pitchFamily="34" charset="0"/>
              </a:rPr>
              <a:t>x </a:t>
            </a:r>
            <a:r>
              <a:rPr lang="en-IN" sz="1600" b="0" i="0" u="none" strike="noStrike" baseline="0" dirty="0">
                <a:solidFill>
                  <a:srgbClr val="C00000"/>
                </a:solidFill>
                <a:latin typeface="Arial" panose="020B0604020202020204" pitchFamily="34" charset="0"/>
                <a:cs typeface="Arial" panose="020B0604020202020204" pitchFamily="34" charset="0"/>
              </a:rPr>
              <a:t>≤ 2</a:t>
            </a:r>
            <a:r>
              <a:rPr lang="en-IN" sz="1600" b="0" i="0" u="none" strike="noStrike" dirty="0">
                <a:solidFill>
                  <a:srgbClr val="C00000"/>
                </a:solidFill>
                <a:latin typeface="Arial" panose="020B0604020202020204" pitchFamily="34" charset="0"/>
                <a:cs typeface="Arial" panose="020B0604020202020204" pitchFamily="34" charset="0"/>
              </a:rPr>
              <a:t>)</a:t>
            </a:r>
          </a:p>
          <a:p>
            <a:r>
              <a:rPr lang="en-IN" sz="1600" dirty="0">
                <a:solidFill>
                  <a:srgbClr val="C00000"/>
                </a:solidFill>
                <a:latin typeface="Arial" panose="020B0604020202020204" pitchFamily="34" charset="0"/>
                <a:cs typeface="Arial" panose="020B0604020202020204" pitchFamily="34" charset="0"/>
              </a:rPr>
              <a:t>        Ni atoms are replaced by Cu</a:t>
            </a:r>
          </a:p>
        </p:txBody>
      </p:sp>
    </p:spTree>
    <p:extLst>
      <p:ext uri="{BB962C8B-B14F-4D97-AF65-F5344CB8AC3E}">
        <p14:creationId xmlns:p14="http://schemas.microsoft.com/office/powerpoint/2010/main" val="2411355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6DB2FD-172A-AFC4-996E-0488BF43D094}"/>
              </a:ext>
            </a:extLst>
          </p:cNvPr>
          <p:cNvSpPr txBox="1"/>
          <p:nvPr/>
        </p:nvSpPr>
        <p:spPr>
          <a:xfrm>
            <a:off x="4818500" y="78762"/>
            <a:ext cx="2050561"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Solid Solutions</a:t>
            </a:r>
          </a:p>
        </p:txBody>
      </p:sp>
      <p:sp>
        <p:nvSpPr>
          <p:cNvPr id="6" name="TextBox 5">
            <a:extLst>
              <a:ext uri="{FF2B5EF4-FFF2-40B4-BE49-F238E27FC236}">
                <a16:creationId xmlns:a16="http://schemas.microsoft.com/office/drawing/2014/main" id="{AF488F58-0801-2D5F-F8B8-519CC9690597}"/>
              </a:ext>
            </a:extLst>
          </p:cNvPr>
          <p:cNvSpPr txBox="1"/>
          <p:nvPr/>
        </p:nvSpPr>
        <p:spPr>
          <a:xfrm>
            <a:off x="915165" y="557863"/>
            <a:ext cx="10379676"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substitutional solid solution can be further classified depending on the order of replacement of base metal by the solute.  </a:t>
            </a:r>
            <a:endParaRPr lang="en-IN"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D713C95-6FC6-4FA7-688C-AB37EE4E5E10}"/>
              </a:ext>
            </a:extLst>
          </p:cNvPr>
          <p:cNvSpPr txBox="1"/>
          <p:nvPr/>
        </p:nvSpPr>
        <p:spPr>
          <a:xfrm>
            <a:off x="915165" y="1221629"/>
            <a:ext cx="4963218" cy="630942"/>
          </a:xfrm>
          <a:prstGeom prst="rect">
            <a:avLst/>
          </a:prstGeom>
          <a:noFill/>
        </p:spPr>
        <p:txBody>
          <a:bodyPr wrap="none" rtlCol="0">
            <a:spAutoFit/>
          </a:bodyPr>
          <a:lstStyle/>
          <a:p>
            <a:pPr>
              <a:spcAft>
                <a:spcPts val="600"/>
              </a:spcAft>
            </a:pPr>
            <a:r>
              <a:rPr lang="en-US" sz="1500" b="1" dirty="0">
                <a:latin typeface="Arial" panose="020B0604020202020204" pitchFamily="34" charset="0"/>
                <a:cs typeface="Arial" panose="020B0604020202020204" pitchFamily="34" charset="0"/>
              </a:rPr>
              <a:t>Ordered substitutional solid solutions</a:t>
            </a:r>
            <a:endParaRPr lang="en-IN" sz="1500" b="1" dirty="0">
              <a:latin typeface="Arial" panose="020B0604020202020204" pitchFamily="34" charset="0"/>
              <a:cs typeface="Arial" panose="020B0604020202020204" pitchFamily="34" charset="0"/>
            </a:endParaRPr>
          </a:p>
          <a:p>
            <a:pPr>
              <a:spcAft>
                <a:spcPts val="600"/>
              </a:spcAft>
            </a:pPr>
            <a:r>
              <a:rPr lang="en-US" sz="1500" b="1" dirty="0">
                <a:latin typeface="Arial" panose="020B0604020202020204" pitchFamily="34" charset="0"/>
                <a:cs typeface="Arial" panose="020B0604020202020204" pitchFamily="34" charset="0"/>
              </a:rPr>
              <a:t>Random or disordered substitutional solid solutions</a:t>
            </a:r>
          </a:p>
        </p:txBody>
      </p:sp>
      <p:sp>
        <p:nvSpPr>
          <p:cNvPr id="9" name="TextBox 8">
            <a:extLst>
              <a:ext uri="{FF2B5EF4-FFF2-40B4-BE49-F238E27FC236}">
                <a16:creationId xmlns:a16="http://schemas.microsoft.com/office/drawing/2014/main" id="{8AF4A86F-E83B-949B-7C26-FA2DEBADA1C6}"/>
              </a:ext>
            </a:extLst>
          </p:cNvPr>
          <p:cNvSpPr txBox="1"/>
          <p:nvPr/>
        </p:nvSpPr>
        <p:spPr>
          <a:xfrm>
            <a:off x="833326" y="2096614"/>
            <a:ext cx="8318303"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In ordered substitutional solid solutions, the solute atoms which replace base metal occupy the lattice in an ordered fashion. </a:t>
            </a:r>
            <a:endParaRPr lang="en-IN" sz="1600" dirty="0"/>
          </a:p>
        </p:txBody>
      </p:sp>
      <p:grpSp>
        <p:nvGrpSpPr>
          <p:cNvPr id="26" name="Group 25">
            <a:extLst>
              <a:ext uri="{FF2B5EF4-FFF2-40B4-BE49-F238E27FC236}">
                <a16:creationId xmlns:a16="http://schemas.microsoft.com/office/drawing/2014/main" id="{FCE2FE64-C183-7A43-2F29-5963AADB126A}"/>
              </a:ext>
            </a:extLst>
          </p:cNvPr>
          <p:cNvGrpSpPr/>
          <p:nvPr/>
        </p:nvGrpSpPr>
        <p:grpSpPr>
          <a:xfrm>
            <a:off x="9833168" y="1008978"/>
            <a:ext cx="1438640" cy="1334833"/>
            <a:chOff x="9036718" y="2828516"/>
            <a:chExt cx="1565105" cy="1567019"/>
          </a:xfrm>
        </p:grpSpPr>
        <p:sp>
          <p:nvSpPr>
            <p:cNvPr id="12" name="Oval 11">
              <a:extLst>
                <a:ext uri="{FF2B5EF4-FFF2-40B4-BE49-F238E27FC236}">
                  <a16:creationId xmlns:a16="http://schemas.microsoft.com/office/drawing/2014/main" id="{2E1D73BB-FBFD-9266-3B41-2CE19576A37C}"/>
                </a:ext>
              </a:extLst>
            </p:cNvPr>
            <p:cNvSpPr/>
            <p:nvPr/>
          </p:nvSpPr>
          <p:spPr>
            <a:xfrm>
              <a:off x="9036718" y="2853683"/>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C2E6B9A9-E75E-8CB2-3746-486DD9838825}"/>
                </a:ext>
              </a:extLst>
            </p:cNvPr>
            <p:cNvSpPr/>
            <p:nvPr/>
          </p:nvSpPr>
          <p:spPr>
            <a:xfrm>
              <a:off x="9043987" y="3391449"/>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643D896A-C5AE-5167-B357-89A2F43B5DA7}"/>
                </a:ext>
              </a:extLst>
            </p:cNvPr>
            <p:cNvSpPr/>
            <p:nvPr/>
          </p:nvSpPr>
          <p:spPr>
            <a:xfrm>
              <a:off x="9544552" y="3383427"/>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D3982611-2021-5082-9DDB-1F028B3689C2}"/>
                </a:ext>
              </a:extLst>
            </p:cNvPr>
            <p:cNvSpPr/>
            <p:nvPr/>
          </p:nvSpPr>
          <p:spPr>
            <a:xfrm>
              <a:off x="9530013" y="2860601"/>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E51CA7C0-DC4C-C69D-6CC8-3FE0696B3ECA}"/>
                </a:ext>
              </a:extLst>
            </p:cNvPr>
            <p:cNvSpPr/>
            <p:nvPr/>
          </p:nvSpPr>
          <p:spPr>
            <a:xfrm>
              <a:off x="10052384" y="3355353"/>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B766ECEB-2EF3-C2E0-1AC6-B2BD6FDA868D}"/>
                </a:ext>
              </a:extLst>
            </p:cNvPr>
            <p:cNvSpPr/>
            <p:nvPr/>
          </p:nvSpPr>
          <p:spPr>
            <a:xfrm>
              <a:off x="10030328" y="2828516"/>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D3D3F26A-EB41-83AC-ACF3-994DA241D23D}"/>
                </a:ext>
              </a:extLst>
            </p:cNvPr>
            <p:cNvSpPr/>
            <p:nvPr/>
          </p:nvSpPr>
          <p:spPr>
            <a:xfrm>
              <a:off x="9100131" y="3868699"/>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6B623F7D-0833-B411-12CD-E7027067D733}"/>
                </a:ext>
              </a:extLst>
            </p:cNvPr>
            <p:cNvSpPr/>
            <p:nvPr/>
          </p:nvSpPr>
          <p:spPr>
            <a:xfrm>
              <a:off x="9600696" y="3884741"/>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3C39CFC7-EA68-5CCE-BF53-DE2EA0BB0475}"/>
                </a:ext>
              </a:extLst>
            </p:cNvPr>
            <p:cNvSpPr/>
            <p:nvPr/>
          </p:nvSpPr>
          <p:spPr>
            <a:xfrm>
              <a:off x="10108528" y="3868699"/>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7" name="TextBox 26">
            <a:extLst>
              <a:ext uri="{FF2B5EF4-FFF2-40B4-BE49-F238E27FC236}">
                <a16:creationId xmlns:a16="http://schemas.microsoft.com/office/drawing/2014/main" id="{C8C99C0C-D3A3-B4D7-FF71-C3057F7132AF}"/>
              </a:ext>
            </a:extLst>
          </p:cNvPr>
          <p:cNvSpPr txBox="1"/>
          <p:nvPr/>
        </p:nvSpPr>
        <p:spPr>
          <a:xfrm>
            <a:off x="817936" y="2925432"/>
            <a:ext cx="803633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In disordered substitutional solid solutions, the solute atoms occupy random location of the base metal resulting in a disordered arrangement.  </a:t>
            </a:r>
            <a:endParaRPr lang="en-IN" sz="1600" dirty="0"/>
          </a:p>
        </p:txBody>
      </p:sp>
      <p:grpSp>
        <p:nvGrpSpPr>
          <p:cNvPr id="28" name="Group 27">
            <a:extLst>
              <a:ext uri="{FF2B5EF4-FFF2-40B4-BE49-F238E27FC236}">
                <a16:creationId xmlns:a16="http://schemas.microsoft.com/office/drawing/2014/main" id="{580D7DE1-9EFC-0D6B-DC65-0AC5458DEF02}"/>
              </a:ext>
            </a:extLst>
          </p:cNvPr>
          <p:cNvGrpSpPr/>
          <p:nvPr/>
        </p:nvGrpSpPr>
        <p:grpSpPr>
          <a:xfrm>
            <a:off x="9856201" y="2701091"/>
            <a:ext cx="1438640" cy="1334833"/>
            <a:chOff x="9036718" y="2828516"/>
            <a:chExt cx="1565105" cy="1567019"/>
          </a:xfrm>
        </p:grpSpPr>
        <p:sp>
          <p:nvSpPr>
            <p:cNvPr id="29" name="Oval 28">
              <a:extLst>
                <a:ext uri="{FF2B5EF4-FFF2-40B4-BE49-F238E27FC236}">
                  <a16:creationId xmlns:a16="http://schemas.microsoft.com/office/drawing/2014/main" id="{CA9F632E-FFDF-76EC-4736-998D67F68155}"/>
                </a:ext>
              </a:extLst>
            </p:cNvPr>
            <p:cNvSpPr/>
            <p:nvPr/>
          </p:nvSpPr>
          <p:spPr>
            <a:xfrm>
              <a:off x="9036718" y="2853683"/>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F93C6079-9ECD-4436-510A-92206A1BAAD1}"/>
                </a:ext>
              </a:extLst>
            </p:cNvPr>
            <p:cNvSpPr/>
            <p:nvPr/>
          </p:nvSpPr>
          <p:spPr>
            <a:xfrm>
              <a:off x="9043987" y="3391449"/>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790FAD92-8F43-2406-27BC-8DF44BC9E40D}"/>
                </a:ext>
              </a:extLst>
            </p:cNvPr>
            <p:cNvSpPr/>
            <p:nvPr/>
          </p:nvSpPr>
          <p:spPr>
            <a:xfrm>
              <a:off x="9544552" y="3383427"/>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64F73D6-12AE-BDD0-6D6E-CB1BF36F02DF}"/>
                </a:ext>
              </a:extLst>
            </p:cNvPr>
            <p:cNvSpPr/>
            <p:nvPr/>
          </p:nvSpPr>
          <p:spPr>
            <a:xfrm>
              <a:off x="9530013" y="2860601"/>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ABF8E96A-F7C6-EEA7-E009-8BD81F45DC45}"/>
                </a:ext>
              </a:extLst>
            </p:cNvPr>
            <p:cNvSpPr/>
            <p:nvPr/>
          </p:nvSpPr>
          <p:spPr>
            <a:xfrm>
              <a:off x="10052384" y="3355353"/>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9F1E8484-E977-FBAA-1AEA-D5ECDAF76586}"/>
                </a:ext>
              </a:extLst>
            </p:cNvPr>
            <p:cNvSpPr/>
            <p:nvPr/>
          </p:nvSpPr>
          <p:spPr>
            <a:xfrm>
              <a:off x="10030328" y="2828516"/>
              <a:ext cx="493295" cy="51079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8DA25F41-35E1-235B-3C54-0566E0E5937D}"/>
                </a:ext>
              </a:extLst>
            </p:cNvPr>
            <p:cNvSpPr/>
            <p:nvPr/>
          </p:nvSpPr>
          <p:spPr>
            <a:xfrm>
              <a:off x="9100131" y="3868699"/>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049BDB5B-0B2F-1A96-91EF-B8BF347F4CBA}"/>
                </a:ext>
              </a:extLst>
            </p:cNvPr>
            <p:cNvSpPr/>
            <p:nvPr/>
          </p:nvSpPr>
          <p:spPr>
            <a:xfrm>
              <a:off x="9600696" y="3884741"/>
              <a:ext cx="493295" cy="510794"/>
            </a:xfrm>
            <a:prstGeom prst="ellipse">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18448AB4-C27C-D7FB-FF30-11FFF6DAA7CC}"/>
                </a:ext>
              </a:extLst>
            </p:cNvPr>
            <p:cNvSpPr/>
            <p:nvPr/>
          </p:nvSpPr>
          <p:spPr>
            <a:xfrm>
              <a:off x="10108528" y="3868699"/>
              <a:ext cx="493295" cy="51079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 name="Group 3">
            <a:extLst>
              <a:ext uri="{FF2B5EF4-FFF2-40B4-BE49-F238E27FC236}">
                <a16:creationId xmlns:a16="http://schemas.microsoft.com/office/drawing/2014/main" id="{57A60807-058D-01EB-E51E-14F56C77374C}"/>
              </a:ext>
            </a:extLst>
          </p:cNvPr>
          <p:cNvGrpSpPr/>
          <p:nvPr/>
        </p:nvGrpSpPr>
        <p:grpSpPr>
          <a:xfrm>
            <a:off x="817936" y="3888599"/>
            <a:ext cx="10670913" cy="2651591"/>
            <a:chOff x="817936" y="3888599"/>
            <a:chExt cx="10670913" cy="2651591"/>
          </a:xfrm>
        </p:grpSpPr>
        <p:grpSp>
          <p:nvGrpSpPr>
            <p:cNvPr id="44" name="Group 43">
              <a:extLst>
                <a:ext uri="{FF2B5EF4-FFF2-40B4-BE49-F238E27FC236}">
                  <a16:creationId xmlns:a16="http://schemas.microsoft.com/office/drawing/2014/main" id="{067988B3-B77F-9E7B-0DC1-9648546ECF29}"/>
                </a:ext>
              </a:extLst>
            </p:cNvPr>
            <p:cNvGrpSpPr/>
            <p:nvPr/>
          </p:nvGrpSpPr>
          <p:grpSpPr>
            <a:xfrm>
              <a:off x="817936" y="3888599"/>
              <a:ext cx="8036330" cy="2651591"/>
              <a:chOff x="915165" y="3934696"/>
              <a:chExt cx="8036330" cy="2651591"/>
            </a:xfrm>
          </p:grpSpPr>
          <p:sp>
            <p:nvSpPr>
              <p:cNvPr id="38" name="TextBox 37">
                <a:extLst>
                  <a:ext uri="{FF2B5EF4-FFF2-40B4-BE49-F238E27FC236}">
                    <a16:creationId xmlns:a16="http://schemas.microsoft.com/office/drawing/2014/main" id="{14548895-8533-C6CF-C29E-4AAECFBD4BEE}"/>
                  </a:ext>
                </a:extLst>
              </p:cNvPr>
              <p:cNvSpPr txBox="1"/>
              <p:nvPr/>
            </p:nvSpPr>
            <p:spPr>
              <a:xfrm>
                <a:off x="915165" y="3934696"/>
                <a:ext cx="2675732" cy="338554"/>
              </a:xfrm>
              <a:prstGeom prst="rect">
                <a:avLst/>
              </a:prstGeom>
              <a:noFill/>
            </p:spPr>
            <p:txBody>
              <a:bodyPr wrap="none" rtlCol="0">
                <a:spAutoFit/>
              </a:bodyPr>
              <a:lstStyle/>
              <a:p>
                <a:r>
                  <a:rPr lang="en-IN" sz="1600" b="1" i="0" u="none" strike="noStrike" baseline="0" dirty="0">
                    <a:solidFill>
                      <a:srgbClr val="C00000"/>
                    </a:solidFill>
                    <a:latin typeface="Arial" panose="020B0604020202020204" pitchFamily="34" charset="0"/>
                    <a:cs typeface="Arial" panose="020B0604020202020204" pitchFamily="34" charset="0"/>
                  </a:rPr>
                  <a:t>Interstitial solid solutions</a:t>
                </a:r>
                <a:endParaRPr lang="en-IN" sz="1600" b="1" dirty="0">
                  <a:solidFill>
                    <a:srgbClr val="C00000"/>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A8E77B63-8371-3988-3571-21EE8516A673}"/>
                  </a:ext>
                </a:extLst>
              </p:cNvPr>
              <p:cNvSpPr txBox="1"/>
              <p:nvPr/>
            </p:nvSpPr>
            <p:spPr>
              <a:xfrm>
                <a:off x="915165" y="4455959"/>
                <a:ext cx="7877885" cy="584775"/>
              </a:xfrm>
              <a:prstGeom prst="rect">
                <a:avLst/>
              </a:prstGeom>
              <a:noFill/>
            </p:spPr>
            <p:txBody>
              <a:bodyPr wrap="square" rtlCol="0">
                <a:spAutoFit/>
              </a:bodyPr>
              <a:lstStyle/>
              <a:p>
                <a:r>
                  <a:rPr lang="en-US" sz="1600" b="0" i="0" u="none" strike="noStrike" baseline="0" dirty="0">
                    <a:latin typeface="Arial" panose="020B0604020202020204" pitchFamily="34" charset="0"/>
                    <a:cs typeface="Arial" panose="020B0604020202020204" pitchFamily="34" charset="0"/>
                  </a:rPr>
                  <a:t>Where, the  newly doped species i.e. the solute atoms occupy the interstitial sites or the empty spaces of the base metal. </a:t>
                </a:r>
                <a:endParaRPr lang="en-IN" sz="16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950F5452-364E-97E9-214E-D8A8AC3B17D1}"/>
                  </a:ext>
                </a:extLst>
              </p:cNvPr>
              <p:cNvSpPr txBox="1"/>
              <p:nvPr/>
            </p:nvSpPr>
            <p:spPr>
              <a:xfrm>
                <a:off x="915165" y="5256337"/>
                <a:ext cx="803633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As the size of the empty space is limited in the crystal, the interstitial solid are generally formed by atoms (solute) with small sizes. </a:t>
                </a:r>
                <a:endParaRPr lang="en-IN" sz="16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DE999F21-100E-931E-7A6B-436512909F76}"/>
                  </a:ext>
                </a:extLst>
              </p:cNvPr>
              <p:cNvSpPr txBox="1"/>
              <p:nvPr/>
            </p:nvSpPr>
            <p:spPr>
              <a:xfrm>
                <a:off x="915165" y="6001512"/>
                <a:ext cx="8036330"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If the solute is a d-block metal, the probability to form interstitial solid solution is high due to their small ionic radii as well as due to their electronic structure. </a:t>
                </a:r>
                <a:endParaRPr lang="en-IN" sz="1600" dirty="0">
                  <a:latin typeface="Arial" panose="020B0604020202020204" pitchFamily="34" charset="0"/>
                  <a:cs typeface="Arial" panose="020B0604020202020204" pitchFamily="34" charset="0"/>
                </a:endParaRPr>
              </a:p>
            </p:txBody>
          </p:sp>
        </p:grpSp>
        <p:pic>
          <p:nvPicPr>
            <p:cNvPr id="3" name="Picture 2">
              <a:extLst>
                <a:ext uri="{FF2B5EF4-FFF2-40B4-BE49-F238E27FC236}">
                  <a16:creationId xmlns:a16="http://schemas.microsoft.com/office/drawing/2014/main" id="{E8BCEAA2-85AA-3E49-EE98-A6DAD9C2C666}"/>
                </a:ext>
              </a:extLst>
            </p:cNvPr>
            <p:cNvPicPr>
              <a:picLocks noChangeAspect="1"/>
            </p:cNvPicPr>
            <p:nvPr/>
          </p:nvPicPr>
          <p:blipFill>
            <a:blip r:embed="rId2"/>
            <a:stretch>
              <a:fillRect/>
            </a:stretch>
          </p:blipFill>
          <p:spPr>
            <a:xfrm>
              <a:off x="9260367" y="4616682"/>
              <a:ext cx="2228482" cy="1505634"/>
            </a:xfrm>
            <a:prstGeom prst="rect">
              <a:avLst/>
            </a:prstGeom>
          </p:spPr>
        </p:pic>
      </p:grpSp>
    </p:spTree>
    <p:extLst>
      <p:ext uri="{BB962C8B-B14F-4D97-AF65-F5344CB8AC3E}">
        <p14:creationId xmlns:p14="http://schemas.microsoft.com/office/powerpoint/2010/main" val="117100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89355CC-B1D3-FBA3-5829-D4847B4E2B88}"/>
              </a:ext>
            </a:extLst>
          </p:cNvPr>
          <p:cNvSpPr txBox="1"/>
          <p:nvPr/>
        </p:nvSpPr>
        <p:spPr>
          <a:xfrm>
            <a:off x="690043" y="354827"/>
            <a:ext cx="6616013" cy="830997"/>
          </a:xfrm>
          <a:prstGeom prst="rect">
            <a:avLst/>
          </a:prstGeom>
          <a:noFill/>
        </p:spPr>
        <p:txBody>
          <a:bodyPr wrap="square" rtlCol="0">
            <a:spAutoFit/>
          </a:bodyPr>
          <a:lstStyle/>
          <a:p>
            <a:pPr algn="l"/>
            <a:r>
              <a:rPr lang="en-US" sz="1600" dirty="0">
                <a:latin typeface="Arial" panose="020B0604020202020204" pitchFamily="34" charset="0"/>
                <a:cs typeface="Arial" panose="020B0604020202020204" pitchFamily="34" charset="0"/>
              </a:rPr>
              <a:t>M</a:t>
            </a:r>
            <a:r>
              <a:rPr lang="en-US" sz="1600" b="0" i="0" u="none" strike="noStrike" baseline="0" dirty="0">
                <a:latin typeface="Arial" panose="020B0604020202020204" pitchFamily="34" charset="0"/>
                <a:cs typeface="Arial" panose="020B0604020202020204" pitchFamily="34" charset="0"/>
              </a:rPr>
              <a:t>etals form interstitial solid solutions in which small atoms, especially H, C, B and N, enter empty interstitial sites within the host metal structure.</a:t>
            </a:r>
            <a:endParaRPr lang="en-IN" sz="1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758F489-0DFA-5A34-1BA8-17A92C429AC3}"/>
              </a:ext>
            </a:extLst>
          </p:cNvPr>
          <p:cNvSpPr txBox="1"/>
          <p:nvPr/>
        </p:nvSpPr>
        <p:spPr>
          <a:xfrm>
            <a:off x="784216" y="1739536"/>
            <a:ext cx="4323620" cy="369332"/>
          </a:xfrm>
          <a:prstGeom prst="rect">
            <a:avLst/>
          </a:prstGeom>
          <a:noFill/>
        </p:spPr>
        <p:txBody>
          <a:bodyPr wrap="none" rtlCol="0">
            <a:spAutoFit/>
          </a:bodyPr>
          <a:lstStyle/>
          <a:p>
            <a:r>
              <a:rPr lang="en-IN" b="0" i="0" u="none" strike="noStrike" baseline="0" dirty="0" err="1">
                <a:solidFill>
                  <a:srgbClr val="C00000"/>
                </a:solidFill>
                <a:latin typeface="Arial" panose="020B0604020202020204" pitchFamily="34" charset="0"/>
                <a:cs typeface="Arial" panose="020B0604020202020204" pitchFamily="34" charset="0"/>
              </a:rPr>
              <a:t>Eg</a:t>
            </a:r>
            <a:r>
              <a:rPr lang="en-IN" dirty="0">
                <a:solidFill>
                  <a:srgbClr val="C00000"/>
                </a:solidFill>
                <a:latin typeface="Arial" panose="020B0604020202020204" pitchFamily="34" charset="0"/>
                <a:cs typeface="Arial" panose="020B0604020202020204" pitchFamily="34" charset="0"/>
              </a:rPr>
              <a:t>:</a:t>
            </a:r>
            <a:r>
              <a:rPr lang="en-IN" b="0" i="0" u="none" strike="noStrike" baseline="0" dirty="0">
                <a:solidFill>
                  <a:srgbClr val="C00000"/>
                </a:solidFill>
                <a:latin typeface="Arial" panose="020B0604020202020204" pitchFamily="34" charset="0"/>
                <a:cs typeface="Arial" panose="020B0604020202020204" pitchFamily="34" charset="0"/>
              </a:rPr>
              <a:t> </a:t>
            </a:r>
            <a:r>
              <a:rPr lang="en-IN" b="0" i="0" u="none" strike="noStrike" baseline="0" dirty="0" err="1">
                <a:solidFill>
                  <a:srgbClr val="C00000"/>
                </a:solidFill>
                <a:latin typeface="Arial" panose="020B0604020202020204" pitchFamily="34" charset="0"/>
                <a:cs typeface="Arial" panose="020B0604020202020204" pitchFamily="34" charset="0"/>
              </a:rPr>
              <a:t>PdH</a:t>
            </a:r>
            <a:r>
              <a:rPr lang="en-IN" b="0" i="1" u="none" strike="noStrike" baseline="0" dirty="0" err="1">
                <a:solidFill>
                  <a:srgbClr val="C00000"/>
                </a:solidFill>
                <a:latin typeface="Arial" panose="020B0604020202020204" pitchFamily="34" charset="0"/>
                <a:cs typeface="Arial" panose="020B0604020202020204" pitchFamily="34" charset="0"/>
              </a:rPr>
              <a:t>x</a:t>
            </a:r>
            <a:r>
              <a:rPr lang="en-IN" b="0" i="0" u="none" strike="noStrike" baseline="0" dirty="0">
                <a:solidFill>
                  <a:srgbClr val="C00000"/>
                </a:solidFill>
                <a:latin typeface="Arial" panose="020B0604020202020204" pitchFamily="34" charset="0"/>
                <a:cs typeface="Arial" panose="020B0604020202020204" pitchFamily="34" charset="0"/>
              </a:rPr>
              <a:t>: 0 ≤ </a:t>
            </a:r>
            <a:r>
              <a:rPr lang="en-IN" b="0" i="1" u="none" strike="noStrike" baseline="0" dirty="0">
                <a:solidFill>
                  <a:srgbClr val="C00000"/>
                </a:solidFill>
                <a:latin typeface="Arial" panose="020B0604020202020204" pitchFamily="34" charset="0"/>
                <a:cs typeface="Arial" panose="020B0604020202020204" pitchFamily="34" charset="0"/>
              </a:rPr>
              <a:t>x </a:t>
            </a:r>
            <a:r>
              <a:rPr lang="en-IN" b="0" i="0" u="none" strike="noStrike" baseline="0" dirty="0">
                <a:solidFill>
                  <a:srgbClr val="C00000"/>
                </a:solidFill>
                <a:latin typeface="Arial" panose="020B0604020202020204" pitchFamily="34" charset="0"/>
                <a:cs typeface="Arial" panose="020B0604020202020204" pitchFamily="34" charset="0"/>
              </a:rPr>
              <a:t>≤ 0.7  ; tungsten carbide</a:t>
            </a:r>
            <a:endParaRPr lang="en-IN" dirty="0">
              <a:solidFill>
                <a:srgbClr val="C0000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7A7E49A-A1B7-906A-956C-0E43AAB5142E}"/>
              </a:ext>
            </a:extLst>
          </p:cNvPr>
          <p:cNvSpPr txBox="1"/>
          <p:nvPr/>
        </p:nvSpPr>
        <p:spPr>
          <a:xfrm>
            <a:off x="593791" y="1107644"/>
            <a:ext cx="6712266" cy="584775"/>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The small atoms preserve the crystal structure and there will be no electron transfer </a:t>
            </a:r>
          </a:p>
        </p:txBody>
      </p:sp>
      <p:grpSp>
        <p:nvGrpSpPr>
          <p:cNvPr id="15" name="Group 14">
            <a:extLst>
              <a:ext uri="{FF2B5EF4-FFF2-40B4-BE49-F238E27FC236}">
                <a16:creationId xmlns:a16="http://schemas.microsoft.com/office/drawing/2014/main" id="{4995D2A9-7AB8-0E6D-9D20-A1C83C26B37F}"/>
              </a:ext>
            </a:extLst>
          </p:cNvPr>
          <p:cNvGrpSpPr/>
          <p:nvPr/>
        </p:nvGrpSpPr>
        <p:grpSpPr>
          <a:xfrm>
            <a:off x="690043" y="3722255"/>
            <a:ext cx="10711031" cy="1591893"/>
            <a:chOff x="882366" y="4723102"/>
            <a:chExt cx="10711031" cy="1591893"/>
          </a:xfrm>
        </p:grpSpPr>
        <p:pic>
          <p:nvPicPr>
            <p:cNvPr id="5" name="Picture 4">
              <a:extLst>
                <a:ext uri="{FF2B5EF4-FFF2-40B4-BE49-F238E27FC236}">
                  <a16:creationId xmlns:a16="http://schemas.microsoft.com/office/drawing/2014/main" id="{9A9B2614-A160-93D0-4191-7D3D628E1270}"/>
                </a:ext>
              </a:extLst>
            </p:cNvPr>
            <p:cNvPicPr>
              <a:picLocks noChangeAspect="1"/>
            </p:cNvPicPr>
            <p:nvPr/>
          </p:nvPicPr>
          <p:blipFill>
            <a:blip r:embed="rId2"/>
            <a:stretch>
              <a:fillRect/>
            </a:stretch>
          </p:blipFill>
          <p:spPr>
            <a:xfrm>
              <a:off x="9376549" y="4723102"/>
              <a:ext cx="2216848" cy="1505634"/>
            </a:xfrm>
            <a:prstGeom prst="rect">
              <a:avLst/>
            </a:prstGeom>
          </p:spPr>
        </p:pic>
        <p:sp>
          <p:nvSpPr>
            <p:cNvPr id="12" name="TextBox 11">
              <a:extLst>
                <a:ext uri="{FF2B5EF4-FFF2-40B4-BE49-F238E27FC236}">
                  <a16:creationId xmlns:a16="http://schemas.microsoft.com/office/drawing/2014/main" id="{A654779D-C961-7578-0138-60780B4868A9}"/>
                </a:ext>
              </a:extLst>
            </p:cNvPr>
            <p:cNvSpPr txBox="1"/>
            <p:nvPr/>
          </p:nvSpPr>
          <p:spPr>
            <a:xfrm>
              <a:off x="995388" y="5730220"/>
              <a:ext cx="6700266" cy="584775"/>
            </a:xfrm>
            <a:prstGeom prst="rect">
              <a:avLst/>
            </a:prstGeom>
            <a:noFill/>
          </p:spPr>
          <p:txBody>
            <a:bodyPr wrap="square">
              <a:spAutoFit/>
            </a:bodyPr>
            <a:lstStyle/>
            <a:p>
              <a:r>
                <a:rPr lang="en-IN" sz="1600" dirty="0">
                  <a:solidFill>
                    <a:srgbClr val="C00000"/>
                  </a:solidFill>
                  <a:latin typeface="Arial" panose="020B0604020202020204" pitchFamily="34" charset="0"/>
                  <a:cs typeface="Arial" panose="020B0604020202020204" pitchFamily="34" charset="0"/>
                </a:rPr>
                <a:t>Examples: Alloys formed from metals with similar size and charge, </a:t>
              </a:r>
              <a:r>
                <a:rPr lang="en-IN" sz="1600" dirty="0" err="1">
                  <a:solidFill>
                    <a:srgbClr val="C00000"/>
                  </a:solidFill>
                  <a:latin typeface="Arial" panose="020B0604020202020204" pitchFamily="34" charset="0"/>
                  <a:cs typeface="Arial" panose="020B0604020202020204" pitchFamily="34" charset="0"/>
                </a:rPr>
                <a:t>NiCu</a:t>
              </a:r>
              <a:r>
                <a:rPr lang="en-IN" sz="1600" dirty="0">
                  <a:solidFill>
                    <a:srgbClr val="C00000"/>
                  </a:solidFill>
                  <a:latin typeface="Arial" panose="020B0604020202020204" pitchFamily="34" charset="0"/>
                  <a:cs typeface="Arial" panose="020B0604020202020204" pitchFamily="34" charset="0"/>
                </a:rPr>
                <a:t> ; </a:t>
              </a:r>
              <a:r>
                <a:rPr lang="en-IN" sz="1600" dirty="0" err="1">
                  <a:solidFill>
                    <a:srgbClr val="C00000"/>
                  </a:solidFill>
                  <a:latin typeface="Arial" panose="020B0604020202020204" pitchFamily="34" charset="0"/>
                  <a:cs typeface="Arial" panose="020B0604020202020204" pitchFamily="34" charset="0"/>
                </a:rPr>
                <a:t>ZnCu</a:t>
              </a:r>
              <a:endParaRPr lang="en-IN" sz="1600" dirty="0"/>
            </a:p>
          </p:txBody>
        </p:sp>
        <p:sp>
          <p:nvSpPr>
            <p:cNvPr id="13" name="TextBox 12">
              <a:extLst>
                <a:ext uri="{FF2B5EF4-FFF2-40B4-BE49-F238E27FC236}">
                  <a16:creationId xmlns:a16="http://schemas.microsoft.com/office/drawing/2014/main" id="{FE655C61-51C0-523E-D5CD-F4E1D30B5227}"/>
                </a:ext>
              </a:extLst>
            </p:cNvPr>
            <p:cNvSpPr txBox="1"/>
            <p:nvPr/>
          </p:nvSpPr>
          <p:spPr>
            <a:xfrm>
              <a:off x="882366" y="4942813"/>
              <a:ext cx="7877885" cy="584775"/>
            </a:xfrm>
            <a:prstGeom prst="rect">
              <a:avLst/>
            </a:prstGeom>
            <a:noFill/>
          </p:spPr>
          <p:txBody>
            <a:bodyPr wrap="square" rtlCol="0">
              <a:spAutoFit/>
            </a:bodyPr>
            <a:lstStyle/>
            <a:p>
              <a:pPr algn="l"/>
              <a:r>
                <a:rPr lang="en-IN" sz="1600" b="0" i="0" u="none" strike="noStrike" baseline="0" dirty="0">
                  <a:latin typeface="Arial" panose="020B0604020202020204" pitchFamily="34" charset="0"/>
                  <a:cs typeface="Arial" panose="020B0604020202020204" pitchFamily="34" charset="0"/>
                </a:rPr>
                <a:t>In some cases, </a:t>
              </a:r>
              <a:r>
                <a:rPr lang="en-US" sz="1600" b="0" i="0" u="none" strike="noStrike" baseline="0" dirty="0">
                  <a:latin typeface="Arial" panose="020B0604020202020204" pitchFamily="34" charset="0"/>
                  <a:cs typeface="Arial" panose="020B0604020202020204" pitchFamily="34" charset="0"/>
                </a:rPr>
                <a:t>an interstitial alloy may be regarded as a substitutional alloy derived from </a:t>
              </a:r>
              <a:r>
                <a:rPr lang="en-IN" sz="1600" b="0" i="0" u="none" strike="noStrike" baseline="0" dirty="0">
                  <a:latin typeface="Arial" panose="020B0604020202020204" pitchFamily="34" charset="0"/>
                  <a:cs typeface="Arial" panose="020B0604020202020204" pitchFamily="34" charset="0"/>
                </a:rPr>
                <a:t>another lattice.</a:t>
              </a:r>
              <a:endParaRPr lang="en-IN" sz="1600" dirty="0">
                <a:latin typeface="Arial" panose="020B0604020202020204" pitchFamily="34" charset="0"/>
                <a:cs typeface="Arial" panose="020B0604020202020204" pitchFamily="34" charset="0"/>
              </a:endParaRPr>
            </a:p>
          </p:txBody>
        </p:sp>
      </p:grpSp>
      <p:sp>
        <p:nvSpPr>
          <p:cNvPr id="14" name="TextBox 13">
            <a:extLst>
              <a:ext uri="{FF2B5EF4-FFF2-40B4-BE49-F238E27FC236}">
                <a16:creationId xmlns:a16="http://schemas.microsoft.com/office/drawing/2014/main" id="{86BA864B-4160-F9C5-A520-396510AFD9FB}"/>
              </a:ext>
            </a:extLst>
          </p:cNvPr>
          <p:cNvSpPr txBox="1"/>
          <p:nvPr/>
        </p:nvSpPr>
        <p:spPr>
          <a:xfrm>
            <a:off x="593790" y="2337238"/>
            <a:ext cx="7054925" cy="584775"/>
          </a:xfrm>
          <a:prstGeom prst="rect">
            <a:avLst/>
          </a:prstGeom>
          <a:noFill/>
        </p:spPr>
        <p:txBody>
          <a:bodyPr wrap="square" rtlCol="0">
            <a:spAutoFit/>
          </a:bodyPr>
          <a:lstStyle/>
          <a:p>
            <a:pPr algn="just"/>
            <a:r>
              <a:rPr lang="en-US" sz="1600" dirty="0">
                <a:solidFill>
                  <a:srgbClr val="C00000"/>
                </a:solidFill>
                <a:latin typeface="Arial" panose="020B0604020202020204" pitchFamily="34" charset="0"/>
                <a:cs typeface="Arial" panose="020B0604020202020204" pitchFamily="34" charset="0"/>
              </a:rPr>
              <a:t>C</a:t>
            </a:r>
            <a:r>
              <a:rPr lang="en-US" sz="1600" b="0" i="0" u="none" strike="noStrike" baseline="0" dirty="0">
                <a:solidFill>
                  <a:srgbClr val="C00000"/>
                </a:solidFill>
                <a:latin typeface="Arial" panose="020B0604020202020204" pitchFamily="34" charset="0"/>
                <a:cs typeface="Arial" panose="020B0604020202020204" pitchFamily="34" charset="0"/>
              </a:rPr>
              <a:t>arbon steels: C atoms occupy some of the octahedral holes in the </a:t>
            </a:r>
            <a:r>
              <a:rPr lang="en-US" sz="1600" b="0" i="0" u="none" strike="noStrike" baseline="0"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sz="1600" b="0" i="0" u="none" strike="noStrike" baseline="0" dirty="0">
                <a:solidFill>
                  <a:srgbClr val="C00000"/>
                </a:solidFill>
                <a:latin typeface="Arial" panose="020B0604020202020204" pitchFamily="34" charset="0"/>
                <a:cs typeface="Arial" panose="020B0604020202020204" pitchFamily="34" charset="0"/>
              </a:rPr>
              <a:t>Fe </a:t>
            </a:r>
            <a:r>
              <a:rPr lang="en-US" sz="1600" b="0" i="0" u="none" strike="noStrike" baseline="0" dirty="0" err="1">
                <a:solidFill>
                  <a:srgbClr val="C00000"/>
                </a:solidFill>
                <a:latin typeface="Arial" panose="020B0604020202020204" pitchFamily="34" charset="0"/>
                <a:cs typeface="Arial" panose="020B0604020202020204" pitchFamily="34" charset="0"/>
              </a:rPr>
              <a:t>fcc</a:t>
            </a:r>
            <a:r>
              <a:rPr lang="en-US" sz="1600" b="0" i="0" u="none" strike="noStrike" baseline="0" dirty="0">
                <a:solidFill>
                  <a:srgbClr val="C00000"/>
                </a:solidFill>
                <a:latin typeface="Arial" panose="020B0604020202020204" pitchFamily="34" charset="0"/>
                <a:cs typeface="Arial" panose="020B0604020202020204" pitchFamily="34" charset="0"/>
              </a:rPr>
              <a:t> lattice.</a:t>
            </a:r>
            <a:endParaRPr lang="en-IN" sz="1600" dirty="0">
              <a:solidFill>
                <a:srgbClr val="C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96D6350-90D4-8AE6-A439-B3248A72F3F4}"/>
              </a:ext>
            </a:extLst>
          </p:cNvPr>
          <p:cNvPicPr>
            <a:picLocks noChangeAspect="1"/>
          </p:cNvPicPr>
          <p:nvPr/>
        </p:nvPicPr>
        <p:blipFill>
          <a:blip r:embed="rId3"/>
          <a:stretch>
            <a:fillRect/>
          </a:stretch>
        </p:blipFill>
        <p:spPr>
          <a:xfrm>
            <a:off x="7648715" y="223166"/>
            <a:ext cx="4420683" cy="2757778"/>
          </a:xfrm>
          <a:prstGeom prst="rect">
            <a:avLst/>
          </a:prstGeom>
        </p:spPr>
      </p:pic>
    </p:spTree>
    <p:extLst>
      <p:ext uri="{BB962C8B-B14F-4D97-AF65-F5344CB8AC3E}">
        <p14:creationId xmlns:p14="http://schemas.microsoft.com/office/powerpoint/2010/main" val="338524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629892-6A4B-506B-4BCD-D77775EE4E97}"/>
              </a:ext>
            </a:extLst>
          </p:cNvPr>
          <p:cNvSpPr txBox="1"/>
          <p:nvPr/>
        </p:nvSpPr>
        <p:spPr>
          <a:xfrm>
            <a:off x="4504307" y="218540"/>
            <a:ext cx="2387266" cy="369332"/>
          </a:xfrm>
          <a:prstGeom prst="rect">
            <a:avLst/>
          </a:prstGeom>
          <a:noFill/>
        </p:spPr>
        <p:txBody>
          <a:bodyPr wrap="square">
            <a:spAutoFit/>
          </a:bodyPr>
          <a:lstStyle/>
          <a:p>
            <a:r>
              <a:rPr lang="en-IN" sz="1800" b="1" dirty="0">
                <a:solidFill>
                  <a:srgbClr val="C00000"/>
                </a:solidFill>
                <a:latin typeface="Arial" panose="020B0604020202020204" pitchFamily="34" charset="0"/>
                <a:ea typeface="Calibri" panose="020F0502020204030204" pitchFamily="34" charset="0"/>
                <a:cs typeface="Arial" panose="020B0604020202020204" pitchFamily="34" charset="0"/>
              </a:rPr>
              <a:t>Hume-</a:t>
            </a:r>
            <a:r>
              <a:rPr lang="en-IN" sz="1800" b="1" dirty="0" err="1">
                <a:solidFill>
                  <a:srgbClr val="C00000"/>
                </a:solidFill>
                <a:latin typeface="Arial" panose="020B0604020202020204" pitchFamily="34" charset="0"/>
                <a:ea typeface="Calibri" panose="020F0502020204030204" pitchFamily="34" charset="0"/>
                <a:cs typeface="Arial" panose="020B0604020202020204" pitchFamily="34" charset="0"/>
              </a:rPr>
              <a:t>Rothary</a:t>
            </a:r>
            <a:r>
              <a:rPr lang="en-IN" sz="1800" b="1" dirty="0">
                <a:solidFill>
                  <a:srgbClr val="C00000"/>
                </a:solidFill>
                <a:latin typeface="Arial" panose="020B0604020202020204" pitchFamily="34" charset="0"/>
                <a:ea typeface="Calibri" panose="020F0502020204030204" pitchFamily="34" charset="0"/>
                <a:cs typeface="Arial" panose="020B0604020202020204" pitchFamily="34" charset="0"/>
              </a:rPr>
              <a:t> rules </a:t>
            </a:r>
            <a:endParaRPr lang="en-IN" b="1" dirty="0">
              <a:solidFill>
                <a:srgbClr val="C00000"/>
              </a:solidFill>
            </a:endParaRPr>
          </a:p>
        </p:txBody>
      </p:sp>
      <p:sp>
        <p:nvSpPr>
          <p:cNvPr id="4" name="TextBox 3">
            <a:extLst>
              <a:ext uri="{FF2B5EF4-FFF2-40B4-BE49-F238E27FC236}">
                <a16:creationId xmlns:a16="http://schemas.microsoft.com/office/drawing/2014/main" id="{A0D57EC7-58B9-7D0C-A26B-0B7FB075A181}"/>
              </a:ext>
            </a:extLst>
          </p:cNvPr>
          <p:cNvSpPr txBox="1"/>
          <p:nvPr/>
        </p:nvSpPr>
        <p:spPr>
          <a:xfrm>
            <a:off x="968991" y="1105469"/>
            <a:ext cx="184731" cy="369332"/>
          </a:xfrm>
          <a:prstGeom prst="rect">
            <a:avLst/>
          </a:prstGeom>
          <a:noFill/>
        </p:spPr>
        <p:txBody>
          <a:bodyPr wrap="none" rtlCol="0">
            <a:spAutoFit/>
          </a:bodyPr>
          <a:lstStyle/>
          <a:p>
            <a:endParaRPr lang="en-IN" dirty="0"/>
          </a:p>
        </p:txBody>
      </p:sp>
      <p:sp>
        <p:nvSpPr>
          <p:cNvPr id="6" name="TextBox 5">
            <a:extLst>
              <a:ext uri="{FF2B5EF4-FFF2-40B4-BE49-F238E27FC236}">
                <a16:creationId xmlns:a16="http://schemas.microsoft.com/office/drawing/2014/main" id="{358C3FB2-7053-E1BF-EF31-C66C95F62EAF}"/>
              </a:ext>
            </a:extLst>
          </p:cNvPr>
          <p:cNvSpPr txBox="1"/>
          <p:nvPr/>
        </p:nvSpPr>
        <p:spPr>
          <a:xfrm>
            <a:off x="1296537" y="828470"/>
            <a:ext cx="8802807" cy="646331"/>
          </a:xfrm>
          <a:prstGeom prst="rect">
            <a:avLst/>
          </a:prstGeom>
          <a:noFill/>
        </p:spPr>
        <p:txBody>
          <a:bodyPr wrap="square">
            <a:spAutoFit/>
          </a:bodyPr>
          <a:lstStyle/>
          <a:p>
            <a:r>
              <a:rPr lang="en-IN" sz="1800" dirty="0">
                <a:latin typeface="Arial" panose="020B0604020202020204" pitchFamily="34" charset="0"/>
                <a:ea typeface="Calibri" panose="020F0502020204030204" pitchFamily="34" charset="0"/>
                <a:cs typeface="Arial" panose="020B0604020202020204" pitchFamily="34" charset="0"/>
              </a:rPr>
              <a:t>Hume-</a:t>
            </a:r>
            <a:r>
              <a:rPr lang="en-IN" sz="1800" dirty="0" err="1">
                <a:latin typeface="Arial" panose="020B0604020202020204" pitchFamily="34" charset="0"/>
                <a:ea typeface="Calibri" panose="020F0502020204030204" pitchFamily="34" charset="0"/>
                <a:cs typeface="Arial" panose="020B0604020202020204" pitchFamily="34" charset="0"/>
              </a:rPr>
              <a:t>Rothary</a:t>
            </a:r>
            <a:r>
              <a:rPr lang="en-IN" sz="1800" dirty="0">
                <a:latin typeface="Arial" panose="020B0604020202020204" pitchFamily="34" charset="0"/>
                <a:ea typeface="Calibri" panose="020F0502020204030204" pitchFamily="34" charset="0"/>
                <a:cs typeface="Arial" panose="020B0604020202020204" pitchFamily="34" charset="0"/>
              </a:rPr>
              <a:t> formulated few rules </a:t>
            </a:r>
            <a:r>
              <a:rPr lang="en-IN" dirty="0">
                <a:latin typeface="Arial" panose="020B0604020202020204" pitchFamily="34" charset="0"/>
                <a:ea typeface="Calibri" panose="020F0502020204030204" pitchFamily="34" charset="0"/>
                <a:cs typeface="Arial" panose="020B0604020202020204" pitchFamily="34" charset="0"/>
              </a:rPr>
              <a:t>which governs the formation of substitutional solid solutions. </a:t>
            </a:r>
            <a:r>
              <a:rPr lang="en-IN" sz="1800" dirty="0">
                <a:latin typeface="Arial" panose="020B0604020202020204" pitchFamily="34" charset="0"/>
                <a:ea typeface="Calibri" panose="020F0502020204030204" pitchFamily="34" charset="0"/>
                <a:cs typeface="Arial" panose="020B0604020202020204" pitchFamily="34" charset="0"/>
              </a:rPr>
              <a:t> </a:t>
            </a:r>
            <a:endParaRPr lang="en-IN" dirty="0"/>
          </a:p>
        </p:txBody>
      </p:sp>
      <p:grpSp>
        <p:nvGrpSpPr>
          <p:cNvPr id="15" name="Group 14">
            <a:extLst>
              <a:ext uri="{FF2B5EF4-FFF2-40B4-BE49-F238E27FC236}">
                <a16:creationId xmlns:a16="http://schemas.microsoft.com/office/drawing/2014/main" id="{DC812FDC-BC0F-F1A0-1E77-D00149308CEE}"/>
              </a:ext>
            </a:extLst>
          </p:cNvPr>
          <p:cNvGrpSpPr/>
          <p:nvPr/>
        </p:nvGrpSpPr>
        <p:grpSpPr>
          <a:xfrm>
            <a:off x="1166640" y="1641566"/>
            <a:ext cx="9501334" cy="2032042"/>
            <a:chOff x="1166640" y="1641566"/>
            <a:chExt cx="9501334" cy="2032042"/>
          </a:xfrm>
        </p:grpSpPr>
        <p:sp>
          <p:nvSpPr>
            <p:cNvPr id="7" name="TextBox 6">
              <a:extLst>
                <a:ext uri="{FF2B5EF4-FFF2-40B4-BE49-F238E27FC236}">
                  <a16:creationId xmlns:a16="http://schemas.microsoft.com/office/drawing/2014/main" id="{7EBC3370-6B41-F2B9-0354-140539CCDEAF}"/>
                </a:ext>
              </a:extLst>
            </p:cNvPr>
            <p:cNvSpPr txBox="1"/>
            <p:nvPr/>
          </p:nvSpPr>
          <p:spPr>
            <a:xfrm>
              <a:off x="1166640" y="1641566"/>
              <a:ext cx="2005870" cy="369332"/>
            </a:xfrm>
            <a:prstGeom prst="rect">
              <a:avLst/>
            </a:prstGeom>
            <a:noFill/>
          </p:spPr>
          <p:txBody>
            <a:bodyPr wrap="none" rtlCol="0">
              <a:spAutoFit/>
            </a:bodyPr>
            <a:lstStyle/>
            <a:p>
              <a:r>
                <a:rPr lang="en-US" b="1" dirty="0"/>
                <a:t>1. Crystal Structure</a:t>
              </a:r>
              <a:endParaRPr lang="en-IN" b="1" dirty="0"/>
            </a:p>
          </p:txBody>
        </p:sp>
        <p:sp>
          <p:nvSpPr>
            <p:cNvPr id="8" name="TextBox 7">
              <a:extLst>
                <a:ext uri="{FF2B5EF4-FFF2-40B4-BE49-F238E27FC236}">
                  <a16:creationId xmlns:a16="http://schemas.microsoft.com/office/drawing/2014/main" id="{DA988CB6-E0F5-C63E-B830-A7B180B42054}"/>
                </a:ext>
              </a:extLst>
            </p:cNvPr>
            <p:cNvSpPr txBox="1"/>
            <p:nvPr/>
          </p:nvSpPr>
          <p:spPr>
            <a:xfrm>
              <a:off x="1586551" y="2150321"/>
              <a:ext cx="7772962" cy="369332"/>
            </a:xfrm>
            <a:prstGeom prst="rect">
              <a:avLst/>
            </a:prstGeom>
            <a:noFill/>
          </p:spPr>
          <p:txBody>
            <a:bodyPr wrap="none" rtlCol="0">
              <a:spAutoFit/>
            </a:bodyPr>
            <a:lstStyle/>
            <a:p>
              <a:r>
                <a:rPr lang="en-US" dirty="0"/>
                <a:t>For good solid solubility the two elements should possess same crystal structure.</a:t>
              </a:r>
              <a:endParaRPr lang="en-IN" dirty="0"/>
            </a:p>
          </p:txBody>
        </p:sp>
        <p:sp>
          <p:nvSpPr>
            <p:cNvPr id="10" name="TextBox 9">
              <a:extLst>
                <a:ext uri="{FF2B5EF4-FFF2-40B4-BE49-F238E27FC236}">
                  <a16:creationId xmlns:a16="http://schemas.microsoft.com/office/drawing/2014/main" id="{C95BBFC8-36D2-C545-6D2C-2B62EA5496DD}"/>
                </a:ext>
              </a:extLst>
            </p:cNvPr>
            <p:cNvSpPr txBox="1"/>
            <p:nvPr/>
          </p:nvSpPr>
          <p:spPr>
            <a:xfrm>
              <a:off x="1568329" y="3027277"/>
              <a:ext cx="9099645" cy="646331"/>
            </a:xfrm>
            <a:prstGeom prst="rect">
              <a:avLst/>
            </a:prstGeom>
            <a:noFill/>
          </p:spPr>
          <p:txBody>
            <a:bodyPr wrap="square">
              <a:spAutoFit/>
            </a:bodyPr>
            <a:lstStyle/>
            <a:p>
              <a:pPr>
                <a:spcAft>
                  <a:spcPts val="600"/>
                </a:spcAft>
              </a:pPr>
              <a:r>
                <a:rPr lang="en-IN" sz="1800" dirty="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solute and the solvent (base metal) should be of similar size. </a:t>
              </a:r>
              <a:r>
                <a:rPr lang="en-IN" sz="1800" dirty="0">
                  <a:latin typeface="Arial" panose="020B0604020202020204" pitchFamily="34" charset="0"/>
                  <a:cs typeface="Arial" panose="020B0604020202020204" pitchFamily="34" charset="0"/>
                </a:rPr>
                <a:t>The difference in the radii must be within 15% for the solid solution to form without distortion. </a:t>
              </a:r>
            </a:p>
          </p:txBody>
        </p:sp>
        <p:sp>
          <p:nvSpPr>
            <p:cNvPr id="11" name="TextBox 10">
              <a:extLst>
                <a:ext uri="{FF2B5EF4-FFF2-40B4-BE49-F238E27FC236}">
                  <a16:creationId xmlns:a16="http://schemas.microsoft.com/office/drawing/2014/main" id="{744C9C96-25C5-8F7E-CCC4-1DAF5D304AB1}"/>
                </a:ext>
              </a:extLst>
            </p:cNvPr>
            <p:cNvSpPr txBox="1"/>
            <p:nvPr/>
          </p:nvSpPr>
          <p:spPr>
            <a:xfrm>
              <a:off x="1296537" y="2617970"/>
              <a:ext cx="1452001" cy="369332"/>
            </a:xfrm>
            <a:prstGeom prst="rect">
              <a:avLst/>
            </a:prstGeom>
            <a:noFill/>
          </p:spPr>
          <p:txBody>
            <a:bodyPr wrap="none" rtlCol="0">
              <a:spAutoFit/>
            </a:bodyPr>
            <a:lstStyle/>
            <a:p>
              <a:r>
                <a:rPr lang="en-US" b="1" dirty="0"/>
                <a:t>2.  Size factor</a:t>
              </a:r>
              <a:endParaRPr lang="en-IN" b="1" dirty="0"/>
            </a:p>
          </p:txBody>
        </p:sp>
      </p:grpSp>
      <p:sp>
        <p:nvSpPr>
          <p:cNvPr id="12" name="TextBox 11">
            <a:extLst>
              <a:ext uri="{FF2B5EF4-FFF2-40B4-BE49-F238E27FC236}">
                <a16:creationId xmlns:a16="http://schemas.microsoft.com/office/drawing/2014/main" id="{1CEA11AD-02EA-6712-43B4-D9908727C9C1}"/>
              </a:ext>
            </a:extLst>
          </p:cNvPr>
          <p:cNvSpPr txBox="1"/>
          <p:nvPr/>
        </p:nvSpPr>
        <p:spPr>
          <a:xfrm>
            <a:off x="1153722" y="3850261"/>
            <a:ext cx="2691250" cy="369332"/>
          </a:xfrm>
          <a:prstGeom prst="rect">
            <a:avLst/>
          </a:prstGeom>
          <a:noFill/>
        </p:spPr>
        <p:txBody>
          <a:bodyPr wrap="none" rtlCol="0">
            <a:spAutoFit/>
          </a:bodyPr>
          <a:lstStyle/>
          <a:p>
            <a:r>
              <a:rPr lang="en-US" b="1" dirty="0"/>
              <a:t>3.  Chemical affinity factor</a:t>
            </a:r>
            <a:endParaRPr lang="en-IN" b="1" dirty="0"/>
          </a:p>
        </p:txBody>
      </p:sp>
      <p:sp>
        <p:nvSpPr>
          <p:cNvPr id="13" name="TextBox 12">
            <a:extLst>
              <a:ext uri="{FF2B5EF4-FFF2-40B4-BE49-F238E27FC236}">
                <a16:creationId xmlns:a16="http://schemas.microsoft.com/office/drawing/2014/main" id="{C8ACE894-F6D2-F2D6-17B6-2D2E2E9CE470}"/>
              </a:ext>
            </a:extLst>
          </p:cNvPr>
          <p:cNvSpPr txBox="1"/>
          <p:nvPr/>
        </p:nvSpPr>
        <p:spPr>
          <a:xfrm>
            <a:off x="1521156" y="4389095"/>
            <a:ext cx="10188624" cy="646331"/>
          </a:xfrm>
          <a:prstGeom prst="rect">
            <a:avLst/>
          </a:prstGeom>
          <a:noFill/>
        </p:spPr>
        <p:txBody>
          <a:bodyPr wrap="square" rtlCol="0">
            <a:spAutoFit/>
          </a:bodyPr>
          <a:lstStyle/>
          <a:p>
            <a:r>
              <a:rPr lang="en-US" dirty="0"/>
              <a:t>The difference in electronegativity between the solute (alloying metal) and the base metal must be small. Generally, elements which are near to each other in the periodic table possess small EN difference.  </a:t>
            </a:r>
            <a:endParaRPr lang="en-IN" dirty="0"/>
          </a:p>
        </p:txBody>
      </p:sp>
      <p:sp>
        <p:nvSpPr>
          <p:cNvPr id="14" name="TextBox 13">
            <a:extLst>
              <a:ext uri="{FF2B5EF4-FFF2-40B4-BE49-F238E27FC236}">
                <a16:creationId xmlns:a16="http://schemas.microsoft.com/office/drawing/2014/main" id="{1C974F6D-7A58-262E-ADDC-D5FDD7A5F3AC}"/>
              </a:ext>
            </a:extLst>
          </p:cNvPr>
          <p:cNvSpPr txBox="1"/>
          <p:nvPr/>
        </p:nvSpPr>
        <p:spPr>
          <a:xfrm>
            <a:off x="1230104" y="5178096"/>
            <a:ext cx="1584865" cy="369332"/>
          </a:xfrm>
          <a:prstGeom prst="rect">
            <a:avLst/>
          </a:prstGeom>
          <a:noFill/>
        </p:spPr>
        <p:txBody>
          <a:bodyPr wrap="square" rtlCol="0">
            <a:spAutoFit/>
          </a:bodyPr>
          <a:lstStyle/>
          <a:p>
            <a:r>
              <a:rPr lang="en-US" b="1" dirty="0"/>
              <a:t>4.  Charge </a:t>
            </a:r>
            <a:endParaRPr lang="en-IN" b="1" dirty="0"/>
          </a:p>
        </p:txBody>
      </p:sp>
      <p:sp>
        <p:nvSpPr>
          <p:cNvPr id="19" name="TextBox 18">
            <a:extLst>
              <a:ext uri="{FF2B5EF4-FFF2-40B4-BE49-F238E27FC236}">
                <a16:creationId xmlns:a16="http://schemas.microsoft.com/office/drawing/2014/main" id="{CECC4CCC-F37B-C055-2B78-5F82617DFAFF}"/>
              </a:ext>
            </a:extLst>
          </p:cNvPr>
          <p:cNvSpPr txBox="1"/>
          <p:nvPr/>
        </p:nvSpPr>
        <p:spPr>
          <a:xfrm>
            <a:off x="1568328" y="5593513"/>
            <a:ext cx="9977677" cy="646331"/>
          </a:xfrm>
          <a:prstGeom prst="rect">
            <a:avLst/>
          </a:prstGeom>
          <a:noFill/>
        </p:spPr>
        <p:txBody>
          <a:bodyPr wrap="square">
            <a:spAutoFit/>
          </a:bodyPr>
          <a:lstStyle/>
          <a:p>
            <a:pPr algn="just">
              <a:spcAft>
                <a:spcPts val="600"/>
              </a:spcAft>
            </a:pPr>
            <a:r>
              <a:rPr lang="en-IN" sz="1800" dirty="0">
                <a:latin typeface="Arial" panose="020B0604020202020204" pitchFamily="34" charset="0"/>
                <a:cs typeface="Arial" panose="020B0604020202020204" pitchFamily="34" charset="0"/>
              </a:rPr>
              <a:t>The ions which replace each other must have same charge. If not, structural changes might occur (vacancies) to maintain charge neutrality.</a:t>
            </a:r>
          </a:p>
        </p:txBody>
      </p:sp>
    </p:spTree>
    <p:extLst>
      <p:ext uri="{BB962C8B-B14F-4D97-AF65-F5344CB8AC3E}">
        <p14:creationId xmlns:p14="http://schemas.microsoft.com/office/powerpoint/2010/main" val="383796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32C85-0EE8-0911-220B-1337118037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F8461A-C415-F856-4FCB-05A54673D47B}"/>
              </a:ext>
            </a:extLst>
          </p:cNvPr>
          <p:cNvSpPr txBox="1"/>
          <p:nvPr/>
        </p:nvSpPr>
        <p:spPr>
          <a:xfrm>
            <a:off x="4818500" y="78762"/>
            <a:ext cx="2050561" cy="400110"/>
          </a:xfrm>
          <a:prstGeom prst="rect">
            <a:avLst/>
          </a:prstGeom>
          <a:noFill/>
        </p:spPr>
        <p:txBody>
          <a:bodyPr wrap="none" rtlCol="0">
            <a:spAutoFit/>
          </a:bodyPr>
          <a:lstStyle/>
          <a:p>
            <a:r>
              <a:rPr lang="en-US" sz="2000" b="1" dirty="0">
                <a:solidFill>
                  <a:srgbClr val="C00000"/>
                </a:solidFill>
                <a:latin typeface="Arial" panose="020B0604020202020204" pitchFamily="34" charset="0"/>
                <a:cs typeface="Arial" panose="020B0604020202020204" pitchFamily="34" charset="0"/>
              </a:rPr>
              <a:t>Solid Solutions</a:t>
            </a:r>
          </a:p>
        </p:txBody>
      </p:sp>
      <p:sp>
        <p:nvSpPr>
          <p:cNvPr id="15" name="TextBox 14">
            <a:extLst>
              <a:ext uri="{FF2B5EF4-FFF2-40B4-BE49-F238E27FC236}">
                <a16:creationId xmlns:a16="http://schemas.microsoft.com/office/drawing/2014/main" id="{702F93DE-8B2D-EAF0-9468-EF97DEC8030C}"/>
              </a:ext>
            </a:extLst>
          </p:cNvPr>
          <p:cNvSpPr txBox="1"/>
          <p:nvPr/>
        </p:nvSpPr>
        <p:spPr>
          <a:xfrm>
            <a:off x="1010700" y="3207762"/>
            <a:ext cx="2250937" cy="338554"/>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Effect of temperature</a:t>
            </a:r>
          </a:p>
        </p:txBody>
      </p:sp>
      <p:sp>
        <p:nvSpPr>
          <p:cNvPr id="16" name="TextBox 15">
            <a:extLst>
              <a:ext uri="{FF2B5EF4-FFF2-40B4-BE49-F238E27FC236}">
                <a16:creationId xmlns:a16="http://schemas.microsoft.com/office/drawing/2014/main" id="{26128E41-EF5A-D4E3-75E0-11E7CE117DF0}"/>
              </a:ext>
            </a:extLst>
          </p:cNvPr>
          <p:cNvSpPr txBox="1"/>
          <p:nvPr/>
        </p:nvSpPr>
        <p:spPr>
          <a:xfrm>
            <a:off x="1657154" y="3736581"/>
            <a:ext cx="5412059" cy="338554"/>
          </a:xfrm>
          <a:prstGeom prst="rect">
            <a:avLst/>
          </a:prstGeom>
          <a:noFill/>
        </p:spPr>
        <p:txBody>
          <a:bodyPr wrap="none" rtlCol="0">
            <a:spAutoFit/>
          </a:bodyPr>
          <a:lstStyle/>
          <a:p>
            <a:r>
              <a:rPr lang="en-IN" sz="1600" dirty="0">
                <a:solidFill>
                  <a:srgbClr val="C00000"/>
                </a:solidFill>
                <a:latin typeface="Arial" panose="020B0604020202020204" pitchFamily="34" charset="0"/>
                <a:cs typeface="Arial" panose="020B0604020202020204" pitchFamily="34" charset="0"/>
              </a:rPr>
              <a:t>Increase in temperature favours solid solution formation.  </a:t>
            </a:r>
          </a:p>
        </p:txBody>
      </p:sp>
      <p:sp>
        <p:nvSpPr>
          <p:cNvPr id="17" name="TextBox 16">
            <a:extLst>
              <a:ext uri="{FF2B5EF4-FFF2-40B4-BE49-F238E27FC236}">
                <a16:creationId xmlns:a16="http://schemas.microsoft.com/office/drawing/2014/main" id="{D60C835F-6D5D-028E-A846-55508010B211}"/>
              </a:ext>
            </a:extLst>
          </p:cNvPr>
          <p:cNvSpPr txBox="1"/>
          <p:nvPr/>
        </p:nvSpPr>
        <p:spPr>
          <a:xfrm>
            <a:off x="1235490" y="4325641"/>
            <a:ext cx="8318303" cy="830997"/>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1. Increase in Entropy</a:t>
            </a:r>
          </a:p>
          <a:p>
            <a:r>
              <a:rPr lang="en-IN" sz="1600" dirty="0">
                <a:latin typeface="Arial" panose="020B0604020202020204" pitchFamily="34" charset="0"/>
                <a:cs typeface="Arial" panose="020B0604020202020204" pitchFamily="34" charset="0"/>
              </a:rPr>
              <a:t>2. Enthalpy if negative, then solid solution formation is favoured at all higher temperatures</a:t>
            </a:r>
          </a:p>
          <a:p>
            <a:r>
              <a:rPr lang="en-IN" sz="1600" dirty="0">
                <a:latin typeface="Arial" panose="020B0604020202020204" pitchFamily="34" charset="0"/>
                <a:cs typeface="Arial" panose="020B0604020202020204" pitchFamily="34" charset="0"/>
              </a:rPr>
              <a:t>   Enthalpy if negative, then solid solution formation is likely at higher temperatures</a:t>
            </a:r>
          </a:p>
        </p:txBody>
      </p:sp>
      <p:sp>
        <p:nvSpPr>
          <p:cNvPr id="3" name="TextBox 2">
            <a:extLst>
              <a:ext uri="{FF2B5EF4-FFF2-40B4-BE49-F238E27FC236}">
                <a16:creationId xmlns:a16="http://schemas.microsoft.com/office/drawing/2014/main" id="{9004009A-D257-103E-D6FE-1B892044D672}"/>
              </a:ext>
            </a:extLst>
          </p:cNvPr>
          <p:cNvSpPr txBox="1"/>
          <p:nvPr/>
        </p:nvSpPr>
        <p:spPr>
          <a:xfrm>
            <a:off x="1106234" y="750627"/>
            <a:ext cx="2799164"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Intermediate solid solution</a:t>
            </a:r>
            <a:endParaRPr lang="en-IN" sz="16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3392E89-B1C3-6EED-15D0-A5A5C3AE83FB}"/>
              </a:ext>
            </a:extLst>
          </p:cNvPr>
          <p:cNvSpPr txBox="1"/>
          <p:nvPr/>
        </p:nvSpPr>
        <p:spPr>
          <a:xfrm>
            <a:off x="1106234" y="1118141"/>
            <a:ext cx="10645254" cy="369332"/>
          </a:xfrm>
          <a:prstGeom prst="rect">
            <a:avLst/>
          </a:prstGeom>
          <a:noFill/>
        </p:spPr>
        <p:txBody>
          <a:bodyPr wrap="square" rtlCol="0">
            <a:spAutoFit/>
          </a:bodyPr>
          <a:lstStyle/>
          <a:p>
            <a:r>
              <a:rPr lang="en-US" dirty="0"/>
              <a:t>Addition of excess  (solid solubility) of alloy metal into the base metal, may result in a second new phase</a:t>
            </a:r>
            <a:endParaRPr lang="en-IN" dirty="0"/>
          </a:p>
        </p:txBody>
      </p:sp>
      <p:sp>
        <p:nvSpPr>
          <p:cNvPr id="5" name="TextBox 4">
            <a:extLst>
              <a:ext uri="{FF2B5EF4-FFF2-40B4-BE49-F238E27FC236}">
                <a16:creationId xmlns:a16="http://schemas.microsoft.com/office/drawing/2014/main" id="{9F6102D5-A960-10EA-988C-588DAAE24D2C}"/>
              </a:ext>
            </a:extLst>
          </p:cNvPr>
          <p:cNvSpPr txBox="1"/>
          <p:nvPr/>
        </p:nvSpPr>
        <p:spPr>
          <a:xfrm>
            <a:off x="1106234" y="1741338"/>
            <a:ext cx="9020162" cy="369332"/>
          </a:xfrm>
          <a:prstGeom prst="rect">
            <a:avLst/>
          </a:prstGeom>
          <a:noFill/>
        </p:spPr>
        <p:txBody>
          <a:bodyPr wrap="none" rtlCol="0">
            <a:spAutoFit/>
          </a:bodyPr>
          <a:lstStyle/>
          <a:p>
            <a:r>
              <a:rPr lang="en-US" dirty="0"/>
              <a:t>This second phase may possess different crystal structure and properties from solid solutions </a:t>
            </a:r>
            <a:endParaRPr lang="en-IN" dirty="0"/>
          </a:p>
        </p:txBody>
      </p:sp>
      <p:sp>
        <p:nvSpPr>
          <p:cNvPr id="9" name="TextBox 8">
            <a:extLst>
              <a:ext uri="{FF2B5EF4-FFF2-40B4-BE49-F238E27FC236}">
                <a16:creationId xmlns:a16="http://schemas.microsoft.com/office/drawing/2014/main" id="{C6C7F63B-778E-9F94-5E11-625925D06121}"/>
              </a:ext>
            </a:extLst>
          </p:cNvPr>
          <p:cNvSpPr txBox="1"/>
          <p:nvPr/>
        </p:nvSpPr>
        <p:spPr>
          <a:xfrm>
            <a:off x="1106234" y="2320714"/>
            <a:ext cx="6866175" cy="369332"/>
          </a:xfrm>
          <a:prstGeom prst="rect">
            <a:avLst/>
          </a:prstGeom>
          <a:noFill/>
        </p:spPr>
        <p:txBody>
          <a:bodyPr wrap="none" rtlCol="0">
            <a:spAutoFit/>
          </a:bodyPr>
          <a:lstStyle/>
          <a:p>
            <a:r>
              <a:rPr lang="en-US" dirty="0"/>
              <a:t>These phases are intermediate between solid solution and compounds</a:t>
            </a:r>
            <a:endParaRPr lang="en-IN" dirty="0"/>
          </a:p>
        </p:txBody>
      </p:sp>
    </p:spTree>
    <p:extLst>
      <p:ext uri="{BB962C8B-B14F-4D97-AF65-F5344CB8AC3E}">
        <p14:creationId xmlns:p14="http://schemas.microsoft.com/office/powerpoint/2010/main" val="6712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D115B2-2D99-142C-B19B-419B576C1A9A}"/>
              </a:ext>
            </a:extLst>
          </p:cNvPr>
          <p:cNvSpPr txBox="1"/>
          <p:nvPr/>
        </p:nvSpPr>
        <p:spPr>
          <a:xfrm>
            <a:off x="4618181" y="175491"/>
            <a:ext cx="3241964" cy="369332"/>
          </a:xfrm>
          <a:prstGeom prst="rect">
            <a:avLst/>
          </a:prstGeom>
          <a:noFill/>
        </p:spPr>
        <p:txBody>
          <a:bodyPr wrap="square" rtlCol="0">
            <a:spAutoFit/>
          </a:bodyPr>
          <a:lstStyle/>
          <a:p>
            <a:r>
              <a:rPr lang="en-IN" b="1" dirty="0">
                <a:solidFill>
                  <a:srgbClr val="C00000"/>
                </a:solidFill>
                <a:latin typeface="Arial" panose="020B0604020202020204" pitchFamily="34" charset="0"/>
                <a:cs typeface="Arial" panose="020B0604020202020204" pitchFamily="34" charset="0"/>
              </a:rPr>
              <a:t>A</a:t>
            </a:r>
            <a:r>
              <a:rPr lang="en-IN" sz="1800" b="1" i="0" u="none" strike="noStrike" baseline="0" dirty="0">
                <a:solidFill>
                  <a:srgbClr val="C00000"/>
                </a:solidFill>
                <a:latin typeface="Arial" panose="020B0604020202020204" pitchFamily="34" charset="0"/>
                <a:cs typeface="Arial" panose="020B0604020202020204" pitchFamily="34" charset="0"/>
              </a:rPr>
              <a:t>liovalent solid solutions</a:t>
            </a:r>
            <a:endParaRPr lang="en-IN" b="1" dirty="0">
              <a:solidFill>
                <a:srgbClr val="C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108C653-14DE-1916-3400-3CACFF0FBBFB}"/>
              </a:ext>
            </a:extLst>
          </p:cNvPr>
          <p:cNvSpPr txBox="1"/>
          <p:nvPr/>
        </p:nvSpPr>
        <p:spPr>
          <a:xfrm>
            <a:off x="1200727" y="729673"/>
            <a:ext cx="8516562"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Where the charge of the host metal is different from the charge of the solute (alloying) metal</a:t>
            </a:r>
          </a:p>
        </p:txBody>
      </p:sp>
      <p:sp>
        <p:nvSpPr>
          <p:cNvPr id="6" name="TextBox 5">
            <a:extLst>
              <a:ext uri="{FF2B5EF4-FFF2-40B4-BE49-F238E27FC236}">
                <a16:creationId xmlns:a16="http://schemas.microsoft.com/office/drawing/2014/main" id="{FF99EDB3-E416-12D9-6441-02A409EBBC60}"/>
              </a:ext>
            </a:extLst>
          </p:cNvPr>
          <p:cNvSpPr txBox="1"/>
          <p:nvPr/>
        </p:nvSpPr>
        <p:spPr>
          <a:xfrm>
            <a:off x="1200727" y="1253077"/>
            <a:ext cx="10029162" cy="584775"/>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This causes changes in the crystal lattice which are compensated by (a) ionic compensation and (b) electronic compensation</a:t>
            </a:r>
          </a:p>
        </p:txBody>
      </p:sp>
      <p:pic>
        <p:nvPicPr>
          <p:cNvPr id="8" name="Picture 7">
            <a:extLst>
              <a:ext uri="{FF2B5EF4-FFF2-40B4-BE49-F238E27FC236}">
                <a16:creationId xmlns:a16="http://schemas.microsoft.com/office/drawing/2014/main" id="{7148DC37-F104-AA9D-DE25-67B8909D10D7}"/>
              </a:ext>
            </a:extLst>
          </p:cNvPr>
          <p:cNvPicPr>
            <a:picLocks noChangeAspect="1"/>
          </p:cNvPicPr>
          <p:nvPr/>
        </p:nvPicPr>
        <p:blipFill>
          <a:blip r:embed="rId2"/>
          <a:srcRect b="6855"/>
          <a:stretch/>
        </p:blipFill>
        <p:spPr>
          <a:xfrm>
            <a:off x="394800" y="2221547"/>
            <a:ext cx="4823746" cy="3468053"/>
          </a:xfrm>
          <a:prstGeom prst="rect">
            <a:avLst/>
          </a:prstGeom>
        </p:spPr>
      </p:pic>
      <p:pic>
        <p:nvPicPr>
          <p:cNvPr id="10" name="Picture 9">
            <a:extLst>
              <a:ext uri="{FF2B5EF4-FFF2-40B4-BE49-F238E27FC236}">
                <a16:creationId xmlns:a16="http://schemas.microsoft.com/office/drawing/2014/main" id="{956C3ACC-B505-A3EA-F3C0-0E98C29ED1BE}"/>
              </a:ext>
            </a:extLst>
          </p:cNvPr>
          <p:cNvPicPr>
            <a:picLocks noChangeAspect="1"/>
          </p:cNvPicPr>
          <p:nvPr/>
        </p:nvPicPr>
        <p:blipFill>
          <a:blip r:embed="rId3"/>
          <a:srcRect b="4851"/>
          <a:stretch/>
        </p:blipFill>
        <p:spPr>
          <a:xfrm>
            <a:off x="6502401" y="1951055"/>
            <a:ext cx="4493081" cy="3738545"/>
          </a:xfrm>
          <a:prstGeom prst="rect">
            <a:avLst/>
          </a:prstGeom>
        </p:spPr>
      </p:pic>
      <p:sp>
        <p:nvSpPr>
          <p:cNvPr id="11" name="TextBox 10">
            <a:extLst>
              <a:ext uri="{FF2B5EF4-FFF2-40B4-BE49-F238E27FC236}">
                <a16:creationId xmlns:a16="http://schemas.microsoft.com/office/drawing/2014/main" id="{AA463965-72F3-7345-900D-CB2D0681BE55}"/>
              </a:ext>
            </a:extLst>
          </p:cNvPr>
          <p:cNvSpPr txBox="1"/>
          <p:nvPr/>
        </p:nvSpPr>
        <p:spPr>
          <a:xfrm>
            <a:off x="1694830" y="5718265"/>
            <a:ext cx="2111475" cy="338554"/>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ionic compensation</a:t>
            </a:r>
            <a:endParaRPr lang="en-IN" sz="1600" b="1" dirty="0"/>
          </a:p>
        </p:txBody>
      </p:sp>
      <p:sp>
        <p:nvSpPr>
          <p:cNvPr id="12" name="TextBox 11">
            <a:extLst>
              <a:ext uri="{FF2B5EF4-FFF2-40B4-BE49-F238E27FC236}">
                <a16:creationId xmlns:a16="http://schemas.microsoft.com/office/drawing/2014/main" id="{2C5CA48F-61FA-F578-6664-60FE3E7BBAC8}"/>
              </a:ext>
            </a:extLst>
          </p:cNvPr>
          <p:cNvSpPr txBox="1"/>
          <p:nvPr/>
        </p:nvSpPr>
        <p:spPr>
          <a:xfrm>
            <a:off x="7783038" y="5703963"/>
            <a:ext cx="2601994" cy="338554"/>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electronic compensation</a:t>
            </a:r>
            <a:endParaRPr lang="en-IN" sz="1600" b="1" dirty="0"/>
          </a:p>
        </p:txBody>
      </p:sp>
      <p:sp>
        <p:nvSpPr>
          <p:cNvPr id="14" name="TextBox 13">
            <a:extLst>
              <a:ext uri="{FF2B5EF4-FFF2-40B4-BE49-F238E27FC236}">
                <a16:creationId xmlns:a16="http://schemas.microsoft.com/office/drawing/2014/main" id="{6F5A8A0C-3454-0179-638C-6D8F845BB0D2}"/>
              </a:ext>
            </a:extLst>
          </p:cNvPr>
          <p:cNvSpPr txBox="1"/>
          <p:nvPr/>
        </p:nvSpPr>
        <p:spPr>
          <a:xfrm>
            <a:off x="1908710" y="6266996"/>
            <a:ext cx="1379435" cy="369332"/>
          </a:xfrm>
          <a:prstGeom prst="rect">
            <a:avLst/>
          </a:prstGeom>
          <a:noFill/>
        </p:spPr>
        <p:txBody>
          <a:bodyPr wrap="square">
            <a:spAutoFit/>
          </a:bodyPr>
          <a:lstStyle/>
          <a:p>
            <a:r>
              <a:rPr lang="en-IN" sz="1800" b="0" i="0" u="none" strike="noStrike" baseline="0" dirty="0">
                <a:solidFill>
                  <a:srgbClr val="C00000"/>
                </a:solidFill>
                <a:latin typeface="Times-Roman"/>
              </a:rPr>
              <a:t>Na</a:t>
            </a:r>
            <a:r>
              <a:rPr lang="en-IN" sz="800" b="0" i="0" u="none" strike="noStrike" baseline="0" dirty="0">
                <a:solidFill>
                  <a:srgbClr val="C00000"/>
                </a:solidFill>
                <a:latin typeface="Times-Roman"/>
              </a:rPr>
              <a:t>1</a:t>
            </a:r>
            <a:r>
              <a:rPr lang="en-IN" sz="800" b="0" i="0" u="none" strike="noStrike" baseline="0" dirty="0">
                <a:solidFill>
                  <a:srgbClr val="C00000"/>
                </a:solidFill>
                <a:latin typeface="MTSY"/>
              </a:rPr>
              <a:t>−</a:t>
            </a:r>
            <a:r>
              <a:rPr lang="en-IN" sz="800" b="0" i="0" u="none" strike="noStrike" baseline="0" dirty="0">
                <a:solidFill>
                  <a:srgbClr val="C00000"/>
                </a:solidFill>
                <a:latin typeface="Times-Roman"/>
              </a:rPr>
              <a:t>2</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Ca</a:t>
            </a:r>
            <a:r>
              <a:rPr lang="en-IN" sz="800" b="0" i="1" u="none" strike="noStrike" baseline="0" dirty="0">
                <a:solidFill>
                  <a:srgbClr val="C00000"/>
                </a:solidFill>
                <a:latin typeface="Times-Italic"/>
              </a:rPr>
              <a:t>x</a:t>
            </a:r>
            <a:r>
              <a:rPr lang="en-IN" sz="1800" b="0" i="1" u="none" strike="noStrike" baseline="0" dirty="0">
                <a:solidFill>
                  <a:srgbClr val="C00000"/>
                </a:solidFill>
                <a:latin typeface="Times-Italic"/>
              </a:rPr>
              <a:t>V</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Cl</a:t>
            </a:r>
            <a:endParaRPr lang="en-IN" dirty="0">
              <a:solidFill>
                <a:srgbClr val="C00000"/>
              </a:solidFill>
            </a:endParaRPr>
          </a:p>
        </p:txBody>
      </p:sp>
    </p:spTree>
    <p:extLst>
      <p:ext uri="{BB962C8B-B14F-4D97-AF65-F5344CB8AC3E}">
        <p14:creationId xmlns:p14="http://schemas.microsoft.com/office/powerpoint/2010/main" val="2078179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BFC198-1B30-17A2-C010-598D45FA972F}"/>
              </a:ext>
            </a:extLst>
          </p:cNvPr>
          <p:cNvSpPr txBox="1"/>
          <p:nvPr/>
        </p:nvSpPr>
        <p:spPr>
          <a:xfrm>
            <a:off x="1256145" y="877577"/>
            <a:ext cx="5865091" cy="369332"/>
          </a:xfrm>
          <a:prstGeom prst="rect">
            <a:avLst/>
          </a:prstGeom>
          <a:noFill/>
        </p:spPr>
        <p:txBody>
          <a:bodyPr wrap="square">
            <a:spAutoFit/>
          </a:bodyPr>
          <a:lstStyle/>
          <a:p>
            <a:r>
              <a:rPr lang="en-IN" sz="1800" b="0" i="0" u="none" strike="noStrike" baseline="0" dirty="0">
                <a:solidFill>
                  <a:srgbClr val="C00000"/>
                </a:solidFill>
                <a:latin typeface="Times-Roman"/>
              </a:rPr>
              <a:t>Na</a:t>
            </a:r>
            <a:r>
              <a:rPr lang="en-IN" sz="800" b="0" i="0" u="none" strike="noStrike" baseline="0" dirty="0">
                <a:solidFill>
                  <a:srgbClr val="C00000"/>
                </a:solidFill>
                <a:latin typeface="Times-Roman"/>
              </a:rPr>
              <a:t>1</a:t>
            </a:r>
            <a:r>
              <a:rPr lang="en-IN" sz="800" b="0" i="0" u="none" strike="noStrike" baseline="0" dirty="0">
                <a:solidFill>
                  <a:srgbClr val="C00000"/>
                </a:solidFill>
                <a:latin typeface="MTSY"/>
              </a:rPr>
              <a:t>−</a:t>
            </a:r>
            <a:r>
              <a:rPr lang="en-IN" sz="800" b="0" i="0" u="none" strike="noStrike" baseline="0" dirty="0">
                <a:solidFill>
                  <a:srgbClr val="C00000"/>
                </a:solidFill>
                <a:latin typeface="Times-Roman"/>
              </a:rPr>
              <a:t>2</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Ca</a:t>
            </a:r>
            <a:r>
              <a:rPr lang="en-IN" sz="800" b="0" i="1" u="none" strike="noStrike" baseline="0" dirty="0">
                <a:solidFill>
                  <a:srgbClr val="C00000"/>
                </a:solidFill>
                <a:latin typeface="Times-Italic"/>
              </a:rPr>
              <a:t>x</a:t>
            </a:r>
            <a:r>
              <a:rPr lang="en-IN" sz="1800" b="0" i="1" u="none" strike="noStrike" baseline="0" dirty="0">
                <a:solidFill>
                  <a:srgbClr val="C00000"/>
                </a:solidFill>
                <a:latin typeface="Times-Italic"/>
              </a:rPr>
              <a:t>V</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Cl : </a:t>
            </a:r>
            <a:r>
              <a:rPr lang="en-IN" sz="1800" b="0" i="0" u="none" strike="noStrike" baseline="0" dirty="0">
                <a:latin typeface="Times-Roman"/>
              </a:rPr>
              <a:t>small amount of CaCl</a:t>
            </a:r>
            <a:r>
              <a:rPr lang="en-IN" sz="1800" b="0" i="0" u="none" strike="noStrike" baseline="-25000" dirty="0">
                <a:latin typeface="Times-Roman"/>
              </a:rPr>
              <a:t>2</a:t>
            </a:r>
            <a:r>
              <a:rPr lang="en-IN" sz="1800" b="0" i="0" u="none" strike="noStrike" dirty="0">
                <a:latin typeface="Times-Roman"/>
              </a:rPr>
              <a:t> is mixed in NaCl lattice </a:t>
            </a:r>
            <a:endParaRPr lang="en-IN" dirty="0"/>
          </a:p>
        </p:txBody>
      </p:sp>
      <p:sp>
        <p:nvSpPr>
          <p:cNvPr id="4" name="TextBox 3">
            <a:extLst>
              <a:ext uri="{FF2B5EF4-FFF2-40B4-BE49-F238E27FC236}">
                <a16:creationId xmlns:a16="http://schemas.microsoft.com/office/drawing/2014/main" id="{58DA01F4-45CC-408D-CA73-36B352C5AC3C}"/>
              </a:ext>
            </a:extLst>
          </p:cNvPr>
          <p:cNvSpPr txBox="1"/>
          <p:nvPr/>
        </p:nvSpPr>
        <p:spPr>
          <a:xfrm>
            <a:off x="600363" y="397409"/>
            <a:ext cx="2715808" cy="338554"/>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Creating cation vacancies</a:t>
            </a:r>
          </a:p>
        </p:txBody>
      </p:sp>
      <p:sp>
        <p:nvSpPr>
          <p:cNvPr id="6" name="TextBox 5">
            <a:extLst>
              <a:ext uri="{FF2B5EF4-FFF2-40B4-BE49-F238E27FC236}">
                <a16:creationId xmlns:a16="http://schemas.microsoft.com/office/drawing/2014/main" id="{A412CFA9-2ED4-0E94-EF25-0D046FEC5FAB}"/>
              </a:ext>
            </a:extLst>
          </p:cNvPr>
          <p:cNvSpPr txBox="1"/>
          <p:nvPr/>
        </p:nvSpPr>
        <p:spPr>
          <a:xfrm>
            <a:off x="536025" y="1427017"/>
            <a:ext cx="2780146" cy="338554"/>
          </a:xfrm>
          <a:prstGeom prst="rect">
            <a:avLst/>
          </a:prstGeom>
          <a:noFill/>
        </p:spPr>
        <p:txBody>
          <a:bodyPr wrap="square">
            <a:spAutoFit/>
          </a:bodyPr>
          <a:lstStyle/>
          <a:p>
            <a:r>
              <a:rPr lang="en-IN" sz="1600" b="1" u="none" strike="noStrike" baseline="0" dirty="0">
                <a:latin typeface="Arial" panose="020B0604020202020204" pitchFamily="34" charset="0"/>
                <a:cs typeface="Arial" panose="020B0604020202020204" pitchFamily="34" charset="0"/>
              </a:rPr>
              <a:t>Creating interstitial anions</a:t>
            </a:r>
            <a:endParaRPr lang="en-IN" sz="16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23424C9-498D-9224-E54B-8426B43A3BA3}"/>
              </a:ext>
            </a:extLst>
          </p:cNvPr>
          <p:cNvSpPr txBox="1"/>
          <p:nvPr/>
        </p:nvSpPr>
        <p:spPr>
          <a:xfrm>
            <a:off x="1256145" y="1890154"/>
            <a:ext cx="5375090" cy="338554"/>
          </a:xfrm>
          <a:prstGeom prst="rect">
            <a:avLst/>
          </a:prstGeom>
          <a:noFill/>
        </p:spPr>
        <p:txBody>
          <a:bodyPr wrap="square">
            <a:spAutoFit/>
          </a:bodyPr>
          <a:lstStyle/>
          <a:p>
            <a:r>
              <a:rPr lang="en-IN" sz="1600" b="0" i="0" u="none" strike="noStrike" baseline="0" dirty="0">
                <a:solidFill>
                  <a:srgbClr val="C00000"/>
                </a:solidFill>
                <a:latin typeface="Arial" panose="020B0604020202020204" pitchFamily="34" charset="0"/>
                <a:cs typeface="Arial" panose="020B0604020202020204" pitchFamily="34" charset="0"/>
              </a:rPr>
              <a:t>Ca</a:t>
            </a:r>
            <a:r>
              <a:rPr lang="en-IN" sz="1600" b="0" i="0" u="none" strike="noStrike" baseline="-25000" dirty="0">
                <a:solidFill>
                  <a:srgbClr val="C00000"/>
                </a:solidFill>
                <a:latin typeface="Arial" panose="020B0604020202020204" pitchFamily="34" charset="0"/>
                <a:cs typeface="Arial" panose="020B0604020202020204" pitchFamily="34" charset="0"/>
              </a:rPr>
              <a:t>1−</a:t>
            </a:r>
            <a:r>
              <a:rPr lang="en-IN" sz="1600" b="0" i="1" u="none" strike="noStrike" baseline="-25000" dirty="0">
                <a:solidFill>
                  <a:srgbClr val="C00000"/>
                </a:solidFill>
                <a:latin typeface="Arial" panose="020B0604020202020204" pitchFamily="34" charset="0"/>
                <a:cs typeface="Arial" panose="020B0604020202020204" pitchFamily="34" charset="0"/>
              </a:rPr>
              <a:t>x</a:t>
            </a:r>
            <a:r>
              <a:rPr lang="en-IN" sz="1600" b="0" i="0" u="none" strike="noStrike" baseline="0" dirty="0">
                <a:solidFill>
                  <a:srgbClr val="C00000"/>
                </a:solidFill>
                <a:latin typeface="Arial" panose="020B0604020202020204" pitchFamily="34" charset="0"/>
                <a:cs typeface="Arial" panose="020B0604020202020204" pitchFamily="34" charset="0"/>
              </a:rPr>
              <a:t>Y</a:t>
            </a:r>
            <a:r>
              <a:rPr lang="en-IN" sz="1600" b="0" i="1" u="none" strike="noStrike" baseline="-25000" dirty="0">
                <a:solidFill>
                  <a:srgbClr val="C00000"/>
                </a:solidFill>
                <a:latin typeface="Arial" panose="020B0604020202020204" pitchFamily="34" charset="0"/>
                <a:cs typeface="Arial" panose="020B0604020202020204" pitchFamily="34" charset="0"/>
              </a:rPr>
              <a:t>x</a:t>
            </a:r>
            <a:r>
              <a:rPr lang="en-IN" sz="1600" b="0" i="0" u="none" strike="noStrike" baseline="0" dirty="0">
                <a:solidFill>
                  <a:srgbClr val="C00000"/>
                </a:solidFill>
                <a:latin typeface="Arial" panose="020B0604020202020204" pitchFamily="34" charset="0"/>
                <a:cs typeface="Arial" panose="020B0604020202020204" pitchFamily="34" charset="0"/>
              </a:rPr>
              <a:t>F</a:t>
            </a:r>
            <a:r>
              <a:rPr lang="en-IN" sz="1600" b="0" i="0" u="none" strike="noStrike" baseline="-25000" dirty="0">
                <a:solidFill>
                  <a:srgbClr val="C00000"/>
                </a:solidFill>
                <a:latin typeface="Arial" panose="020B0604020202020204" pitchFamily="34" charset="0"/>
                <a:cs typeface="Arial" panose="020B0604020202020204" pitchFamily="34" charset="0"/>
              </a:rPr>
              <a:t>2+</a:t>
            </a:r>
            <a:r>
              <a:rPr lang="en-IN" sz="1600" b="0" i="1" u="none" strike="noStrike" baseline="-25000" dirty="0">
                <a:solidFill>
                  <a:srgbClr val="C00000"/>
                </a:solidFill>
                <a:latin typeface="Arial" panose="020B0604020202020204" pitchFamily="34" charset="0"/>
                <a:cs typeface="Arial" panose="020B0604020202020204" pitchFamily="34" charset="0"/>
              </a:rPr>
              <a:t>x</a:t>
            </a:r>
            <a:r>
              <a:rPr lang="en-IN" sz="1600" b="0" i="1" u="none" strike="noStrike" dirty="0">
                <a:latin typeface="Arial" panose="020B0604020202020204" pitchFamily="34" charset="0"/>
                <a:cs typeface="Arial" panose="020B0604020202020204" pitchFamily="34" charset="0"/>
              </a:rPr>
              <a:t>: </a:t>
            </a:r>
            <a:r>
              <a:rPr lang="en-IN" sz="1600" b="0" i="0" u="none" strike="noStrike" baseline="0" dirty="0">
                <a:latin typeface="Arial" panose="020B0604020202020204" pitchFamily="34" charset="0"/>
                <a:cs typeface="Arial" panose="020B0604020202020204" pitchFamily="34" charset="0"/>
              </a:rPr>
              <a:t>small amount of CaF</a:t>
            </a:r>
            <a:r>
              <a:rPr lang="en-IN" sz="1600" b="0" i="0" u="none" strike="noStrike" baseline="-25000" dirty="0">
                <a:latin typeface="Arial" panose="020B0604020202020204" pitchFamily="34" charset="0"/>
                <a:cs typeface="Arial" panose="020B0604020202020204" pitchFamily="34" charset="0"/>
              </a:rPr>
              <a:t>2</a:t>
            </a:r>
            <a:r>
              <a:rPr lang="en-IN" sz="1600" b="0" i="0" u="none" strike="noStrike" dirty="0">
                <a:latin typeface="Arial" panose="020B0604020202020204" pitchFamily="34" charset="0"/>
                <a:cs typeface="Arial" panose="020B0604020202020204" pitchFamily="34" charset="0"/>
              </a:rPr>
              <a:t> is mixed in YF</a:t>
            </a:r>
            <a:r>
              <a:rPr lang="en-IN" sz="1600" b="0" i="0" u="none" strike="noStrike" baseline="-25000" dirty="0">
                <a:latin typeface="Arial" panose="020B0604020202020204" pitchFamily="34" charset="0"/>
                <a:cs typeface="Arial" panose="020B0604020202020204" pitchFamily="34" charset="0"/>
              </a:rPr>
              <a:t>3</a:t>
            </a:r>
            <a:r>
              <a:rPr lang="en-IN" sz="1600" b="0" i="0" u="none" strike="noStrike" dirty="0">
                <a:latin typeface="Arial" panose="020B0604020202020204" pitchFamily="34" charset="0"/>
                <a:cs typeface="Arial" panose="020B0604020202020204" pitchFamily="34" charset="0"/>
              </a:rPr>
              <a:t> lattice </a:t>
            </a:r>
            <a:endParaRPr lang="en-IN" sz="1600" baseline="-250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40F07B5-7AAB-74C6-459D-D8CF3A34BEFC}"/>
              </a:ext>
            </a:extLst>
          </p:cNvPr>
          <p:cNvSpPr txBox="1"/>
          <p:nvPr/>
        </p:nvSpPr>
        <p:spPr>
          <a:xfrm>
            <a:off x="600363" y="2443989"/>
            <a:ext cx="3435927" cy="338554"/>
          </a:xfrm>
          <a:prstGeom prst="rect">
            <a:avLst/>
          </a:prstGeom>
          <a:noFill/>
        </p:spPr>
        <p:txBody>
          <a:bodyPr wrap="square">
            <a:spAutoFit/>
          </a:bodyPr>
          <a:lstStyle/>
          <a:p>
            <a:r>
              <a:rPr lang="en-IN" sz="1600" b="1" u="none" strike="noStrike" baseline="0" dirty="0">
                <a:latin typeface="Arial" panose="020B0604020202020204" pitchFamily="34" charset="0"/>
                <a:cs typeface="Arial" panose="020B0604020202020204" pitchFamily="34" charset="0"/>
              </a:rPr>
              <a:t>Creating anion vacancies</a:t>
            </a:r>
            <a:endParaRPr lang="en-IN" sz="16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D2FDD4C4-D349-D59A-912E-D4A49C74B6B9}"/>
              </a:ext>
            </a:extLst>
          </p:cNvPr>
          <p:cNvSpPr txBox="1"/>
          <p:nvPr/>
        </p:nvSpPr>
        <p:spPr>
          <a:xfrm>
            <a:off x="1343068" y="2837344"/>
            <a:ext cx="2397422" cy="369332"/>
          </a:xfrm>
          <a:prstGeom prst="rect">
            <a:avLst/>
          </a:prstGeom>
          <a:noFill/>
        </p:spPr>
        <p:txBody>
          <a:bodyPr wrap="square">
            <a:spAutoFit/>
          </a:bodyPr>
          <a:lstStyle/>
          <a:p>
            <a:r>
              <a:rPr lang="en-IN" sz="1800" b="0" i="0" u="none" strike="noStrike" baseline="0" dirty="0">
                <a:solidFill>
                  <a:srgbClr val="C00000"/>
                </a:solidFill>
                <a:latin typeface="Times-Roman"/>
              </a:rPr>
              <a:t>Zr</a:t>
            </a:r>
            <a:r>
              <a:rPr lang="en-IN" sz="800" b="0" i="0" u="none" strike="noStrike" baseline="0" dirty="0">
                <a:solidFill>
                  <a:srgbClr val="C00000"/>
                </a:solidFill>
                <a:latin typeface="Times-Roman"/>
              </a:rPr>
              <a:t>1</a:t>
            </a:r>
            <a:r>
              <a:rPr lang="en-IN" sz="800" b="0" i="0" u="none" strike="noStrike" baseline="0" dirty="0">
                <a:solidFill>
                  <a:srgbClr val="C00000"/>
                </a:solidFill>
                <a:latin typeface="MTSY"/>
              </a:rPr>
              <a:t>−</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Ca</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O</a:t>
            </a:r>
            <a:r>
              <a:rPr lang="en-IN" sz="800" b="0" i="0" u="none" strike="noStrike" baseline="0" dirty="0">
                <a:solidFill>
                  <a:srgbClr val="C00000"/>
                </a:solidFill>
                <a:latin typeface="Times-Roman"/>
              </a:rPr>
              <a:t>2</a:t>
            </a:r>
            <a:r>
              <a:rPr lang="en-IN" sz="800" b="0" i="0" u="none" strike="noStrike" baseline="0" dirty="0">
                <a:solidFill>
                  <a:srgbClr val="C00000"/>
                </a:solidFill>
                <a:latin typeface="MTSY"/>
              </a:rPr>
              <a:t>−</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 0</a:t>
            </a:r>
            <a:r>
              <a:rPr lang="en-IN" sz="1800" b="0" i="1" u="none" strike="noStrike" baseline="0" dirty="0">
                <a:solidFill>
                  <a:srgbClr val="C00000"/>
                </a:solidFill>
                <a:latin typeface="RMTMI"/>
              </a:rPr>
              <a:t>.</a:t>
            </a:r>
            <a:r>
              <a:rPr lang="en-IN" sz="1800" b="0" i="0" u="none" strike="noStrike" baseline="0" dirty="0">
                <a:solidFill>
                  <a:srgbClr val="C00000"/>
                </a:solidFill>
                <a:latin typeface="Times-Roman"/>
              </a:rPr>
              <a:t>1 </a:t>
            </a:r>
            <a:r>
              <a:rPr lang="en-IN" sz="1800" b="0" i="1" u="none" strike="noStrike" baseline="0" dirty="0">
                <a:solidFill>
                  <a:srgbClr val="C00000"/>
                </a:solidFill>
                <a:latin typeface="RMTMI"/>
              </a:rPr>
              <a:t>&lt; </a:t>
            </a:r>
            <a:r>
              <a:rPr lang="en-IN" sz="1800" b="0" i="1" u="none" strike="noStrike" baseline="0" dirty="0">
                <a:solidFill>
                  <a:srgbClr val="C00000"/>
                </a:solidFill>
                <a:latin typeface="Times-Italic"/>
              </a:rPr>
              <a:t>x </a:t>
            </a:r>
            <a:r>
              <a:rPr lang="en-IN" sz="1800" b="0" i="1" u="none" strike="noStrike" baseline="0" dirty="0">
                <a:solidFill>
                  <a:srgbClr val="C00000"/>
                </a:solidFill>
                <a:latin typeface="RMTMI"/>
              </a:rPr>
              <a:t>&lt; </a:t>
            </a:r>
            <a:r>
              <a:rPr lang="en-IN" sz="1800" b="0" i="0" u="none" strike="noStrike" baseline="0" dirty="0">
                <a:solidFill>
                  <a:srgbClr val="C00000"/>
                </a:solidFill>
                <a:latin typeface="Times-Roman"/>
              </a:rPr>
              <a:t>0</a:t>
            </a:r>
            <a:r>
              <a:rPr lang="en-IN" sz="1800" b="0" i="1" u="none" strike="noStrike" baseline="0" dirty="0">
                <a:solidFill>
                  <a:srgbClr val="C00000"/>
                </a:solidFill>
                <a:latin typeface="RMTMI"/>
              </a:rPr>
              <a:t>.</a:t>
            </a:r>
            <a:r>
              <a:rPr lang="en-IN" sz="1800" b="0" i="0" u="none" strike="noStrike" baseline="0" dirty="0">
                <a:solidFill>
                  <a:srgbClr val="C00000"/>
                </a:solidFill>
                <a:latin typeface="Times-Roman"/>
              </a:rPr>
              <a:t>2</a:t>
            </a:r>
            <a:endParaRPr lang="en-IN" dirty="0">
              <a:solidFill>
                <a:srgbClr val="C00000"/>
              </a:solidFill>
            </a:endParaRPr>
          </a:p>
        </p:txBody>
      </p:sp>
      <p:sp>
        <p:nvSpPr>
          <p:cNvPr id="14" name="TextBox 13">
            <a:extLst>
              <a:ext uri="{FF2B5EF4-FFF2-40B4-BE49-F238E27FC236}">
                <a16:creationId xmlns:a16="http://schemas.microsoft.com/office/drawing/2014/main" id="{0C7F1F36-B086-BB46-95C7-3C045E903AC2}"/>
              </a:ext>
            </a:extLst>
          </p:cNvPr>
          <p:cNvSpPr txBox="1"/>
          <p:nvPr/>
        </p:nvSpPr>
        <p:spPr>
          <a:xfrm>
            <a:off x="1546268" y="3706126"/>
            <a:ext cx="6576132" cy="369332"/>
          </a:xfrm>
          <a:prstGeom prst="rect">
            <a:avLst/>
          </a:prstGeom>
          <a:noFill/>
        </p:spPr>
        <p:txBody>
          <a:bodyPr wrap="square">
            <a:spAutoFit/>
          </a:bodyPr>
          <a:lstStyle/>
          <a:p>
            <a:r>
              <a:rPr lang="en-IN" sz="1800" b="0" i="0" u="none" strike="noStrike" baseline="0" dirty="0">
                <a:latin typeface="Times-Roman"/>
              </a:rPr>
              <a:t>Quartz: </a:t>
            </a:r>
            <a:r>
              <a:rPr lang="en-IN" sz="1800" b="0" i="0" u="none" strike="noStrike" baseline="0" dirty="0">
                <a:solidFill>
                  <a:srgbClr val="C00000"/>
                </a:solidFill>
                <a:latin typeface="Times-Roman"/>
              </a:rPr>
              <a:t>Li</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(Si</a:t>
            </a:r>
            <a:r>
              <a:rPr lang="en-IN" sz="800" b="0" i="0" u="none" strike="noStrike" baseline="0" dirty="0">
                <a:solidFill>
                  <a:srgbClr val="C00000"/>
                </a:solidFill>
                <a:latin typeface="Times-Roman"/>
              </a:rPr>
              <a:t>1</a:t>
            </a:r>
            <a:r>
              <a:rPr lang="en-IN" sz="800" b="0" i="0" u="none" strike="noStrike" baseline="0" dirty="0">
                <a:solidFill>
                  <a:srgbClr val="C00000"/>
                </a:solidFill>
                <a:latin typeface="MTSY"/>
              </a:rPr>
              <a:t>−</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Al</a:t>
            </a:r>
            <a:r>
              <a:rPr lang="en-IN" sz="800" b="0" i="1" u="none" strike="noStrike" baseline="0" dirty="0">
                <a:solidFill>
                  <a:srgbClr val="C00000"/>
                </a:solidFill>
                <a:latin typeface="Times-Italic"/>
              </a:rPr>
              <a:t>x</a:t>
            </a:r>
            <a:r>
              <a:rPr lang="en-IN" sz="1800" b="0" i="0" u="none" strike="noStrike" baseline="0" dirty="0">
                <a:solidFill>
                  <a:srgbClr val="C00000"/>
                </a:solidFill>
                <a:latin typeface="Times-Roman"/>
              </a:rPr>
              <a:t>)O</a:t>
            </a:r>
            <a:r>
              <a:rPr lang="en-IN" sz="800" b="0" i="0" u="none" strike="noStrike" baseline="0" dirty="0">
                <a:solidFill>
                  <a:srgbClr val="C00000"/>
                </a:solidFill>
                <a:latin typeface="Times-Roman"/>
              </a:rPr>
              <a:t>2</a:t>
            </a:r>
            <a:r>
              <a:rPr lang="en-IN" sz="1800" b="0" i="0" u="none" strike="noStrike" baseline="0" dirty="0">
                <a:solidFill>
                  <a:srgbClr val="C00000"/>
                </a:solidFill>
                <a:latin typeface="Times-Roman"/>
              </a:rPr>
              <a:t>: 0 </a:t>
            </a:r>
            <a:r>
              <a:rPr lang="en-IN" sz="1800" b="0" i="1" u="none" strike="noStrike" baseline="0" dirty="0">
                <a:solidFill>
                  <a:srgbClr val="C00000"/>
                </a:solidFill>
                <a:latin typeface="RMTMI"/>
              </a:rPr>
              <a:t>&lt; </a:t>
            </a:r>
            <a:r>
              <a:rPr lang="en-IN" sz="1800" b="0" i="1" u="none" strike="noStrike" baseline="0" dirty="0">
                <a:solidFill>
                  <a:srgbClr val="C00000"/>
                </a:solidFill>
                <a:latin typeface="Times-Italic"/>
              </a:rPr>
              <a:t>x </a:t>
            </a:r>
            <a:r>
              <a:rPr lang="en-IN" sz="1800" b="0" i="0" u="none" strike="noStrike" baseline="0" dirty="0">
                <a:solidFill>
                  <a:srgbClr val="C00000"/>
                </a:solidFill>
                <a:latin typeface="MTSY"/>
              </a:rPr>
              <a:t>≤ </a:t>
            </a:r>
            <a:r>
              <a:rPr lang="en-IN" sz="1800" b="0" i="0" u="none" strike="noStrike" baseline="0" dirty="0">
                <a:solidFill>
                  <a:srgbClr val="C00000"/>
                </a:solidFill>
                <a:latin typeface="Times-Roman"/>
              </a:rPr>
              <a:t>0.5 </a:t>
            </a:r>
            <a:r>
              <a:rPr lang="en-IN" sz="1800" b="0" i="0" u="none" strike="noStrike" baseline="0" dirty="0">
                <a:latin typeface="Times-Roman"/>
              </a:rPr>
              <a:t>where Si</a:t>
            </a:r>
            <a:r>
              <a:rPr lang="en-IN" sz="1800" b="0" i="0" u="none" strike="noStrike" baseline="30000" dirty="0">
                <a:latin typeface="Times-Roman"/>
              </a:rPr>
              <a:t>4+</a:t>
            </a:r>
            <a:r>
              <a:rPr lang="en-IN" sz="1800" b="0" i="0" u="none" strike="noStrike" dirty="0">
                <a:latin typeface="Times-Roman"/>
              </a:rPr>
              <a:t> is replaced with Al</a:t>
            </a:r>
            <a:r>
              <a:rPr lang="en-IN" sz="1800" b="0" i="0" u="none" strike="noStrike" baseline="30000" dirty="0">
                <a:latin typeface="Times-Roman"/>
              </a:rPr>
              <a:t>3+</a:t>
            </a:r>
            <a:r>
              <a:rPr lang="en-IN" sz="1800" b="0" i="0" u="none" strike="noStrike" baseline="0" dirty="0">
                <a:latin typeface="Times-Roman"/>
              </a:rPr>
              <a:t> </a:t>
            </a:r>
            <a:endParaRPr lang="en-IN" dirty="0"/>
          </a:p>
        </p:txBody>
      </p:sp>
      <p:sp>
        <p:nvSpPr>
          <p:cNvPr id="16" name="TextBox 15">
            <a:extLst>
              <a:ext uri="{FF2B5EF4-FFF2-40B4-BE49-F238E27FC236}">
                <a16:creationId xmlns:a16="http://schemas.microsoft.com/office/drawing/2014/main" id="{F57EB235-7D2D-952F-AE12-3827284DE771}"/>
              </a:ext>
            </a:extLst>
          </p:cNvPr>
          <p:cNvSpPr txBox="1"/>
          <p:nvPr/>
        </p:nvSpPr>
        <p:spPr>
          <a:xfrm>
            <a:off x="746009" y="3312771"/>
            <a:ext cx="3144634" cy="338554"/>
          </a:xfrm>
          <a:prstGeom prst="rect">
            <a:avLst/>
          </a:prstGeom>
          <a:noFill/>
        </p:spPr>
        <p:txBody>
          <a:bodyPr wrap="square">
            <a:spAutoFit/>
          </a:bodyPr>
          <a:lstStyle/>
          <a:p>
            <a:r>
              <a:rPr lang="en-IN" sz="1600" b="1" u="none" strike="noStrike" baseline="0" dirty="0">
                <a:latin typeface="Arial" panose="020B0604020202020204" pitchFamily="34" charset="0"/>
                <a:cs typeface="Arial" panose="020B0604020202020204" pitchFamily="34" charset="0"/>
              </a:rPr>
              <a:t>Creating interstitial cations</a:t>
            </a:r>
            <a:endParaRPr lang="en-IN" sz="1600" b="1" dirty="0">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EDB47CF4-D019-8BEC-65F7-F1193A3DB1DF}"/>
              </a:ext>
            </a:extLst>
          </p:cNvPr>
          <p:cNvGrpSpPr/>
          <p:nvPr/>
        </p:nvGrpSpPr>
        <p:grpSpPr>
          <a:xfrm>
            <a:off x="1343068" y="4457866"/>
            <a:ext cx="8266546" cy="1652676"/>
            <a:chOff x="600363" y="4405631"/>
            <a:chExt cx="8266546" cy="1652676"/>
          </a:xfrm>
        </p:grpSpPr>
        <p:sp>
          <p:nvSpPr>
            <p:cNvPr id="18" name="TextBox 17">
              <a:extLst>
                <a:ext uri="{FF2B5EF4-FFF2-40B4-BE49-F238E27FC236}">
                  <a16:creationId xmlns:a16="http://schemas.microsoft.com/office/drawing/2014/main" id="{B1C231BB-DF5E-7DF1-2D83-72CAC97DF413}"/>
                </a:ext>
              </a:extLst>
            </p:cNvPr>
            <p:cNvSpPr txBox="1"/>
            <p:nvPr/>
          </p:nvSpPr>
          <p:spPr>
            <a:xfrm>
              <a:off x="600363" y="4903206"/>
              <a:ext cx="5301673" cy="338554"/>
            </a:xfrm>
            <a:prstGeom prst="rect">
              <a:avLst/>
            </a:prstGeom>
            <a:noFill/>
          </p:spPr>
          <p:txBody>
            <a:bodyPr wrap="square">
              <a:spAutoFit/>
            </a:bodyPr>
            <a:lstStyle/>
            <a:p>
              <a:r>
                <a:rPr lang="en-US" sz="1600" b="0" i="0" u="none" strike="noStrike" baseline="0" dirty="0">
                  <a:latin typeface="Arial" panose="020B0604020202020204" pitchFamily="34" charset="0"/>
                  <a:cs typeface="Arial" panose="020B0604020202020204" pitchFamily="34" charset="0"/>
                </a:rPr>
                <a:t>Cation vacancies may be generated by deintercalation</a:t>
              </a:r>
              <a:endParaRPr lang="en-IN" sz="16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A7461CC2-56D4-064C-B367-233989D156C6}"/>
                </a:ext>
              </a:extLst>
            </p:cNvPr>
            <p:cNvSpPr txBox="1"/>
            <p:nvPr/>
          </p:nvSpPr>
          <p:spPr>
            <a:xfrm>
              <a:off x="2724072" y="4405631"/>
              <a:ext cx="2624436" cy="338554"/>
            </a:xfrm>
            <a:prstGeom prst="rect">
              <a:avLst/>
            </a:prstGeom>
            <a:noFill/>
          </p:spPr>
          <p:txBody>
            <a:bodyPr wrap="none" rtlCol="0">
              <a:spAutoFit/>
            </a:bodyPr>
            <a:lstStyle/>
            <a:p>
              <a:r>
                <a:rPr lang="en-IN" sz="1600" b="1" dirty="0">
                  <a:solidFill>
                    <a:srgbClr val="C00000"/>
                  </a:solidFill>
                  <a:latin typeface="Arial" panose="020B0604020202020204" pitchFamily="34" charset="0"/>
                  <a:cs typeface="Arial" panose="020B0604020202020204" pitchFamily="34" charset="0"/>
                </a:rPr>
                <a:t>Electronic compensation</a:t>
              </a:r>
              <a:endParaRPr lang="en-IN" sz="1600" b="1" dirty="0">
                <a:solidFill>
                  <a:srgbClr val="C00000"/>
                </a:solidFill>
              </a:endParaRPr>
            </a:p>
          </p:txBody>
        </p:sp>
        <p:sp>
          <p:nvSpPr>
            <p:cNvPr id="20" name="TextBox 19">
              <a:extLst>
                <a:ext uri="{FF2B5EF4-FFF2-40B4-BE49-F238E27FC236}">
                  <a16:creationId xmlns:a16="http://schemas.microsoft.com/office/drawing/2014/main" id="{8ABA10A3-FE72-C27D-423F-501FDBAC9F46}"/>
                </a:ext>
              </a:extLst>
            </p:cNvPr>
            <p:cNvSpPr txBox="1"/>
            <p:nvPr/>
          </p:nvSpPr>
          <p:spPr>
            <a:xfrm>
              <a:off x="1124699" y="5365810"/>
              <a:ext cx="7742210" cy="692497"/>
            </a:xfrm>
            <a:prstGeom prst="rect">
              <a:avLst/>
            </a:prstGeom>
            <a:noFill/>
          </p:spPr>
          <p:txBody>
            <a:bodyPr wrap="square" rtlCol="0">
              <a:spAutoFit/>
            </a:bodyPr>
            <a:lstStyle/>
            <a:p>
              <a:pPr>
                <a:spcBef>
                  <a:spcPts val="600"/>
                </a:spcBef>
                <a:spcAft>
                  <a:spcPts val="600"/>
                </a:spcAft>
              </a:pPr>
              <a:r>
                <a:rPr lang="en-IN" dirty="0" err="1"/>
                <a:t>Eg.</a:t>
              </a:r>
              <a:r>
                <a:rPr lang="en-IN" dirty="0"/>
                <a:t> Removal of Li</a:t>
              </a:r>
              <a:r>
                <a:rPr lang="en-IN" baseline="30000" dirty="0"/>
                <a:t>+ </a:t>
              </a:r>
              <a:r>
                <a:rPr lang="en-IN" dirty="0"/>
                <a:t>(and an electron) from LiCoO</a:t>
              </a:r>
              <a:r>
                <a:rPr lang="en-IN" baseline="-25000" dirty="0"/>
                <a:t>2</a:t>
              </a:r>
              <a:r>
                <a:rPr lang="en-IN" dirty="0"/>
                <a:t> . </a:t>
              </a:r>
            </a:p>
            <a:p>
              <a:r>
                <a:rPr lang="en-IN" sz="1600" dirty="0">
                  <a:solidFill>
                    <a:srgbClr val="C00000"/>
                  </a:solidFill>
                  <a:latin typeface="Arial" panose="020B0604020202020204" pitchFamily="34" charset="0"/>
                  <a:cs typeface="Arial" panose="020B0604020202020204" pitchFamily="34" charset="0"/>
                </a:rPr>
                <a:t>Holes are created for the charge balance and forms </a:t>
              </a:r>
              <a:r>
                <a:rPr lang="en-IN" sz="1600" b="0" i="0" u="none" strike="noStrike" baseline="0" dirty="0">
                  <a:solidFill>
                    <a:srgbClr val="C00000"/>
                  </a:solidFill>
                  <a:latin typeface="Arial" panose="020B0604020202020204" pitchFamily="34" charset="0"/>
                  <a:cs typeface="Arial" panose="020B0604020202020204" pitchFamily="34" charset="0"/>
                </a:rPr>
                <a:t>Li</a:t>
              </a:r>
              <a:r>
                <a:rPr lang="en-IN" sz="1600" b="0" i="0" u="none" strike="noStrike" baseline="-25000" dirty="0">
                  <a:solidFill>
                    <a:srgbClr val="C00000"/>
                  </a:solidFill>
                  <a:latin typeface="Arial" panose="020B0604020202020204" pitchFamily="34" charset="0"/>
                  <a:cs typeface="Arial" panose="020B0604020202020204" pitchFamily="34" charset="0"/>
                </a:rPr>
                <a:t>1−</a:t>
              </a:r>
              <a:r>
                <a:rPr lang="en-IN" sz="1600" b="0" i="1" u="none" strike="noStrike" baseline="-25000" dirty="0">
                  <a:solidFill>
                    <a:srgbClr val="C00000"/>
                  </a:solidFill>
                  <a:latin typeface="Arial" panose="020B0604020202020204" pitchFamily="34" charset="0"/>
                  <a:cs typeface="Arial" panose="020B0604020202020204" pitchFamily="34" charset="0"/>
                </a:rPr>
                <a:t>x</a:t>
              </a:r>
              <a:r>
                <a:rPr lang="en-IN" sz="1600" b="0" i="0" u="none" strike="noStrike" baseline="0" dirty="0">
                  <a:solidFill>
                    <a:srgbClr val="C00000"/>
                  </a:solidFill>
                  <a:latin typeface="Arial" panose="020B0604020202020204" pitchFamily="34" charset="0"/>
                  <a:cs typeface="Arial" panose="020B0604020202020204" pitchFamily="34" charset="0"/>
                </a:rPr>
                <a:t>Co</a:t>
              </a:r>
              <a:r>
                <a:rPr lang="en-IN" sz="1600" b="0" i="0" u="none" strike="noStrike" baseline="-25000" dirty="0">
                  <a:solidFill>
                    <a:srgbClr val="C00000"/>
                  </a:solidFill>
                  <a:latin typeface="Arial" panose="020B0604020202020204" pitchFamily="34" charset="0"/>
                  <a:cs typeface="Arial" panose="020B0604020202020204" pitchFamily="34" charset="0"/>
                </a:rPr>
                <a:t>1−</a:t>
              </a:r>
              <a:r>
                <a:rPr lang="en-IN" sz="1600" b="0" i="1" u="none" strike="noStrike" baseline="-25000" dirty="0">
                  <a:solidFill>
                    <a:srgbClr val="C00000"/>
                  </a:solidFill>
                  <a:latin typeface="Arial" panose="020B0604020202020204" pitchFamily="34" charset="0"/>
                  <a:cs typeface="Arial" panose="020B0604020202020204" pitchFamily="34" charset="0"/>
                </a:rPr>
                <a:t>x</a:t>
              </a:r>
              <a:r>
                <a:rPr lang="en-IN" sz="1600" baseline="30000" dirty="0">
                  <a:solidFill>
                    <a:srgbClr val="C00000"/>
                  </a:solidFill>
                  <a:latin typeface="Arial" panose="020B0604020202020204" pitchFamily="34" charset="0"/>
                  <a:cs typeface="Arial" panose="020B0604020202020204" pitchFamily="34" charset="0"/>
                </a:rPr>
                <a:t>3+</a:t>
              </a:r>
              <a:r>
                <a:rPr lang="en-IN" sz="1600" b="0" i="0" u="none" strike="noStrike" baseline="0" dirty="0">
                  <a:solidFill>
                    <a:srgbClr val="C00000"/>
                  </a:solidFill>
                  <a:latin typeface="Arial" panose="020B0604020202020204" pitchFamily="34" charset="0"/>
                  <a:cs typeface="Arial" panose="020B0604020202020204" pitchFamily="34" charset="0"/>
                </a:rPr>
                <a:t>Co</a:t>
              </a:r>
              <a:r>
                <a:rPr lang="en-IN" sz="1600" i="1" baseline="-25000" dirty="0">
                  <a:solidFill>
                    <a:srgbClr val="C00000"/>
                  </a:solidFill>
                  <a:latin typeface="Arial" panose="020B0604020202020204" pitchFamily="34" charset="0"/>
                  <a:cs typeface="Arial" panose="020B0604020202020204" pitchFamily="34" charset="0"/>
                </a:rPr>
                <a:t>x</a:t>
              </a:r>
              <a:r>
                <a:rPr lang="en-IN" sz="1600" b="0" i="0" u="none" strike="noStrike" baseline="30000" dirty="0">
                  <a:solidFill>
                    <a:srgbClr val="C00000"/>
                  </a:solidFill>
                  <a:latin typeface="Arial" panose="020B0604020202020204" pitchFamily="34" charset="0"/>
                  <a:cs typeface="Arial" panose="020B0604020202020204" pitchFamily="34" charset="0"/>
                </a:rPr>
                <a:t>4+</a:t>
              </a:r>
              <a:r>
                <a:rPr lang="en-IN" sz="1600" b="0" i="1" u="none" strike="noStrike" baseline="0" dirty="0">
                  <a:solidFill>
                    <a:srgbClr val="C00000"/>
                  </a:solidFill>
                  <a:latin typeface="Arial" panose="020B0604020202020204" pitchFamily="34" charset="0"/>
                  <a:cs typeface="Arial" panose="020B0604020202020204" pitchFamily="34" charset="0"/>
                </a:rPr>
                <a:t> </a:t>
              </a:r>
              <a:r>
                <a:rPr lang="en-IN" sz="1600" b="0" i="0" u="none" strike="noStrike" baseline="0" dirty="0">
                  <a:solidFill>
                    <a:srgbClr val="C00000"/>
                  </a:solidFill>
                  <a:latin typeface="Arial" panose="020B0604020202020204" pitchFamily="34" charset="0"/>
                  <a:cs typeface="Arial" panose="020B0604020202020204" pitchFamily="34" charset="0"/>
                </a:rPr>
                <a:t>O</a:t>
              </a:r>
              <a:r>
                <a:rPr lang="en-IN" sz="1600" b="0" i="0" u="none" strike="noStrike" baseline="-25000" dirty="0">
                  <a:solidFill>
                    <a:srgbClr val="C00000"/>
                  </a:solidFill>
                  <a:latin typeface="Arial" panose="020B0604020202020204" pitchFamily="34" charset="0"/>
                  <a:cs typeface="Arial" panose="020B0604020202020204" pitchFamily="34" charset="0"/>
                </a:rPr>
                <a:t>2</a:t>
              </a:r>
              <a:r>
                <a:rPr lang="en-IN" sz="1600" dirty="0">
                  <a:solidFill>
                    <a:srgbClr val="C00000"/>
                  </a:solidFill>
                  <a:latin typeface="Arial" panose="020B0604020202020204" pitchFamily="34" charset="0"/>
                  <a:cs typeface="Arial" panose="020B0604020202020204" pitchFamily="34" charset="0"/>
                </a:rPr>
                <a:t>      </a:t>
              </a:r>
              <a:endParaRPr lang="en-IN" sz="1600" baseline="-25000"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908012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8B8768-2476-2201-9E9E-E2106CAFE15E}"/>
              </a:ext>
            </a:extLst>
          </p:cNvPr>
          <p:cNvSpPr txBox="1"/>
          <p:nvPr/>
        </p:nvSpPr>
        <p:spPr>
          <a:xfrm>
            <a:off x="1085564" y="781312"/>
            <a:ext cx="9932956" cy="5732338"/>
          </a:xfrm>
          <a:prstGeom prst="rect">
            <a:avLst/>
          </a:prstGeom>
          <a:noFill/>
        </p:spPr>
        <p:txBody>
          <a:bodyPr wrap="square">
            <a:spAutoFit/>
          </a:bodyPr>
          <a:lstStyle/>
          <a:p>
            <a:pPr>
              <a:lnSpc>
                <a:spcPct val="107000"/>
              </a:lnSpc>
              <a:spcAft>
                <a:spcPts val="800"/>
              </a:spcAft>
            </a:pPr>
            <a:r>
              <a:rPr lang="en-IN" sz="1500" b="1" dirty="0">
                <a:solidFill>
                  <a:srgbClr val="000000"/>
                </a:solidFill>
                <a:latin typeface="Arial" panose="020B0604020202020204" pitchFamily="34" charset="0"/>
                <a:ea typeface="Times New Roman" panose="02020603050405020304" pitchFamily="18" charset="0"/>
                <a:cs typeface="Arial" panose="020B0604020202020204" pitchFamily="34" charset="0"/>
              </a:rPr>
              <a:t>Elements and stoichiometry:</a:t>
            </a:r>
            <a:r>
              <a:rPr lang="en-IN" sz="15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Individual groups, Metals, non-metals, and metalloids, Allotropes of carbon, phosphorus, and other elements, Binding Energies. </a:t>
            </a:r>
            <a:r>
              <a:rPr lang="en-IN" sz="1500" dirty="0">
                <a:solidFill>
                  <a:srgbClr val="000000"/>
                </a:solidFill>
                <a:latin typeface="Arial" panose="020B0604020202020204" pitchFamily="34" charset="0"/>
                <a:ea typeface="Times New Roman" panose="02020603050405020304" pitchFamily="18" charset="0"/>
                <a:cs typeface="Arial" panose="020B0604020202020204" pitchFamily="34" charset="0"/>
              </a:rPr>
              <a:t>why stoichiometry is important (4 Lecture)</a:t>
            </a:r>
            <a:endParaRPr lang="en-IN" sz="1500"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IN" sz="1500" b="1" dirty="0">
                <a:solidFill>
                  <a:srgbClr val="000000"/>
                </a:solidFill>
                <a:latin typeface="Arial" panose="020B0604020202020204" pitchFamily="34" charset="0"/>
                <a:ea typeface="Calibri" panose="020F0502020204030204" pitchFamily="34" charset="0"/>
                <a:cs typeface="Arial" panose="020B0604020202020204" pitchFamily="34" charset="0"/>
              </a:rPr>
              <a:t>Basic redox chemistry- </a:t>
            </a: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recapitulation of balancing equations, oxidation number, various electrochemical cells (viz. Daniel cell, concentration cells), electrolysis cells and electroplating, Nernst Equation, reduction potential, standard electrodes (viz. silver, calomel, hydrogen), Factors affecting reduction potential, pH electrode, corrosion as redox reaction, few examples of redox processes in biological systems, Latimer diagram, Pourbaix diagram, Cyclic voltammetry basics: half-cell potential, triangular wave scan, </a:t>
            </a:r>
            <a:r>
              <a:rPr lang="en-IN" sz="1500" dirty="0" err="1">
                <a:solidFill>
                  <a:srgbClr val="000000"/>
                </a:solidFill>
                <a:latin typeface="Arial" panose="020B0604020202020204" pitchFamily="34" charset="0"/>
                <a:ea typeface="Calibri" panose="020F0502020204030204" pitchFamily="34" charset="0"/>
                <a:cs typeface="Arial" panose="020B0604020202020204" pitchFamily="34" charset="0"/>
              </a:rPr>
              <a:t>Ficks</a:t>
            </a: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 law, </a:t>
            </a:r>
            <a:r>
              <a:rPr lang="en-IN" sz="1500" dirty="0" err="1">
                <a:solidFill>
                  <a:srgbClr val="000000"/>
                </a:solidFill>
                <a:latin typeface="Arial" panose="020B0604020202020204" pitchFamily="34" charset="0"/>
                <a:ea typeface="Calibri" panose="020F0502020204030204" pitchFamily="34" charset="0"/>
                <a:cs typeface="Arial" panose="020B0604020202020204" pitchFamily="34" charset="0"/>
              </a:rPr>
              <a:t>Randles-Sevick</a:t>
            </a: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 equation interpretation, basic application  (8 lectures)</a:t>
            </a:r>
            <a:endParaRPr lang="en-IN" sz="1500"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IN" sz="1500" b="1" dirty="0">
                <a:solidFill>
                  <a:srgbClr val="000000"/>
                </a:solidFill>
                <a:latin typeface="Arial" panose="020B0604020202020204" pitchFamily="34" charset="0"/>
                <a:ea typeface="Calibri" panose="020F0502020204030204" pitchFamily="34" charset="0"/>
                <a:cs typeface="Arial" panose="020B0604020202020204" pitchFamily="34" charset="0"/>
              </a:rPr>
              <a:t> </a:t>
            </a:r>
            <a:endParaRPr lang="en-IN" sz="1500"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IN" sz="1500" b="1" dirty="0">
                <a:solidFill>
                  <a:srgbClr val="000000"/>
                </a:solidFill>
                <a:latin typeface="Arial" panose="020B0604020202020204" pitchFamily="34" charset="0"/>
                <a:ea typeface="Calibri" panose="020F0502020204030204" pitchFamily="34" charset="0"/>
                <a:cs typeface="Arial" panose="020B0604020202020204" pitchFamily="34" charset="0"/>
              </a:rPr>
              <a:t>Introduction to solids: </a:t>
            </a: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Amorphous vs. crystalline solids, </a:t>
            </a:r>
            <a:r>
              <a:rPr lang="en-IN" sz="1500" b="1" dirty="0">
                <a:solidFill>
                  <a:srgbClr val="000000"/>
                </a:solidFill>
                <a:latin typeface="Arial" panose="020B0604020202020204" pitchFamily="34" charset="0"/>
                <a:ea typeface="Calibri" panose="020F0502020204030204" pitchFamily="34" charset="0"/>
                <a:cs typeface="Arial" panose="020B0604020202020204" pitchFamily="34" charset="0"/>
              </a:rPr>
              <a:t>types of crystalline solids</a:t>
            </a: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 Bravais lattice, crystal systems, unit cell, close packing of various types, packing density, examples of close packed structures, radius -ratio, ionic solids, Madelung constant, Born-Lande equation, basic thermodynamics of ionic crystal (viz. Born-Haber cycle), discrepancies in lattice energy, calculations of void spaces and packing parameters, point defects (Schottky and Frenkel), colour centres and their influence, metals and their packing, influence of impurities on metals, utility of alloys, Hume-</a:t>
            </a:r>
            <a:r>
              <a:rPr lang="en-IN" sz="1500" dirty="0" err="1">
                <a:solidFill>
                  <a:srgbClr val="000000"/>
                </a:solidFill>
                <a:latin typeface="Arial" panose="020B0604020202020204" pitchFamily="34" charset="0"/>
                <a:ea typeface="Calibri" panose="020F0502020204030204" pitchFamily="34" charset="0"/>
                <a:cs typeface="Arial" panose="020B0604020202020204" pitchFamily="34" charset="0"/>
              </a:rPr>
              <a:t>Rothary</a:t>
            </a: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 rules, basics of doping and conductivity, Miller Indices-concept of planes, indexing planes, symmetry and equivalent planes. (10 lectures)</a:t>
            </a:r>
            <a:endParaRPr lang="en-IN" sz="1500"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IN" sz="1500" dirty="0">
                <a:solidFill>
                  <a:srgbClr val="000000"/>
                </a:solidFill>
                <a:latin typeface="Arial" panose="020B0604020202020204" pitchFamily="34" charset="0"/>
                <a:ea typeface="Calibri" panose="020F0502020204030204" pitchFamily="34" charset="0"/>
                <a:cs typeface="Arial" panose="020B0604020202020204" pitchFamily="34" charset="0"/>
              </a:rPr>
              <a:t> </a:t>
            </a:r>
            <a:r>
              <a:rPr lang="en-IN" sz="1500" b="1" dirty="0">
                <a:solidFill>
                  <a:srgbClr val="000000"/>
                </a:solidFill>
                <a:latin typeface="Arial" panose="020B0604020202020204" pitchFamily="34" charset="0"/>
                <a:ea typeface="Calibri" panose="020F0502020204030204" pitchFamily="34" charset="0"/>
                <a:cs typeface="Arial" panose="020B0604020202020204" pitchFamily="34" charset="0"/>
              </a:rPr>
              <a:t>Books for reference:</a:t>
            </a:r>
            <a:endParaRPr lang="en-IN" sz="1500"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1500" dirty="0">
                <a:solidFill>
                  <a:srgbClr val="0000FF"/>
                </a:solidFill>
                <a:latin typeface="Arial" panose="020B0604020202020204" pitchFamily="34" charset="0"/>
                <a:ea typeface="Times New Roman" panose="02020603050405020304" pitchFamily="18" charset="0"/>
                <a:cs typeface="Arial" panose="020B0604020202020204" pitchFamily="34" charset="0"/>
              </a:rPr>
              <a:t>1. Inorganic chemistry By Catherine E </a:t>
            </a:r>
            <a:r>
              <a:rPr lang="en-IN" sz="1500" dirty="0" err="1">
                <a:solidFill>
                  <a:srgbClr val="0000FF"/>
                </a:solidFill>
                <a:latin typeface="Arial" panose="020B0604020202020204" pitchFamily="34" charset="0"/>
                <a:ea typeface="Times New Roman" panose="02020603050405020304" pitchFamily="18" charset="0"/>
                <a:cs typeface="Arial" panose="020B0604020202020204" pitchFamily="34" charset="0"/>
              </a:rPr>
              <a:t>Housecroft</a:t>
            </a:r>
            <a:r>
              <a:rPr lang="en-IN" sz="1500" dirty="0">
                <a:solidFill>
                  <a:srgbClr val="0000FF"/>
                </a:solidFill>
                <a:latin typeface="Arial" panose="020B0604020202020204" pitchFamily="34" charset="0"/>
                <a:ea typeface="Times New Roman" panose="02020603050405020304" pitchFamily="18" charset="0"/>
                <a:cs typeface="Arial" panose="020B0604020202020204" pitchFamily="34" charset="0"/>
              </a:rPr>
              <a:t> and Alan G. Sharpe</a:t>
            </a:r>
            <a:endParaRPr lang="en-IN" sz="1500" b="1" dirty="0">
              <a:solidFill>
                <a:srgbClr val="0000FF"/>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1500" dirty="0">
                <a:solidFill>
                  <a:srgbClr val="0000FF"/>
                </a:solidFill>
                <a:latin typeface="Arial" panose="020B0604020202020204" pitchFamily="34" charset="0"/>
                <a:ea typeface="Times New Roman" panose="02020603050405020304" pitchFamily="18" charset="0"/>
                <a:cs typeface="Arial" panose="020B0604020202020204" pitchFamily="34" charset="0"/>
              </a:rPr>
              <a:t>2. Inorganic Chemistry By </a:t>
            </a:r>
            <a:r>
              <a:rPr lang="en-IN" sz="1500" dirty="0" err="1">
                <a:solidFill>
                  <a:srgbClr val="0000FF"/>
                </a:solidFill>
                <a:latin typeface="Arial" panose="020B0604020202020204" pitchFamily="34" charset="0"/>
                <a:ea typeface="Times New Roman" panose="02020603050405020304" pitchFamily="18" charset="0"/>
                <a:cs typeface="Arial" panose="020B0604020202020204" pitchFamily="34" charset="0"/>
              </a:rPr>
              <a:t>Shrivers</a:t>
            </a:r>
            <a:r>
              <a:rPr lang="en-IN" sz="1500" dirty="0">
                <a:solidFill>
                  <a:srgbClr val="0000FF"/>
                </a:solidFill>
                <a:latin typeface="Arial" panose="020B0604020202020204" pitchFamily="34" charset="0"/>
                <a:ea typeface="Times New Roman" panose="02020603050405020304" pitchFamily="18" charset="0"/>
                <a:cs typeface="Arial" panose="020B0604020202020204" pitchFamily="34" charset="0"/>
              </a:rPr>
              <a:t> Atkins And Langford</a:t>
            </a:r>
          </a:p>
          <a:p>
            <a:pPr>
              <a:lnSpc>
                <a:spcPct val="107000"/>
              </a:lnSpc>
              <a:spcAft>
                <a:spcPts val="800"/>
              </a:spcAft>
            </a:pPr>
            <a:r>
              <a:rPr lang="en-IN" sz="1500" dirty="0">
                <a:solidFill>
                  <a:srgbClr val="0000FF"/>
                </a:solidFill>
                <a:latin typeface="Arial" panose="020B0604020202020204" pitchFamily="34" charset="0"/>
                <a:ea typeface="Calibri" panose="020F0502020204030204" pitchFamily="34" charset="0"/>
                <a:cs typeface="Arial" panose="020B0604020202020204" pitchFamily="34" charset="0"/>
              </a:rPr>
              <a:t>3. Solid State Chemistry and its applications by Anthony R West</a:t>
            </a:r>
            <a:endParaRPr lang="en-IN" sz="1500" b="1" dirty="0">
              <a:solidFill>
                <a:srgbClr val="0000FF"/>
              </a:solidFill>
              <a:latin typeface="Arial" panose="020B060402020202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1E9ADA49-339D-4945-94BC-99B79444CD2E}"/>
              </a:ext>
            </a:extLst>
          </p:cNvPr>
          <p:cNvSpPr txBox="1"/>
          <p:nvPr/>
        </p:nvSpPr>
        <p:spPr>
          <a:xfrm>
            <a:off x="5456478" y="159684"/>
            <a:ext cx="1133644" cy="369332"/>
          </a:xfrm>
          <a:prstGeom prst="rect">
            <a:avLst/>
          </a:prstGeom>
          <a:noFill/>
        </p:spPr>
        <p:txBody>
          <a:bodyPr wrap="none" rtlCol="0">
            <a:spAutoFit/>
          </a:bodyPr>
          <a:lstStyle/>
          <a:p>
            <a:r>
              <a:rPr lang="en-IN" b="1" dirty="0">
                <a:solidFill>
                  <a:srgbClr val="C00000"/>
                </a:solidFill>
                <a:latin typeface="Arial" panose="020B0604020202020204" pitchFamily="34" charset="0"/>
                <a:cs typeface="Arial" panose="020B0604020202020204" pitchFamily="34" charset="0"/>
              </a:rPr>
              <a:t>Syllabus</a:t>
            </a:r>
          </a:p>
        </p:txBody>
      </p:sp>
    </p:spTree>
    <p:extLst>
      <p:ext uri="{BB962C8B-B14F-4D97-AF65-F5344CB8AC3E}">
        <p14:creationId xmlns:p14="http://schemas.microsoft.com/office/powerpoint/2010/main" val="1514969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8415</TotalTime>
  <Words>2425</Words>
  <Application>Microsoft Office PowerPoint</Application>
  <PresentationFormat>Widescreen</PresentationFormat>
  <Paragraphs>188</Paragraphs>
  <Slides>20</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Calibri</vt:lpstr>
      <vt:lpstr>Calibri Light</vt:lpstr>
      <vt:lpstr>MTSY</vt:lpstr>
      <vt:lpstr>RMTMI</vt:lpstr>
      <vt:lpstr>SabonLTStd-Roman</vt:lpstr>
      <vt:lpstr>STIXMath-Regular</vt:lpstr>
      <vt:lpstr>Times New Roman</vt:lpstr>
      <vt:lpstr>Times-Italic</vt:lpstr>
      <vt:lpstr>Times-Roman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Venkataramanan Mahalingam</dc:creator>
  <cp:lastModifiedBy>Arya Basak</cp:lastModifiedBy>
  <cp:revision>97</cp:revision>
  <dcterms:created xsi:type="dcterms:W3CDTF">2025-04-08T13:58:24Z</dcterms:created>
  <dcterms:modified xsi:type="dcterms:W3CDTF">2025-05-01T10:35:22Z</dcterms:modified>
</cp:coreProperties>
</file>